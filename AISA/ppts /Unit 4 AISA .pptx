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21.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762" r:id="rId4"/>
    <p:sldId id="764" r:id="rId5"/>
    <p:sldId id="763" r:id="rId6"/>
    <p:sldId id="765" r:id="rId7"/>
    <p:sldId id="766" r:id="rId8"/>
    <p:sldId id="767" r:id="rId9"/>
    <p:sldId id="768" r:id="rId10"/>
    <p:sldId id="771" r:id="rId11"/>
    <p:sldId id="772" r:id="rId12"/>
    <p:sldId id="769" r:id="rId13"/>
    <p:sldId id="770" r:id="rId14"/>
    <p:sldId id="773" r:id="rId15"/>
    <p:sldId id="774" r:id="rId16"/>
    <p:sldId id="775" r:id="rId17"/>
    <p:sldId id="776" r:id="rId18"/>
    <p:sldId id="778" r:id="rId19"/>
    <p:sldId id="779" r:id="rId20"/>
    <p:sldId id="780" r:id="rId21"/>
    <p:sldId id="781" r:id="rId22"/>
    <p:sldId id="782" r:id="rId23"/>
    <p:sldId id="783" r:id="rId24"/>
    <p:sldId id="784" r:id="rId25"/>
    <p:sldId id="785" r:id="rId26"/>
    <p:sldId id="786" r:id="rId27"/>
    <p:sldId id="787" r:id="rId28"/>
    <p:sldId id="788" r:id="rId29"/>
    <p:sldId id="789" r:id="rId30"/>
    <p:sldId id="790" r:id="rId31"/>
    <p:sldId id="791" r:id="rId32"/>
    <p:sldId id="792" r:id="rId33"/>
    <p:sldId id="798" r:id="rId34"/>
    <p:sldId id="800" r:id="rId35"/>
    <p:sldId id="799" r:id="rId36"/>
    <p:sldId id="801" r:id="rId37"/>
    <p:sldId id="802" r:id="rId38"/>
    <p:sldId id="803" r:id="rId39"/>
    <p:sldId id="804" r:id="rId40"/>
    <p:sldId id="793" r:id="rId41"/>
    <p:sldId id="794" r:id="rId42"/>
    <p:sldId id="795" r:id="rId43"/>
    <p:sldId id="796" r:id="rId44"/>
    <p:sldId id="797" r:id="rId45"/>
    <p:sldId id="806" r:id="rId46"/>
    <p:sldId id="805" r:id="rId47"/>
    <p:sldId id="807" r:id="rId48"/>
    <p:sldId id="808" r:id="rId49"/>
    <p:sldId id="809" r:id="rId50"/>
    <p:sldId id="810" r:id="rId51"/>
    <p:sldId id="811" r:id="rId52"/>
    <p:sldId id="812" r:id="rId53"/>
    <p:sldId id="813" r:id="rId54"/>
    <p:sldId id="814" r:id="rId55"/>
    <p:sldId id="815" r:id="rId56"/>
    <p:sldId id="816" r:id="rId57"/>
    <p:sldId id="817" r:id="rId58"/>
    <p:sldId id="818" r:id="rId59"/>
    <p:sldId id="819" r:id="rId60"/>
    <p:sldId id="820" r:id="rId61"/>
    <p:sldId id="821" r:id="rId62"/>
    <p:sldId id="822" r:id="rId63"/>
    <p:sldId id="824" r:id="rId64"/>
    <p:sldId id="823" r:id="rId65"/>
    <p:sldId id="825" r:id="rId66"/>
    <p:sldId id="826" r:id="rId67"/>
    <p:sldId id="827" r:id="rId68"/>
    <p:sldId id="828" r:id="rId69"/>
    <p:sldId id="829" r:id="rId70"/>
    <p:sldId id="830" r:id="rId71"/>
    <p:sldId id="831" r:id="rId72"/>
    <p:sldId id="832" r:id="rId73"/>
    <p:sldId id="833" r:id="rId74"/>
    <p:sldId id="834"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8"/>
    <p:restoredTop sz="94659"/>
  </p:normalViewPr>
  <p:slideViewPr>
    <p:cSldViewPr snapToGrid="0">
      <p:cViewPr varScale="1">
        <p:scale>
          <a:sx n="110" d="100"/>
          <a:sy n="110" d="100"/>
        </p:scale>
        <p:origin x="56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B95D4-D7B0-CF98-4C79-42E74133C01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C3624FA-BC03-DB26-B06E-8BBBC0025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9AFFA0E9-D37F-810E-FD61-6CE5F0388AA4}"/>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29BD9442-20DC-3C98-1752-B24B6F98FB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C945D-5C22-9F12-C5AC-2257A502FD56}"/>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3680549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D683-5ED4-E109-835A-649451D900D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DBFB6F-5400-86E4-0F02-10AC09B2116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703F1DA-8DD0-DC6E-0D76-D6ACCEE7A97E}"/>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135D7A25-D473-E66D-9A3B-364941D4B3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FA686F-1BCC-B4E3-E881-15F37B6C0AF1}"/>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252951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BFD16-F1FA-B947-3B41-891DD6ED775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AEDE857-6645-5D29-813C-C2961A9117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D83914-F4ED-F9DD-8769-6EC3A990ADF6}"/>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BD84E4BA-C677-778E-9189-A748D6E518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B99AEC-EC1B-FB7E-D11D-D35BBB89C094}"/>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2180653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9E8F2-E441-B00C-D96A-AEA5C7737FA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250C8F5-9B9F-0D44-4ED5-06A3036363C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4D7432F-F736-C5F6-DA86-5C625DD6A9A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0CEBEB9-8593-6767-0561-A0D300430345}"/>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6" name="Footer Placeholder 5">
            <a:extLst>
              <a:ext uri="{FF2B5EF4-FFF2-40B4-BE49-F238E27FC236}">
                <a16:creationId xmlns:a16="http://schemas.microsoft.com/office/drawing/2014/main" id="{08D38082-9EB3-02EB-3A8C-6123E4AAC7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9FB261-6C38-4F86-16A0-91136E6669BE}"/>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2868112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B341-086D-F9D2-D447-7F1578A30A8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0E847E-9561-C55D-4153-7EAFAF17C1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46FE882-AEEB-BAF9-C553-EEC9394FD17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4BF7138-E64B-8E17-7B03-7F8DAEF4C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338A5DB-9992-07FA-8E52-B35F16028D6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0BE99B2-4993-376B-2778-5B6E5CBC98F0}"/>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8" name="Footer Placeholder 7">
            <a:extLst>
              <a:ext uri="{FF2B5EF4-FFF2-40B4-BE49-F238E27FC236}">
                <a16:creationId xmlns:a16="http://schemas.microsoft.com/office/drawing/2014/main" id="{18C62559-C11C-4C36-5635-9D9E08E6AD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3C0B5F-04D4-EF70-C2AF-BC67BA912D27}"/>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2694256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006BC-64C1-9D49-2E8F-C074DAB20D5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9D87BB5-5F20-67C4-250D-7575015D307C}"/>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4" name="Footer Placeholder 3">
            <a:extLst>
              <a:ext uri="{FF2B5EF4-FFF2-40B4-BE49-F238E27FC236}">
                <a16:creationId xmlns:a16="http://schemas.microsoft.com/office/drawing/2014/main" id="{F4A21501-6494-CAD8-E783-7FD9ADAEAD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D6FEF3-67A7-4D51-1A77-F826AF10C0EC}"/>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3643111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42B63D-B97F-637F-81F1-AF7E79EE793C}"/>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3" name="Footer Placeholder 2">
            <a:extLst>
              <a:ext uri="{FF2B5EF4-FFF2-40B4-BE49-F238E27FC236}">
                <a16:creationId xmlns:a16="http://schemas.microsoft.com/office/drawing/2014/main" id="{033755AB-6F54-C156-A495-ABD2451E1C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F2809E-0217-1387-A0B2-EA35DE6029B9}"/>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10565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70EDD-FB2B-E6AB-7332-3B7FEDD88B3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A2E0D9B-271E-F738-42E4-3CCB0BF092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14DD8D5-A571-E822-8E06-19C854D6D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FCDE852-80DB-093C-BAAC-B6544BD0FE8B}"/>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6" name="Footer Placeholder 5">
            <a:extLst>
              <a:ext uri="{FF2B5EF4-FFF2-40B4-BE49-F238E27FC236}">
                <a16:creationId xmlns:a16="http://schemas.microsoft.com/office/drawing/2014/main" id="{4BC13A90-DBFA-7B09-525E-86748B0D5D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6783CF-B859-8123-700B-C79F21E5397B}"/>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2309207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D7FF9-54DA-98EB-9A8E-850A8820BA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E1B4E72-472A-DC23-AA37-99107124C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2DAFF-52B1-3F39-36CC-BC85F26D84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72B5FD2-D17D-B281-6448-96243F32B334}"/>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6" name="Footer Placeholder 5">
            <a:extLst>
              <a:ext uri="{FF2B5EF4-FFF2-40B4-BE49-F238E27FC236}">
                <a16:creationId xmlns:a16="http://schemas.microsoft.com/office/drawing/2014/main" id="{7112B9C2-FBDF-1238-5776-BC88D204C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AB48BB-4C66-6574-E173-D727A16C5DE9}"/>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3196934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F8AE-7928-8C87-5D09-BC8F241B2A2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6E44DD1-A428-B418-0256-65D650ADD25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EBACAF-DC29-920A-A914-43BA62503C21}"/>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8CA3D117-1D9D-CFC4-6062-F608BA43CD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74EC3D-0AA3-48A2-4F2B-158B075F6DD4}"/>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4275964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302734-022A-67A6-08B7-273492C9D43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9D41D8D-DB19-4ABC-FF50-1E798F66589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68AB3D6-D43C-85FD-D15B-6B1914CF65A6}"/>
              </a:ext>
            </a:extLst>
          </p:cNvPr>
          <p:cNvSpPr>
            <a:spLocks noGrp="1"/>
          </p:cNvSpPr>
          <p:nvPr>
            <p:ph type="dt" sz="half" idx="10"/>
          </p:nvPr>
        </p:nvSpPr>
        <p:spPr/>
        <p:txBody>
          <a:body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B0111AAB-5EA0-8B56-1B9E-8A809FBF82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00B2B3-D752-B8CC-B561-DAFDBBE969C3}"/>
              </a:ext>
            </a:extLst>
          </p:cNvPr>
          <p:cNvSpPr>
            <a:spLocks noGrp="1"/>
          </p:cNvSpPr>
          <p:nvPr>
            <p:ph type="sldNum" sz="quarter" idx="12"/>
          </p:nvPr>
        </p:nvSpPr>
        <p:spPr/>
        <p:txBody>
          <a:bodyPr/>
          <a:lstStyle/>
          <a:p>
            <a:fld id="{93525C09-E7A5-F040-AD6E-A99D0BD5FC1C}" type="slidenum">
              <a:rPr lang="en-US" smtClean="0"/>
              <a:t>‹#›</a:t>
            </a:fld>
            <a:endParaRPr lang="en-US"/>
          </a:p>
        </p:txBody>
      </p:sp>
    </p:spTree>
    <p:extLst>
      <p:ext uri="{BB962C8B-B14F-4D97-AF65-F5344CB8AC3E}">
        <p14:creationId xmlns:p14="http://schemas.microsoft.com/office/powerpoint/2010/main" val="4265552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3EC336-5586-85A0-B71D-681B81D5CE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04B9D74-A1D5-D8A9-7ADE-65F885BF4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401BDB-865C-9B75-6197-8E8F913C6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E6C6563-07F0-1F4E-A0F5-7D111BDDD5B3}" type="datetimeFigureOut">
              <a:rPr lang="en-US" smtClean="0"/>
              <a:t>10/13/25</a:t>
            </a:fld>
            <a:endParaRPr lang="en-US"/>
          </a:p>
        </p:txBody>
      </p:sp>
      <p:sp>
        <p:nvSpPr>
          <p:cNvPr id="5" name="Footer Placeholder 4">
            <a:extLst>
              <a:ext uri="{FF2B5EF4-FFF2-40B4-BE49-F238E27FC236}">
                <a16:creationId xmlns:a16="http://schemas.microsoft.com/office/drawing/2014/main" id="{FFF44DAF-F6E6-D1F2-2558-5F968D5981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2A605B6-BCB4-F874-5F10-7069D46A07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525C09-E7A5-F040-AD6E-A99D0BD5FC1C}" type="slidenum">
              <a:rPr lang="en-US" smtClean="0"/>
              <a:t>‹#›</a:t>
            </a:fld>
            <a:endParaRPr lang="en-US"/>
          </a:p>
        </p:txBody>
      </p:sp>
    </p:spTree>
    <p:extLst>
      <p:ext uri="{BB962C8B-B14F-4D97-AF65-F5344CB8AC3E}">
        <p14:creationId xmlns:p14="http://schemas.microsoft.com/office/powerpoint/2010/main" val="2556903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encyclopediaofmath.org/index.php?title=Minimax_principl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50358" y="2858263"/>
            <a:ext cx="1889760" cy="285115"/>
          </a:xfrm>
          <a:prstGeom prst="rect">
            <a:avLst/>
          </a:prstGeom>
        </p:spPr>
        <p:txBody>
          <a:bodyPr vert="horz" wrap="square" lIns="0" tIns="13335" rIns="0" bIns="0" rtlCol="0" anchor="ctr">
            <a:spAutoFit/>
          </a:bodyPr>
          <a:lstStyle/>
          <a:p>
            <a:pPr marL="12700">
              <a:lnSpc>
                <a:spcPct val="100000"/>
              </a:lnSpc>
              <a:spcBef>
                <a:spcPts val="105"/>
              </a:spcBef>
            </a:pPr>
            <a:r>
              <a:rPr sz="1700" dirty="0">
                <a:latin typeface="Times New Roman"/>
                <a:cs typeface="Times New Roman"/>
              </a:rPr>
              <a:t>B</a:t>
            </a:r>
            <a:r>
              <a:rPr sz="1700" spc="-10" dirty="0">
                <a:latin typeface="Times New Roman"/>
                <a:cs typeface="Times New Roman"/>
              </a:rPr>
              <a:t> </a:t>
            </a:r>
            <a:r>
              <a:rPr sz="1700" dirty="0">
                <a:latin typeface="Times New Roman"/>
                <a:cs typeface="Times New Roman"/>
              </a:rPr>
              <a:t>Tech</a:t>
            </a:r>
            <a:r>
              <a:rPr sz="1700" spc="-10" dirty="0">
                <a:latin typeface="Times New Roman"/>
                <a:cs typeface="Times New Roman"/>
              </a:rPr>
              <a:t> </a:t>
            </a:r>
            <a:r>
              <a:rPr sz="1700" dirty="0">
                <a:latin typeface="Times New Roman"/>
                <a:cs typeface="Times New Roman"/>
              </a:rPr>
              <a:t>CSE(AI-</a:t>
            </a:r>
            <a:r>
              <a:rPr sz="1700" spc="-25" dirty="0">
                <a:latin typeface="Times New Roman"/>
                <a:cs typeface="Times New Roman"/>
              </a:rPr>
              <a:t>DS)</a:t>
            </a:r>
            <a:endParaRPr sz="1700">
              <a:latin typeface="Times New Roman"/>
              <a:cs typeface="Times New Roman"/>
            </a:endParaRPr>
          </a:p>
        </p:txBody>
      </p:sp>
      <p:sp>
        <p:nvSpPr>
          <p:cNvPr id="3" name="object 3"/>
          <p:cNvSpPr txBox="1"/>
          <p:nvPr/>
        </p:nvSpPr>
        <p:spPr>
          <a:xfrm>
            <a:off x="3276601" y="3185000"/>
            <a:ext cx="5791200" cy="867545"/>
          </a:xfrm>
          <a:prstGeom prst="rect">
            <a:avLst/>
          </a:prstGeom>
        </p:spPr>
        <p:txBody>
          <a:bodyPr vert="horz" wrap="square" lIns="0" tIns="71755" rIns="0" bIns="0" rtlCol="0">
            <a:spAutoFit/>
          </a:bodyPr>
          <a:lstStyle/>
          <a:p>
            <a:pPr marL="1905" algn="ctr">
              <a:spcBef>
                <a:spcPts val="565"/>
              </a:spcBef>
            </a:pPr>
            <a:r>
              <a:rPr sz="1700" b="1" dirty="0">
                <a:solidFill>
                  <a:srgbClr val="003366"/>
                </a:solidFill>
                <a:latin typeface="Times New Roman"/>
                <a:cs typeface="Times New Roman"/>
              </a:rPr>
              <a:t>TY</a:t>
            </a:r>
            <a:r>
              <a:rPr sz="1700" b="1" spc="-25" dirty="0">
                <a:solidFill>
                  <a:srgbClr val="003366"/>
                </a:solidFill>
                <a:latin typeface="Times New Roman"/>
                <a:cs typeface="Times New Roman"/>
              </a:rPr>
              <a:t> </a:t>
            </a:r>
            <a:r>
              <a:rPr sz="1700" b="1" dirty="0">
                <a:solidFill>
                  <a:srgbClr val="003366"/>
                </a:solidFill>
                <a:latin typeface="Times New Roman"/>
                <a:cs typeface="Times New Roman"/>
              </a:rPr>
              <a:t>Semester</a:t>
            </a:r>
            <a:r>
              <a:rPr sz="1700" b="1" spc="-20" dirty="0">
                <a:solidFill>
                  <a:srgbClr val="003366"/>
                </a:solidFill>
                <a:latin typeface="Times New Roman"/>
                <a:cs typeface="Times New Roman"/>
              </a:rPr>
              <a:t> </a:t>
            </a:r>
            <a:r>
              <a:rPr lang="en-IN" sz="1700" b="1" spc="-50" dirty="0">
                <a:solidFill>
                  <a:srgbClr val="003366"/>
                </a:solidFill>
                <a:latin typeface="Times New Roman"/>
                <a:cs typeface="Times New Roman"/>
              </a:rPr>
              <a:t>V</a:t>
            </a:r>
            <a:endParaRPr sz="1700" dirty="0">
              <a:latin typeface="Times New Roman"/>
              <a:cs typeface="Times New Roman"/>
            </a:endParaRPr>
          </a:p>
          <a:p>
            <a:pPr algn="ctr">
              <a:spcBef>
                <a:spcPts val="760"/>
              </a:spcBef>
            </a:pPr>
            <a:r>
              <a:rPr sz="2800" b="1" dirty="0">
                <a:solidFill>
                  <a:srgbClr val="003366"/>
                </a:solidFill>
                <a:latin typeface="Calibri"/>
                <a:cs typeface="Calibri"/>
              </a:rPr>
              <a:t>Subject:</a:t>
            </a:r>
            <a:r>
              <a:rPr sz="2800" b="1" spc="-75" dirty="0">
                <a:solidFill>
                  <a:srgbClr val="003366"/>
                </a:solidFill>
                <a:latin typeface="Calibri"/>
                <a:cs typeface="Calibri"/>
              </a:rPr>
              <a:t> </a:t>
            </a:r>
            <a:r>
              <a:rPr lang="en-US" sz="2800" b="1" spc="-75" dirty="0">
                <a:solidFill>
                  <a:srgbClr val="003366"/>
                </a:solidFill>
                <a:latin typeface="Calibri"/>
                <a:cs typeface="Calibri"/>
              </a:rPr>
              <a:t>AI Systems and </a:t>
            </a:r>
            <a:r>
              <a:rPr sz="2800" b="1" dirty="0">
                <a:solidFill>
                  <a:srgbClr val="003366"/>
                </a:solidFill>
                <a:latin typeface="Calibri"/>
                <a:cs typeface="Calibri"/>
              </a:rPr>
              <a:t>Applications</a:t>
            </a:r>
            <a:endParaRPr sz="2800" dirty="0">
              <a:latin typeface="Calibri"/>
              <a:cs typeface="Calibri"/>
            </a:endParaRPr>
          </a:p>
        </p:txBody>
      </p:sp>
      <p:sp>
        <p:nvSpPr>
          <p:cNvPr id="4" name="object 4"/>
          <p:cNvSpPr txBox="1"/>
          <p:nvPr/>
        </p:nvSpPr>
        <p:spPr>
          <a:xfrm>
            <a:off x="2231542" y="4176777"/>
            <a:ext cx="7523480" cy="1171575"/>
          </a:xfrm>
          <a:prstGeom prst="rect">
            <a:avLst/>
          </a:prstGeom>
        </p:spPr>
        <p:txBody>
          <a:bodyPr vert="horz" wrap="square" lIns="0" tIns="12700" rIns="0" bIns="0" rtlCol="0">
            <a:spAutoFit/>
          </a:bodyPr>
          <a:lstStyle/>
          <a:p>
            <a:pPr marL="12700">
              <a:spcBef>
                <a:spcPts val="100"/>
              </a:spcBef>
            </a:pPr>
            <a:r>
              <a:rPr sz="1200" b="1" spc="-10" dirty="0">
                <a:solidFill>
                  <a:srgbClr val="003366"/>
                </a:solidFill>
                <a:latin typeface="Times New Roman"/>
                <a:cs typeface="Times New Roman"/>
              </a:rPr>
              <a:t>Disclaimer:</a:t>
            </a:r>
            <a:endParaRPr sz="1200" dirty="0">
              <a:latin typeface="Times New Roman"/>
              <a:cs typeface="Times New Roman"/>
            </a:endParaRPr>
          </a:p>
          <a:p>
            <a:pPr marL="12700" marR="5080" indent="-3175">
              <a:lnSpc>
                <a:spcPts val="1300"/>
              </a:lnSpc>
              <a:spcBef>
                <a:spcPts val="1215"/>
              </a:spcBef>
              <a:buSzPct val="91666"/>
              <a:buAutoNum type="arabicPeriod"/>
              <a:tabLst>
                <a:tab pos="127000" algn="l"/>
              </a:tabLst>
            </a:pPr>
            <a:r>
              <a:rPr sz="1200" dirty="0">
                <a:solidFill>
                  <a:srgbClr val="003366"/>
                </a:solidFill>
                <a:latin typeface="Times New Roman"/>
                <a:cs typeface="Times New Roman"/>
              </a:rPr>
              <a:t>	Information</a:t>
            </a:r>
            <a:r>
              <a:rPr sz="1200" spc="10" dirty="0">
                <a:solidFill>
                  <a:srgbClr val="003366"/>
                </a:solidFill>
                <a:latin typeface="Times New Roman"/>
                <a:cs typeface="Times New Roman"/>
              </a:rPr>
              <a:t> </a:t>
            </a:r>
            <a:r>
              <a:rPr sz="1200" dirty="0">
                <a:solidFill>
                  <a:srgbClr val="003366"/>
                </a:solidFill>
                <a:latin typeface="Times New Roman"/>
                <a:cs typeface="Times New Roman"/>
              </a:rPr>
              <a:t>included</a:t>
            </a:r>
            <a:r>
              <a:rPr sz="1200" spc="-10" dirty="0">
                <a:solidFill>
                  <a:srgbClr val="003366"/>
                </a:solidFill>
                <a:latin typeface="Times New Roman"/>
                <a:cs typeface="Times New Roman"/>
              </a:rPr>
              <a:t> </a:t>
            </a:r>
            <a:r>
              <a:rPr sz="1200" dirty="0">
                <a:solidFill>
                  <a:srgbClr val="003366"/>
                </a:solidFill>
                <a:latin typeface="Times New Roman"/>
                <a:cs typeface="Times New Roman"/>
              </a:rPr>
              <a:t>in</a:t>
            </a:r>
            <a:r>
              <a:rPr sz="1200" spc="-30" dirty="0">
                <a:solidFill>
                  <a:srgbClr val="003366"/>
                </a:solidFill>
                <a:latin typeface="Times New Roman"/>
                <a:cs typeface="Times New Roman"/>
              </a:rPr>
              <a:t> </a:t>
            </a:r>
            <a:r>
              <a:rPr sz="1200" dirty="0">
                <a:solidFill>
                  <a:srgbClr val="003366"/>
                </a:solidFill>
                <a:latin typeface="Times New Roman"/>
                <a:cs typeface="Times New Roman"/>
              </a:rPr>
              <a:t>this</a:t>
            </a:r>
            <a:r>
              <a:rPr sz="1200" spc="-30" dirty="0">
                <a:solidFill>
                  <a:srgbClr val="003366"/>
                </a:solidFill>
                <a:latin typeface="Times New Roman"/>
                <a:cs typeface="Times New Roman"/>
              </a:rPr>
              <a:t> </a:t>
            </a:r>
            <a:r>
              <a:rPr sz="1200" dirty="0">
                <a:solidFill>
                  <a:srgbClr val="003366"/>
                </a:solidFill>
                <a:latin typeface="Times New Roman"/>
                <a:cs typeface="Times New Roman"/>
              </a:rPr>
              <a:t>slides</a:t>
            </a:r>
            <a:r>
              <a:rPr sz="1200" spc="-30" dirty="0">
                <a:solidFill>
                  <a:srgbClr val="003366"/>
                </a:solidFill>
                <a:latin typeface="Times New Roman"/>
                <a:cs typeface="Times New Roman"/>
              </a:rPr>
              <a:t> </a:t>
            </a:r>
            <a:r>
              <a:rPr sz="1200" dirty="0">
                <a:solidFill>
                  <a:srgbClr val="003366"/>
                </a:solidFill>
                <a:latin typeface="Times New Roman"/>
                <a:cs typeface="Times New Roman"/>
              </a:rPr>
              <a:t>came</a:t>
            </a:r>
            <a:r>
              <a:rPr sz="1200" spc="-5" dirty="0">
                <a:solidFill>
                  <a:srgbClr val="003366"/>
                </a:solidFill>
                <a:latin typeface="Times New Roman"/>
                <a:cs typeface="Times New Roman"/>
              </a:rPr>
              <a:t> </a:t>
            </a:r>
            <a:r>
              <a:rPr sz="1200" dirty="0">
                <a:solidFill>
                  <a:srgbClr val="003366"/>
                </a:solidFill>
                <a:latin typeface="Times New Roman"/>
                <a:cs typeface="Times New Roman"/>
              </a:rPr>
              <a:t>from</a:t>
            </a:r>
            <a:r>
              <a:rPr sz="1200" spc="-25" dirty="0">
                <a:solidFill>
                  <a:srgbClr val="003366"/>
                </a:solidFill>
                <a:latin typeface="Times New Roman"/>
                <a:cs typeface="Times New Roman"/>
              </a:rPr>
              <a:t> </a:t>
            </a:r>
            <a:r>
              <a:rPr sz="1200" dirty="0">
                <a:solidFill>
                  <a:srgbClr val="003366"/>
                </a:solidFill>
                <a:latin typeface="Times New Roman"/>
                <a:cs typeface="Times New Roman"/>
              </a:rPr>
              <a:t>multiple</a:t>
            </a:r>
            <a:r>
              <a:rPr sz="1200" spc="-20" dirty="0">
                <a:solidFill>
                  <a:srgbClr val="003366"/>
                </a:solidFill>
                <a:latin typeface="Times New Roman"/>
                <a:cs typeface="Times New Roman"/>
              </a:rPr>
              <a:t> </a:t>
            </a:r>
            <a:r>
              <a:rPr sz="1200" dirty="0">
                <a:solidFill>
                  <a:srgbClr val="003366"/>
                </a:solidFill>
                <a:latin typeface="Times New Roman"/>
                <a:cs typeface="Times New Roman"/>
              </a:rPr>
              <a:t>sources.</a:t>
            </a:r>
            <a:r>
              <a:rPr sz="1200" spc="-20" dirty="0">
                <a:solidFill>
                  <a:srgbClr val="003366"/>
                </a:solidFill>
                <a:latin typeface="Times New Roman"/>
                <a:cs typeface="Times New Roman"/>
              </a:rPr>
              <a:t> </a:t>
            </a:r>
            <a:r>
              <a:rPr sz="1200" dirty="0">
                <a:solidFill>
                  <a:srgbClr val="003366"/>
                </a:solidFill>
                <a:latin typeface="Times New Roman"/>
                <a:cs typeface="Times New Roman"/>
              </a:rPr>
              <a:t>We</a:t>
            </a:r>
            <a:r>
              <a:rPr sz="1200" spc="-30" dirty="0">
                <a:solidFill>
                  <a:srgbClr val="003366"/>
                </a:solidFill>
                <a:latin typeface="Times New Roman"/>
                <a:cs typeface="Times New Roman"/>
              </a:rPr>
              <a:t> </a:t>
            </a:r>
            <a:r>
              <a:rPr sz="1200" dirty="0">
                <a:solidFill>
                  <a:srgbClr val="003366"/>
                </a:solidFill>
                <a:latin typeface="Times New Roman"/>
                <a:cs typeface="Times New Roman"/>
              </a:rPr>
              <a:t>have</a:t>
            </a:r>
            <a:r>
              <a:rPr sz="1200" spc="-15" dirty="0">
                <a:solidFill>
                  <a:srgbClr val="003366"/>
                </a:solidFill>
                <a:latin typeface="Times New Roman"/>
                <a:cs typeface="Times New Roman"/>
              </a:rPr>
              <a:t> </a:t>
            </a:r>
            <a:r>
              <a:rPr sz="1200" dirty="0">
                <a:solidFill>
                  <a:srgbClr val="003366"/>
                </a:solidFill>
                <a:latin typeface="Times New Roman"/>
                <a:cs typeface="Times New Roman"/>
              </a:rPr>
              <a:t>tried</a:t>
            </a:r>
            <a:r>
              <a:rPr sz="1200" spc="-25" dirty="0">
                <a:solidFill>
                  <a:srgbClr val="003366"/>
                </a:solidFill>
                <a:latin typeface="Times New Roman"/>
                <a:cs typeface="Times New Roman"/>
              </a:rPr>
              <a:t> </a:t>
            </a:r>
            <a:r>
              <a:rPr sz="1200" dirty="0">
                <a:solidFill>
                  <a:srgbClr val="003366"/>
                </a:solidFill>
                <a:latin typeface="Times New Roman"/>
                <a:cs typeface="Times New Roman"/>
              </a:rPr>
              <a:t>our</a:t>
            </a:r>
            <a:r>
              <a:rPr sz="1200" spc="-25" dirty="0">
                <a:solidFill>
                  <a:srgbClr val="003366"/>
                </a:solidFill>
                <a:latin typeface="Times New Roman"/>
                <a:cs typeface="Times New Roman"/>
              </a:rPr>
              <a:t> </a:t>
            </a:r>
            <a:r>
              <a:rPr sz="1200" dirty="0">
                <a:solidFill>
                  <a:srgbClr val="003366"/>
                </a:solidFill>
                <a:latin typeface="Times New Roman"/>
                <a:cs typeface="Times New Roman"/>
              </a:rPr>
              <a:t>best</a:t>
            </a:r>
            <a:r>
              <a:rPr sz="1200" spc="-25" dirty="0">
                <a:solidFill>
                  <a:srgbClr val="003366"/>
                </a:solidFill>
                <a:latin typeface="Times New Roman"/>
                <a:cs typeface="Times New Roman"/>
              </a:rPr>
              <a:t> </a:t>
            </a:r>
            <a:r>
              <a:rPr sz="1200" dirty="0">
                <a:solidFill>
                  <a:srgbClr val="003366"/>
                </a:solidFill>
                <a:latin typeface="Times New Roman"/>
                <a:cs typeface="Times New Roman"/>
              </a:rPr>
              <a:t>to</a:t>
            </a:r>
            <a:r>
              <a:rPr sz="1200" spc="-30" dirty="0">
                <a:solidFill>
                  <a:srgbClr val="003366"/>
                </a:solidFill>
                <a:latin typeface="Times New Roman"/>
                <a:cs typeface="Times New Roman"/>
              </a:rPr>
              <a:t> </a:t>
            </a:r>
            <a:r>
              <a:rPr sz="1200" dirty="0">
                <a:solidFill>
                  <a:srgbClr val="003366"/>
                </a:solidFill>
                <a:latin typeface="Times New Roman"/>
                <a:cs typeface="Times New Roman"/>
              </a:rPr>
              <a:t>cite</a:t>
            </a:r>
            <a:r>
              <a:rPr sz="1200" spc="-15" dirty="0">
                <a:solidFill>
                  <a:srgbClr val="003366"/>
                </a:solidFill>
                <a:latin typeface="Times New Roman"/>
                <a:cs typeface="Times New Roman"/>
              </a:rPr>
              <a:t> </a:t>
            </a:r>
            <a:r>
              <a:rPr sz="1200" dirty="0">
                <a:solidFill>
                  <a:srgbClr val="003366"/>
                </a:solidFill>
                <a:latin typeface="Times New Roman"/>
                <a:cs typeface="Times New Roman"/>
              </a:rPr>
              <a:t>the</a:t>
            </a:r>
            <a:r>
              <a:rPr sz="1200" spc="-25" dirty="0">
                <a:solidFill>
                  <a:srgbClr val="003366"/>
                </a:solidFill>
                <a:latin typeface="Times New Roman"/>
                <a:cs typeface="Times New Roman"/>
              </a:rPr>
              <a:t> </a:t>
            </a:r>
            <a:r>
              <a:rPr sz="1200" dirty="0">
                <a:solidFill>
                  <a:srgbClr val="003366"/>
                </a:solidFill>
                <a:latin typeface="Times New Roman"/>
                <a:cs typeface="Times New Roman"/>
              </a:rPr>
              <a:t>sources.</a:t>
            </a:r>
            <a:r>
              <a:rPr sz="1200" spc="-20" dirty="0">
                <a:solidFill>
                  <a:srgbClr val="003366"/>
                </a:solidFill>
                <a:latin typeface="Times New Roman"/>
                <a:cs typeface="Times New Roman"/>
              </a:rPr>
              <a:t> </a:t>
            </a:r>
            <a:r>
              <a:rPr sz="1200" dirty="0">
                <a:solidFill>
                  <a:srgbClr val="003366"/>
                </a:solidFill>
                <a:latin typeface="Times New Roman"/>
                <a:cs typeface="Times New Roman"/>
              </a:rPr>
              <a:t>Please</a:t>
            </a:r>
            <a:r>
              <a:rPr sz="1200" spc="-25" dirty="0">
                <a:solidFill>
                  <a:srgbClr val="003366"/>
                </a:solidFill>
                <a:latin typeface="Times New Roman"/>
                <a:cs typeface="Times New Roman"/>
              </a:rPr>
              <a:t> </a:t>
            </a:r>
            <a:r>
              <a:rPr sz="1200" dirty="0">
                <a:solidFill>
                  <a:srgbClr val="003366"/>
                </a:solidFill>
                <a:latin typeface="Times New Roman"/>
                <a:cs typeface="Times New Roman"/>
              </a:rPr>
              <a:t>refer</a:t>
            </a:r>
            <a:r>
              <a:rPr sz="1200" spc="-5" dirty="0">
                <a:solidFill>
                  <a:srgbClr val="003366"/>
                </a:solidFill>
                <a:latin typeface="Times New Roman"/>
                <a:cs typeface="Times New Roman"/>
              </a:rPr>
              <a:t> </a:t>
            </a:r>
            <a:r>
              <a:rPr sz="1200" spc="-25" dirty="0">
                <a:solidFill>
                  <a:srgbClr val="003366"/>
                </a:solidFill>
                <a:latin typeface="Times New Roman"/>
                <a:cs typeface="Times New Roman"/>
              </a:rPr>
              <a:t>to </a:t>
            </a:r>
            <a:r>
              <a:rPr sz="1200" dirty="0">
                <a:solidFill>
                  <a:srgbClr val="003366"/>
                </a:solidFill>
                <a:latin typeface="Times New Roman"/>
                <a:cs typeface="Times New Roman"/>
              </a:rPr>
              <a:t>the</a:t>
            </a:r>
            <a:r>
              <a:rPr sz="1200" spc="-30" dirty="0">
                <a:solidFill>
                  <a:srgbClr val="003366"/>
                </a:solidFill>
                <a:latin typeface="Times New Roman"/>
                <a:cs typeface="Times New Roman"/>
              </a:rPr>
              <a:t> </a:t>
            </a:r>
            <a:r>
              <a:rPr sz="1200" dirty="0">
                <a:solidFill>
                  <a:srgbClr val="003366"/>
                </a:solidFill>
                <a:latin typeface="Times New Roman"/>
                <a:cs typeface="Times New Roman"/>
              </a:rPr>
              <a:t>References</a:t>
            </a:r>
            <a:r>
              <a:rPr sz="1200" spc="10" dirty="0">
                <a:solidFill>
                  <a:srgbClr val="003366"/>
                </a:solidFill>
                <a:latin typeface="Times New Roman"/>
                <a:cs typeface="Times New Roman"/>
              </a:rPr>
              <a:t> </a:t>
            </a:r>
            <a:r>
              <a:rPr sz="1200" dirty="0">
                <a:solidFill>
                  <a:srgbClr val="003366"/>
                </a:solidFill>
                <a:latin typeface="Times New Roman"/>
                <a:cs typeface="Times New Roman"/>
              </a:rPr>
              <a:t>to</a:t>
            </a:r>
            <a:r>
              <a:rPr sz="1200" spc="-30" dirty="0">
                <a:solidFill>
                  <a:srgbClr val="003366"/>
                </a:solidFill>
                <a:latin typeface="Times New Roman"/>
                <a:cs typeface="Times New Roman"/>
              </a:rPr>
              <a:t> </a:t>
            </a:r>
            <a:r>
              <a:rPr sz="1200" dirty="0">
                <a:solidFill>
                  <a:srgbClr val="003366"/>
                </a:solidFill>
                <a:latin typeface="Times New Roman"/>
                <a:cs typeface="Times New Roman"/>
              </a:rPr>
              <a:t>learn</a:t>
            </a:r>
            <a:r>
              <a:rPr sz="1200" spc="-20" dirty="0">
                <a:solidFill>
                  <a:srgbClr val="003366"/>
                </a:solidFill>
                <a:latin typeface="Times New Roman"/>
                <a:cs typeface="Times New Roman"/>
              </a:rPr>
              <a:t> </a:t>
            </a:r>
            <a:r>
              <a:rPr sz="1200" dirty="0">
                <a:solidFill>
                  <a:srgbClr val="003366"/>
                </a:solidFill>
                <a:latin typeface="Times New Roman"/>
                <a:cs typeface="Times New Roman"/>
              </a:rPr>
              <a:t>about</a:t>
            </a:r>
            <a:r>
              <a:rPr sz="1200" spc="-20" dirty="0">
                <a:solidFill>
                  <a:srgbClr val="003366"/>
                </a:solidFill>
                <a:latin typeface="Times New Roman"/>
                <a:cs typeface="Times New Roman"/>
              </a:rPr>
              <a:t> </a:t>
            </a:r>
            <a:r>
              <a:rPr sz="1200" dirty="0">
                <a:solidFill>
                  <a:srgbClr val="003366"/>
                </a:solidFill>
                <a:latin typeface="Times New Roman"/>
                <a:cs typeface="Times New Roman"/>
              </a:rPr>
              <a:t>the</a:t>
            </a:r>
            <a:r>
              <a:rPr sz="1200" spc="-30" dirty="0">
                <a:solidFill>
                  <a:srgbClr val="003366"/>
                </a:solidFill>
                <a:latin typeface="Times New Roman"/>
                <a:cs typeface="Times New Roman"/>
              </a:rPr>
              <a:t> </a:t>
            </a:r>
            <a:r>
              <a:rPr sz="1200" dirty="0">
                <a:solidFill>
                  <a:srgbClr val="003366"/>
                </a:solidFill>
                <a:latin typeface="Times New Roman"/>
                <a:cs typeface="Times New Roman"/>
              </a:rPr>
              <a:t>sources,</a:t>
            </a:r>
            <a:r>
              <a:rPr sz="1200" spc="-20" dirty="0">
                <a:solidFill>
                  <a:srgbClr val="003366"/>
                </a:solidFill>
                <a:latin typeface="Times New Roman"/>
                <a:cs typeface="Times New Roman"/>
              </a:rPr>
              <a:t> </a:t>
            </a:r>
            <a:r>
              <a:rPr sz="1200" dirty="0">
                <a:solidFill>
                  <a:srgbClr val="003366"/>
                </a:solidFill>
                <a:latin typeface="Times New Roman"/>
                <a:cs typeface="Times New Roman"/>
              </a:rPr>
              <a:t>when</a:t>
            </a:r>
            <a:r>
              <a:rPr sz="1200" spc="-35" dirty="0">
                <a:solidFill>
                  <a:srgbClr val="003366"/>
                </a:solidFill>
                <a:latin typeface="Times New Roman"/>
                <a:cs typeface="Times New Roman"/>
              </a:rPr>
              <a:t> </a:t>
            </a:r>
            <a:r>
              <a:rPr sz="1200" spc="-10" dirty="0">
                <a:solidFill>
                  <a:srgbClr val="003366"/>
                </a:solidFill>
                <a:latin typeface="Times New Roman"/>
                <a:cs typeface="Times New Roman"/>
              </a:rPr>
              <a:t>applicable.</a:t>
            </a:r>
            <a:endParaRPr sz="1200" dirty="0">
              <a:latin typeface="Times New Roman"/>
              <a:cs typeface="Times New Roman"/>
            </a:endParaRPr>
          </a:p>
          <a:p>
            <a:pPr marL="12700" marR="99695" indent="-3175">
              <a:lnSpc>
                <a:spcPts val="1300"/>
              </a:lnSpc>
              <a:spcBef>
                <a:spcPts val="1190"/>
              </a:spcBef>
              <a:buSzPct val="91666"/>
              <a:buAutoNum type="arabicPeriod"/>
              <a:tabLst>
                <a:tab pos="127000" algn="l"/>
              </a:tabLst>
            </a:pPr>
            <a:r>
              <a:rPr sz="1200" dirty="0">
                <a:solidFill>
                  <a:srgbClr val="003366"/>
                </a:solidFill>
                <a:latin typeface="Times New Roman"/>
                <a:cs typeface="Times New Roman"/>
              </a:rPr>
              <a:t>	The</a:t>
            </a:r>
            <a:r>
              <a:rPr sz="1200" spc="-25" dirty="0">
                <a:solidFill>
                  <a:srgbClr val="003366"/>
                </a:solidFill>
                <a:latin typeface="Times New Roman"/>
                <a:cs typeface="Times New Roman"/>
              </a:rPr>
              <a:t> </a:t>
            </a:r>
            <a:r>
              <a:rPr sz="1200" dirty="0">
                <a:solidFill>
                  <a:srgbClr val="003366"/>
                </a:solidFill>
                <a:latin typeface="Times New Roman"/>
                <a:cs typeface="Times New Roman"/>
              </a:rPr>
              <a:t>slides</a:t>
            </a:r>
            <a:r>
              <a:rPr sz="1200" spc="-20" dirty="0">
                <a:solidFill>
                  <a:srgbClr val="003366"/>
                </a:solidFill>
                <a:latin typeface="Times New Roman"/>
                <a:cs typeface="Times New Roman"/>
              </a:rPr>
              <a:t> </a:t>
            </a:r>
            <a:r>
              <a:rPr sz="1200" dirty="0">
                <a:solidFill>
                  <a:srgbClr val="003366"/>
                </a:solidFill>
                <a:latin typeface="Times New Roman"/>
                <a:cs typeface="Times New Roman"/>
              </a:rPr>
              <a:t>should</a:t>
            </a:r>
            <a:r>
              <a:rPr sz="1200" spc="-25" dirty="0">
                <a:solidFill>
                  <a:srgbClr val="003366"/>
                </a:solidFill>
                <a:latin typeface="Times New Roman"/>
                <a:cs typeface="Times New Roman"/>
              </a:rPr>
              <a:t> </a:t>
            </a:r>
            <a:r>
              <a:rPr sz="1200" dirty="0">
                <a:solidFill>
                  <a:srgbClr val="003366"/>
                </a:solidFill>
                <a:latin typeface="Times New Roman"/>
                <a:cs typeface="Times New Roman"/>
              </a:rPr>
              <a:t>be</a:t>
            </a:r>
            <a:r>
              <a:rPr sz="1200" spc="-15" dirty="0">
                <a:solidFill>
                  <a:srgbClr val="003366"/>
                </a:solidFill>
                <a:latin typeface="Times New Roman"/>
                <a:cs typeface="Times New Roman"/>
              </a:rPr>
              <a:t> </a:t>
            </a:r>
            <a:r>
              <a:rPr sz="1200" dirty="0">
                <a:solidFill>
                  <a:srgbClr val="003366"/>
                </a:solidFill>
                <a:latin typeface="Times New Roman"/>
                <a:cs typeface="Times New Roman"/>
              </a:rPr>
              <a:t>used</a:t>
            </a:r>
            <a:r>
              <a:rPr sz="1200" spc="-20" dirty="0">
                <a:solidFill>
                  <a:srgbClr val="003366"/>
                </a:solidFill>
                <a:latin typeface="Times New Roman"/>
                <a:cs typeface="Times New Roman"/>
              </a:rPr>
              <a:t> </a:t>
            </a:r>
            <a:r>
              <a:rPr sz="1200" dirty="0">
                <a:solidFill>
                  <a:srgbClr val="003366"/>
                </a:solidFill>
                <a:latin typeface="Times New Roman"/>
                <a:cs typeface="Times New Roman"/>
              </a:rPr>
              <a:t>only</a:t>
            </a:r>
            <a:r>
              <a:rPr sz="1200" spc="-25" dirty="0">
                <a:solidFill>
                  <a:srgbClr val="003366"/>
                </a:solidFill>
                <a:latin typeface="Times New Roman"/>
                <a:cs typeface="Times New Roman"/>
              </a:rPr>
              <a:t> </a:t>
            </a:r>
            <a:r>
              <a:rPr sz="1200" dirty="0">
                <a:solidFill>
                  <a:srgbClr val="003366"/>
                </a:solidFill>
                <a:latin typeface="Times New Roman"/>
                <a:cs typeface="Times New Roman"/>
              </a:rPr>
              <a:t>for</a:t>
            </a:r>
            <a:r>
              <a:rPr sz="1200" spc="-20" dirty="0">
                <a:solidFill>
                  <a:srgbClr val="003366"/>
                </a:solidFill>
                <a:latin typeface="Times New Roman"/>
                <a:cs typeface="Times New Roman"/>
              </a:rPr>
              <a:t> </a:t>
            </a:r>
            <a:r>
              <a:rPr sz="1200" dirty="0">
                <a:solidFill>
                  <a:srgbClr val="003366"/>
                </a:solidFill>
                <a:latin typeface="Times New Roman"/>
                <a:cs typeface="Times New Roman"/>
              </a:rPr>
              <a:t>academic</a:t>
            </a:r>
            <a:r>
              <a:rPr sz="1200" spc="15" dirty="0">
                <a:solidFill>
                  <a:srgbClr val="003366"/>
                </a:solidFill>
                <a:latin typeface="Times New Roman"/>
                <a:cs typeface="Times New Roman"/>
              </a:rPr>
              <a:t> </a:t>
            </a:r>
            <a:r>
              <a:rPr sz="1200" dirty="0">
                <a:solidFill>
                  <a:srgbClr val="003366"/>
                </a:solidFill>
                <a:latin typeface="Times New Roman"/>
                <a:cs typeface="Times New Roman"/>
              </a:rPr>
              <a:t>purposes</a:t>
            </a:r>
            <a:r>
              <a:rPr sz="1200" spc="-20" dirty="0">
                <a:solidFill>
                  <a:srgbClr val="003366"/>
                </a:solidFill>
                <a:latin typeface="Times New Roman"/>
                <a:cs typeface="Times New Roman"/>
              </a:rPr>
              <a:t> </a:t>
            </a:r>
            <a:r>
              <a:rPr sz="1200" dirty="0">
                <a:solidFill>
                  <a:srgbClr val="003366"/>
                </a:solidFill>
                <a:latin typeface="Times New Roman"/>
                <a:cs typeface="Times New Roman"/>
              </a:rPr>
              <a:t>(e.g.,</a:t>
            </a:r>
            <a:r>
              <a:rPr sz="1200" spc="5" dirty="0">
                <a:solidFill>
                  <a:srgbClr val="003366"/>
                </a:solidFill>
                <a:latin typeface="Times New Roman"/>
                <a:cs typeface="Times New Roman"/>
              </a:rPr>
              <a:t> </a:t>
            </a:r>
            <a:r>
              <a:rPr sz="1200" dirty="0">
                <a:solidFill>
                  <a:srgbClr val="003366"/>
                </a:solidFill>
                <a:latin typeface="Times New Roman"/>
                <a:cs typeface="Times New Roman"/>
              </a:rPr>
              <a:t>in</a:t>
            </a:r>
            <a:r>
              <a:rPr sz="1200" spc="-25" dirty="0">
                <a:solidFill>
                  <a:srgbClr val="003366"/>
                </a:solidFill>
                <a:latin typeface="Times New Roman"/>
                <a:cs typeface="Times New Roman"/>
              </a:rPr>
              <a:t> </a:t>
            </a:r>
            <a:r>
              <a:rPr sz="1200" dirty="0">
                <a:solidFill>
                  <a:srgbClr val="003366"/>
                </a:solidFill>
                <a:latin typeface="Times New Roman"/>
                <a:cs typeface="Times New Roman"/>
              </a:rPr>
              <a:t>teaching</a:t>
            </a:r>
            <a:r>
              <a:rPr sz="1200" spc="5" dirty="0">
                <a:solidFill>
                  <a:srgbClr val="003366"/>
                </a:solidFill>
                <a:latin typeface="Times New Roman"/>
                <a:cs typeface="Times New Roman"/>
              </a:rPr>
              <a:t> </a:t>
            </a:r>
            <a:r>
              <a:rPr sz="1200" dirty="0">
                <a:solidFill>
                  <a:srgbClr val="003366"/>
                </a:solidFill>
                <a:latin typeface="Times New Roman"/>
                <a:cs typeface="Times New Roman"/>
              </a:rPr>
              <a:t>a</a:t>
            </a:r>
            <a:r>
              <a:rPr sz="1200" spc="-20" dirty="0">
                <a:solidFill>
                  <a:srgbClr val="003366"/>
                </a:solidFill>
                <a:latin typeface="Times New Roman"/>
                <a:cs typeface="Times New Roman"/>
              </a:rPr>
              <a:t> </a:t>
            </a:r>
            <a:r>
              <a:rPr sz="1200" dirty="0">
                <a:solidFill>
                  <a:srgbClr val="003366"/>
                </a:solidFill>
                <a:latin typeface="Times New Roman"/>
                <a:cs typeface="Times New Roman"/>
              </a:rPr>
              <a:t>class),</a:t>
            </a:r>
            <a:r>
              <a:rPr sz="1200" spc="-10" dirty="0">
                <a:solidFill>
                  <a:srgbClr val="003366"/>
                </a:solidFill>
                <a:latin typeface="Times New Roman"/>
                <a:cs typeface="Times New Roman"/>
              </a:rPr>
              <a:t> </a:t>
            </a:r>
            <a:r>
              <a:rPr sz="1200" dirty="0">
                <a:solidFill>
                  <a:srgbClr val="003366"/>
                </a:solidFill>
                <a:latin typeface="Times New Roman"/>
                <a:cs typeface="Times New Roman"/>
              </a:rPr>
              <a:t>and</a:t>
            </a:r>
            <a:r>
              <a:rPr sz="1200" spc="-15" dirty="0">
                <a:solidFill>
                  <a:srgbClr val="003366"/>
                </a:solidFill>
                <a:latin typeface="Times New Roman"/>
                <a:cs typeface="Times New Roman"/>
              </a:rPr>
              <a:t> </a:t>
            </a:r>
            <a:r>
              <a:rPr sz="1200" dirty="0">
                <a:solidFill>
                  <a:srgbClr val="003366"/>
                </a:solidFill>
                <a:latin typeface="Times New Roman"/>
                <a:cs typeface="Times New Roman"/>
              </a:rPr>
              <a:t>should</a:t>
            </a:r>
            <a:r>
              <a:rPr sz="1200" spc="-20" dirty="0">
                <a:solidFill>
                  <a:srgbClr val="003366"/>
                </a:solidFill>
                <a:latin typeface="Times New Roman"/>
                <a:cs typeface="Times New Roman"/>
              </a:rPr>
              <a:t> </a:t>
            </a:r>
            <a:r>
              <a:rPr sz="1200" dirty="0">
                <a:solidFill>
                  <a:srgbClr val="003366"/>
                </a:solidFill>
                <a:latin typeface="Times New Roman"/>
                <a:cs typeface="Times New Roman"/>
              </a:rPr>
              <a:t>not</a:t>
            </a:r>
            <a:r>
              <a:rPr sz="1200" spc="-20" dirty="0">
                <a:solidFill>
                  <a:srgbClr val="003366"/>
                </a:solidFill>
                <a:latin typeface="Times New Roman"/>
                <a:cs typeface="Times New Roman"/>
              </a:rPr>
              <a:t> </a:t>
            </a:r>
            <a:r>
              <a:rPr sz="1200" dirty="0">
                <a:solidFill>
                  <a:srgbClr val="003366"/>
                </a:solidFill>
                <a:latin typeface="Times New Roman"/>
                <a:cs typeface="Times New Roman"/>
              </a:rPr>
              <a:t>be</a:t>
            </a:r>
            <a:r>
              <a:rPr sz="1200" spc="-20" dirty="0">
                <a:solidFill>
                  <a:srgbClr val="003366"/>
                </a:solidFill>
                <a:latin typeface="Times New Roman"/>
                <a:cs typeface="Times New Roman"/>
              </a:rPr>
              <a:t> </a:t>
            </a:r>
            <a:r>
              <a:rPr sz="1200" dirty="0">
                <a:solidFill>
                  <a:srgbClr val="003366"/>
                </a:solidFill>
                <a:latin typeface="Times New Roman"/>
                <a:cs typeface="Times New Roman"/>
              </a:rPr>
              <a:t>used</a:t>
            </a:r>
            <a:r>
              <a:rPr sz="1200" spc="-20" dirty="0">
                <a:solidFill>
                  <a:srgbClr val="003366"/>
                </a:solidFill>
                <a:latin typeface="Times New Roman"/>
                <a:cs typeface="Times New Roman"/>
              </a:rPr>
              <a:t> </a:t>
            </a:r>
            <a:r>
              <a:rPr sz="1200" dirty="0">
                <a:solidFill>
                  <a:srgbClr val="003366"/>
                </a:solidFill>
                <a:latin typeface="Times New Roman"/>
                <a:cs typeface="Times New Roman"/>
              </a:rPr>
              <a:t>for</a:t>
            </a:r>
            <a:r>
              <a:rPr sz="1200" spc="-25" dirty="0">
                <a:solidFill>
                  <a:srgbClr val="003366"/>
                </a:solidFill>
                <a:latin typeface="Times New Roman"/>
                <a:cs typeface="Times New Roman"/>
              </a:rPr>
              <a:t> </a:t>
            </a:r>
            <a:r>
              <a:rPr sz="1200" spc="-10" dirty="0">
                <a:solidFill>
                  <a:srgbClr val="003366"/>
                </a:solidFill>
                <a:latin typeface="Times New Roman"/>
                <a:cs typeface="Times New Roman"/>
              </a:rPr>
              <a:t>commercial purposes.</a:t>
            </a:r>
            <a:endParaRPr sz="1200" dirty="0">
              <a:latin typeface="Times New Roman"/>
              <a:cs typeface="Times New Roman"/>
            </a:endParaRPr>
          </a:p>
        </p:txBody>
      </p:sp>
      <p:pic>
        <p:nvPicPr>
          <p:cNvPr id="5" name="object 5"/>
          <p:cNvPicPr/>
          <p:nvPr/>
        </p:nvPicPr>
        <p:blipFill>
          <a:blip r:embed="rId2" cstate="print"/>
          <a:stretch>
            <a:fillRect/>
          </a:stretch>
        </p:blipFill>
        <p:spPr>
          <a:xfrm>
            <a:off x="4565904" y="1604803"/>
            <a:ext cx="3052562" cy="1040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9940" y="382270"/>
            <a:ext cx="8096603" cy="751488"/>
          </a:xfrm>
          <a:prstGeom prst="rect">
            <a:avLst/>
          </a:prstGeom>
        </p:spPr>
        <p:txBody>
          <a:bodyPr vert="horz" wrap="square" lIns="0" tIns="12700" rIns="0" bIns="0" rtlCol="0" anchor="ctr">
            <a:spAutoFit/>
          </a:bodyPr>
          <a:lstStyle/>
          <a:p>
            <a:pPr marL="12700">
              <a:lnSpc>
                <a:spcPct val="100000"/>
              </a:lnSpc>
              <a:spcBef>
                <a:spcPts val="100"/>
              </a:spcBef>
              <a:tabLst>
                <a:tab pos="5302885" algn="l"/>
              </a:tabLst>
            </a:pPr>
            <a:r>
              <a:rPr lang="en-IN" sz="4800" dirty="0"/>
              <a:t>Unit 4 – AI Applications</a:t>
            </a:r>
            <a:endParaRPr sz="4800" dirty="0"/>
          </a:p>
        </p:txBody>
      </p:sp>
      <p:graphicFrame>
        <p:nvGraphicFramePr>
          <p:cNvPr id="4" name="Table 3">
            <a:extLst>
              <a:ext uri="{FF2B5EF4-FFF2-40B4-BE49-F238E27FC236}">
                <a16:creationId xmlns:a16="http://schemas.microsoft.com/office/drawing/2014/main" id="{5FBE010C-2D01-C977-42FC-BCA888B864DF}"/>
              </a:ext>
            </a:extLst>
          </p:cNvPr>
          <p:cNvGraphicFramePr>
            <a:graphicFrameLocks noGrp="1"/>
          </p:cNvGraphicFramePr>
          <p:nvPr>
            <p:extLst>
              <p:ext uri="{D42A27DB-BD31-4B8C-83A1-F6EECF244321}">
                <p14:modId xmlns:p14="http://schemas.microsoft.com/office/powerpoint/2010/main" val="797814406"/>
              </p:ext>
            </p:extLst>
          </p:nvPr>
        </p:nvGraphicFramePr>
        <p:xfrm>
          <a:off x="2637341" y="1494099"/>
          <a:ext cx="8074025" cy="4572000"/>
        </p:xfrm>
        <a:graphic>
          <a:graphicData uri="http://schemas.openxmlformats.org/drawingml/2006/table">
            <a:tbl>
              <a:tblPr/>
              <a:tblGrid>
                <a:gridCol w="8074025">
                  <a:extLst>
                    <a:ext uri="{9D8B030D-6E8A-4147-A177-3AD203B41FA5}">
                      <a16:colId xmlns:a16="http://schemas.microsoft.com/office/drawing/2014/main" val="4084139750"/>
                    </a:ext>
                  </a:extLst>
                </a:gridCol>
              </a:tblGrid>
              <a:tr h="0">
                <a:tc>
                  <a:txBody>
                    <a:bodyPr/>
                    <a:lstStyle/>
                    <a:p>
                      <a:pPr marL="457200" indent="-457200">
                        <a:buFont typeface="Wingdings" pitchFamily="2" charset="2"/>
                        <a:buChar char="Ø"/>
                      </a:pPr>
                      <a:r>
                        <a:rPr lang="en-IN" sz="2000" dirty="0">
                          <a:effectLst/>
                          <a:latin typeface="Times New Roman" panose="02020603050405020304" pitchFamily="18" charset="0"/>
                        </a:rPr>
                        <a:t>Artificial Intelligence in Game Development</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Applications in Healthcare, </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in Robotics and Autonomous Systems</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AI-Driven Innovations in Finance</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for Business Optimization</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Techniques in Marketing</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in Educational Technology</a:t>
                      </a:r>
                    </a:p>
                    <a:p>
                      <a:pPr marL="457200" indent="-457200">
                        <a:buFont typeface="Wingdings" pitchFamily="2" charset="2"/>
                        <a:buChar char="Ø"/>
                      </a:pPr>
                      <a:endParaRPr lang="en-IN" sz="2000" dirty="0">
                        <a:effectLst/>
                        <a:latin typeface="Times New Roman" panose="02020603050405020304" pitchFamily="18" charset="0"/>
                      </a:endParaRPr>
                    </a:p>
                    <a:p>
                      <a:pPr marL="457200" indent="-457200">
                        <a:buFont typeface="Wingdings" pitchFamily="2" charset="2"/>
                        <a:buChar char="Ø"/>
                      </a:pPr>
                      <a:r>
                        <a:rPr lang="en-IN" sz="2000" dirty="0">
                          <a:effectLst/>
                          <a:latin typeface="Times New Roman" panose="02020603050405020304" pitchFamily="18" charset="0"/>
                        </a:rPr>
                        <a:t>AI Solutions for Smart Agriculture </a:t>
                      </a:r>
                    </a:p>
                  </a:txBody>
                  <a:tcPr marL="47625" marR="47625" marT="0" marB="0">
                    <a:lnL>
                      <a:noFill/>
                    </a:lnL>
                    <a:lnR>
                      <a:noFill/>
                    </a:lnR>
                    <a:lnT>
                      <a:noFill/>
                    </a:lnT>
                    <a:lnB>
                      <a:noFill/>
                    </a:lnB>
                    <a:noFill/>
                  </a:tcPr>
                </a:tc>
                <a:extLst>
                  <a:ext uri="{0D108BD9-81ED-4DB2-BD59-A6C34878D82A}">
                    <a16:rowId xmlns:a16="http://schemas.microsoft.com/office/drawing/2014/main" val="327730782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75F2E-4738-8934-3F32-75FC5CB3D901}"/>
              </a:ext>
            </a:extLst>
          </p:cNvPr>
          <p:cNvSpPr>
            <a:spLocks noGrp="1"/>
          </p:cNvSpPr>
          <p:nvPr>
            <p:ph type="title"/>
          </p:nvPr>
        </p:nvSpPr>
        <p:spPr>
          <a:xfrm>
            <a:off x="2059941" y="145492"/>
            <a:ext cx="8072119" cy="1846659"/>
          </a:xfrm>
        </p:spPr>
        <p:txBody>
          <a:bodyPr>
            <a:normAutofit fontScale="90000"/>
          </a:bodyPr>
          <a:lstStyle/>
          <a:p>
            <a:r>
              <a:rPr lang="en-US" dirty="0"/>
              <a:t>Artificial Intelligence in Game Development</a:t>
            </a:r>
            <a:br>
              <a:rPr lang="en-US" dirty="0"/>
            </a:br>
            <a:endParaRPr lang="en-US" dirty="0"/>
          </a:p>
        </p:txBody>
      </p:sp>
      <p:sp>
        <p:nvSpPr>
          <p:cNvPr id="3" name="Text Placeholder 2">
            <a:extLst>
              <a:ext uri="{FF2B5EF4-FFF2-40B4-BE49-F238E27FC236}">
                <a16:creationId xmlns:a16="http://schemas.microsoft.com/office/drawing/2014/main" id="{CB8B6964-7675-C673-F843-C61D3CABDAB4}"/>
              </a:ext>
            </a:extLst>
          </p:cNvPr>
          <p:cNvSpPr>
            <a:spLocks noGrp="1"/>
          </p:cNvSpPr>
          <p:nvPr>
            <p:ph type="body" idx="1"/>
          </p:nvPr>
        </p:nvSpPr>
        <p:spPr>
          <a:xfrm>
            <a:off x="2059941" y="1616709"/>
            <a:ext cx="7465060" cy="2269491"/>
          </a:xfrm>
        </p:spPr>
        <p:txBody>
          <a:bodyPr>
            <a:normAutofit lnSpcReduction="10000"/>
          </a:bodyPr>
          <a:lstStyle/>
          <a:p>
            <a:r>
              <a:rPr lang="en-IN" dirty="0"/>
              <a:t>Artificial Intelligence (AI) plays a crucial role in modern game development by making games more realistic, adaptive, and engaging. It enhances both </a:t>
            </a:r>
            <a:r>
              <a:rPr lang="en-IN" b="1" dirty="0"/>
              <a:t>gameplay</a:t>
            </a:r>
            <a:r>
              <a:rPr lang="en-IN" dirty="0"/>
              <a:t> and </a:t>
            </a:r>
            <a:r>
              <a:rPr lang="en-IN" b="1" dirty="0"/>
              <a:t>development processes</a:t>
            </a:r>
            <a:r>
              <a:rPr lang="en-IN" dirty="0"/>
              <a:t> through intelligent algorithms, learning systems, and automation tools.</a:t>
            </a:r>
            <a:endParaRPr lang="en-US" dirty="0"/>
          </a:p>
        </p:txBody>
      </p:sp>
    </p:spTree>
    <p:extLst>
      <p:ext uri="{BB962C8B-B14F-4D97-AF65-F5344CB8AC3E}">
        <p14:creationId xmlns:p14="http://schemas.microsoft.com/office/powerpoint/2010/main" val="3237973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42250-E669-1CFF-6908-7D1CE83F09E2}"/>
              </a:ext>
            </a:extLst>
          </p:cNvPr>
          <p:cNvSpPr>
            <a:spLocks noGrp="1"/>
          </p:cNvSpPr>
          <p:nvPr>
            <p:ph type="title"/>
          </p:nvPr>
        </p:nvSpPr>
        <p:spPr>
          <a:xfrm>
            <a:off x="2059941" y="145492"/>
            <a:ext cx="8072119" cy="615553"/>
          </a:xfrm>
        </p:spPr>
        <p:txBody>
          <a:bodyPr>
            <a:normAutofit fontScale="90000"/>
          </a:bodyPr>
          <a:lstStyle/>
          <a:p>
            <a:r>
              <a:rPr lang="en-IN" dirty="0"/>
              <a:t>Role of AI in Games</a:t>
            </a:r>
            <a:endParaRPr lang="en-US" dirty="0"/>
          </a:p>
        </p:txBody>
      </p:sp>
      <p:sp>
        <p:nvSpPr>
          <p:cNvPr id="3" name="Text Placeholder 2">
            <a:extLst>
              <a:ext uri="{FF2B5EF4-FFF2-40B4-BE49-F238E27FC236}">
                <a16:creationId xmlns:a16="http://schemas.microsoft.com/office/drawing/2014/main" id="{E512D910-6DAA-D4C2-E7E1-F06F257FA887}"/>
              </a:ext>
            </a:extLst>
          </p:cNvPr>
          <p:cNvSpPr>
            <a:spLocks noGrp="1"/>
          </p:cNvSpPr>
          <p:nvPr>
            <p:ph type="body" idx="1"/>
          </p:nvPr>
        </p:nvSpPr>
        <p:spPr>
          <a:xfrm>
            <a:off x="2059941" y="1616709"/>
            <a:ext cx="8074025" cy="3077766"/>
          </a:xfrm>
        </p:spPr>
        <p:txBody>
          <a:bodyPr>
            <a:normAutofit fontScale="62500" lnSpcReduction="20000"/>
          </a:bodyPr>
          <a:lstStyle/>
          <a:p>
            <a:r>
              <a:rPr lang="en-US" dirty="0"/>
              <a:t>AI in games is primarily used to simulate human-like behavior and create adaptive challenges for players. It helps in:</a:t>
            </a:r>
          </a:p>
          <a:p>
            <a:endParaRPr lang="en-US" dirty="0"/>
          </a:p>
          <a:p>
            <a:pPr marL="342900" indent="-342900"/>
            <a:r>
              <a:rPr lang="en-US" dirty="0"/>
              <a:t>Controlling non-player characters (NPCs).</a:t>
            </a:r>
          </a:p>
          <a:p>
            <a:pPr marL="342900" indent="-342900"/>
            <a:endParaRPr lang="en-US" dirty="0"/>
          </a:p>
          <a:p>
            <a:pPr marL="342900" indent="-342900"/>
            <a:r>
              <a:rPr lang="en-US" dirty="0"/>
              <a:t>Generating procedural content.</a:t>
            </a:r>
          </a:p>
          <a:p>
            <a:pPr marL="342900" indent="-342900"/>
            <a:endParaRPr lang="en-US" dirty="0"/>
          </a:p>
          <a:p>
            <a:pPr marL="342900" indent="-342900"/>
            <a:r>
              <a:rPr lang="en-US" dirty="0"/>
              <a:t>Enhancing game balancing and difficulty.</a:t>
            </a:r>
          </a:p>
          <a:p>
            <a:pPr marL="342900" indent="-342900"/>
            <a:endParaRPr lang="en-US" dirty="0"/>
          </a:p>
          <a:p>
            <a:pPr marL="342900" indent="-342900"/>
            <a:r>
              <a:rPr lang="en-US" dirty="0"/>
              <a:t>Enabling realistic environments and interactions.</a:t>
            </a:r>
          </a:p>
        </p:txBody>
      </p:sp>
    </p:spTree>
    <p:extLst>
      <p:ext uri="{BB962C8B-B14F-4D97-AF65-F5344CB8AC3E}">
        <p14:creationId xmlns:p14="http://schemas.microsoft.com/office/powerpoint/2010/main" val="2725072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336B1-7B09-AF4C-7C14-AECC2AA87DF4}"/>
              </a:ext>
            </a:extLst>
          </p:cNvPr>
          <p:cNvSpPr>
            <a:spLocks noGrp="1"/>
          </p:cNvSpPr>
          <p:nvPr>
            <p:ph type="title"/>
          </p:nvPr>
        </p:nvSpPr>
        <p:spPr/>
        <p:txBody>
          <a:bodyPr/>
          <a:lstStyle/>
          <a:p>
            <a:r>
              <a:rPr lang="en-IN" dirty="0"/>
              <a:t>AI Techniques Used in Game Development</a:t>
            </a:r>
            <a:endParaRPr lang="en-US" dirty="0"/>
          </a:p>
        </p:txBody>
      </p:sp>
      <p:graphicFrame>
        <p:nvGraphicFramePr>
          <p:cNvPr id="5" name="Table 4">
            <a:extLst>
              <a:ext uri="{FF2B5EF4-FFF2-40B4-BE49-F238E27FC236}">
                <a16:creationId xmlns:a16="http://schemas.microsoft.com/office/drawing/2014/main" id="{F943B3F3-2721-54B9-B97B-ADE5D22F2AA8}"/>
              </a:ext>
            </a:extLst>
          </p:cNvPr>
          <p:cNvGraphicFramePr>
            <a:graphicFrameLocks noGrp="1"/>
          </p:cNvGraphicFramePr>
          <p:nvPr/>
        </p:nvGraphicFramePr>
        <p:xfrm>
          <a:off x="1905000" y="1676400"/>
          <a:ext cx="8074026" cy="4297680"/>
        </p:xfrm>
        <a:graphic>
          <a:graphicData uri="http://schemas.openxmlformats.org/drawingml/2006/table">
            <a:tbl>
              <a:tblPr/>
              <a:tblGrid>
                <a:gridCol w="2691342">
                  <a:extLst>
                    <a:ext uri="{9D8B030D-6E8A-4147-A177-3AD203B41FA5}">
                      <a16:colId xmlns:a16="http://schemas.microsoft.com/office/drawing/2014/main" val="1716314570"/>
                    </a:ext>
                  </a:extLst>
                </a:gridCol>
                <a:gridCol w="2691342">
                  <a:extLst>
                    <a:ext uri="{9D8B030D-6E8A-4147-A177-3AD203B41FA5}">
                      <a16:colId xmlns:a16="http://schemas.microsoft.com/office/drawing/2014/main" val="3545460815"/>
                    </a:ext>
                  </a:extLst>
                </a:gridCol>
                <a:gridCol w="2691342">
                  <a:extLst>
                    <a:ext uri="{9D8B030D-6E8A-4147-A177-3AD203B41FA5}">
                      <a16:colId xmlns:a16="http://schemas.microsoft.com/office/drawing/2014/main" val="4104673564"/>
                    </a:ext>
                  </a:extLst>
                </a:gridCol>
              </a:tblGrid>
              <a:tr h="365760">
                <a:tc>
                  <a:txBody>
                    <a:bodyPr/>
                    <a:lstStyle/>
                    <a:p>
                      <a:pPr>
                        <a:buNone/>
                      </a:pPr>
                      <a:r>
                        <a:rPr lang="en-IN" sz="1800"/>
                        <a:t>Technique</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tc>
                  <a:txBody>
                    <a:bodyPr/>
                    <a:lstStyle/>
                    <a:p>
                      <a:pPr>
                        <a:buNone/>
                      </a:pPr>
                      <a:r>
                        <a:rPr lang="en-IN" sz="1800"/>
                        <a:t>Example Use</a:t>
                      </a:r>
                    </a:p>
                  </a:txBody>
                  <a:tcPr anchor="ctr">
                    <a:lnL>
                      <a:noFill/>
                    </a:lnL>
                    <a:lnR>
                      <a:noFill/>
                    </a:lnR>
                    <a:lnT>
                      <a:noFill/>
                    </a:lnT>
                    <a:lnB>
                      <a:noFill/>
                    </a:lnB>
                    <a:noFill/>
                  </a:tcPr>
                </a:tc>
                <a:extLst>
                  <a:ext uri="{0D108BD9-81ED-4DB2-BD59-A6C34878D82A}">
                    <a16:rowId xmlns:a16="http://schemas.microsoft.com/office/drawing/2014/main" val="963499454"/>
                  </a:ext>
                </a:extLst>
              </a:tr>
              <a:tr h="365760">
                <a:tc>
                  <a:txBody>
                    <a:bodyPr/>
                    <a:lstStyle/>
                    <a:p>
                      <a:pPr>
                        <a:buNone/>
                      </a:pPr>
                      <a:r>
                        <a:rPr lang="en-IN" sz="1800" b="1"/>
                        <a:t>Pathfinding (A*)</a:t>
                      </a:r>
                      <a:endParaRPr lang="en-IN" sz="1800"/>
                    </a:p>
                  </a:txBody>
                  <a:tcPr anchor="ctr">
                    <a:lnL>
                      <a:noFill/>
                    </a:lnL>
                    <a:lnR>
                      <a:noFill/>
                    </a:lnR>
                    <a:lnT>
                      <a:noFill/>
                    </a:lnT>
                    <a:lnB>
                      <a:noFill/>
                    </a:lnB>
                    <a:noFill/>
                  </a:tcPr>
                </a:tc>
                <a:tc>
                  <a:txBody>
                    <a:bodyPr/>
                    <a:lstStyle/>
                    <a:p>
                      <a:pPr>
                        <a:buNone/>
                      </a:pPr>
                      <a:r>
                        <a:rPr lang="en-IN" sz="1800"/>
                        <a:t>Finding optimal paths</a:t>
                      </a:r>
                    </a:p>
                  </a:txBody>
                  <a:tcPr anchor="ctr">
                    <a:lnL>
                      <a:noFill/>
                    </a:lnL>
                    <a:lnR>
                      <a:noFill/>
                    </a:lnR>
                    <a:lnT>
                      <a:noFill/>
                    </a:lnT>
                    <a:lnB>
                      <a:noFill/>
                    </a:lnB>
                    <a:noFill/>
                  </a:tcPr>
                </a:tc>
                <a:tc>
                  <a:txBody>
                    <a:bodyPr/>
                    <a:lstStyle/>
                    <a:p>
                      <a:pPr>
                        <a:buNone/>
                      </a:pPr>
                      <a:r>
                        <a:rPr lang="en-IN" sz="1800"/>
                        <a:t>NPC navigation</a:t>
                      </a:r>
                    </a:p>
                  </a:txBody>
                  <a:tcPr anchor="ctr">
                    <a:lnL>
                      <a:noFill/>
                    </a:lnL>
                    <a:lnR>
                      <a:noFill/>
                    </a:lnR>
                    <a:lnT>
                      <a:noFill/>
                    </a:lnT>
                    <a:lnB>
                      <a:noFill/>
                    </a:lnB>
                    <a:noFill/>
                  </a:tcPr>
                </a:tc>
                <a:extLst>
                  <a:ext uri="{0D108BD9-81ED-4DB2-BD59-A6C34878D82A}">
                    <a16:rowId xmlns:a16="http://schemas.microsoft.com/office/drawing/2014/main" val="421015204"/>
                  </a:ext>
                </a:extLst>
              </a:tr>
              <a:tr h="640080">
                <a:tc>
                  <a:txBody>
                    <a:bodyPr/>
                    <a:lstStyle/>
                    <a:p>
                      <a:pPr>
                        <a:buNone/>
                      </a:pPr>
                      <a:r>
                        <a:rPr lang="en-IN" sz="1800" b="1"/>
                        <a:t>Finite State Machines (FSM)</a:t>
                      </a:r>
                      <a:endParaRPr lang="en-IN" sz="1800"/>
                    </a:p>
                  </a:txBody>
                  <a:tcPr anchor="ctr">
                    <a:lnL>
                      <a:noFill/>
                    </a:lnL>
                    <a:lnR>
                      <a:noFill/>
                    </a:lnR>
                    <a:lnT>
                      <a:noFill/>
                    </a:lnT>
                    <a:lnB>
                      <a:noFill/>
                    </a:lnB>
                    <a:noFill/>
                  </a:tcPr>
                </a:tc>
                <a:tc>
                  <a:txBody>
                    <a:bodyPr/>
                    <a:lstStyle/>
                    <a:p>
                      <a:pPr>
                        <a:buNone/>
                      </a:pPr>
                      <a:r>
                        <a:rPr lang="en-IN" sz="1800"/>
                        <a:t>Simple decision logic</a:t>
                      </a:r>
                    </a:p>
                  </a:txBody>
                  <a:tcPr anchor="ctr">
                    <a:lnL>
                      <a:noFill/>
                    </a:lnL>
                    <a:lnR>
                      <a:noFill/>
                    </a:lnR>
                    <a:lnT>
                      <a:noFill/>
                    </a:lnT>
                    <a:lnB>
                      <a:noFill/>
                    </a:lnB>
                    <a:noFill/>
                  </a:tcPr>
                </a:tc>
                <a:tc>
                  <a:txBody>
                    <a:bodyPr/>
                    <a:lstStyle/>
                    <a:p>
                      <a:pPr>
                        <a:buNone/>
                      </a:pPr>
                      <a:r>
                        <a:rPr lang="en-IN" sz="1800"/>
                        <a:t>Enemy AI states (idle, chase, attack)</a:t>
                      </a:r>
                    </a:p>
                  </a:txBody>
                  <a:tcPr anchor="ctr">
                    <a:lnL>
                      <a:noFill/>
                    </a:lnL>
                    <a:lnR>
                      <a:noFill/>
                    </a:lnR>
                    <a:lnT>
                      <a:noFill/>
                    </a:lnT>
                    <a:lnB>
                      <a:noFill/>
                    </a:lnB>
                    <a:noFill/>
                  </a:tcPr>
                </a:tc>
                <a:extLst>
                  <a:ext uri="{0D108BD9-81ED-4DB2-BD59-A6C34878D82A}">
                    <a16:rowId xmlns:a16="http://schemas.microsoft.com/office/drawing/2014/main" val="3376832812"/>
                  </a:ext>
                </a:extLst>
              </a:tr>
              <a:tr h="640080">
                <a:tc>
                  <a:txBody>
                    <a:bodyPr/>
                    <a:lstStyle/>
                    <a:p>
                      <a:pPr>
                        <a:buNone/>
                      </a:pPr>
                      <a:r>
                        <a:rPr lang="en-IN" sz="1800" b="1"/>
                        <a:t>Behavior Trees</a:t>
                      </a:r>
                      <a:endParaRPr lang="en-IN" sz="1800"/>
                    </a:p>
                  </a:txBody>
                  <a:tcPr anchor="ctr">
                    <a:lnL>
                      <a:noFill/>
                    </a:lnL>
                    <a:lnR>
                      <a:noFill/>
                    </a:lnR>
                    <a:lnT>
                      <a:noFill/>
                    </a:lnT>
                    <a:lnB>
                      <a:noFill/>
                    </a:lnB>
                    <a:noFill/>
                  </a:tcPr>
                </a:tc>
                <a:tc>
                  <a:txBody>
                    <a:bodyPr/>
                    <a:lstStyle/>
                    <a:p>
                      <a:pPr>
                        <a:buNone/>
                      </a:pPr>
                      <a:r>
                        <a:rPr lang="en-IN" sz="1800"/>
                        <a:t>Hierarchical decision structure</a:t>
                      </a:r>
                    </a:p>
                  </a:txBody>
                  <a:tcPr anchor="ctr">
                    <a:lnL>
                      <a:noFill/>
                    </a:lnL>
                    <a:lnR>
                      <a:noFill/>
                    </a:lnR>
                    <a:lnT>
                      <a:noFill/>
                    </a:lnT>
                    <a:lnB>
                      <a:noFill/>
                    </a:lnB>
                    <a:noFill/>
                  </a:tcPr>
                </a:tc>
                <a:tc>
                  <a:txBody>
                    <a:bodyPr/>
                    <a:lstStyle/>
                    <a:p>
                      <a:pPr>
                        <a:buNone/>
                      </a:pPr>
                      <a:r>
                        <a:rPr lang="en-IN" sz="1800"/>
                        <a:t>Complex NPC behaviors</a:t>
                      </a:r>
                    </a:p>
                  </a:txBody>
                  <a:tcPr anchor="ctr">
                    <a:lnL>
                      <a:noFill/>
                    </a:lnL>
                    <a:lnR>
                      <a:noFill/>
                    </a:lnR>
                    <a:lnT>
                      <a:noFill/>
                    </a:lnT>
                    <a:lnB>
                      <a:noFill/>
                    </a:lnB>
                    <a:noFill/>
                  </a:tcPr>
                </a:tc>
                <a:extLst>
                  <a:ext uri="{0D108BD9-81ED-4DB2-BD59-A6C34878D82A}">
                    <a16:rowId xmlns:a16="http://schemas.microsoft.com/office/drawing/2014/main" val="3333298285"/>
                  </a:ext>
                </a:extLst>
              </a:tr>
              <a:tr h="365760">
                <a:tc>
                  <a:txBody>
                    <a:bodyPr/>
                    <a:lstStyle/>
                    <a:p>
                      <a:pPr>
                        <a:buNone/>
                      </a:pPr>
                      <a:r>
                        <a:rPr lang="en-IN" sz="1800" b="1"/>
                        <a:t>Neural Networks</a:t>
                      </a:r>
                      <a:endParaRPr lang="en-IN" sz="1800"/>
                    </a:p>
                  </a:txBody>
                  <a:tcPr anchor="ctr">
                    <a:lnL>
                      <a:noFill/>
                    </a:lnL>
                    <a:lnR>
                      <a:noFill/>
                    </a:lnR>
                    <a:lnT>
                      <a:noFill/>
                    </a:lnT>
                    <a:lnB>
                      <a:noFill/>
                    </a:lnB>
                    <a:noFill/>
                  </a:tcPr>
                </a:tc>
                <a:tc>
                  <a:txBody>
                    <a:bodyPr/>
                    <a:lstStyle/>
                    <a:p>
                      <a:pPr>
                        <a:buNone/>
                      </a:pPr>
                      <a:r>
                        <a:rPr lang="en-IN" sz="1800"/>
                        <a:t>Learning-based adaptation</a:t>
                      </a:r>
                    </a:p>
                  </a:txBody>
                  <a:tcPr anchor="ctr">
                    <a:lnL>
                      <a:noFill/>
                    </a:lnL>
                    <a:lnR>
                      <a:noFill/>
                    </a:lnR>
                    <a:lnT>
                      <a:noFill/>
                    </a:lnT>
                    <a:lnB>
                      <a:noFill/>
                    </a:lnB>
                    <a:noFill/>
                  </a:tcPr>
                </a:tc>
                <a:tc>
                  <a:txBody>
                    <a:bodyPr/>
                    <a:lstStyle/>
                    <a:p>
                      <a:pPr>
                        <a:buNone/>
                      </a:pPr>
                      <a:r>
                        <a:rPr lang="en-IN" sz="1800"/>
                        <a:t>Player style adaptation</a:t>
                      </a:r>
                    </a:p>
                  </a:txBody>
                  <a:tcPr anchor="ctr">
                    <a:lnL>
                      <a:noFill/>
                    </a:lnL>
                    <a:lnR>
                      <a:noFill/>
                    </a:lnR>
                    <a:lnT>
                      <a:noFill/>
                    </a:lnT>
                    <a:lnB>
                      <a:noFill/>
                    </a:lnB>
                    <a:noFill/>
                  </a:tcPr>
                </a:tc>
                <a:extLst>
                  <a:ext uri="{0D108BD9-81ED-4DB2-BD59-A6C34878D82A}">
                    <a16:rowId xmlns:a16="http://schemas.microsoft.com/office/drawing/2014/main" val="3737634367"/>
                  </a:ext>
                </a:extLst>
              </a:tr>
              <a:tr h="640080">
                <a:tc>
                  <a:txBody>
                    <a:bodyPr/>
                    <a:lstStyle/>
                    <a:p>
                      <a:pPr>
                        <a:buNone/>
                      </a:pPr>
                      <a:r>
                        <a:rPr lang="en-IN" sz="1800" b="1"/>
                        <a:t>Reinforcement Learning (RL)</a:t>
                      </a:r>
                      <a:endParaRPr lang="en-IN" sz="1800"/>
                    </a:p>
                  </a:txBody>
                  <a:tcPr anchor="ctr">
                    <a:lnL>
                      <a:noFill/>
                    </a:lnL>
                    <a:lnR>
                      <a:noFill/>
                    </a:lnR>
                    <a:lnT>
                      <a:noFill/>
                    </a:lnT>
                    <a:lnB>
                      <a:noFill/>
                    </a:lnB>
                    <a:noFill/>
                  </a:tcPr>
                </a:tc>
                <a:tc>
                  <a:txBody>
                    <a:bodyPr/>
                    <a:lstStyle/>
                    <a:p>
                      <a:pPr>
                        <a:buNone/>
                      </a:pPr>
                      <a:r>
                        <a:rPr lang="en-IN" sz="1800"/>
                        <a:t>AI learns optimal actions</a:t>
                      </a:r>
                    </a:p>
                  </a:txBody>
                  <a:tcPr anchor="ctr">
                    <a:lnL>
                      <a:noFill/>
                    </a:lnL>
                    <a:lnR>
                      <a:noFill/>
                    </a:lnR>
                    <a:lnT>
                      <a:noFill/>
                    </a:lnT>
                    <a:lnB>
                      <a:noFill/>
                    </a:lnB>
                    <a:noFill/>
                  </a:tcPr>
                </a:tc>
                <a:tc>
                  <a:txBody>
                    <a:bodyPr/>
                    <a:lstStyle/>
                    <a:p>
                      <a:pPr>
                        <a:buNone/>
                      </a:pPr>
                      <a:r>
                        <a:rPr lang="en-IN" sz="1800"/>
                        <a:t>Self-learning agents</a:t>
                      </a:r>
                    </a:p>
                  </a:txBody>
                  <a:tcPr anchor="ctr">
                    <a:lnL>
                      <a:noFill/>
                    </a:lnL>
                    <a:lnR>
                      <a:noFill/>
                    </a:lnR>
                    <a:lnT>
                      <a:noFill/>
                    </a:lnT>
                    <a:lnB>
                      <a:noFill/>
                    </a:lnB>
                    <a:noFill/>
                  </a:tcPr>
                </a:tc>
                <a:extLst>
                  <a:ext uri="{0D108BD9-81ED-4DB2-BD59-A6C34878D82A}">
                    <a16:rowId xmlns:a16="http://schemas.microsoft.com/office/drawing/2014/main" val="2863058521"/>
                  </a:ext>
                </a:extLst>
              </a:tr>
              <a:tr h="365760">
                <a:tc>
                  <a:txBody>
                    <a:bodyPr/>
                    <a:lstStyle/>
                    <a:p>
                      <a:pPr>
                        <a:buNone/>
                      </a:pPr>
                      <a:r>
                        <a:rPr lang="en-IN" sz="1800" b="1"/>
                        <a:t>Genetic Algorithms (GA)</a:t>
                      </a:r>
                      <a:endParaRPr lang="en-IN" sz="1800"/>
                    </a:p>
                  </a:txBody>
                  <a:tcPr anchor="ctr">
                    <a:lnL>
                      <a:noFill/>
                    </a:lnL>
                    <a:lnR>
                      <a:noFill/>
                    </a:lnR>
                    <a:lnT>
                      <a:noFill/>
                    </a:lnT>
                    <a:lnB>
                      <a:noFill/>
                    </a:lnB>
                    <a:noFill/>
                  </a:tcPr>
                </a:tc>
                <a:tc>
                  <a:txBody>
                    <a:bodyPr/>
                    <a:lstStyle/>
                    <a:p>
                      <a:pPr>
                        <a:buNone/>
                      </a:pPr>
                      <a:r>
                        <a:rPr lang="en-IN" sz="1800"/>
                        <a:t>Evolutionary optimization</a:t>
                      </a:r>
                    </a:p>
                  </a:txBody>
                  <a:tcPr anchor="ctr">
                    <a:lnL>
                      <a:noFill/>
                    </a:lnL>
                    <a:lnR>
                      <a:noFill/>
                    </a:lnR>
                    <a:lnT>
                      <a:noFill/>
                    </a:lnT>
                    <a:lnB>
                      <a:noFill/>
                    </a:lnB>
                    <a:noFill/>
                  </a:tcPr>
                </a:tc>
                <a:tc>
                  <a:txBody>
                    <a:bodyPr/>
                    <a:lstStyle/>
                    <a:p>
                      <a:pPr>
                        <a:buNone/>
                      </a:pPr>
                      <a:r>
                        <a:rPr lang="en-IN" sz="1800"/>
                        <a:t>Level or character design</a:t>
                      </a:r>
                    </a:p>
                  </a:txBody>
                  <a:tcPr anchor="ctr">
                    <a:lnL>
                      <a:noFill/>
                    </a:lnL>
                    <a:lnR>
                      <a:noFill/>
                    </a:lnR>
                    <a:lnT>
                      <a:noFill/>
                    </a:lnT>
                    <a:lnB>
                      <a:noFill/>
                    </a:lnB>
                    <a:noFill/>
                  </a:tcPr>
                </a:tc>
                <a:extLst>
                  <a:ext uri="{0D108BD9-81ED-4DB2-BD59-A6C34878D82A}">
                    <a16:rowId xmlns:a16="http://schemas.microsoft.com/office/drawing/2014/main" val="1136389754"/>
                  </a:ext>
                </a:extLst>
              </a:tr>
              <a:tr h="640080">
                <a:tc>
                  <a:txBody>
                    <a:bodyPr/>
                    <a:lstStyle/>
                    <a:p>
                      <a:pPr>
                        <a:buNone/>
                      </a:pPr>
                      <a:r>
                        <a:rPr lang="en-IN" sz="1800" b="1"/>
                        <a:t>Fuzzy Logic</a:t>
                      </a:r>
                      <a:endParaRPr lang="en-IN" sz="1800"/>
                    </a:p>
                  </a:txBody>
                  <a:tcPr anchor="ctr">
                    <a:lnL>
                      <a:noFill/>
                    </a:lnL>
                    <a:lnR>
                      <a:noFill/>
                    </a:lnR>
                    <a:lnT>
                      <a:noFill/>
                    </a:lnT>
                    <a:lnB>
                      <a:noFill/>
                    </a:lnB>
                    <a:noFill/>
                  </a:tcPr>
                </a:tc>
                <a:tc>
                  <a:txBody>
                    <a:bodyPr/>
                    <a:lstStyle/>
                    <a:p>
                      <a:pPr>
                        <a:buNone/>
                      </a:pPr>
                      <a:r>
                        <a:rPr lang="en-IN" sz="1800"/>
                        <a:t>Handling uncertainty</a:t>
                      </a:r>
                    </a:p>
                  </a:txBody>
                  <a:tcPr anchor="ctr">
                    <a:lnL>
                      <a:noFill/>
                    </a:lnL>
                    <a:lnR>
                      <a:noFill/>
                    </a:lnR>
                    <a:lnT>
                      <a:noFill/>
                    </a:lnT>
                    <a:lnB>
                      <a:noFill/>
                    </a:lnB>
                    <a:noFill/>
                  </a:tcPr>
                </a:tc>
                <a:tc>
                  <a:txBody>
                    <a:bodyPr/>
                    <a:lstStyle/>
                    <a:p>
                      <a:pPr>
                        <a:buNone/>
                      </a:pPr>
                      <a:r>
                        <a:rPr lang="en-IN" sz="1800" dirty="0"/>
                        <a:t>Human-like decision making</a:t>
                      </a:r>
                    </a:p>
                  </a:txBody>
                  <a:tcPr anchor="ctr">
                    <a:lnL>
                      <a:noFill/>
                    </a:lnL>
                    <a:lnR>
                      <a:noFill/>
                    </a:lnR>
                    <a:lnT>
                      <a:noFill/>
                    </a:lnT>
                    <a:lnB>
                      <a:noFill/>
                    </a:lnB>
                    <a:noFill/>
                  </a:tcPr>
                </a:tc>
                <a:extLst>
                  <a:ext uri="{0D108BD9-81ED-4DB2-BD59-A6C34878D82A}">
                    <a16:rowId xmlns:a16="http://schemas.microsoft.com/office/drawing/2014/main" val="3680139228"/>
                  </a:ext>
                </a:extLst>
              </a:tr>
            </a:tbl>
          </a:graphicData>
        </a:graphic>
      </p:graphicFrame>
    </p:spTree>
    <p:extLst>
      <p:ext uri="{BB962C8B-B14F-4D97-AF65-F5344CB8AC3E}">
        <p14:creationId xmlns:p14="http://schemas.microsoft.com/office/powerpoint/2010/main" val="1631327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F4FB0-36FD-28C4-3BC4-3AFDBD9E2A54}"/>
              </a:ext>
            </a:extLst>
          </p:cNvPr>
          <p:cNvSpPr>
            <a:spLocks noGrp="1"/>
          </p:cNvSpPr>
          <p:nvPr>
            <p:ph type="title"/>
          </p:nvPr>
        </p:nvSpPr>
        <p:spPr>
          <a:xfrm>
            <a:off x="2059941" y="145492"/>
            <a:ext cx="8072119" cy="615553"/>
          </a:xfrm>
        </p:spPr>
        <p:txBody>
          <a:bodyPr>
            <a:normAutofit fontScale="90000"/>
          </a:bodyPr>
          <a:lstStyle/>
          <a:p>
            <a:r>
              <a:rPr lang="en-IN" dirty="0"/>
              <a:t>heuristic algorithm</a:t>
            </a:r>
            <a:endParaRPr lang="en-US" dirty="0"/>
          </a:p>
        </p:txBody>
      </p:sp>
      <p:sp>
        <p:nvSpPr>
          <p:cNvPr id="3" name="Text Placeholder 2">
            <a:extLst>
              <a:ext uri="{FF2B5EF4-FFF2-40B4-BE49-F238E27FC236}">
                <a16:creationId xmlns:a16="http://schemas.microsoft.com/office/drawing/2014/main" id="{56992533-FBFE-7364-0E1F-A83C47B12DF3}"/>
              </a:ext>
            </a:extLst>
          </p:cNvPr>
          <p:cNvSpPr>
            <a:spLocks noGrp="1"/>
          </p:cNvSpPr>
          <p:nvPr>
            <p:ph type="body" idx="1"/>
          </p:nvPr>
        </p:nvSpPr>
        <p:spPr>
          <a:xfrm>
            <a:off x="2185686" y="838200"/>
            <a:ext cx="7086600" cy="2590800"/>
          </a:xfrm>
        </p:spPr>
        <p:txBody>
          <a:bodyPr/>
          <a:lstStyle/>
          <a:p>
            <a:r>
              <a:rPr lang="en-IN" dirty="0"/>
              <a:t>A </a:t>
            </a:r>
            <a:r>
              <a:rPr lang="en-IN" b="1" dirty="0"/>
              <a:t>heuristic algorithm</a:t>
            </a:r>
            <a:r>
              <a:rPr lang="en-IN" dirty="0"/>
              <a:t> is a </a:t>
            </a:r>
            <a:r>
              <a:rPr lang="en-IN" b="1" dirty="0"/>
              <a:t>problem-solving method</a:t>
            </a:r>
            <a:r>
              <a:rPr lang="en-IN" dirty="0"/>
              <a:t> that uses practical techniques or shortcuts to produce a </a:t>
            </a:r>
            <a:r>
              <a:rPr lang="en-IN" b="1" dirty="0"/>
              <a:t>good enough solution</a:t>
            </a:r>
            <a:r>
              <a:rPr lang="en-IN" dirty="0"/>
              <a:t> when finding the exact or optimal solution is too time-consuming or complex.</a:t>
            </a:r>
            <a:endParaRPr lang="en-US" dirty="0"/>
          </a:p>
        </p:txBody>
      </p:sp>
      <p:sp>
        <p:nvSpPr>
          <p:cNvPr id="5" name="TextBox 4">
            <a:extLst>
              <a:ext uri="{FF2B5EF4-FFF2-40B4-BE49-F238E27FC236}">
                <a16:creationId xmlns:a16="http://schemas.microsoft.com/office/drawing/2014/main" id="{5E3CA266-1F26-1390-254B-7C5177DA9ADC}"/>
              </a:ext>
            </a:extLst>
          </p:cNvPr>
          <p:cNvSpPr txBox="1"/>
          <p:nvPr/>
        </p:nvSpPr>
        <p:spPr>
          <a:xfrm>
            <a:off x="2390172" y="3429000"/>
            <a:ext cx="6677628" cy="2031325"/>
          </a:xfrm>
          <a:prstGeom prst="rect">
            <a:avLst/>
          </a:prstGeom>
          <a:noFill/>
        </p:spPr>
        <p:txBody>
          <a:bodyPr wrap="square">
            <a:spAutoFit/>
          </a:bodyPr>
          <a:lstStyle/>
          <a:p>
            <a:pPr>
              <a:buNone/>
            </a:pPr>
            <a:r>
              <a:rPr lang="en-IN" b="1" dirty="0"/>
              <a:t>Key Characteristics:</a:t>
            </a:r>
          </a:p>
          <a:p>
            <a:pPr>
              <a:buFont typeface="+mj-lt"/>
              <a:buAutoNum type="arabicPeriod"/>
            </a:pPr>
            <a:r>
              <a:rPr lang="en-IN" b="1" dirty="0"/>
              <a:t>Approximation:</a:t>
            </a:r>
            <a:r>
              <a:rPr lang="en-IN" dirty="0"/>
              <a:t> It aims for a </a:t>
            </a:r>
            <a:r>
              <a:rPr lang="en-IN" i="1" dirty="0"/>
              <a:t>satisfactory</a:t>
            </a:r>
            <a:r>
              <a:rPr lang="en-IN" dirty="0"/>
              <a:t> solution, not necessarily the </a:t>
            </a:r>
            <a:r>
              <a:rPr lang="en-IN" i="1" dirty="0"/>
              <a:t>best</a:t>
            </a:r>
            <a:r>
              <a:rPr lang="en-IN" dirty="0"/>
              <a:t> one.</a:t>
            </a:r>
          </a:p>
          <a:p>
            <a:pPr>
              <a:buFont typeface="+mj-lt"/>
              <a:buAutoNum type="arabicPeriod"/>
            </a:pPr>
            <a:r>
              <a:rPr lang="en-IN" b="1" dirty="0"/>
              <a:t>Speed:</a:t>
            </a:r>
            <a:r>
              <a:rPr lang="en-IN" dirty="0"/>
              <a:t> Faster than exhaustive or exact algorithms.</a:t>
            </a:r>
          </a:p>
          <a:p>
            <a:pPr>
              <a:buFont typeface="+mj-lt"/>
              <a:buAutoNum type="arabicPeriod"/>
            </a:pPr>
            <a:r>
              <a:rPr lang="en-IN" b="1" dirty="0"/>
              <a:t>Experience-based:</a:t>
            </a:r>
            <a:r>
              <a:rPr lang="en-IN" dirty="0"/>
              <a:t> Uses intuition, rules of thumb, or domain knowledge.</a:t>
            </a:r>
          </a:p>
          <a:p>
            <a:pPr>
              <a:buFont typeface="+mj-lt"/>
              <a:buAutoNum type="arabicPeriod"/>
            </a:pPr>
            <a:r>
              <a:rPr lang="en-IN" b="1" dirty="0"/>
              <a:t>Trade-off:</a:t>
            </a:r>
            <a:r>
              <a:rPr lang="en-IN" dirty="0"/>
              <a:t> Balances accuracy with computational efficiency.</a:t>
            </a:r>
          </a:p>
        </p:txBody>
      </p:sp>
    </p:spTree>
    <p:extLst>
      <p:ext uri="{BB962C8B-B14F-4D97-AF65-F5344CB8AC3E}">
        <p14:creationId xmlns:p14="http://schemas.microsoft.com/office/powerpoint/2010/main" val="3576908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23E16-CAF8-E1AB-0C96-BC3D26C1E64A}"/>
              </a:ext>
            </a:extLst>
          </p:cNvPr>
          <p:cNvSpPr>
            <a:spLocks noGrp="1"/>
          </p:cNvSpPr>
          <p:nvPr>
            <p:ph type="title"/>
          </p:nvPr>
        </p:nvSpPr>
        <p:spPr>
          <a:xfrm>
            <a:off x="2059941" y="145492"/>
            <a:ext cx="8072119" cy="615553"/>
          </a:xfrm>
        </p:spPr>
        <p:txBody>
          <a:bodyPr>
            <a:normAutofit fontScale="90000"/>
          </a:bodyPr>
          <a:lstStyle/>
          <a:p>
            <a:r>
              <a:rPr lang="en-IN" dirty="0"/>
              <a:t>A* (A-Star) Algorithm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97EE312-F63B-4981-1E75-467591BED783}"/>
                  </a:ext>
                </a:extLst>
              </p:cNvPr>
              <p:cNvSpPr>
                <a:spLocks noGrp="1"/>
              </p:cNvSpPr>
              <p:nvPr>
                <p:ph type="body" idx="1"/>
              </p:nvPr>
            </p:nvSpPr>
            <p:spPr>
              <a:xfrm>
                <a:off x="1797912" y="879676"/>
                <a:ext cx="8074025" cy="5702264"/>
              </a:xfrm>
            </p:spPr>
            <p:txBody>
              <a:bodyPr>
                <a:normAutofit fontScale="62500" lnSpcReduction="20000"/>
              </a:bodyPr>
              <a:lstStyle/>
              <a:p>
                <a:r>
                  <a:rPr lang="en-IN" dirty="0"/>
                  <a:t>The </a:t>
                </a:r>
                <a:r>
                  <a:rPr lang="en-IN" b="1" dirty="0"/>
                  <a:t>A*</a:t>
                </a:r>
                <a:r>
                  <a:rPr lang="en-IN" dirty="0"/>
                  <a:t> algorithm is one of the most popular and efficient </a:t>
                </a:r>
                <a:r>
                  <a:rPr lang="en-IN" b="1" dirty="0"/>
                  <a:t>pathfinding</a:t>
                </a:r>
                <a:r>
                  <a:rPr lang="en-IN" dirty="0"/>
                  <a:t> and </a:t>
                </a:r>
                <a:r>
                  <a:rPr lang="en-IN" b="1" dirty="0"/>
                  <a:t>graph traversal</a:t>
                </a:r>
                <a:r>
                  <a:rPr lang="en-IN" dirty="0"/>
                  <a:t> algorithms. It is used to find the </a:t>
                </a:r>
                <a:r>
                  <a:rPr lang="en-IN" b="1" dirty="0"/>
                  <a:t>shortest path</a:t>
                </a:r>
                <a:r>
                  <a:rPr lang="en-IN" dirty="0"/>
                  <a:t> between two points while considering both </a:t>
                </a:r>
                <a:r>
                  <a:rPr lang="en-IN" b="1" dirty="0"/>
                  <a:t>cost</a:t>
                </a:r>
                <a:r>
                  <a:rPr lang="en-IN" dirty="0"/>
                  <a:t> and </a:t>
                </a:r>
                <a:r>
                  <a:rPr lang="en-IN" b="1" dirty="0"/>
                  <a:t>heuristics</a:t>
                </a:r>
                <a:r>
                  <a:rPr lang="en-IN" dirty="0"/>
                  <a:t>.</a:t>
                </a:r>
              </a:p>
              <a:p>
                <a:endParaRPr lang="en-IN" dirty="0"/>
              </a:p>
              <a:p>
                <a:r>
                  <a:rPr lang="en-IN" dirty="0"/>
                  <a:t>A* is designed to find the </a:t>
                </a:r>
                <a:r>
                  <a:rPr lang="en-IN" b="1" dirty="0"/>
                  <a:t>optimal path</a:t>
                </a:r>
                <a:r>
                  <a:rPr lang="en-IN" dirty="0"/>
                  <a:t> from a </a:t>
                </a:r>
                <a:r>
                  <a:rPr lang="en-IN" b="1" dirty="0"/>
                  <a:t>start node</a:t>
                </a:r>
                <a:r>
                  <a:rPr lang="en-IN" dirty="0"/>
                  <a:t> to a </a:t>
                </a:r>
                <a:r>
                  <a:rPr lang="en-IN" b="1" dirty="0"/>
                  <a:t>goal node</a:t>
                </a:r>
                <a:r>
                  <a:rPr lang="en-IN" dirty="0"/>
                  <a:t> in a graph or grid (used in games, robotics, and AI navigation).</a:t>
                </a:r>
              </a:p>
              <a:p>
                <a:endParaRPr lang="en-IN" dirty="0"/>
              </a:p>
              <a:p>
                <a:r>
                  <a:rPr lang="en-IN" dirty="0"/>
                  <a:t>A* uses the formula:</a:t>
                </a:r>
              </a:p>
              <a:p>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𝑛</m:t>
                        </m:r>
                      </m:e>
                    </m:d>
                    <m:r>
                      <a:rPr lang="ar-AE">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𝑛</m:t>
                        </m:r>
                      </m:e>
                    </m:d>
                    <m:r>
                      <a:rPr lang="ar-AE">
                        <a:latin typeface="Cambria Math" panose="02040503050406030204" pitchFamily="18" charset="0"/>
                      </a:rPr>
                      <m:t>+</m:t>
                    </m:r>
                    <m:r>
                      <a:rPr lang="ar-AE"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𝑛</m:t>
                        </m:r>
                      </m:e>
                    </m:d>
                  </m:oMath>
                </a14:m>
                <a:endParaRPr lang="ar-AE" dirty="0"/>
              </a:p>
              <a:p>
                <a:endParaRPr lang="en-IN" dirty="0"/>
              </a:p>
              <a:p>
                <a:r>
                  <a:rPr lang="en-IN" dirty="0"/>
                  <a:t>Where:</a:t>
                </a:r>
              </a:p>
              <a:p>
                <a:endParaRPr lang="en-IN" dirty="0"/>
              </a:p>
              <a:p>
                <a:r>
                  <a:rPr lang="en-IN" b="1" dirty="0"/>
                  <a:t>f(n)</a:t>
                </a:r>
                <a:r>
                  <a:rPr lang="en-IN" dirty="0"/>
                  <a:t> = Total cost of the node</a:t>
                </a:r>
              </a:p>
              <a:p>
                <a:endParaRPr lang="en-IN" dirty="0"/>
              </a:p>
              <a:p>
                <a:r>
                  <a:rPr lang="en-IN" b="1" dirty="0"/>
                  <a:t>g(n)</a:t>
                </a:r>
                <a:r>
                  <a:rPr lang="en-IN" dirty="0"/>
                  <a:t> = Actual cost from the start node to the current node</a:t>
                </a:r>
              </a:p>
              <a:p>
                <a:endParaRPr lang="en-IN" dirty="0"/>
              </a:p>
              <a:p>
                <a:r>
                  <a:rPr lang="en-IN" b="1" dirty="0"/>
                  <a:t>h(n)</a:t>
                </a:r>
                <a:r>
                  <a:rPr lang="en-IN" dirty="0"/>
                  <a:t> = Heuristic estimated cost from the current node to the goal</a:t>
                </a:r>
              </a:p>
              <a:p>
                <a:endParaRPr lang="en-IN" dirty="0"/>
              </a:p>
              <a:p>
                <a:r>
                  <a:rPr lang="en-IN" dirty="0"/>
                  <a:t>  The node with the </a:t>
                </a:r>
                <a:r>
                  <a:rPr lang="en-IN" b="1" dirty="0"/>
                  <a:t>lowest f(n)</a:t>
                </a:r>
                <a:r>
                  <a:rPr lang="en-IN" dirty="0"/>
                  <a:t> is explored first.</a:t>
                </a:r>
              </a:p>
              <a:p>
                <a:endParaRPr lang="en-IN" dirty="0"/>
              </a:p>
              <a:p>
                <a:endParaRPr lang="en-IN" dirty="0"/>
              </a:p>
              <a:p>
                <a:endParaRPr lang="en-US" dirty="0"/>
              </a:p>
            </p:txBody>
          </p:sp>
        </mc:Choice>
        <mc:Fallback xmlns="">
          <p:sp>
            <p:nvSpPr>
              <p:cNvPr id="3" name="Text Placeholder 2">
                <a:extLst>
                  <a:ext uri="{FF2B5EF4-FFF2-40B4-BE49-F238E27FC236}">
                    <a16:creationId xmlns:a16="http://schemas.microsoft.com/office/drawing/2014/main" id="{897EE312-F63B-4981-1E75-467591BED783}"/>
                  </a:ext>
                </a:extLst>
              </p:cNvPr>
              <p:cNvSpPr>
                <a:spLocks noGrp="1" noRot="1" noChangeAspect="1" noMove="1" noResize="1" noEditPoints="1" noAdjustHandles="1" noChangeArrowheads="1" noChangeShapeType="1" noTextEdit="1"/>
              </p:cNvSpPr>
              <p:nvPr>
                <p:ph type="body" idx="1"/>
              </p:nvPr>
            </p:nvSpPr>
            <p:spPr>
              <a:xfrm>
                <a:off x="1797912" y="879676"/>
                <a:ext cx="8074025" cy="5702264"/>
              </a:xfrm>
              <a:blipFill>
                <a:blip r:embed="rId2"/>
                <a:stretch>
                  <a:fillRect l="-471" t="-2000" b="-2000"/>
                </a:stretch>
              </a:blipFill>
            </p:spPr>
            <p:txBody>
              <a:bodyPr/>
              <a:lstStyle/>
              <a:p>
                <a:r>
                  <a:rPr lang="en-US">
                    <a:noFill/>
                  </a:rPr>
                  <a:t> </a:t>
                </a:r>
              </a:p>
            </p:txBody>
          </p:sp>
        </mc:Fallback>
      </mc:AlternateContent>
    </p:spTree>
    <p:extLst>
      <p:ext uri="{BB962C8B-B14F-4D97-AF65-F5344CB8AC3E}">
        <p14:creationId xmlns:p14="http://schemas.microsoft.com/office/powerpoint/2010/main" val="327871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115F3-985C-80A1-924A-AE1071B6DA94}"/>
              </a:ext>
            </a:extLst>
          </p:cNvPr>
          <p:cNvSpPr>
            <a:spLocks noGrp="1"/>
          </p:cNvSpPr>
          <p:nvPr>
            <p:ph type="title"/>
          </p:nvPr>
        </p:nvSpPr>
        <p:spPr/>
        <p:txBody>
          <a:bodyPr/>
          <a:lstStyle/>
          <a:p>
            <a:endParaRPr lang="en-US"/>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10FB08B-0263-178F-9160-3ED55005C158}"/>
                  </a:ext>
                </a:extLst>
              </p:cNvPr>
              <p:cNvSpPr>
                <a:spLocks noGrp="1"/>
              </p:cNvSpPr>
              <p:nvPr>
                <p:ph type="body" idx="1"/>
              </p:nvPr>
            </p:nvSpPr>
            <p:spPr>
              <a:xfrm>
                <a:off x="2058987" y="1884731"/>
                <a:ext cx="8074025" cy="3088538"/>
              </a:xfrm>
            </p:spPr>
            <p:txBody>
              <a:bodyPr>
                <a:normAutofit fontScale="62500" lnSpcReduction="20000"/>
              </a:bodyPr>
              <a:lstStyle/>
              <a:p>
                <a:r>
                  <a:rPr lang="en-IN" b="1" dirty="0"/>
                  <a:t>Heuristic Function (h)</a:t>
                </a:r>
              </a:p>
              <a:p>
                <a:endParaRPr lang="en-IN" b="1" dirty="0"/>
              </a:p>
              <a:p>
                <a:r>
                  <a:rPr lang="en-IN" dirty="0"/>
                  <a:t>The heuristic guides the search toward the goal:</a:t>
                </a:r>
              </a:p>
              <a:p>
                <a:endParaRPr lang="en-IN" dirty="0"/>
              </a:p>
              <a:p>
                <a:r>
                  <a:rPr lang="en-IN" b="1" dirty="0"/>
                  <a:t>Manhattan Distance (Grid-based games):</a:t>
                </a:r>
                <a:endParaRPr lang="en-IN" dirty="0"/>
              </a:p>
              <a:p>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2</m:t>
                        </m:r>
                      </m:sub>
                    </m:sSub>
                    <m:r>
                      <a:rPr lang="ar-AE">
                        <a:latin typeface="Cambria Math" panose="02040503050406030204" pitchFamily="18" charset="0"/>
                      </a:rPr>
                      <m:t>∣</m:t>
                    </m:r>
                  </m:oMath>
                </a14:m>
                <a:endParaRPr lang="ar-AE" dirty="0"/>
              </a:p>
              <a:p>
                <a:r>
                  <a:rPr lang="en-IN" b="1" dirty="0"/>
                  <a:t>Euclidean Distance:</a:t>
                </a:r>
                <a:endParaRPr lang="en-IN" dirty="0"/>
              </a:p>
              <a:p>
                <a14:m>
                  <m:oMath xmlns:m="http://schemas.openxmlformats.org/officeDocument/2006/math">
                    <m:r>
                      <a:rPr lang="en-IN" i="1">
                        <a:latin typeface="Cambria Math" panose="02040503050406030204" pitchFamily="18" charset="0"/>
                      </a:rPr>
                      <m:t>h</m:t>
                    </m:r>
                    <m:r>
                      <a:rPr lang="en-IN">
                        <a:latin typeface="Cambria Math" panose="02040503050406030204" pitchFamily="18" charset="0"/>
                      </a:rPr>
                      <m:t>=</m:t>
                    </m:r>
                    <m:rad>
                      <m:radPr>
                        <m:degHide m:val="on"/>
                        <m:ctrlPr>
                          <a:rPr lang="ar-AE" i="1">
                            <a:latin typeface="Cambria Math" panose="02040503050406030204" pitchFamily="18" charset="0"/>
                          </a:rPr>
                        </m:ctrlPr>
                      </m:radPr>
                      <m:deg/>
                      <m:e>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r>
                              <a:rPr lang="ar-AE">
                                <a:latin typeface="Cambria Math" panose="02040503050406030204" pitchFamily="18" charset="0"/>
                              </a:rPr>
                              <m:t>+</m:t>
                            </m:r>
                            <m:d>
                              <m:dPr>
                                <m:endChr m:val=""/>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2</m:t>
                                    </m:r>
                                  </m:sub>
                                </m:sSub>
                                <m:sSup>
                                  <m:sSupPr>
                                    <m:ctrlPr>
                                      <a:rPr lang="ar-AE" i="1">
                                        <a:latin typeface="Cambria Math" panose="02040503050406030204" pitchFamily="18" charset="0"/>
                                      </a:rPr>
                                    </m:ctrlPr>
                                  </m:sSupPr>
                                  <m:e>
                                    <m:d>
                                      <m:dPr>
                                        <m:begChr m:val=""/>
                                        <m:endChr m:val=""/>
                                        <m:ctrlPr>
                                          <a:rPr lang="ar-AE" i="1">
                                            <a:latin typeface="Cambria Math" panose="02040503050406030204" pitchFamily="18" charset="0"/>
                                          </a:rPr>
                                        </m:ctrlPr>
                                      </m:dPr>
                                      <m:e>
                                        <m:r>
                                          <a:rPr lang="ar-AE">
                                            <a:latin typeface="Cambria Math" panose="02040503050406030204" pitchFamily="18" charset="0"/>
                                          </a:rPr>
                                          <m:t>)</m:t>
                                        </m:r>
                                      </m:e>
                                    </m:d>
                                  </m:e>
                                  <m:sup>
                                    <m:r>
                                      <a:rPr lang="ar-AE">
                                        <a:latin typeface="Cambria Math" panose="02040503050406030204" pitchFamily="18" charset="0"/>
                                      </a:rPr>
                                      <m:t>2</m:t>
                                    </m:r>
                                  </m:sup>
                                </m:sSup>
                              </m:e>
                            </m:d>
                          </m:e>
                        </m:d>
                      </m:e>
                    </m:rad>
                  </m:oMath>
                </a14:m>
                <a:endParaRPr lang="ar-AE" dirty="0"/>
              </a:p>
              <a:p>
                <a:endParaRPr lang="en-US" dirty="0"/>
              </a:p>
            </p:txBody>
          </p:sp>
        </mc:Choice>
        <mc:Fallback xmlns="">
          <p:sp>
            <p:nvSpPr>
              <p:cNvPr id="3" name="Text Placeholder 2">
                <a:extLst>
                  <a:ext uri="{FF2B5EF4-FFF2-40B4-BE49-F238E27FC236}">
                    <a16:creationId xmlns:a16="http://schemas.microsoft.com/office/drawing/2014/main" id="{110FB08B-0263-178F-9160-3ED55005C158}"/>
                  </a:ext>
                </a:extLst>
              </p:cNvPr>
              <p:cNvSpPr>
                <a:spLocks noGrp="1" noRot="1" noChangeAspect="1" noMove="1" noResize="1" noEditPoints="1" noAdjustHandles="1" noChangeArrowheads="1" noChangeShapeType="1" noTextEdit="1"/>
              </p:cNvSpPr>
              <p:nvPr>
                <p:ph type="body" idx="1"/>
              </p:nvPr>
            </p:nvSpPr>
            <p:spPr>
              <a:xfrm>
                <a:off x="2058987" y="1884731"/>
                <a:ext cx="8074025" cy="3088538"/>
              </a:xfrm>
              <a:blipFill>
                <a:blip r:embed="rId2"/>
                <a:stretch>
                  <a:fillRect l="-629" t="-3279" b="-43852"/>
                </a:stretch>
              </a:blipFill>
            </p:spPr>
            <p:txBody>
              <a:bodyPr/>
              <a:lstStyle/>
              <a:p>
                <a:r>
                  <a:rPr lang="en-US">
                    <a:noFill/>
                  </a:rPr>
                  <a:t> </a:t>
                </a:r>
              </a:p>
            </p:txBody>
          </p:sp>
        </mc:Fallback>
      </mc:AlternateContent>
    </p:spTree>
    <p:extLst>
      <p:ext uri="{BB962C8B-B14F-4D97-AF65-F5344CB8AC3E}">
        <p14:creationId xmlns:p14="http://schemas.microsoft.com/office/powerpoint/2010/main" val="1430436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F8D59-1EDB-F6D0-BA00-9B4BEAD65DDD}"/>
              </a:ext>
            </a:extLst>
          </p:cNvPr>
          <p:cNvSpPr>
            <a:spLocks noGrp="1"/>
          </p:cNvSpPr>
          <p:nvPr>
            <p:ph type="title"/>
          </p:nvPr>
        </p:nvSpPr>
        <p:spPr/>
        <p:txBody>
          <a:bodyPr/>
          <a:lstStyle/>
          <a:p>
            <a:r>
              <a:rPr lang="en-IN" dirty="0"/>
              <a:t>How A* solves the 8-Puzzle problem.</a:t>
            </a:r>
            <a:br>
              <a:rPr lang="en-IN" dirty="0"/>
            </a:br>
            <a:endParaRPr lang="en-US" dirty="0"/>
          </a:p>
        </p:txBody>
      </p:sp>
      <p:pic>
        <p:nvPicPr>
          <p:cNvPr id="11" name="Picture 10" descr="A diagram of a grid with numbers and circles&#10;&#10;AI-generated content may be incorrect.">
            <a:extLst>
              <a:ext uri="{FF2B5EF4-FFF2-40B4-BE49-F238E27FC236}">
                <a16:creationId xmlns:a16="http://schemas.microsoft.com/office/drawing/2014/main" id="{5866B5AC-23DD-6A16-4E2C-466C48DEA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1" y="959891"/>
            <a:ext cx="5470769" cy="5715000"/>
          </a:xfrm>
          <a:prstGeom prst="rect">
            <a:avLst/>
          </a:prstGeom>
        </p:spPr>
      </p:pic>
    </p:spTree>
    <p:extLst>
      <p:ext uri="{BB962C8B-B14F-4D97-AF65-F5344CB8AC3E}">
        <p14:creationId xmlns:p14="http://schemas.microsoft.com/office/powerpoint/2010/main" val="189845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AA6F9-687B-47A3-76B7-4E3699FE1FED}"/>
              </a:ext>
            </a:extLst>
          </p:cNvPr>
          <p:cNvSpPr>
            <a:spLocks noGrp="1"/>
          </p:cNvSpPr>
          <p:nvPr>
            <p:ph type="title"/>
          </p:nvPr>
        </p:nvSpPr>
        <p:spPr>
          <a:xfrm>
            <a:off x="2059941" y="145492"/>
            <a:ext cx="8072119" cy="540309"/>
          </a:xfrm>
        </p:spPr>
        <p:txBody>
          <a:bodyPr>
            <a:normAutofit fontScale="90000"/>
          </a:bodyPr>
          <a:lstStyle/>
          <a:p>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60CC460-9F81-760B-A7F2-F84591D3BDCB}"/>
                  </a:ext>
                </a:extLst>
              </p:cNvPr>
              <p:cNvSpPr>
                <a:spLocks noGrp="1"/>
              </p:cNvSpPr>
              <p:nvPr>
                <p:ph type="body" idx="1"/>
              </p:nvPr>
            </p:nvSpPr>
            <p:spPr>
              <a:xfrm>
                <a:off x="2058035" y="914400"/>
                <a:ext cx="8074025" cy="5539978"/>
              </a:xfrm>
            </p:spPr>
            <p:txBody>
              <a:bodyPr>
                <a:normAutofit fontScale="62500" lnSpcReduction="20000"/>
              </a:bodyPr>
              <a:lstStyle/>
              <a:p>
                <a:pPr rtl="0" fontAlgn="base"/>
                <a:r>
                  <a:rPr lang="en-IN" dirty="0"/>
                  <a:t>In the 8 Puzzle, only tiles adjacent to the blank space can be moved. </a:t>
                </a:r>
              </a:p>
              <a:p>
                <a:pPr rtl="0" fontAlgn="base"/>
                <a:endParaRPr lang="en-IN" dirty="0"/>
              </a:p>
              <a:p>
                <a:pPr rtl="0" fontAlgn="base"/>
                <a:r>
                  <a:rPr lang="en-IN" dirty="0"/>
                  <a:t>The following moves are allowed:</a:t>
                </a:r>
              </a:p>
              <a:p>
                <a:pPr rtl="0" fontAlgn="base"/>
                <a:endParaRPr lang="en-IN" dirty="0"/>
              </a:p>
              <a:p>
                <a:pPr fontAlgn="base"/>
                <a:r>
                  <a:rPr lang="en-IN" b="1" dirty="0"/>
                  <a:t>Move the blank space up.</a:t>
                </a:r>
                <a:endParaRPr lang="en-IN" dirty="0"/>
              </a:p>
              <a:p>
                <a:pPr fontAlgn="base"/>
                <a:r>
                  <a:rPr lang="en-IN" b="1" dirty="0"/>
                  <a:t>Move the blank space down.</a:t>
                </a:r>
                <a:endParaRPr lang="en-IN" dirty="0"/>
              </a:p>
              <a:p>
                <a:pPr fontAlgn="base"/>
                <a:r>
                  <a:rPr lang="en-IN" b="1" dirty="0"/>
                  <a:t>Move the blank space left.</a:t>
                </a:r>
                <a:endParaRPr lang="en-IN" dirty="0"/>
              </a:p>
              <a:p>
                <a:pPr fontAlgn="base"/>
                <a:r>
                  <a:rPr lang="en-IN" b="1" dirty="0"/>
                  <a:t>Move the blank space right.</a:t>
                </a:r>
              </a:p>
              <a:p>
                <a:pPr fontAlgn="base"/>
                <a:endParaRPr lang="en-IN" dirty="0"/>
              </a:p>
              <a:p>
                <a:pPr rtl="0" fontAlgn="base"/>
                <a:r>
                  <a:rPr lang="en-IN" dirty="0"/>
                  <a:t>The A* algorithm is a heuristic search that combines aspects of both BFS and DFS. It uses a priority queue to explore the most promising states first, guided by an evaluation function </a:t>
                </a:r>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t>, </a:t>
                </a:r>
                <a:r>
                  <a:rPr lang="en-IN" dirty="0"/>
                  <a:t>which is the sum of:</a:t>
                </a:r>
              </a:p>
              <a:p>
                <a:pPr fontAlgn="base"/>
                <a14:m>
                  <m:oMath xmlns:m="http://schemas.openxmlformats.org/officeDocument/2006/math">
                    <m:r>
                      <a:rPr lang="en-IN"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t>: </a:t>
                </a:r>
                <a:r>
                  <a:rPr lang="en-IN" dirty="0"/>
                  <a:t>The cost to reach the current state </a:t>
                </a:r>
                <a14:m>
                  <m:oMath xmlns:m="http://schemas.openxmlformats.org/officeDocument/2006/math">
                    <m:r>
                      <a:rPr lang="en-IN" i="1">
                        <a:latin typeface="Cambria Math" panose="02040503050406030204" pitchFamily="18" charset="0"/>
                      </a:rPr>
                      <m:t>𝑛</m:t>
                    </m:r>
                  </m:oMath>
                </a14:m>
                <a:r>
                  <a:rPr lang="en-IN" dirty="0"/>
                  <a:t>.</a:t>
                </a:r>
              </a:p>
              <a:p>
                <a:pPr fontAlgn="base"/>
                <a14:m>
                  <m:oMath xmlns:m="http://schemas.openxmlformats.org/officeDocument/2006/math">
                    <m:r>
                      <a:rPr lang="en-IN"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𝑛</m:t>
                        </m:r>
                      </m:e>
                    </m:d>
                  </m:oMath>
                </a14:m>
                <a:r>
                  <a:rPr lang="ar-AE" dirty="0"/>
                  <a:t>: </a:t>
                </a:r>
                <a:r>
                  <a:rPr lang="en-IN" dirty="0"/>
                  <a:t>A heuristic estimate of the cost to reach the goal from </a:t>
                </a:r>
                <a14:m>
                  <m:oMath xmlns:m="http://schemas.openxmlformats.org/officeDocument/2006/math">
                    <m:r>
                      <a:rPr lang="en-IN" i="1">
                        <a:latin typeface="Cambria Math" panose="02040503050406030204" pitchFamily="18" charset="0"/>
                      </a:rPr>
                      <m:t>𝑛</m:t>
                    </m:r>
                  </m:oMath>
                </a14:m>
                <a:endParaRPr lang="en-IN" dirty="0"/>
              </a:p>
              <a:p>
                <a:pPr fontAlgn="base"/>
                <a:endParaRPr lang="en-IN" dirty="0"/>
              </a:p>
              <a:p>
                <a:pPr rtl="0" fontAlgn="base"/>
                <a:r>
                  <a:rPr lang="en-IN" dirty="0"/>
                  <a:t>The total cost function is:</a:t>
                </a:r>
              </a:p>
              <a:p>
                <a:pPr rtl="0" fontAlgn="base"/>
                <a14:m>
                  <m:oMath xmlns:m="http://schemas.openxmlformats.org/officeDocument/2006/math">
                    <m:r>
                      <a:rPr lang="en-IN"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𝑛</m:t>
                        </m:r>
                      </m:e>
                    </m:d>
                    <m:r>
                      <a:rPr lang="ar-AE">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𝑛</m:t>
                        </m:r>
                      </m:e>
                    </m:d>
                    <m:r>
                      <a:rPr lang="ar-AE">
                        <a:latin typeface="Cambria Math" panose="02040503050406030204" pitchFamily="18" charset="0"/>
                      </a:rPr>
                      <m:t>+</m:t>
                    </m:r>
                    <m:r>
                      <a:rPr lang="ar-AE" i="1">
                        <a:latin typeface="Cambria Math" panose="02040503050406030204" pitchFamily="18" charset="0"/>
                      </a:rPr>
                      <m:t>h</m:t>
                    </m:r>
                    <m:d>
                      <m:dPr>
                        <m:ctrlPr>
                          <a:rPr lang="ar-AE" i="1">
                            <a:latin typeface="Cambria Math" panose="02040503050406030204" pitchFamily="18" charset="0"/>
                          </a:rPr>
                        </m:ctrlPr>
                      </m:dPr>
                      <m:e>
                        <m:r>
                          <a:rPr lang="ar-AE" i="1">
                            <a:latin typeface="Cambria Math" panose="02040503050406030204" pitchFamily="18" charset="0"/>
                          </a:rPr>
                          <m:t>𝑛</m:t>
                        </m:r>
                      </m:e>
                    </m:d>
                  </m:oMath>
                </a14:m>
                <a:endParaRPr lang="ar-AE" dirty="0"/>
              </a:p>
              <a:p>
                <a:endParaRPr lang="en-US" dirty="0"/>
              </a:p>
            </p:txBody>
          </p:sp>
        </mc:Choice>
        <mc:Fallback xmlns="">
          <p:sp>
            <p:nvSpPr>
              <p:cNvPr id="3" name="Text Placeholder 2">
                <a:extLst>
                  <a:ext uri="{FF2B5EF4-FFF2-40B4-BE49-F238E27FC236}">
                    <a16:creationId xmlns:a16="http://schemas.microsoft.com/office/drawing/2014/main" id="{D60CC460-9F81-760B-A7F2-F84591D3BDCB}"/>
                  </a:ext>
                </a:extLst>
              </p:cNvPr>
              <p:cNvSpPr>
                <a:spLocks noGrp="1" noRot="1" noChangeAspect="1" noMove="1" noResize="1" noEditPoints="1" noAdjustHandles="1" noChangeArrowheads="1" noChangeShapeType="1" noTextEdit="1"/>
              </p:cNvSpPr>
              <p:nvPr>
                <p:ph type="body" idx="1"/>
              </p:nvPr>
            </p:nvSpPr>
            <p:spPr>
              <a:xfrm>
                <a:off x="2058035" y="914400"/>
                <a:ext cx="8074025" cy="5539978"/>
              </a:xfrm>
              <a:blipFill>
                <a:blip r:embed="rId2"/>
                <a:stretch>
                  <a:fillRect l="-629" t="-2059"/>
                </a:stretch>
              </a:blipFill>
            </p:spPr>
            <p:txBody>
              <a:bodyPr/>
              <a:lstStyle/>
              <a:p>
                <a:r>
                  <a:rPr lang="en-US">
                    <a:noFill/>
                  </a:rPr>
                  <a:t> </a:t>
                </a:r>
              </a:p>
            </p:txBody>
          </p:sp>
        </mc:Fallback>
      </mc:AlternateContent>
    </p:spTree>
    <p:extLst>
      <p:ext uri="{BB962C8B-B14F-4D97-AF65-F5344CB8AC3E}">
        <p14:creationId xmlns:p14="http://schemas.microsoft.com/office/powerpoint/2010/main" val="2534829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D4813-811C-E761-2A40-2AE82D022FA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52CA9CD-1BE9-EFC0-76C7-94618617081B}"/>
              </a:ext>
            </a:extLst>
          </p:cNvPr>
          <p:cNvSpPr>
            <a:spLocks noGrp="1"/>
          </p:cNvSpPr>
          <p:nvPr>
            <p:ph type="body" idx="1"/>
          </p:nvPr>
        </p:nvSpPr>
        <p:spPr>
          <a:xfrm>
            <a:off x="2059941" y="1616710"/>
            <a:ext cx="8074025" cy="2462213"/>
          </a:xfrm>
        </p:spPr>
        <p:txBody>
          <a:bodyPr>
            <a:normAutofit fontScale="70000" lnSpcReduction="20000"/>
          </a:bodyPr>
          <a:lstStyle/>
          <a:p>
            <a:pPr rtl="0" fontAlgn="base"/>
            <a:r>
              <a:rPr lang="en-IN" dirty="0"/>
              <a:t>The A* algorithm uses heuristics to efficiently explore the state space and find an optimal solution faster than BFS or DFS.</a:t>
            </a:r>
          </a:p>
          <a:p>
            <a:pPr rtl="0" fontAlgn="base"/>
            <a:endParaRPr lang="en-IN" dirty="0"/>
          </a:p>
          <a:p>
            <a:pPr fontAlgn="base"/>
            <a:r>
              <a:rPr lang="en-IN" b="1" dirty="0"/>
              <a:t>Advantage:</a:t>
            </a:r>
            <a:r>
              <a:rPr lang="en-IN" dirty="0"/>
              <a:t> A* guarantees finding the shortest path to the goal if an admissible heuristic is used.</a:t>
            </a:r>
          </a:p>
          <a:p>
            <a:pPr fontAlgn="base"/>
            <a:endParaRPr lang="en-IN" dirty="0"/>
          </a:p>
          <a:p>
            <a:pPr fontAlgn="base"/>
            <a:r>
              <a:rPr lang="en-IN" b="1" dirty="0"/>
              <a:t>Disadvantage: </a:t>
            </a:r>
            <a:r>
              <a:rPr lang="en-IN" dirty="0"/>
              <a:t>A* can be slow if the heuristic is not well-chosen.</a:t>
            </a:r>
          </a:p>
          <a:p>
            <a:endParaRPr lang="en-US" dirty="0"/>
          </a:p>
        </p:txBody>
      </p:sp>
      <p:pic>
        <p:nvPicPr>
          <p:cNvPr id="4" name="Picture 3" descr="A close-up of a grid&#10;&#10;AI-generated content may be incorrect.">
            <a:extLst>
              <a:ext uri="{FF2B5EF4-FFF2-40B4-BE49-F238E27FC236}">
                <a16:creationId xmlns:a16="http://schemas.microsoft.com/office/drawing/2014/main" id="{988F800F-638A-542A-FE91-72C7D3DF0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3964941"/>
            <a:ext cx="5245100" cy="2552700"/>
          </a:xfrm>
          <a:prstGeom prst="rect">
            <a:avLst/>
          </a:prstGeom>
        </p:spPr>
      </p:pic>
    </p:spTree>
    <p:extLst>
      <p:ext uri="{BB962C8B-B14F-4D97-AF65-F5344CB8AC3E}">
        <p14:creationId xmlns:p14="http://schemas.microsoft.com/office/powerpoint/2010/main" val="206614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31A6-6036-221F-B0DC-DE9B94B2F9CC}"/>
              </a:ext>
            </a:extLst>
          </p:cNvPr>
          <p:cNvSpPr>
            <a:spLocks noGrp="1"/>
          </p:cNvSpPr>
          <p:nvPr>
            <p:ph type="title"/>
          </p:nvPr>
        </p:nvSpPr>
        <p:spPr>
          <a:xfrm>
            <a:off x="2059941" y="145492"/>
            <a:ext cx="8072119" cy="615553"/>
          </a:xfrm>
        </p:spPr>
        <p:txBody>
          <a:bodyPr>
            <a:normAutofit fontScale="90000"/>
          </a:bodyPr>
          <a:lstStyle/>
          <a:p>
            <a:r>
              <a:rPr lang="en-IN" dirty="0">
                <a:hlinkClick r:id="rId2"/>
              </a:rPr>
              <a:t>Minimax</a:t>
            </a:r>
            <a:r>
              <a:rPr lang="en-IN" dirty="0"/>
              <a:t> </a:t>
            </a:r>
            <a:endParaRPr lang="en-US" dirty="0"/>
          </a:p>
        </p:txBody>
      </p:sp>
      <p:sp>
        <p:nvSpPr>
          <p:cNvPr id="3" name="Text Placeholder 2">
            <a:extLst>
              <a:ext uri="{FF2B5EF4-FFF2-40B4-BE49-F238E27FC236}">
                <a16:creationId xmlns:a16="http://schemas.microsoft.com/office/drawing/2014/main" id="{1EAC7E66-4901-3419-C094-E208307EC9DE}"/>
              </a:ext>
            </a:extLst>
          </p:cNvPr>
          <p:cNvSpPr>
            <a:spLocks noGrp="1"/>
          </p:cNvSpPr>
          <p:nvPr>
            <p:ph type="body" idx="1"/>
          </p:nvPr>
        </p:nvSpPr>
        <p:spPr>
          <a:xfrm>
            <a:off x="2059941" y="1616709"/>
            <a:ext cx="8074025" cy="4308872"/>
          </a:xfrm>
        </p:spPr>
        <p:txBody>
          <a:bodyPr>
            <a:normAutofit fontScale="77500" lnSpcReduction="20000"/>
          </a:bodyPr>
          <a:lstStyle/>
          <a:p>
            <a:r>
              <a:rPr lang="en-IN" b="1" dirty="0">
                <a:hlinkClick r:id="rId2"/>
              </a:rPr>
              <a:t>Minimax</a:t>
            </a:r>
            <a:r>
              <a:rPr lang="en-IN" dirty="0"/>
              <a:t> is a backtracking algorithm used in decision-making and game theory to determine the best move for a player, provided that your opponent also plays optimally. It is commonly employed in two-player turn-based games like Tic-Tac-Toe, Backgammon, Mancala, and Chess.</a:t>
            </a:r>
          </a:p>
          <a:p>
            <a:endParaRPr lang="en-US" dirty="0"/>
          </a:p>
          <a:p>
            <a:endParaRPr lang="en-US" dirty="0"/>
          </a:p>
          <a:p>
            <a:r>
              <a:rPr lang="en-IN" dirty="0"/>
              <a:t>Minimax is a decision rule used in AI, decision theory, game theory, statistics, and philosophy to minimize the potential loss in the worst-case (maximum loss) scenario. When dealing with gains, it is referred to as "maximin" – to maximize the lowest gain. Initially developed for several-player zero-sum game theory, it has been extended to more complicated games and general decision-making under uncertainty.</a:t>
            </a:r>
          </a:p>
          <a:p>
            <a:endParaRPr lang="en-US" dirty="0"/>
          </a:p>
        </p:txBody>
      </p:sp>
    </p:spTree>
    <p:extLst>
      <p:ext uri="{BB962C8B-B14F-4D97-AF65-F5344CB8AC3E}">
        <p14:creationId xmlns:p14="http://schemas.microsoft.com/office/powerpoint/2010/main" val="2361099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20.png">
            <a:extLst>
              <a:ext uri="{FF2B5EF4-FFF2-40B4-BE49-F238E27FC236}">
                <a16:creationId xmlns:a16="http://schemas.microsoft.com/office/drawing/2014/main" id="{7BEF2016-C36F-C85D-A07A-DE9D1E854361}"/>
              </a:ext>
            </a:extLst>
          </p:cNvPr>
          <p:cNvPicPr/>
          <p:nvPr/>
        </p:nvPicPr>
        <p:blipFill>
          <a:blip r:embed="rId2"/>
          <a:srcRect/>
          <a:stretch>
            <a:fillRect/>
          </a:stretch>
        </p:blipFill>
        <p:spPr>
          <a:xfrm>
            <a:off x="2088876" y="3505201"/>
            <a:ext cx="6474460" cy="2080895"/>
          </a:xfrm>
          <a:prstGeom prst="rect">
            <a:avLst/>
          </a:prstGeom>
          <a:ln/>
        </p:spPr>
      </p:pic>
      <p:sp>
        <p:nvSpPr>
          <p:cNvPr id="7" name="TextBox 6">
            <a:extLst>
              <a:ext uri="{FF2B5EF4-FFF2-40B4-BE49-F238E27FC236}">
                <a16:creationId xmlns:a16="http://schemas.microsoft.com/office/drawing/2014/main" id="{C7BEDEF5-EC0F-ED35-5057-33D84020318B}"/>
              </a:ext>
            </a:extLst>
          </p:cNvPr>
          <p:cNvSpPr txBox="1"/>
          <p:nvPr/>
        </p:nvSpPr>
        <p:spPr>
          <a:xfrm>
            <a:off x="2209800" y="5586096"/>
            <a:ext cx="7128430" cy="395429"/>
          </a:xfrm>
          <a:prstGeom prst="rect">
            <a:avLst/>
          </a:prstGeom>
          <a:noFill/>
        </p:spPr>
        <p:txBody>
          <a:bodyPr wrap="square">
            <a:spAutoFit/>
          </a:bodyPr>
          <a:lstStyle/>
          <a:p>
            <a:pPr>
              <a:lnSpc>
                <a:spcPct val="120000"/>
              </a:lnSpc>
              <a:spcAft>
                <a:spcPts val="1900"/>
              </a:spcAft>
            </a:pPr>
            <a:r>
              <a:rPr lang="en-IN" b="1" dirty="0">
                <a:solidFill>
                  <a:srgbClr val="2A2A2A"/>
                </a:solidFill>
                <a:highlight>
                  <a:srgbClr val="FFFFFF"/>
                </a:highlight>
                <a:latin typeface="Times New Roman" panose="02020603050405020304" pitchFamily="18" charset="0"/>
                <a:ea typeface="Times New Roman" panose="02020603050405020304" pitchFamily="18" charset="0"/>
              </a:rPr>
              <a:t>d= Depth, </a:t>
            </a:r>
            <a:r>
              <a:rPr lang="en-IN" dirty="0">
                <a:solidFill>
                  <a:srgbClr val="2A2A2A"/>
                </a:solidFill>
                <a:highlight>
                  <a:srgbClr val="FFFFFF"/>
                </a:highlight>
                <a:latin typeface="Times New Roman" panose="02020603050405020304" pitchFamily="18" charset="0"/>
                <a:ea typeface="Times New Roman" panose="02020603050405020304" pitchFamily="18" charset="0"/>
              </a:rPr>
              <a:t> </a:t>
            </a:r>
            <a:r>
              <a:rPr lang="en-IN" b="1" dirty="0">
                <a:solidFill>
                  <a:srgbClr val="2A2A2A"/>
                </a:solidFill>
                <a:highlight>
                  <a:srgbClr val="FFFFFF"/>
                </a:highlight>
                <a:latin typeface="Times New Roman" panose="02020603050405020304" pitchFamily="18" charset="0"/>
                <a:ea typeface="Times New Roman" panose="02020603050405020304" pitchFamily="18" charset="0"/>
              </a:rPr>
              <a:t>b= Branching Factor</a:t>
            </a:r>
            <a:endParaRPr lang="en-IN" sz="1600" dirty="0">
              <a:latin typeface="Arial" panose="020B0604020202020204" pitchFamily="34" charset="0"/>
              <a:ea typeface="Arial" panose="020B0604020202020204" pitchFamily="34" charset="0"/>
            </a:endParaRPr>
          </a:p>
        </p:txBody>
      </p:sp>
      <p:sp>
        <p:nvSpPr>
          <p:cNvPr id="9" name="TextBox 8">
            <a:extLst>
              <a:ext uri="{FF2B5EF4-FFF2-40B4-BE49-F238E27FC236}">
                <a16:creationId xmlns:a16="http://schemas.microsoft.com/office/drawing/2014/main" id="{BB3C2B72-4701-B98F-6A65-62ABF5A59AC6}"/>
              </a:ext>
            </a:extLst>
          </p:cNvPr>
          <p:cNvSpPr txBox="1"/>
          <p:nvPr/>
        </p:nvSpPr>
        <p:spPr>
          <a:xfrm>
            <a:off x="2088877" y="525337"/>
            <a:ext cx="8045723" cy="2917722"/>
          </a:xfrm>
          <a:prstGeom prst="rect">
            <a:avLst/>
          </a:prstGeom>
          <a:noFill/>
        </p:spPr>
        <p:txBody>
          <a:bodyPr wrap="square">
            <a:spAutoFit/>
          </a:bodyPr>
          <a:lstStyle/>
          <a:p>
            <a:pPr>
              <a:lnSpc>
                <a:spcPct val="115000"/>
              </a:lnSpc>
              <a:buNone/>
            </a:pPr>
            <a:r>
              <a:rPr lang="en-IN" dirty="0">
                <a:solidFill>
                  <a:srgbClr val="202124"/>
                </a:solidFill>
                <a:highlight>
                  <a:srgbClr val="FFFFFF"/>
                </a:highlight>
                <a:latin typeface="Arial" panose="020B0604020202020204" pitchFamily="34" charset="0"/>
                <a:ea typeface="Arial" panose="020B0604020202020204" pitchFamily="34" charset="0"/>
              </a:rPr>
              <a:t>The </a:t>
            </a:r>
            <a:r>
              <a:rPr lang="en-IN" b="1" dirty="0">
                <a:solidFill>
                  <a:srgbClr val="202124"/>
                </a:solidFill>
                <a:highlight>
                  <a:srgbClr val="FFFFFF"/>
                </a:highlight>
                <a:latin typeface="Arial" panose="020B0604020202020204" pitchFamily="34" charset="0"/>
                <a:ea typeface="Arial" panose="020B0604020202020204" pitchFamily="34" charset="0"/>
              </a:rPr>
              <a:t>minimax algorithm</a:t>
            </a:r>
            <a:r>
              <a:rPr lang="en-IN" dirty="0">
                <a:solidFill>
                  <a:srgbClr val="202124"/>
                </a:solidFill>
                <a:highlight>
                  <a:srgbClr val="FFFFFF"/>
                </a:highlight>
                <a:latin typeface="Arial" panose="020B0604020202020204" pitchFamily="34" charset="0"/>
                <a:ea typeface="Arial" panose="020B0604020202020204" pitchFamily="34" charset="0"/>
              </a:rPr>
              <a:t> is </a:t>
            </a:r>
            <a:r>
              <a:rPr lang="en-IN" dirty="0">
                <a:solidFill>
                  <a:srgbClr val="040C28"/>
                </a:solidFill>
                <a:highlight>
                  <a:srgbClr val="FFFFFF"/>
                </a:highlight>
                <a:latin typeface="Arial" panose="020B0604020202020204" pitchFamily="34" charset="0"/>
                <a:ea typeface="Arial" panose="020B0604020202020204" pitchFamily="34" charset="0"/>
              </a:rPr>
              <a:t>a key technique in adversarial search, especially in two-player zero-sum games like Tic-Tac-Toe</a:t>
            </a:r>
            <a:r>
              <a:rPr lang="en-IN" dirty="0">
                <a:solidFill>
                  <a:srgbClr val="202124"/>
                </a:solidFill>
                <a:highlight>
                  <a:srgbClr val="FFFFFF"/>
                </a:highlight>
                <a:latin typeface="Arial" panose="020B0604020202020204" pitchFamily="34" charset="0"/>
                <a:ea typeface="Arial" panose="020B0604020202020204" pitchFamily="34" charset="0"/>
              </a:rPr>
              <a:t>. It employs the concepts of maximizing and minimizing players to determine the best possible moves for each player, considering the opponent's strategies.</a:t>
            </a:r>
            <a:endParaRPr lang="en-IN" sz="1200" dirty="0">
              <a:latin typeface="Arial" panose="020B0604020202020204" pitchFamily="34" charset="0"/>
              <a:ea typeface="Arial" panose="020B0604020202020204" pitchFamily="34" charset="0"/>
            </a:endParaRPr>
          </a:p>
          <a:p>
            <a:pPr>
              <a:lnSpc>
                <a:spcPct val="115000"/>
              </a:lnSpc>
              <a:buNone/>
            </a:pPr>
            <a:r>
              <a:rPr lang="en-IN" dirty="0">
                <a:solidFill>
                  <a:srgbClr val="202124"/>
                </a:solidFill>
                <a:highlight>
                  <a:srgbClr val="FFFFFF"/>
                </a:highlight>
                <a:latin typeface="Arial" panose="020B0604020202020204" pitchFamily="34" charset="0"/>
                <a:ea typeface="Arial" panose="020B0604020202020204" pitchFamily="34" charset="0"/>
              </a:rPr>
              <a:t> </a:t>
            </a:r>
            <a:endParaRPr lang="en-IN" sz="1200" dirty="0">
              <a:latin typeface="Arial" panose="020B0604020202020204" pitchFamily="34" charset="0"/>
              <a:ea typeface="Arial" panose="020B0604020202020204" pitchFamily="34" charset="0"/>
            </a:endParaRPr>
          </a:p>
          <a:p>
            <a:pPr>
              <a:lnSpc>
                <a:spcPct val="115000"/>
              </a:lnSpc>
              <a:buNone/>
            </a:pPr>
            <a:r>
              <a:rPr lang="en-IN" dirty="0">
                <a:solidFill>
                  <a:srgbClr val="202124"/>
                </a:solidFill>
                <a:highlight>
                  <a:srgbClr val="FFFFFF"/>
                </a:highlight>
                <a:latin typeface="Arial" panose="020B0604020202020204" pitchFamily="34" charset="0"/>
                <a:ea typeface="Arial" panose="020B0604020202020204" pitchFamily="34" charset="0"/>
              </a:rPr>
              <a:t>– Backtracking algorithm.</a:t>
            </a:r>
            <a:endParaRPr lang="en-IN" sz="1200" dirty="0">
              <a:latin typeface="Arial" panose="020B0604020202020204" pitchFamily="34" charset="0"/>
              <a:ea typeface="Arial" panose="020B0604020202020204" pitchFamily="34" charset="0"/>
            </a:endParaRPr>
          </a:p>
          <a:p>
            <a:pPr>
              <a:lnSpc>
                <a:spcPct val="115000"/>
              </a:lnSpc>
              <a:buNone/>
            </a:pPr>
            <a:r>
              <a:rPr lang="en-IN" dirty="0">
                <a:solidFill>
                  <a:srgbClr val="202124"/>
                </a:solidFill>
                <a:highlight>
                  <a:srgbClr val="FFFFFF"/>
                </a:highlight>
                <a:latin typeface="Arial" panose="020B0604020202020204" pitchFamily="34" charset="0"/>
                <a:ea typeface="Arial" panose="020B0604020202020204" pitchFamily="34" charset="0"/>
              </a:rPr>
              <a:t>– Best move strategy used.</a:t>
            </a:r>
            <a:endParaRPr lang="en-IN" sz="1200" dirty="0">
              <a:latin typeface="Arial" panose="020B0604020202020204" pitchFamily="34" charset="0"/>
              <a:ea typeface="Arial" panose="020B0604020202020204" pitchFamily="34" charset="0"/>
            </a:endParaRPr>
          </a:p>
          <a:p>
            <a:pPr>
              <a:lnSpc>
                <a:spcPct val="115000"/>
              </a:lnSpc>
              <a:buNone/>
            </a:pPr>
            <a:r>
              <a:rPr lang="en-IN" dirty="0">
                <a:solidFill>
                  <a:srgbClr val="202124"/>
                </a:solidFill>
                <a:highlight>
                  <a:srgbClr val="FFFFFF"/>
                </a:highlight>
                <a:latin typeface="Arial" panose="020B0604020202020204" pitchFamily="34" charset="0"/>
                <a:ea typeface="Arial" panose="020B0604020202020204" pitchFamily="34" charset="0"/>
              </a:rPr>
              <a:t>– Max will try to maximize its utility(best move).</a:t>
            </a:r>
            <a:endParaRPr lang="en-IN" sz="1200" dirty="0">
              <a:latin typeface="Arial" panose="020B0604020202020204" pitchFamily="34" charset="0"/>
              <a:ea typeface="Arial" panose="020B0604020202020204" pitchFamily="34" charset="0"/>
            </a:endParaRPr>
          </a:p>
          <a:p>
            <a:pPr>
              <a:buNone/>
            </a:pPr>
            <a:r>
              <a:rPr lang="en-IN" dirty="0">
                <a:solidFill>
                  <a:srgbClr val="202124"/>
                </a:solidFill>
                <a:highlight>
                  <a:srgbClr val="FFFFFF"/>
                </a:highlight>
                <a:latin typeface="Arial" panose="020B0604020202020204" pitchFamily="34" charset="0"/>
                <a:ea typeface="Arial" panose="020B0604020202020204" pitchFamily="34" charset="0"/>
              </a:rPr>
              <a:t>– Min will try to minimize utility(worst move).</a:t>
            </a:r>
            <a:r>
              <a:rPr lang="en-IN" dirty="0"/>
              <a:t> </a:t>
            </a:r>
            <a:endParaRPr lang="en-US" dirty="0"/>
          </a:p>
        </p:txBody>
      </p:sp>
    </p:spTree>
    <p:extLst>
      <p:ext uri="{BB962C8B-B14F-4D97-AF65-F5344CB8AC3E}">
        <p14:creationId xmlns:p14="http://schemas.microsoft.com/office/powerpoint/2010/main" val="4052330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iagram of a diagram of a diagram&#10;&#10;AI-generated content may be incorrect.">
            <a:extLst>
              <a:ext uri="{FF2B5EF4-FFF2-40B4-BE49-F238E27FC236}">
                <a16:creationId xmlns:a16="http://schemas.microsoft.com/office/drawing/2014/main" id="{A6CEF411-0AAB-3098-E35C-8A663B09DA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623461"/>
            <a:ext cx="6870700" cy="4953000"/>
          </a:xfrm>
          <a:prstGeom prst="rect">
            <a:avLst/>
          </a:prstGeom>
        </p:spPr>
      </p:pic>
    </p:spTree>
    <p:extLst>
      <p:ext uri="{BB962C8B-B14F-4D97-AF65-F5344CB8AC3E}">
        <p14:creationId xmlns:p14="http://schemas.microsoft.com/office/powerpoint/2010/main" val="3751550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982E-4090-E49C-AC3A-8F29C8ECE493}"/>
              </a:ext>
            </a:extLst>
          </p:cNvPr>
          <p:cNvSpPr>
            <a:spLocks noGrp="1"/>
          </p:cNvSpPr>
          <p:nvPr>
            <p:ph type="title"/>
          </p:nvPr>
        </p:nvSpPr>
        <p:spPr>
          <a:xfrm>
            <a:off x="2059941" y="145492"/>
            <a:ext cx="8072119" cy="615553"/>
          </a:xfrm>
        </p:spPr>
        <p:txBody>
          <a:bodyPr>
            <a:normAutofit fontScale="90000"/>
          </a:bodyPr>
          <a:lstStyle/>
          <a:p>
            <a:r>
              <a:rPr lang="en-IN" dirty="0"/>
              <a:t>Alpha-Beta Pruning (in Game AI)</a:t>
            </a:r>
            <a:endParaRPr lang="en-US" dirty="0"/>
          </a:p>
        </p:txBody>
      </p:sp>
      <p:sp>
        <p:nvSpPr>
          <p:cNvPr id="3" name="Text Placeholder 2">
            <a:extLst>
              <a:ext uri="{FF2B5EF4-FFF2-40B4-BE49-F238E27FC236}">
                <a16:creationId xmlns:a16="http://schemas.microsoft.com/office/drawing/2014/main" id="{895DF15A-69F3-E54A-5FBE-134E65BEDA1E}"/>
              </a:ext>
            </a:extLst>
          </p:cNvPr>
          <p:cNvSpPr>
            <a:spLocks noGrp="1"/>
          </p:cNvSpPr>
          <p:nvPr>
            <p:ph type="body" idx="1"/>
          </p:nvPr>
        </p:nvSpPr>
        <p:spPr>
          <a:xfrm>
            <a:off x="2059941" y="1616710"/>
            <a:ext cx="8074025" cy="1846659"/>
          </a:xfrm>
        </p:spPr>
        <p:txBody>
          <a:bodyPr>
            <a:normAutofit fontScale="85000" lnSpcReduction="20000"/>
          </a:bodyPr>
          <a:lstStyle/>
          <a:p>
            <a:r>
              <a:rPr lang="en-IN" dirty="0"/>
              <a:t>Alpha-Beta Pruning is an </a:t>
            </a:r>
            <a:r>
              <a:rPr lang="en-IN" b="1" dirty="0"/>
              <a:t>optimization technique</a:t>
            </a:r>
            <a:r>
              <a:rPr lang="en-IN" dirty="0"/>
              <a:t> for the </a:t>
            </a:r>
            <a:r>
              <a:rPr lang="en-IN" b="1" dirty="0"/>
              <a:t>Minimax algorithm</a:t>
            </a:r>
            <a:r>
              <a:rPr lang="en-IN" dirty="0"/>
              <a:t> used in </a:t>
            </a:r>
            <a:r>
              <a:rPr lang="en-IN" b="1" dirty="0"/>
              <a:t>two-player games</a:t>
            </a:r>
            <a:r>
              <a:rPr lang="en-IN" dirty="0"/>
              <a:t> (like chess, tic-tac-toe, or checkers).</a:t>
            </a:r>
          </a:p>
          <a:p>
            <a:br>
              <a:rPr lang="en-IN" dirty="0"/>
            </a:br>
            <a:r>
              <a:rPr lang="en-IN" dirty="0"/>
              <a:t>It helps </a:t>
            </a:r>
            <a:r>
              <a:rPr lang="en-IN" b="1" dirty="0"/>
              <a:t>reduce the number of nodes</a:t>
            </a:r>
            <a:r>
              <a:rPr lang="en-IN" dirty="0"/>
              <a:t> evaluated in the game tree without affecting the final result.</a:t>
            </a:r>
            <a:endParaRPr lang="en-US" dirty="0"/>
          </a:p>
        </p:txBody>
      </p:sp>
      <p:sp>
        <p:nvSpPr>
          <p:cNvPr id="5" name="TextBox 4">
            <a:extLst>
              <a:ext uri="{FF2B5EF4-FFF2-40B4-BE49-F238E27FC236}">
                <a16:creationId xmlns:a16="http://schemas.microsoft.com/office/drawing/2014/main" id="{CFF5A5A6-6440-91D5-5AD8-3DBDA0FC5D0F}"/>
              </a:ext>
            </a:extLst>
          </p:cNvPr>
          <p:cNvSpPr txBox="1"/>
          <p:nvPr/>
        </p:nvSpPr>
        <p:spPr>
          <a:xfrm>
            <a:off x="2059940" y="3671630"/>
            <a:ext cx="8072118" cy="2862322"/>
          </a:xfrm>
          <a:prstGeom prst="rect">
            <a:avLst/>
          </a:prstGeom>
          <a:noFill/>
        </p:spPr>
        <p:txBody>
          <a:bodyPr wrap="square">
            <a:spAutoFit/>
          </a:bodyPr>
          <a:lstStyle/>
          <a:p>
            <a:pPr>
              <a:buNone/>
            </a:pPr>
            <a:r>
              <a:rPr lang="en-IN" b="1" dirty="0"/>
              <a:t>Basic Concept</a:t>
            </a:r>
          </a:p>
          <a:p>
            <a:pPr>
              <a:buNone/>
            </a:pPr>
            <a:endParaRPr lang="en-IN" b="1" dirty="0"/>
          </a:p>
          <a:p>
            <a:pPr>
              <a:buNone/>
            </a:pPr>
            <a:r>
              <a:rPr lang="en-IN" dirty="0"/>
              <a:t>The </a:t>
            </a:r>
            <a:r>
              <a:rPr lang="en-IN" b="1" dirty="0"/>
              <a:t>Minimax Algorithm</a:t>
            </a:r>
            <a:r>
              <a:rPr lang="en-IN" dirty="0"/>
              <a:t> explores all possible game moves to find the </a:t>
            </a:r>
            <a:r>
              <a:rPr lang="en-IN" b="1" dirty="0"/>
              <a:t>best strategy</a:t>
            </a:r>
            <a:r>
              <a:rPr lang="en-IN" dirty="0"/>
              <a:t> assuming both players play optimally:</a:t>
            </a:r>
          </a:p>
          <a:p>
            <a:pPr>
              <a:buNone/>
            </a:pPr>
            <a:endParaRPr lang="en-IN" dirty="0"/>
          </a:p>
          <a:p>
            <a:pPr>
              <a:buFont typeface="Arial" panose="020B0604020202020204" pitchFamily="34" charset="0"/>
              <a:buChar char="•"/>
            </a:pPr>
            <a:r>
              <a:rPr lang="en-IN" b="1" dirty="0"/>
              <a:t>MAX player</a:t>
            </a:r>
            <a:r>
              <a:rPr lang="en-IN" dirty="0"/>
              <a:t> tries to maximize the score.</a:t>
            </a:r>
          </a:p>
          <a:p>
            <a:pPr>
              <a:buFont typeface="Arial" panose="020B0604020202020204" pitchFamily="34" charset="0"/>
              <a:buChar char="•"/>
            </a:pPr>
            <a:r>
              <a:rPr lang="en-IN" b="1" dirty="0"/>
              <a:t>MIN player</a:t>
            </a:r>
            <a:r>
              <a:rPr lang="en-IN" dirty="0"/>
              <a:t> tries to minimize the score.</a:t>
            </a:r>
          </a:p>
          <a:p>
            <a:pPr>
              <a:buFont typeface="Arial" panose="020B0604020202020204" pitchFamily="34" charset="0"/>
              <a:buChar char="•"/>
            </a:pPr>
            <a:endParaRPr lang="en-IN" dirty="0"/>
          </a:p>
          <a:p>
            <a:pPr>
              <a:buNone/>
            </a:pPr>
            <a:r>
              <a:rPr lang="en-IN" dirty="0"/>
              <a:t>However, searching all nodes is computationally expensive — </a:t>
            </a:r>
            <a:r>
              <a:rPr lang="en-IN" b="1" dirty="0"/>
              <a:t>Alpha-Beta Pruning</a:t>
            </a:r>
            <a:r>
              <a:rPr lang="en-IN" dirty="0"/>
              <a:t> skips branches that </a:t>
            </a:r>
            <a:r>
              <a:rPr lang="en-IN" b="1" dirty="0"/>
              <a:t>cannot influence the final decision</a:t>
            </a:r>
            <a:r>
              <a:rPr lang="en-IN" dirty="0"/>
              <a:t>.</a:t>
            </a:r>
          </a:p>
        </p:txBody>
      </p:sp>
    </p:spTree>
    <p:extLst>
      <p:ext uri="{BB962C8B-B14F-4D97-AF65-F5344CB8AC3E}">
        <p14:creationId xmlns:p14="http://schemas.microsoft.com/office/powerpoint/2010/main" val="1520953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9082D-AC78-7E69-277B-EF5DF30AFAF0}"/>
              </a:ext>
            </a:extLst>
          </p:cNvPr>
          <p:cNvSpPr>
            <a:spLocks noGrp="1"/>
          </p:cNvSpPr>
          <p:nvPr>
            <p:ph type="title"/>
          </p:nvPr>
        </p:nvSpPr>
        <p:spPr>
          <a:xfrm>
            <a:off x="2059941" y="145492"/>
            <a:ext cx="8072119" cy="615553"/>
          </a:xfrm>
        </p:spPr>
        <p:txBody>
          <a:bodyPr>
            <a:normAutofit fontScale="90000"/>
          </a:bodyPr>
          <a:lstStyle/>
          <a:p>
            <a:r>
              <a:rPr lang="en-IN" dirty="0"/>
              <a:t>Key Terms</a:t>
            </a:r>
            <a:endParaRPr lang="en-US" dirty="0"/>
          </a:p>
        </p:txBody>
      </p:sp>
      <p:graphicFrame>
        <p:nvGraphicFramePr>
          <p:cNvPr id="4" name="Table 3">
            <a:extLst>
              <a:ext uri="{FF2B5EF4-FFF2-40B4-BE49-F238E27FC236}">
                <a16:creationId xmlns:a16="http://schemas.microsoft.com/office/drawing/2014/main" id="{4DAC89B3-78AD-86C5-FA2E-7FD08498424E}"/>
              </a:ext>
            </a:extLst>
          </p:cNvPr>
          <p:cNvGraphicFramePr>
            <a:graphicFrameLocks noGrp="1"/>
          </p:cNvGraphicFramePr>
          <p:nvPr/>
        </p:nvGraphicFramePr>
        <p:xfrm>
          <a:off x="2040450" y="1371600"/>
          <a:ext cx="8074024" cy="2560320"/>
        </p:xfrm>
        <a:graphic>
          <a:graphicData uri="http://schemas.openxmlformats.org/drawingml/2006/table">
            <a:tbl>
              <a:tblPr/>
              <a:tblGrid>
                <a:gridCol w="4037012">
                  <a:extLst>
                    <a:ext uri="{9D8B030D-6E8A-4147-A177-3AD203B41FA5}">
                      <a16:colId xmlns:a16="http://schemas.microsoft.com/office/drawing/2014/main" val="2568703349"/>
                    </a:ext>
                  </a:extLst>
                </a:gridCol>
                <a:gridCol w="4037012">
                  <a:extLst>
                    <a:ext uri="{9D8B030D-6E8A-4147-A177-3AD203B41FA5}">
                      <a16:colId xmlns:a16="http://schemas.microsoft.com/office/drawing/2014/main" val="3471681759"/>
                    </a:ext>
                  </a:extLst>
                </a:gridCol>
              </a:tblGrid>
              <a:tr h="151385">
                <a:tc>
                  <a:txBody>
                    <a:bodyPr/>
                    <a:lstStyle/>
                    <a:p>
                      <a:pPr>
                        <a:buNone/>
                      </a:pPr>
                      <a:r>
                        <a:rPr lang="en-IN" sz="1800"/>
                        <a:t>Term</a:t>
                      </a:r>
                    </a:p>
                  </a:txBody>
                  <a:tcPr anchor="ctr">
                    <a:lnL>
                      <a:noFill/>
                    </a:lnL>
                    <a:lnR>
                      <a:noFill/>
                    </a:lnR>
                    <a:lnT>
                      <a:noFill/>
                    </a:lnT>
                    <a:lnB>
                      <a:noFill/>
                    </a:lnB>
                    <a:noFill/>
                  </a:tcPr>
                </a:tc>
                <a:tc>
                  <a:txBody>
                    <a:bodyPr/>
                    <a:lstStyle/>
                    <a:p>
                      <a:pPr>
                        <a:buNone/>
                      </a:pPr>
                      <a:r>
                        <a:rPr lang="en-IN" sz="1800"/>
                        <a:t>Meaning</a:t>
                      </a:r>
                    </a:p>
                  </a:txBody>
                  <a:tcPr anchor="ctr">
                    <a:lnL>
                      <a:noFill/>
                    </a:lnL>
                    <a:lnR>
                      <a:noFill/>
                    </a:lnR>
                    <a:lnT>
                      <a:noFill/>
                    </a:lnT>
                    <a:lnB>
                      <a:noFill/>
                    </a:lnB>
                    <a:noFill/>
                  </a:tcPr>
                </a:tc>
                <a:extLst>
                  <a:ext uri="{0D108BD9-81ED-4DB2-BD59-A6C34878D82A}">
                    <a16:rowId xmlns:a16="http://schemas.microsoft.com/office/drawing/2014/main" val="2429498828"/>
                  </a:ext>
                </a:extLst>
              </a:tr>
              <a:tr h="640080">
                <a:tc>
                  <a:txBody>
                    <a:bodyPr/>
                    <a:lstStyle/>
                    <a:p>
                      <a:pPr>
                        <a:buNone/>
                      </a:pPr>
                      <a:r>
                        <a:rPr lang="el-GR" sz="1800" b="1" dirty="0"/>
                        <a:t>α (</a:t>
                      </a:r>
                      <a:r>
                        <a:rPr lang="en-IN" sz="1800" b="1" dirty="0"/>
                        <a:t>Alpha)</a:t>
                      </a:r>
                      <a:endParaRPr lang="en-IN" sz="1800" dirty="0"/>
                    </a:p>
                  </a:txBody>
                  <a:tcPr anchor="ctr">
                    <a:lnL>
                      <a:noFill/>
                    </a:lnL>
                    <a:lnR>
                      <a:noFill/>
                    </a:lnR>
                    <a:lnT>
                      <a:noFill/>
                    </a:lnT>
                    <a:lnB>
                      <a:noFill/>
                    </a:lnB>
                    <a:noFill/>
                  </a:tcPr>
                </a:tc>
                <a:tc>
                  <a:txBody>
                    <a:bodyPr/>
                    <a:lstStyle/>
                    <a:p>
                      <a:pPr>
                        <a:buNone/>
                      </a:pPr>
                      <a:r>
                        <a:rPr lang="en-IN" sz="1800"/>
                        <a:t>The </a:t>
                      </a:r>
                      <a:r>
                        <a:rPr lang="en-IN" sz="1800" b="1"/>
                        <a:t>best value</a:t>
                      </a:r>
                      <a:r>
                        <a:rPr lang="en-IN" sz="1800"/>
                        <a:t> that the </a:t>
                      </a:r>
                      <a:r>
                        <a:rPr lang="en-IN" sz="1800" b="1"/>
                        <a:t>MAX</a:t>
                      </a:r>
                      <a:r>
                        <a:rPr lang="en-IN" sz="1800"/>
                        <a:t> player can guarantee so far.</a:t>
                      </a:r>
                    </a:p>
                  </a:txBody>
                  <a:tcPr anchor="ctr">
                    <a:lnL>
                      <a:noFill/>
                    </a:lnL>
                    <a:lnR>
                      <a:noFill/>
                    </a:lnR>
                    <a:lnT>
                      <a:noFill/>
                    </a:lnT>
                    <a:lnB>
                      <a:noFill/>
                    </a:lnB>
                    <a:noFill/>
                  </a:tcPr>
                </a:tc>
                <a:extLst>
                  <a:ext uri="{0D108BD9-81ED-4DB2-BD59-A6C34878D82A}">
                    <a16:rowId xmlns:a16="http://schemas.microsoft.com/office/drawing/2014/main" val="27216951"/>
                  </a:ext>
                </a:extLst>
              </a:tr>
              <a:tr h="640080">
                <a:tc>
                  <a:txBody>
                    <a:bodyPr/>
                    <a:lstStyle/>
                    <a:p>
                      <a:pPr>
                        <a:buNone/>
                      </a:pPr>
                      <a:r>
                        <a:rPr lang="el-GR" sz="1800" b="1" dirty="0"/>
                        <a:t>β (</a:t>
                      </a:r>
                      <a:r>
                        <a:rPr lang="en-IN" sz="1800" b="1" dirty="0"/>
                        <a:t>Beta)</a:t>
                      </a:r>
                      <a:endParaRPr lang="en-IN" sz="1800" dirty="0"/>
                    </a:p>
                  </a:txBody>
                  <a:tcPr anchor="ctr">
                    <a:lnL>
                      <a:noFill/>
                    </a:lnL>
                    <a:lnR>
                      <a:noFill/>
                    </a:lnR>
                    <a:lnT>
                      <a:noFill/>
                    </a:lnT>
                    <a:lnB>
                      <a:noFill/>
                    </a:lnB>
                    <a:noFill/>
                  </a:tcPr>
                </a:tc>
                <a:tc>
                  <a:txBody>
                    <a:bodyPr/>
                    <a:lstStyle/>
                    <a:p>
                      <a:pPr>
                        <a:buNone/>
                      </a:pPr>
                      <a:r>
                        <a:rPr lang="en-IN" sz="1800"/>
                        <a:t>The </a:t>
                      </a:r>
                      <a:r>
                        <a:rPr lang="en-IN" sz="1800" b="1"/>
                        <a:t>best value</a:t>
                      </a:r>
                      <a:r>
                        <a:rPr lang="en-IN" sz="1800"/>
                        <a:t> that the </a:t>
                      </a:r>
                      <a:r>
                        <a:rPr lang="en-IN" sz="1800" b="1"/>
                        <a:t>MIN</a:t>
                      </a:r>
                      <a:r>
                        <a:rPr lang="en-IN" sz="1800"/>
                        <a:t> player can guarantee so far.</a:t>
                      </a:r>
                    </a:p>
                  </a:txBody>
                  <a:tcPr anchor="ctr">
                    <a:lnL>
                      <a:noFill/>
                    </a:lnL>
                    <a:lnR>
                      <a:noFill/>
                    </a:lnR>
                    <a:lnT>
                      <a:noFill/>
                    </a:lnT>
                    <a:lnB>
                      <a:noFill/>
                    </a:lnB>
                    <a:noFill/>
                  </a:tcPr>
                </a:tc>
                <a:extLst>
                  <a:ext uri="{0D108BD9-81ED-4DB2-BD59-A6C34878D82A}">
                    <a16:rowId xmlns:a16="http://schemas.microsoft.com/office/drawing/2014/main" val="1206850758"/>
                  </a:ext>
                </a:extLst>
              </a:tr>
              <a:tr h="914400">
                <a:tc>
                  <a:txBody>
                    <a:bodyPr/>
                    <a:lstStyle/>
                    <a:p>
                      <a:pPr>
                        <a:buNone/>
                      </a:pPr>
                      <a:r>
                        <a:rPr lang="en-IN" sz="1800" b="1"/>
                        <a:t>Pruning</a:t>
                      </a:r>
                      <a:endParaRPr lang="en-IN" sz="1800"/>
                    </a:p>
                  </a:txBody>
                  <a:tcPr anchor="ctr">
                    <a:lnL>
                      <a:noFill/>
                    </a:lnL>
                    <a:lnR>
                      <a:noFill/>
                    </a:lnR>
                    <a:lnT>
                      <a:noFill/>
                    </a:lnT>
                    <a:lnB>
                      <a:noFill/>
                    </a:lnB>
                    <a:noFill/>
                  </a:tcPr>
                </a:tc>
                <a:tc>
                  <a:txBody>
                    <a:bodyPr/>
                    <a:lstStyle/>
                    <a:p>
                      <a:pPr>
                        <a:buNone/>
                      </a:pPr>
                      <a:r>
                        <a:rPr lang="en-IN" sz="1800" dirty="0"/>
                        <a:t>Stopping evaluation of a branch when it can’t produce a better result than previously explored branches.</a:t>
                      </a:r>
                    </a:p>
                  </a:txBody>
                  <a:tcPr anchor="ctr">
                    <a:lnL>
                      <a:noFill/>
                    </a:lnL>
                    <a:lnR>
                      <a:noFill/>
                    </a:lnR>
                    <a:lnT>
                      <a:noFill/>
                    </a:lnT>
                    <a:lnB>
                      <a:noFill/>
                    </a:lnB>
                    <a:noFill/>
                  </a:tcPr>
                </a:tc>
                <a:extLst>
                  <a:ext uri="{0D108BD9-81ED-4DB2-BD59-A6C34878D82A}">
                    <a16:rowId xmlns:a16="http://schemas.microsoft.com/office/drawing/2014/main" val="1896366541"/>
                  </a:ext>
                </a:extLst>
              </a:tr>
            </a:tbl>
          </a:graphicData>
        </a:graphic>
      </p:graphicFrame>
    </p:spTree>
    <p:extLst>
      <p:ext uri="{BB962C8B-B14F-4D97-AF65-F5344CB8AC3E}">
        <p14:creationId xmlns:p14="http://schemas.microsoft.com/office/powerpoint/2010/main" val="317061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6CB33-7692-CB6A-56AC-E607BBA0366C}"/>
              </a:ext>
            </a:extLst>
          </p:cNvPr>
          <p:cNvSpPr>
            <a:spLocks noGrp="1"/>
          </p:cNvSpPr>
          <p:nvPr>
            <p:ph type="title"/>
          </p:nvPr>
        </p:nvSpPr>
        <p:spPr/>
        <p:txBody>
          <a:bodyPr/>
          <a:lstStyle/>
          <a:p>
            <a:r>
              <a:rPr lang="en-IN" dirty="0"/>
              <a:t>Working Principle</a:t>
            </a:r>
            <a:br>
              <a:rPr lang="en-IN" dirty="0"/>
            </a:br>
            <a:endParaRPr lang="en-US" dirty="0"/>
          </a:p>
        </p:txBody>
      </p:sp>
      <p:sp>
        <p:nvSpPr>
          <p:cNvPr id="3" name="Text Placeholder 2">
            <a:extLst>
              <a:ext uri="{FF2B5EF4-FFF2-40B4-BE49-F238E27FC236}">
                <a16:creationId xmlns:a16="http://schemas.microsoft.com/office/drawing/2014/main" id="{AAC8D839-2E8E-9FEB-9609-D2390DFBB3A8}"/>
              </a:ext>
            </a:extLst>
          </p:cNvPr>
          <p:cNvSpPr>
            <a:spLocks noGrp="1"/>
          </p:cNvSpPr>
          <p:nvPr>
            <p:ph type="body" idx="1"/>
          </p:nvPr>
        </p:nvSpPr>
        <p:spPr>
          <a:xfrm>
            <a:off x="2059941" y="1616709"/>
            <a:ext cx="8074025" cy="3539430"/>
          </a:xfrm>
        </p:spPr>
        <p:txBody>
          <a:bodyPr>
            <a:normAutofit fontScale="77500" lnSpcReduction="20000"/>
          </a:bodyPr>
          <a:lstStyle/>
          <a:p>
            <a:r>
              <a:rPr lang="en-IN" dirty="0"/>
              <a:t>Traverse the game tree using </a:t>
            </a:r>
            <a:r>
              <a:rPr lang="en-IN" b="1" dirty="0"/>
              <a:t>depth-first search</a:t>
            </a:r>
            <a:r>
              <a:rPr lang="en-IN" dirty="0"/>
              <a:t>.</a:t>
            </a:r>
          </a:p>
          <a:p>
            <a:endParaRPr lang="en-IN" dirty="0"/>
          </a:p>
          <a:p>
            <a:r>
              <a:rPr lang="en-IN" dirty="0"/>
              <a:t>Maintain two values: alpha and beta.</a:t>
            </a:r>
          </a:p>
          <a:p>
            <a:endParaRPr lang="en-IN" dirty="0"/>
          </a:p>
          <a:p>
            <a:r>
              <a:rPr lang="en-IN" dirty="0"/>
              <a:t>At a </a:t>
            </a:r>
            <a:r>
              <a:rPr lang="en-IN" b="1" dirty="0"/>
              <a:t>MAX node</a:t>
            </a:r>
            <a:r>
              <a:rPr lang="en-IN" dirty="0"/>
              <a:t>:</a:t>
            </a:r>
          </a:p>
          <a:p>
            <a:pPr lvl="1"/>
            <a:r>
              <a:rPr lang="en-IN" dirty="0"/>
              <a:t>Update alpha = max(alpha, value).</a:t>
            </a:r>
          </a:p>
          <a:p>
            <a:pPr lvl="1"/>
            <a:r>
              <a:rPr lang="en-IN" dirty="0"/>
              <a:t>Prune remaining children if alpha ≥ beta.</a:t>
            </a:r>
          </a:p>
          <a:p>
            <a:pPr lvl="1"/>
            <a:endParaRPr lang="en-IN" dirty="0"/>
          </a:p>
          <a:p>
            <a:r>
              <a:rPr lang="en-IN" dirty="0"/>
              <a:t>At a </a:t>
            </a:r>
            <a:r>
              <a:rPr lang="en-IN" b="1" dirty="0"/>
              <a:t>MIN node</a:t>
            </a:r>
            <a:r>
              <a:rPr lang="en-IN" dirty="0"/>
              <a:t>:</a:t>
            </a:r>
          </a:p>
          <a:p>
            <a:pPr lvl="1"/>
            <a:r>
              <a:rPr lang="en-IN" dirty="0"/>
              <a:t>Update beta = min(beta, value).</a:t>
            </a:r>
          </a:p>
          <a:p>
            <a:pPr lvl="1"/>
            <a:r>
              <a:rPr lang="en-IN" dirty="0"/>
              <a:t>Prune remaining children if beta ≤ alpha.</a:t>
            </a:r>
          </a:p>
          <a:p>
            <a:endParaRPr lang="en-US" dirty="0"/>
          </a:p>
        </p:txBody>
      </p:sp>
    </p:spTree>
    <p:extLst>
      <p:ext uri="{BB962C8B-B14F-4D97-AF65-F5344CB8AC3E}">
        <p14:creationId xmlns:p14="http://schemas.microsoft.com/office/powerpoint/2010/main" val="2592699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A4169-1287-27B3-127D-A8A8FF4C0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CA99CB-8BBA-04CC-5824-7E66115B5DC6}"/>
              </a:ext>
            </a:extLst>
          </p:cNvPr>
          <p:cNvSpPr>
            <a:spLocks noGrp="1"/>
          </p:cNvSpPr>
          <p:nvPr>
            <p:ph type="title"/>
          </p:nvPr>
        </p:nvSpPr>
        <p:spPr/>
        <p:txBody>
          <a:bodyPr/>
          <a:lstStyle/>
          <a:p>
            <a:r>
              <a:rPr lang="en-US" dirty="0"/>
              <a:t>Alpha-Beta Pruning (in Game AI)</a:t>
            </a:r>
          </a:p>
        </p:txBody>
      </p:sp>
      <p:pic>
        <p:nvPicPr>
          <p:cNvPr id="5" name="Picture 4" descr="Diagram of a diagram of a diagram&#10;&#10;AI-generated content may be incorrect.">
            <a:extLst>
              <a:ext uri="{FF2B5EF4-FFF2-40B4-BE49-F238E27FC236}">
                <a16:creationId xmlns:a16="http://schemas.microsoft.com/office/drawing/2014/main" id="{B14A093D-CC8C-C4E4-1047-273CF43887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1623461"/>
            <a:ext cx="6870700" cy="4953000"/>
          </a:xfrm>
          <a:prstGeom prst="rect">
            <a:avLst/>
          </a:prstGeom>
        </p:spPr>
      </p:pic>
    </p:spTree>
    <p:extLst>
      <p:ext uri="{BB962C8B-B14F-4D97-AF65-F5344CB8AC3E}">
        <p14:creationId xmlns:p14="http://schemas.microsoft.com/office/powerpoint/2010/main" val="2197914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7A2EE-8D0F-E1A5-3136-6AE2634A70AA}"/>
              </a:ext>
            </a:extLst>
          </p:cNvPr>
          <p:cNvSpPr>
            <a:spLocks noGrp="1"/>
          </p:cNvSpPr>
          <p:nvPr>
            <p:ph type="title"/>
          </p:nvPr>
        </p:nvSpPr>
        <p:spPr>
          <a:xfrm>
            <a:off x="2059941" y="145492"/>
            <a:ext cx="8072119" cy="615553"/>
          </a:xfrm>
        </p:spPr>
        <p:txBody>
          <a:bodyPr>
            <a:normAutofit fontScale="90000"/>
          </a:bodyPr>
          <a:lstStyle/>
          <a:p>
            <a:r>
              <a:rPr lang="en-US" dirty="0"/>
              <a:t>AI Applications in Healthcare</a:t>
            </a:r>
          </a:p>
        </p:txBody>
      </p:sp>
      <p:pic>
        <p:nvPicPr>
          <p:cNvPr id="7170" name="Picture 2" descr="Latest AI Applications in Healthcare - Slide 2">
            <a:extLst>
              <a:ext uri="{FF2B5EF4-FFF2-40B4-BE49-F238E27FC236}">
                <a16:creationId xmlns:a16="http://schemas.microsoft.com/office/drawing/2014/main" id="{7FBE2461-AC57-49F3-8D27-2DEFD5442A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143000"/>
            <a:ext cx="7620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660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AB6B7-DE50-1F98-28B9-E654D30F0300}"/>
              </a:ext>
            </a:extLst>
          </p:cNvPr>
          <p:cNvSpPr>
            <a:spLocks noGrp="1"/>
          </p:cNvSpPr>
          <p:nvPr>
            <p:ph type="title"/>
          </p:nvPr>
        </p:nvSpPr>
        <p:spPr/>
        <p:txBody>
          <a:bodyPr/>
          <a:lstStyle/>
          <a:p>
            <a:endParaRPr lang="en-US"/>
          </a:p>
        </p:txBody>
      </p:sp>
      <p:pic>
        <p:nvPicPr>
          <p:cNvPr id="8194" name="Picture 2" descr="Artificial Intelligence in Healthcare - Slide 3">
            <a:extLst>
              <a:ext uri="{FF2B5EF4-FFF2-40B4-BE49-F238E27FC236}">
                <a16:creationId xmlns:a16="http://schemas.microsoft.com/office/drawing/2014/main" id="{5B738441-87B9-693E-629B-91B5ADD823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6047" y="2057400"/>
            <a:ext cx="7957671" cy="4476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118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F4473-83E2-D406-4DC8-5007C7A25A43}"/>
              </a:ext>
            </a:extLst>
          </p:cNvPr>
          <p:cNvSpPr>
            <a:spLocks noGrp="1"/>
          </p:cNvSpPr>
          <p:nvPr>
            <p:ph type="title"/>
          </p:nvPr>
        </p:nvSpPr>
        <p:spPr>
          <a:xfrm>
            <a:off x="2059941" y="145492"/>
            <a:ext cx="8072119" cy="615553"/>
          </a:xfrm>
        </p:spPr>
        <p:txBody>
          <a:bodyPr>
            <a:normAutofit fontScale="90000"/>
          </a:bodyPr>
          <a:lstStyle/>
          <a:p>
            <a:r>
              <a:rPr lang="en-US" dirty="0"/>
              <a:t>Role of AI in Healthcare</a:t>
            </a:r>
          </a:p>
        </p:txBody>
      </p:sp>
      <p:pic>
        <p:nvPicPr>
          <p:cNvPr id="9218" name="Picture 2" descr="Role of AI in Healthcare - Slide 1">
            <a:extLst>
              <a:ext uri="{FF2B5EF4-FFF2-40B4-BE49-F238E27FC236}">
                <a16:creationId xmlns:a16="http://schemas.microsoft.com/office/drawing/2014/main" id="{F54E6AF5-5DA2-CB46-49AA-E8447E90E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8035" y="1616710"/>
            <a:ext cx="8152765" cy="5095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513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2189E-0E5F-2D2A-D050-F593A115F0A4}"/>
              </a:ext>
            </a:extLst>
          </p:cNvPr>
          <p:cNvSpPr>
            <a:spLocks noGrp="1"/>
          </p:cNvSpPr>
          <p:nvPr>
            <p:ph type="title"/>
          </p:nvPr>
        </p:nvSpPr>
        <p:spPr/>
        <p:txBody>
          <a:bodyPr/>
          <a:lstStyle/>
          <a:p>
            <a:endParaRPr lang="en-US"/>
          </a:p>
        </p:txBody>
      </p:sp>
      <p:pic>
        <p:nvPicPr>
          <p:cNvPr id="10242" name="Picture 2" descr="Challenges in Healthcare AI Market - Slide 4">
            <a:extLst>
              <a:ext uri="{FF2B5EF4-FFF2-40B4-BE49-F238E27FC236}">
                <a16:creationId xmlns:a16="http://schemas.microsoft.com/office/drawing/2014/main" id="{9DD42489-350C-F138-5EF8-EA26783329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941" y="1219200"/>
            <a:ext cx="8072119"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292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5CBFC-BA95-F24B-8CA3-1287137BB3B4}"/>
              </a:ext>
            </a:extLst>
          </p:cNvPr>
          <p:cNvSpPr>
            <a:spLocks noGrp="1"/>
          </p:cNvSpPr>
          <p:nvPr>
            <p:ph type="title"/>
          </p:nvPr>
        </p:nvSpPr>
        <p:spPr/>
        <p:txBody>
          <a:bodyPr/>
          <a:lstStyle/>
          <a:p>
            <a:endParaRPr lang="en-US"/>
          </a:p>
        </p:txBody>
      </p:sp>
      <p:pic>
        <p:nvPicPr>
          <p:cNvPr id="11266" name="Picture 2" descr="Pros and Cons of AI in Healthcare - Slide 5">
            <a:extLst>
              <a:ext uri="{FF2B5EF4-FFF2-40B4-BE49-F238E27FC236}">
                <a16:creationId xmlns:a16="http://schemas.microsoft.com/office/drawing/2014/main" id="{1EE40E03-53C6-C713-9AC1-C1E0E3A1C6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14499"/>
            <a:ext cx="7848600"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0216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F156D-E649-B088-3D7F-A4A52DF501D4}"/>
              </a:ext>
            </a:extLst>
          </p:cNvPr>
          <p:cNvSpPr>
            <a:spLocks noGrp="1"/>
          </p:cNvSpPr>
          <p:nvPr>
            <p:ph type="title"/>
          </p:nvPr>
        </p:nvSpPr>
        <p:spPr/>
        <p:txBody>
          <a:bodyPr/>
          <a:lstStyle/>
          <a:p>
            <a:endParaRPr lang="en-US"/>
          </a:p>
        </p:txBody>
      </p:sp>
      <p:pic>
        <p:nvPicPr>
          <p:cNvPr id="12290" name="Picture 2" descr="Healthcare Management - Slide 1">
            <a:extLst>
              <a:ext uri="{FF2B5EF4-FFF2-40B4-BE49-F238E27FC236}">
                <a16:creationId xmlns:a16="http://schemas.microsoft.com/office/drawing/2014/main" id="{6CB01173-6DF3-AA38-43C7-FD4186E22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585" y="1522682"/>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73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DD2C2-5D6F-B9B7-2364-917939D9C0E6}"/>
              </a:ext>
            </a:extLst>
          </p:cNvPr>
          <p:cNvSpPr>
            <a:spLocks noGrp="1"/>
          </p:cNvSpPr>
          <p:nvPr>
            <p:ph type="title"/>
          </p:nvPr>
        </p:nvSpPr>
        <p:spPr/>
        <p:txBody>
          <a:bodyPr/>
          <a:lstStyle/>
          <a:p>
            <a:endParaRPr lang="en-US"/>
          </a:p>
        </p:txBody>
      </p:sp>
      <p:pic>
        <p:nvPicPr>
          <p:cNvPr id="13314" name="Picture 2" descr="Healthcare Management - Slide 2">
            <a:extLst>
              <a:ext uri="{FF2B5EF4-FFF2-40B4-BE49-F238E27FC236}">
                <a16:creationId xmlns:a16="http://schemas.microsoft.com/office/drawing/2014/main" id="{00248472-04CF-1F53-11F7-76C76EFE0A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600200"/>
            <a:ext cx="8458200" cy="4933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92742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A2ADC-F715-D4C7-745C-D822E7D8E16D}"/>
              </a:ext>
            </a:extLst>
          </p:cNvPr>
          <p:cNvSpPr>
            <a:spLocks noGrp="1"/>
          </p:cNvSpPr>
          <p:nvPr>
            <p:ph type="title"/>
          </p:nvPr>
        </p:nvSpPr>
        <p:spPr>
          <a:xfrm>
            <a:off x="1397000" y="145493"/>
            <a:ext cx="9677400" cy="1454708"/>
          </a:xfrm>
        </p:spPr>
        <p:txBody>
          <a:bodyPr>
            <a:normAutofit fontScale="90000"/>
          </a:bodyPr>
          <a:lstStyle/>
          <a:p>
            <a:r>
              <a:rPr lang="en-IN" dirty="0"/>
              <a:t>AI Applications in Healthcare, organized by key domains and examples:</a:t>
            </a:r>
            <a:br>
              <a:rPr lang="en-IN" dirty="0"/>
            </a:br>
            <a:endParaRPr lang="en-US" dirty="0"/>
          </a:p>
        </p:txBody>
      </p:sp>
      <p:sp>
        <p:nvSpPr>
          <p:cNvPr id="3" name="Text Placeholder 2">
            <a:extLst>
              <a:ext uri="{FF2B5EF4-FFF2-40B4-BE49-F238E27FC236}">
                <a16:creationId xmlns:a16="http://schemas.microsoft.com/office/drawing/2014/main" id="{E32B49EF-7ECB-7E6C-4D41-21BE6F8DC6B2}"/>
              </a:ext>
            </a:extLst>
          </p:cNvPr>
          <p:cNvSpPr>
            <a:spLocks noGrp="1"/>
          </p:cNvSpPr>
          <p:nvPr>
            <p:ph type="body" idx="1"/>
          </p:nvPr>
        </p:nvSpPr>
        <p:spPr>
          <a:xfrm>
            <a:off x="2059941" y="1376598"/>
            <a:ext cx="8074025" cy="5481403"/>
          </a:xfrm>
        </p:spPr>
        <p:txBody>
          <a:bodyPr>
            <a:normAutofit fontScale="70000" lnSpcReduction="20000"/>
          </a:bodyPr>
          <a:lstStyle/>
          <a:p>
            <a:pPr marL="457200" indent="-457200">
              <a:buAutoNum type="arabicPeriod"/>
            </a:pPr>
            <a:r>
              <a:rPr lang="en-IN" b="1" dirty="0"/>
              <a:t>Medical Imaging and Diagnostics</a:t>
            </a:r>
          </a:p>
          <a:p>
            <a:endParaRPr lang="en-IN" b="1" dirty="0"/>
          </a:p>
          <a:p>
            <a:r>
              <a:rPr lang="en-IN" dirty="0"/>
              <a:t>AI is transforming how diseases are detected and diagnosed using imaging data.</a:t>
            </a:r>
          </a:p>
          <a:p>
            <a:br>
              <a:rPr lang="en-IN" dirty="0"/>
            </a:br>
            <a:r>
              <a:rPr lang="en-IN" b="1" dirty="0"/>
              <a:t>Applications:</a:t>
            </a:r>
          </a:p>
          <a:p>
            <a:endParaRPr lang="en-IN" dirty="0"/>
          </a:p>
          <a:p>
            <a:r>
              <a:rPr lang="en-IN" b="1" dirty="0"/>
              <a:t>Disease Detection:</a:t>
            </a:r>
            <a:r>
              <a:rPr lang="en-IN" dirty="0"/>
              <a:t> Identifying </a:t>
            </a:r>
            <a:r>
              <a:rPr lang="en-IN" dirty="0" err="1"/>
              <a:t>tumors</a:t>
            </a:r>
            <a:r>
              <a:rPr lang="en-IN" dirty="0"/>
              <a:t>, fractures, and anomalies in X-rays, MRI, and CT scans.</a:t>
            </a:r>
          </a:p>
          <a:p>
            <a:r>
              <a:rPr lang="en-IN" b="1" dirty="0"/>
              <a:t>Cancer Diagnosis:</a:t>
            </a:r>
            <a:r>
              <a:rPr lang="en-IN" dirty="0"/>
              <a:t> Deep learning models (CNNs, GNNs, Transformers) are used for </a:t>
            </a:r>
            <a:r>
              <a:rPr lang="en-IN" b="1" dirty="0"/>
              <a:t>liver, lung, and breast cancer</a:t>
            </a:r>
            <a:r>
              <a:rPr lang="en-IN" dirty="0"/>
              <a:t> detection.</a:t>
            </a:r>
          </a:p>
          <a:p>
            <a:endParaRPr lang="en-IN" dirty="0"/>
          </a:p>
          <a:p>
            <a:r>
              <a:rPr lang="en-IN" b="1" dirty="0"/>
              <a:t>Retinal Scans:</a:t>
            </a:r>
            <a:r>
              <a:rPr lang="en-IN" dirty="0"/>
              <a:t> Detecting </a:t>
            </a:r>
            <a:r>
              <a:rPr lang="en-IN" b="1" dirty="0"/>
              <a:t>diabetic retinopathy</a:t>
            </a:r>
            <a:r>
              <a:rPr lang="en-IN" dirty="0"/>
              <a:t> and </a:t>
            </a:r>
            <a:r>
              <a:rPr lang="en-IN" b="1" dirty="0"/>
              <a:t>glaucoma</a:t>
            </a:r>
            <a:r>
              <a:rPr lang="en-IN" dirty="0"/>
              <a:t> from eye images.</a:t>
            </a:r>
          </a:p>
          <a:p>
            <a:br>
              <a:rPr lang="en-IN" dirty="0"/>
            </a:br>
            <a:r>
              <a:rPr lang="en-IN" b="1" dirty="0"/>
              <a:t>Examples:</a:t>
            </a:r>
            <a:endParaRPr lang="en-IN" dirty="0"/>
          </a:p>
          <a:p>
            <a:r>
              <a:rPr lang="en-IN" dirty="0"/>
              <a:t>Google Health’s AI model for breast cancer detection.</a:t>
            </a:r>
          </a:p>
          <a:p>
            <a:r>
              <a:rPr lang="en-IN" dirty="0"/>
              <a:t>IBM Watson’s medical imaging AI for radiology reports.</a:t>
            </a:r>
          </a:p>
          <a:p>
            <a:endParaRPr lang="en-US" dirty="0"/>
          </a:p>
        </p:txBody>
      </p:sp>
    </p:spTree>
    <p:extLst>
      <p:ext uri="{BB962C8B-B14F-4D97-AF65-F5344CB8AC3E}">
        <p14:creationId xmlns:p14="http://schemas.microsoft.com/office/powerpoint/2010/main" val="21582394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4E30E-0454-071B-63BC-308E0149DD17}"/>
              </a:ext>
            </a:extLst>
          </p:cNvPr>
          <p:cNvSpPr>
            <a:spLocks noGrp="1"/>
          </p:cNvSpPr>
          <p:nvPr>
            <p:ph type="title"/>
          </p:nvPr>
        </p:nvSpPr>
        <p:spPr>
          <a:xfrm>
            <a:off x="2059941" y="145492"/>
            <a:ext cx="8072119" cy="615553"/>
          </a:xfrm>
        </p:spPr>
        <p:txBody>
          <a:bodyPr>
            <a:normAutofit fontScale="90000"/>
          </a:bodyPr>
          <a:lstStyle/>
          <a:p>
            <a:r>
              <a:rPr lang="en-IN" dirty="0"/>
              <a:t> Drug Discovery and Development</a:t>
            </a:r>
            <a:endParaRPr lang="en-US" dirty="0"/>
          </a:p>
        </p:txBody>
      </p:sp>
      <p:sp>
        <p:nvSpPr>
          <p:cNvPr id="3" name="Text Placeholder 2">
            <a:extLst>
              <a:ext uri="{FF2B5EF4-FFF2-40B4-BE49-F238E27FC236}">
                <a16:creationId xmlns:a16="http://schemas.microsoft.com/office/drawing/2014/main" id="{8626344E-FCAB-FAC9-E88D-0BFC9A3D5A2A}"/>
              </a:ext>
            </a:extLst>
          </p:cNvPr>
          <p:cNvSpPr>
            <a:spLocks noGrp="1"/>
          </p:cNvSpPr>
          <p:nvPr>
            <p:ph type="body" idx="1"/>
          </p:nvPr>
        </p:nvSpPr>
        <p:spPr>
          <a:xfrm>
            <a:off x="2059941" y="1616709"/>
            <a:ext cx="8074025" cy="4308872"/>
          </a:xfrm>
        </p:spPr>
        <p:txBody>
          <a:bodyPr>
            <a:normAutofit fontScale="85000" lnSpcReduction="20000"/>
          </a:bodyPr>
          <a:lstStyle/>
          <a:p>
            <a:r>
              <a:rPr lang="en-IN" dirty="0"/>
              <a:t>AI accelerates the drug development process by predicting molecular </a:t>
            </a:r>
            <a:r>
              <a:rPr lang="en-IN" dirty="0" err="1"/>
              <a:t>behavior</a:t>
            </a:r>
            <a:r>
              <a:rPr lang="en-IN" dirty="0"/>
              <a:t> and reducing trial costs.</a:t>
            </a:r>
          </a:p>
          <a:p>
            <a:br>
              <a:rPr lang="en-IN" dirty="0"/>
            </a:br>
            <a:r>
              <a:rPr lang="en-IN" b="1" dirty="0"/>
              <a:t>Applications:</a:t>
            </a:r>
          </a:p>
          <a:p>
            <a:endParaRPr lang="en-IN" dirty="0"/>
          </a:p>
          <a:p>
            <a:r>
              <a:rPr lang="en-IN" b="1" dirty="0"/>
              <a:t>Drug Target Identification:</a:t>
            </a:r>
            <a:r>
              <a:rPr lang="en-IN" dirty="0"/>
              <a:t> Predicting how molecules will interact with biological targets.</a:t>
            </a:r>
          </a:p>
          <a:p>
            <a:endParaRPr lang="en-IN" dirty="0"/>
          </a:p>
          <a:p>
            <a:r>
              <a:rPr lang="en-IN" b="1" dirty="0"/>
              <a:t>Molecular Simulation:</a:t>
            </a:r>
            <a:r>
              <a:rPr lang="en-IN" dirty="0"/>
              <a:t> AI models simulate protein folding (e.g., </a:t>
            </a:r>
            <a:r>
              <a:rPr lang="en-IN" b="1" dirty="0"/>
              <a:t>DeepMind’s AlphaFold</a:t>
            </a:r>
            <a:r>
              <a:rPr lang="en-IN" dirty="0"/>
              <a:t>).</a:t>
            </a:r>
          </a:p>
          <a:p>
            <a:endParaRPr lang="en-IN" dirty="0"/>
          </a:p>
          <a:p>
            <a:r>
              <a:rPr lang="en-IN" b="1" dirty="0"/>
              <a:t>Clinical Trial Optimization:</a:t>
            </a:r>
            <a:r>
              <a:rPr lang="en-IN" dirty="0"/>
              <a:t> Identifying suitable candidates and predicting success rates.</a:t>
            </a:r>
          </a:p>
          <a:p>
            <a:endParaRPr lang="en-US" dirty="0"/>
          </a:p>
        </p:txBody>
      </p:sp>
    </p:spTree>
    <p:extLst>
      <p:ext uri="{BB962C8B-B14F-4D97-AF65-F5344CB8AC3E}">
        <p14:creationId xmlns:p14="http://schemas.microsoft.com/office/powerpoint/2010/main" val="3598290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2CAE0-84E2-C7D6-EA2E-33A9A0C5D7AD}"/>
              </a:ext>
            </a:extLst>
          </p:cNvPr>
          <p:cNvSpPr>
            <a:spLocks noGrp="1"/>
          </p:cNvSpPr>
          <p:nvPr>
            <p:ph type="title"/>
          </p:nvPr>
        </p:nvSpPr>
        <p:spPr/>
        <p:txBody>
          <a:bodyPr/>
          <a:lstStyle/>
          <a:p>
            <a:r>
              <a:rPr lang="en-IN" dirty="0"/>
              <a:t>Predictive Analytics and Disease Forecasting</a:t>
            </a:r>
            <a:endParaRPr lang="en-US" dirty="0"/>
          </a:p>
        </p:txBody>
      </p:sp>
      <p:sp>
        <p:nvSpPr>
          <p:cNvPr id="3" name="Text Placeholder 2">
            <a:extLst>
              <a:ext uri="{FF2B5EF4-FFF2-40B4-BE49-F238E27FC236}">
                <a16:creationId xmlns:a16="http://schemas.microsoft.com/office/drawing/2014/main" id="{E391EAE1-74F4-7341-F0B7-646111F219D1}"/>
              </a:ext>
            </a:extLst>
          </p:cNvPr>
          <p:cNvSpPr>
            <a:spLocks noGrp="1"/>
          </p:cNvSpPr>
          <p:nvPr>
            <p:ph type="body" idx="1"/>
          </p:nvPr>
        </p:nvSpPr>
        <p:spPr>
          <a:xfrm>
            <a:off x="2059941" y="1616709"/>
            <a:ext cx="8074025" cy="4308872"/>
          </a:xfrm>
        </p:spPr>
        <p:txBody>
          <a:bodyPr>
            <a:normAutofit fontScale="77500" lnSpcReduction="20000"/>
          </a:bodyPr>
          <a:lstStyle/>
          <a:p>
            <a:r>
              <a:rPr lang="en-IN" dirty="0"/>
              <a:t>AI models </a:t>
            </a:r>
            <a:r>
              <a:rPr lang="en-IN" dirty="0" err="1"/>
              <a:t>analyze</a:t>
            </a:r>
            <a:r>
              <a:rPr lang="en-IN" dirty="0"/>
              <a:t> large-scale health data to </a:t>
            </a:r>
            <a:r>
              <a:rPr lang="en-IN" b="1" dirty="0"/>
              <a:t>predict disease outbreaks</a:t>
            </a:r>
            <a:r>
              <a:rPr lang="en-IN" dirty="0"/>
              <a:t> or </a:t>
            </a:r>
            <a:r>
              <a:rPr lang="en-IN" b="1" dirty="0"/>
              <a:t>patient deterioration</a:t>
            </a:r>
            <a:r>
              <a:rPr lang="en-IN" dirty="0"/>
              <a:t>.</a:t>
            </a:r>
          </a:p>
          <a:p>
            <a:br>
              <a:rPr lang="en-IN" dirty="0"/>
            </a:br>
            <a:r>
              <a:rPr lang="en-IN" b="1" dirty="0"/>
              <a:t>Applications:</a:t>
            </a:r>
          </a:p>
          <a:p>
            <a:endParaRPr lang="en-IN" dirty="0"/>
          </a:p>
          <a:p>
            <a:r>
              <a:rPr lang="en-IN" dirty="0"/>
              <a:t>Predicting </a:t>
            </a:r>
            <a:r>
              <a:rPr lang="en-IN" b="1" dirty="0"/>
              <a:t>heart attacks</a:t>
            </a:r>
            <a:r>
              <a:rPr lang="en-IN" dirty="0"/>
              <a:t>, </a:t>
            </a:r>
            <a:r>
              <a:rPr lang="en-IN" b="1" dirty="0"/>
              <a:t>stroke</a:t>
            </a:r>
            <a:r>
              <a:rPr lang="en-IN" dirty="0"/>
              <a:t>, or </a:t>
            </a:r>
            <a:r>
              <a:rPr lang="en-IN" b="1" dirty="0"/>
              <a:t>diabetes risk</a:t>
            </a:r>
            <a:r>
              <a:rPr lang="en-IN" dirty="0"/>
              <a:t> using patient history.</a:t>
            </a:r>
          </a:p>
          <a:p>
            <a:r>
              <a:rPr lang="en-IN" dirty="0"/>
              <a:t>Forecasting </a:t>
            </a:r>
            <a:r>
              <a:rPr lang="en-IN" b="1" dirty="0"/>
              <a:t>epidemics and pandemics</a:t>
            </a:r>
            <a:r>
              <a:rPr lang="en-IN" dirty="0"/>
              <a:t> using population data and mobility patterns.</a:t>
            </a:r>
          </a:p>
          <a:p>
            <a:br>
              <a:rPr lang="en-IN" dirty="0"/>
            </a:br>
            <a:r>
              <a:rPr lang="en-IN" b="1" dirty="0"/>
              <a:t>Example:</a:t>
            </a:r>
          </a:p>
          <a:p>
            <a:endParaRPr lang="en-IN" dirty="0"/>
          </a:p>
          <a:p>
            <a:r>
              <a:rPr lang="en-IN" dirty="0" err="1"/>
              <a:t>BlueDot’s</a:t>
            </a:r>
            <a:r>
              <a:rPr lang="en-IN" dirty="0"/>
              <a:t> AI detected COVID-19 outbreak patterns before global spread.</a:t>
            </a:r>
          </a:p>
          <a:p>
            <a:endParaRPr lang="en-US" dirty="0"/>
          </a:p>
        </p:txBody>
      </p:sp>
    </p:spTree>
    <p:extLst>
      <p:ext uri="{BB962C8B-B14F-4D97-AF65-F5344CB8AC3E}">
        <p14:creationId xmlns:p14="http://schemas.microsoft.com/office/powerpoint/2010/main" val="3148835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F4608-EB72-C814-927E-2D85719C107A}"/>
              </a:ext>
            </a:extLst>
          </p:cNvPr>
          <p:cNvSpPr>
            <a:spLocks noGrp="1"/>
          </p:cNvSpPr>
          <p:nvPr>
            <p:ph type="title"/>
          </p:nvPr>
        </p:nvSpPr>
        <p:spPr/>
        <p:txBody>
          <a:bodyPr/>
          <a:lstStyle/>
          <a:p>
            <a:r>
              <a:rPr lang="en-IN" dirty="0"/>
              <a:t>Hospital Management and Workflow Automation</a:t>
            </a:r>
            <a:endParaRPr lang="en-US" dirty="0"/>
          </a:p>
        </p:txBody>
      </p:sp>
      <p:sp>
        <p:nvSpPr>
          <p:cNvPr id="3" name="Text Placeholder 2">
            <a:extLst>
              <a:ext uri="{FF2B5EF4-FFF2-40B4-BE49-F238E27FC236}">
                <a16:creationId xmlns:a16="http://schemas.microsoft.com/office/drawing/2014/main" id="{90FCFA24-8B39-7F65-E7D9-29F878991236}"/>
              </a:ext>
            </a:extLst>
          </p:cNvPr>
          <p:cNvSpPr>
            <a:spLocks noGrp="1"/>
          </p:cNvSpPr>
          <p:nvPr>
            <p:ph type="body" idx="1"/>
          </p:nvPr>
        </p:nvSpPr>
        <p:spPr>
          <a:xfrm>
            <a:off x="2059941" y="1616710"/>
            <a:ext cx="8074025" cy="4001095"/>
          </a:xfrm>
        </p:spPr>
        <p:txBody>
          <a:bodyPr>
            <a:normAutofit fontScale="70000" lnSpcReduction="20000"/>
          </a:bodyPr>
          <a:lstStyle/>
          <a:p>
            <a:r>
              <a:rPr lang="en-IN" dirty="0"/>
              <a:t>AI improves healthcare efficiency and reduces administrative burden.</a:t>
            </a:r>
            <a:br>
              <a:rPr lang="en-IN" dirty="0"/>
            </a:br>
            <a:r>
              <a:rPr lang="en-IN" b="1" dirty="0"/>
              <a:t>Applications:</a:t>
            </a:r>
          </a:p>
          <a:p>
            <a:endParaRPr lang="en-IN" dirty="0"/>
          </a:p>
          <a:p>
            <a:r>
              <a:rPr lang="en-IN" b="1" dirty="0"/>
              <a:t>Appointment Scheduling</a:t>
            </a:r>
            <a:r>
              <a:rPr lang="en-IN" dirty="0"/>
              <a:t> and </a:t>
            </a:r>
            <a:r>
              <a:rPr lang="en-IN" b="1" dirty="0"/>
              <a:t>Bed Allocation Optimization.</a:t>
            </a:r>
          </a:p>
          <a:p>
            <a:endParaRPr lang="en-IN" dirty="0"/>
          </a:p>
          <a:p>
            <a:r>
              <a:rPr lang="en-IN" b="1" dirty="0"/>
              <a:t>Automated Billing</a:t>
            </a:r>
            <a:r>
              <a:rPr lang="en-IN" dirty="0"/>
              <a:t> and </a:t>
            </a:r>
            <a:r>
              <a:rPr lang="en-IN" b="1" dirty="0"/>
              <a:t>Medical Record Summarization.</a:t>
            </a:r>
          </a:p>
          <a:p>
            <a:endParaRPr lang="en-IN" dirty="0"/>
          </a:p>
          <a:p>
            <a:r>
              <a:rPr lang="en-IN" b="1" dirty="0"/>
              <a:t>Chatbots and Virtual Assistants</a:t>
            </a:r>
            <a:r>
              <a:rPr lang="en-IN" dirty="0"/>
              <a:t> for patient support.</a:t>
            </a:r>
          </a:p>
          <a:p>
            <a:br>
              <a:rPr lang="en-IN" dirty="0"/>
            </a:br>
            <a:r>
              <a:rPr lang="en-IN" b="1" dirty="0"/>
              <a:t>Example:</a:t>
            </a:r>
          </a:p>
          <a:p>
            <a:endParaRPr lang="en-IN" dirty="0"/>
          </a:p>
          <a:p>
            <a:r>
              <a:rPr lang="en-IN" dirty="0"/>
              <a:t>Microsoft’s Health Bot Service for healthcare triage.</a:t>
            </a:r>
          </a:p>
          <a:p>
            <a:endParaRPr lang="en-US" dirty="0"/>
          </a:p>
        </p:txBody>
      </p:sp>
    </p:spTree>
    <p:extLst>
      <p:ext uri="{BB962C8B-B14F-4D97-AF65-F5344CB8AC3E}">
        <p14:creationId xmlns:p14="http://schemas.microsoft.com/office/powerpoint/2010/main" val="8227382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E57F0-7505-E4A1-F4F8-23769CE9EB63}"/>
              </a:ext>
            </a:extLst>
          </p:cNvPr>
          <p:cNvSpPr>
            <a:spLocks noGrp="1"/>
          </p:cNvSpPr>
          <p:nvPr>
            <p:ph type="title"/>
          </p:nvPr>
        </p:nvSpPr>
        <p:spPr/>
        <p:txBody>
          <a:bodyPr/>
          <a:lstStyle/>
          <a:p>
            <a:r>
              <a:rPr lang="en-IN" dirty="0"/>
              <a:t>Virtual Health Assistants and Chatbots</a:t>
            </a:r>
            <a:endParaRPr lang="en-US" dirty="0"/>
          </a:p>
        </p:txBody>
      </p:sp>
      <p:sp>
        <p:nvSpPr>
          <p:cNvPr id="3" name="Text Placeholder 2">
            <a:extLst>
              <a:ext uri="{FF2B5EF4-FFF2-40B4-BE49-F238E27FC236}">
                <a16:creationId xmlns:a16="http://schemas.microsoft.com/office/drawing/2014/main" id="{1A1B4E0A-0B45-95DB-8B09-981AB5AC2069}"/>
              </a:ext>
            </a:extLst>
          </p:cNvPr>
          <p:cNvSpPr>
            <a:spLocks noGrp="1"/>
          </p:cNvSpPr>
          <p:nvPr>
            <p:ph type="body" idx="1"/>
          </p:nvPr>
        </p:nvSpPr>
        <p:spPr>
          <a:xfrm>
            <a:off x="2059941" y="1616709"/>
            <a:ext cx="8074025" cy="3077766"/>
          </a:xfrm>
        </p:spPr>
        <p:txBody>
          <a:bodyPr>
            <a:normAutofit fontScale="70000" lnSpcReduction="20000"/>
          </a:bodyPr>
          <a:lstStyle/>
          <a:p>
            <a:r>
              <a:rPr lang="en-IN" dirty="0"/>
              <a:t>AI-powered assistants support patients and doctors.</a:t>
            </a:r>
          </a:p>
          <a:p>
            <a:br>
              <a:rPr lang="en-IN" dirty="0"/>
            </a:br>
            <a:r>
              <a:rPr lang="en-IN" b="1" dirty="0"/>
              <a:t>Applications:</a:t>
            </a:r>
          </a:p>
          <a:p>
            <a:endParaRPr lang="en-IN" dirty="0"/>
          </a:p>
          <a:p>
            <a:r>
              <a:rPr lang="en-IN" b="1" dirty="0"/>
              <a:t>Symptom Checkers</a:t>
            </a:r>
            <a:r>
              <a:rPr lang="en-IN" dirty="0"/>
              <a:t> (e.g., Ada Health, Babylon Health).</a:t>
            </a:r>
          </a:p>
          <a:p>
            <a:endParaRPr lang="en-IN" dirty="0"/>
          </a:p>
          <a:p>
            <a:r>
              <a:rPr lang="en-IN" b="1" dirty="0"/>
              <a:t>Medication Reminders</a:t>
            </a:r>
            <a:r>
              <a:rPr lang="en-IN" dirty="0"/>
              <a:t> and </a:t>
            </a:r>
            <a:r>
              <a:rPr lang="en-IN" b="1" dirty="0"/>
              <a:t>Remote Monitoring</a:t>
            </a:r>
            <a:r>
              <a:rPr lang="en-IN" dirty="0"/>
              <a:t>.</a:t>
            </a:r>
          </a:p>
          <a:p>
            <a:endParaRPr lang="en-IN" dirty="0"/>
          </a:p>
          <a:p>
            <a:r>
              <a:rPr lang="en-IN" b="1" dirty="0"/>
              <a:t>Mental Health Chatbots</a:t>
            </a:r>
            <a:r>
              <a:rPr lang="en-IN" dirty="0"/>
              <a:t> (e.g., </a:t>
            </a:r>
            <a:r>
              <a:rPr lang="en-IN" dirty="0" err="1"/>
              <a:t>Woebot</a:t>
            </a:r>
            <a:r>
              <a:rPr lang="en-IN" dirty="0"/>
              <a:t>, </a:t>
            </a:r>
            <a:r>
              <a:rPr lang="en-IN" dirty="0" err="1"/>
              <a:t>Wysa</a:t>
            </a:r>
            <a:r>
              <a:rPr lang="en-IN" dirty="0"/>
              <a:t>).</a:t>
            </a:r>
          </a:p>
          <a:p>
            <a:endParaRPr lang="en-US" dirty="0"/>
          </a:p>
        </p:txBody>
      </p:sp>
    </p:spTree>
    <p:extLst>
      <p:ext uri="{BB962C8B-B14F-4D97-AF65-F5344CB8AC3E}">
        <p14:creationId xmlns:p14="http://schemas.microsoft.com/office/powerpoint/2010/main" val="36690797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FB5A9-87C9-1DDA-3A3D-B64317C7BF83}"/>
              </a:ext>
            </a:extLst>
          </p:cNvPr>
          <p:cNvSpPr>
            <a:spLocks noGrp="1"/>
          </p:cNvSpPr>
          <p:nvPr>
            <p:ph type="title"/>
          </p:nvPr>
        </p:nvSpPr>
        <p:spPr>
          <a:xfrm>
            <a:off x="2059941" y="145492"/>
            <a:ext cx="8072119" cy="1846659"/>
          </a:xfrm>
        </p:spPr>
        <p:txBody>
          <a:bodyPr>
            <a:normAutofit fontScale="90000"/>
          </a:bodyPr>
          <a:lstStyle/>
          <a:p>
            <a:r>
              <a:rPr lang="en-IN" dirty="0"/>
              <a:t>Remote Monitoring and Wearable Devices</a:t>
            </a:r>
            <a:br>
              <a:rPr lang="en-IN" dirty="0"/>
            </a:br>
            <a:endParaRPr lang="en-US" dirty="0"/>
          </a:p>
        </p:txBody>
      </p:sp>
      <p:sp>
        <p:nvSpPr>
          <p:cNvPr id="3" name="Text Placeholder 2">
            <a:extLst>
              <a:ext uri="{FF2B5EF4-FFF2-40B4-BE49-F238E27FC236}">
                <a16:creationId xmlns:a16="http://schemas.microsoft.com/office/drawing/2014/main" id="{0A9151D2-3CE1-6694-3FB3-452F24308E03}"/>
              </a:ext>
            </a:extLst>
          </p:cNvPr>
          <p:cNvSpPr>
            <a:spLocks noGrp="1"/>
          </p:cNvSpPr>
          <p:nvPr>
            <p:ph type="body" idx="1"/>
          </p:nvPr>
        </p:nvSpPr>
        <p:spPr>
          <a:xfrm>
            <a:off x="2059941" y="1616709"/>
            <a:ext cx="8074025" cy="4308872"/>
          </a:xfrm>
        </p:spPr>
        <p:txBody>
          <a:bodyPr>
            <a:normAutofit fontScale="70000" lnSpcReduction="20000"/>
          </a:bodyPr>
          <a:lstStyle/>
          <a:p>
            <a:r>
              <a:rPr lang="en-IN" dirty="0"/>
              <a:t>AI integrates with IoT to monitor patient vitals continuously.</a:t>
            </a:r>
          </a:p>
          <a:p>
            <a:br>
              <a:rPr lang="en-IN" dirty="0"/>
            </a:br>
            <a:r>
              <a:rPr lang="en-IN" b="1" dirty="0"/>
              <a:t>Applications:</a:t>
            </a:r>
          </a:p>
          <a:p>
            <a:endParaRPr lang="en-IN" dirty="0"/>
          </a:p>
          <a:p>
            <a:r>
              <a:rPr lang="en-IN" dirty="0"/>
              <a:t>Detecting abnormal heart rhythms, sleep </a:t>
            </a:r>
            <a:r>
              <a:rPr lang="en-IN" dirty="0" err="1"/>
              <a:t>apnea</a:t>
            </a:r>
            <a:r>
              <a:rPr lang="en-IN" dirty="0"/>
              <a:t>, and stress levels.</a:t>
            </a:r>
          </a:p>
          <a:p>
            <a:endParaRPr lang="en-IN" dirty="0"/>
          </a:p>
          <a:p>
            <a:r>
              <a:rPr lang="en-IN" dirty="0"/>
              <a:t>Early detection of chronic conditions.</a:t>
            </a:r>
          </a:p>
          <a:p>
            <a:br>
              <a:rPr lang="en-IN" dirty="0"/>
            </a:br>
            <a:r>
              <a:rPr lang="en-IN" b="1" dirty="0"/>
              <a:t>Examples:</a:t>
            </a:r>
          </a:p>
          <a:p>
            <a:endParaRPr lang="en-IN" dirty="0"/>
          </a:p>
          <a:p>
            <a:r>
              <a:rPr lang="en-IN" dirty="0"/>
              <a:t>Apple Watch detecting atrial fibrillation.</a:t>
            </a:r>
          </a:p>
          <a:p>
            <a:endParaRPr lang="en-IN" dirty="0"/>
          </a:p>
          <a:p>
            <a:r>
              <a:rPr lang="en-IN" dirty="0"/>
              <a:t>Fitbit predicting stress and fatigue levels.</a:t>
            </a:r>
          </a:p>
          <a:p>
            <a:endParaRPr lang="en-US" dirty="0"/>
          </a:p>
        </p:txBody>
      </p:sp>
    </p:spTree>
    <p:extLst>
      <p:ext uri="{BB962C8B-B14F-4D97-AF65-F5344CB8AC3E}">
        <p14:creationId xmlns:p14="http://schemas.microsoft.com/office/powerpoint/2010/main" val="298732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CD36C-3227-F993-70D0-9868824C03E6}"/>
              </a:ext>
            </a:extLst>
          </p:cNvPr>
          <p:cNvSpPr>
            <a:spLocks noGrp="1"/>
          </p:cNvSpPr>
          <p:nvPr>
            <p:ph type="title"/>
          </p:nvPr>
        </p:nvSpPr>
        <p:spPr>
          <a:xfrm>
            <a:off x="2059941" y="145492"/>
            <a:ext cx="8072119" cy="615553"/>
          </a:xfrm>
        </p:spPr>
        <p:txBody>
          <a:bodyPr>
            <a:normAutofit fontScale="90000"/>
          </a:bodyPr>
          <a:lstStyle/>
          <a:p>
            <a:r>
              <a:rPr lang="en-IN" dirty="0"/>
              <a:t>Surgery and Robotics</a:t>
            </a:r>
            <a:endParaRPr lang="en-US" dirty="0"/>
          </a:p>
        </p:txBody>
      </p:sp>
      <p:sp>
        <p:nvSpPr>
          <p:cNvPr id="3" name="Text Placeholder 2">
            <a:extLst>
              <a:ext uri="{FF2B5EF4-FFF2-40B4-BE49-F238E27FC236}">
                <a16:creationId xmlns:a16="http://schemas.microsoft.com/office/drawing/2014/main" id="{C3D7E234-BC44-9C52-A455-BB77984A4FF9}"/>
              </a:ext>
            </a:extLst>
          </p:cNvPr>
          <p:cNvSpPr>
            <a:spLocks noGrp="1"/>
          </p:cNvSpPr>
          <p:nvPr>
            <p:ph type="body" idx="1"/>
          </p:nvPr>
        </p:nvSpPr>
        <p:spPr>
          <a:xfrm>
            <a:off x="2059941" y="1616710"/>
            <a:ext cx="8074025" cy="1846659"/>
          </a:xfrm>
        </p:spPr>
        <p:txBody>
          <a:bodyPr>
            <a:normAutofit fontScale="77500" lnSpcReduction="20000"/>
          </a:bodyPr>
          <a:lstStyle/>
          <a:p>
            <a:pPr marL="342900" indent="-342900"/>
            <a:r>
              <a:rPr lang="en-IN" dirty="0"/>
              <a:t>AI-assisted surgical robots for precision</a:t>
            </a:r>
          </a:p>
          <a:p>
            <a:pPr marL="342900" indent="-342900"/>
            <a:endParaRPr lang="en-IN" dirty="0"/>
          </a:p>
          <a:p>
            <a:pPr marL="342900" indent="-342900"/>
            <a:r>
              <a:rPr lang="en-IN" dirty="0"/>
              <a:t>3D visualization for preoperative planning</a:t>
            </a:r>
          </a:p>
          <a:p>
            <a:pPr marL="342900" indent="-342900"/>
            <a:endParaRPr lang="en-IN" dirty="0"/>
          </a:p>
          <a:p>
            <a:pPr marL="342900" indent="-342900"/>
            <a:r>
              <a:rPr lang="en-IN" dirty="0"/>
              <a:t>Example: da Vinci Surgical System</a:t>
            </a:r>
          </a:p>
          <a:p>
            <a:endParaRPr lang="en-US" dirty="0"/>
          </a:p>
        </p:txBody>
      </p:sp>
    </p:spTree>
    <p:extLst>
      <p:ext uri="{BB962C8B-B14F-4D97-AF65-F5344CB8AC3E}">
        <p14:creationId xmlns:p14="http://schemas.microsoft.com/office/powerpoint/2010/main" val="661713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A6B13-D158-06D0-70CF-5D5DD3C68F4F}"/>
              </a:ext>
            </a:extLst>
          </p:cNvPr>
          <p:cNvSpPr>
            <a:spLocks noGrp="1"/>
          </p:cNvSpPr>
          <p:nvPr>
            <p:ph type="title"/>
          </p:nvPr>
        </p:nvSpPr>
        <p:spPr/>
        <p:txBody>
          <a:bodyPr/>
          <a:lstStyle/>
          <a:p>
            <a:r>
              <a:rPr lang="en-US" dirty="0"/>
              <a:t>AI in Robotics and Autonomous Systems</a:t>
            </a:r>
          </a:p>
        </p:txBody>
      </p:sp>
      <p:sp>
        <p:nvSpPr>
          <p:cNvPr id="3" name="Text Placeholder 2">
            <a:extLst>
              <a:ext uri="{FF2B5EF4-FFF2-40B4-BE49-F238E27FC236}">
                <a16:creationId xmlns:a16="http://schemas.microsoft.com/office/drawing/2014/main" id="{144CA4CD-F0F6-1016-16AA-19DA4B39AC2C}"/>
              </a:ext>
            </a:extLst>
          </p:cNvPr>
          <p:cNvSpPr>
            <a:spLocks noGrp="1"/>
          </p:cNvSpPr>
          <p:nvPr>
            <p:ph type="body" idx="1"/>
          </p:nvPr>
        </p:nvSpPr>
        <p:spPr>
          <a:xfrm>
            <a:off x="2059941" y="1616709"/>
            <a:ext cx="8074025" cy="4616648"/>
          </a:xfrm>
        </p:spPr>
        <p:txBody>
          <a:bodyPr>
            <a:normAutofit fontScale="77500" lnSpcReduction="20000"/>
          </a:bodyPr>
          <a:lstStyle/>
          <a:p>
            <a:r>
              <a:rPr lang="en-IN" dirty="0"/>
              <a:t>Artificial Intelligence (AI) is the "brain" that enables modern </a:t>
            </a:r>
            <a:r>
              <a:rPr lang="en-IN" b="1" dirty="0"/>
              <a:t>robotics</a:t>
            </a:r>
            <a:r>
              <a:rPr lang="en-IN" dirty="0"/>
              <a:t> and </a:t>
            </a:r>
            <a:r>
              <a:rPr lang="en-IN" b="1" dirty="0"/>
              <a:t>autonomous systems</a:t>
            </a:r>
            <a:r>
              <a:rPr lang="en-IN" dirty="0"/>
              <a:t> to operate intelligently, making them capable of learning, reasoning, adapting, and making decisions without continuous human control. This integration transforms simple programmable machines into versatile, intelligent entities.</a:t>
            </a:r>
          </a:p>
          <a:p>
            <a:endParaRPr lang="en-IN" dirty="0"/>
          </a:p>
          <a:p>
            <a:endParaRPr lang="en-IN" dirty="0"/>
          </a:p>
          <a:p>
            <a:r>
              <a:rPr lang="en-IN" b="1" dirty="0"/>
              <a:t>AI in Robotics and Autonomous Systems: Core Concepts</a:t>
            </a:r>
          </a:p>
          <a:p>
            <a:endParaRPr lang="en-IN" b="1" dirty="0"/>
          </a:p>
          <a:p>
            <a:r>
              <a:rPr lang="en-IN" dirty="0"/>
              <a:t>While robotics is the branch of technology dealing with the </a:t>
            </a:r>
            <a:r>
              <a:rPr lang="en-IN" b="1" dirty="0"/>
              <a:t>physical robot</a:t>
            </a:r>
            <a:r>
              <a:rPr lang="en-IN" dirty="0"/>
              <a:t> (the machine, sensors, and actuators), and an </a:t>
            </a:r>
            <a:r>
              <a:rPr lang="en-IN" b="1" dirty="0"/>
              <a:t>autonomous system</a:t>
            </a:r>
            <a:r>
              <a:rPr lang="en-IN" dirty="0"/>
              <a:t> is a machine or technology that can operate without continuous human supervision, </a:t>
            </a:r>
            <a:r>
              <a:rPr lang="en-IN" b="1" dirty="0"/>
              <a:t>AI</a:t>
            </a:r>
            <a:r>
              <a:rPr lang="en-IN" dirty="0"/>
              <a:t> provides the intelligence that enables their advanced functions.</a:t>
            </a:r>
          </a:p>
          <a:p>
            <a:endParaRPr lang="en-US" dirty="0"/>
          </a:p>
        </p:txBody>
      </p:sp>
    </p:spTree>
    <p:extLst>
      <p:ext uri="{BB962C8B-B14F-4D97-AF65-F5344CB8AC3E}">
        <p14:creationId xmlns:p14="http://schemas.microsoft.com/office/powerpoint/2010/main" val="848651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94246-BF22-F6F6-C49F-2660224C6D1A}"/>
              </a:ext>
            </a:extLst>
          </p:cNvPr>
          <p:cNvSpPr>
            <a:spLocks noGrp="1"/>
          </p:cNvSpPr>
          <p:nvPr>
            <p:ph type="title"/>
          </p:nvPr>
        </p:nvSpPr>
        <p:spPr/>
        <p:txBody>
          <a:bodyPr/>
          <a:lstStyle/>
          <a:p>
            <a:endParaRPr lang="en-US"/>
          </a:p>
        </p:txBody>
      </p:sp>
      <p:pic>
        <p:nvPicPr>
          <p:cNvPr id="5" name="Picture 4" descr="A white background with black text&#10;&#10;AI-generated content may be incorrect.">
            <a:extLst>
              <a:ext uri="{FF2B5EF4-FFF2-40B4-BE49-F238E27FC236}">
                <a16:creationId xmlns:a16="http://schemas.microsoft.com/office/drawing/2014/main" id="{4B62346B-4E52-96CC-E55D-6AD0F8DE5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1905000"/>
            <a:ext cx="8352066" cy="2895600"/>
          </a:xfrm>
          <a:prstGeom prst="rect">
            <a:avLst/>
          </a:prstGeom>
        </p:spPr>
      </p:pic>
    </p:spTree>
    <p:extLst>
      <p:ext uri="{BB962C8B-B14F-4D97-AF65-F5344CB8AC3E}">
        <p14:creationId xmlns:p14="http://schemas.microsoft.com/office/powerpoint/2010/main" val="1156274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2F462-F65F-BA8E-C553-EAC93D87B28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9183D02-DE7F-9E6D-D88A-C276D45275AF}"/>
              </a:ext>
            </a:extLst>
          </p:cNvPr>
          <p:cNvSpPr>
            <a:spLocks noGrp="1"/>
          </p:cNvSpPr>
          <p:nvPr>
            <p:ph type="body" idx="1"/>
          </p:nvPr>
        </p:nvSpPr>
        <p:spPr>
          <a:xfrm>
            <a:off x="2059941" y="1616710"/>
            <a:ext cx="8074025" cy="4001095"/>
          </a:xfrm>
        </p:spPr>
        <p:txBody>
          <a:bodyPr>
            <a:normAutofit fontScale="70000" lnSpcReduction="20000"/>
          </a:bodyPr>
          <a:lstStyle/>
          <a:p>
            <a:r>
              <a:rPr lang="en-US" dirty="0"/>
              <a:t>Definition:</a:t>
            </a:r>
          </a:p>
          <a:p>
            <a:endParaRPr lang="en-US" dirty="0"/>
          </a:p>
          <a:p>
            <a:r>
              <a:rPr lang="en-US" dirty="0"/>
              <a:t>Artificial Intelligence (AI): Simulation of human intelligence in machines enabling learning, reasoning, and problem-solving.</a:t>
            </a:r>
          </a:p>
          <a:p>
            <a:endParaRPr lang="en-US" dirty="0"/>
          </a:p>
          <a:p>
            <a:r>
              <a:rPr lang="en-US" dirty="0"/>
              <a:t>Robotics: Branch of engineering that involves the conception, design, construction, and operation of robots.</a:t>
            </a:r>
          </a:p>
          <a:p>
            <a:endParaRPr lang="en-US" dirty="0"/>
          </a:p>
          <a:p>
            <a:r>
              <a:rPr lang="en-US" dirty="0"/>
              <a:t>Autonomous Systems: Machines capable of performing tasks without human intervention using AI algorithms and sensors.</a:t>
            </a:r>
          </a:p>
          <a:p>
            <a:endParaRPr lang="en-US" dirty="0"/>
          </a:p>
          <a:p>
            <a:r>
              <a:rPr lang="en-US" dirty="0"/>
              <a:t>Goal: To create intelligent robots capable of perceiving their environment, making decisions, and acting autonomously.</a:t>
            </a:r>
          </a:p>
        </p:txBody>
      </p:sp>
    </p:spTree>
    <p:extLst>
      <p:ext uri="{BB962C8B-B14F-4D97-AF65-F5344CB8AC3E}">
        <p14:creationId xmlns:p14="http://schemas.microsoft.com/office/powerpoint/2010/main" val="1188425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CFC24-86B1-68D9-A0AC-2D4D675A3DAC}"/>
              </a:ext>
            </a:extLst>
          </p:cNvPr>
          <p:cNvSpPr>
            <a:spLocks noGrp="1"/>
          </p:cNvSpPr>
          <p:nvPr>
            <p:ph type="title"/>
          </p:nvPr>
        </p:nvSpPr>
        <p:spPr/>
        <p:txBody>
          <a:bodyPr/>
          <a:lstStyle/>
          <a:p>
            <a:r>
              <a:rPr lang="en-US" dirty="0"/>
              <a:t>Key AI Technologies Driving Autonomy</a:t>
            </a:r>
          </a:p>
        </p:txBody>
      </p:sp>
      <p:sp>
        <p:nvSpPr>
          <p:cNvPr id="3" name="Text Placeholder 2">
            <a:extLst>
              <a:ext uri="{FF2B5EF4-FFF2-40B4-BE49-F238E27FC236}">
                <a16:creationId xmlns:a16="http://schemas.microsoft.com/office/drawing/2014/main" id="{C8B1E9CD-5C2A-C8C6-4AC4-477183F28290}"/>
              </a:ext>
            </a:extLst>
          </p:cNvPr>
          <p:cNvSpPr>
            <a:spLocks noGrp="1"/>
          </p:cNvSpPr>
          <p:nvPr>
            <p:ph type="body" idx="1"/>
          </p:nvPr>
        </p:nvSpPr>
        <p:spPr>
          <a:xfrm>
            <a:off x="2059941" y="1616710"/>
            <a:ext cx="8074025" cy="4924425"/>
          </a:xfrm>
        </p:spPr>
        <p:txBody>
          <a:bodyPr>
            <a:normAutofit fontScale="77500" lnSpcReduction="20000"/>
          </a:bodyPr>
          <a:lstStyle/>
          <a:p>
            <a:r>
              <a:rPr lang="en-US" dirty="0"/>
              <a:t>Computer Vision (CV): Allows the system to perceive and interpret its environment by processing visual data from cameras and other sensors (LiDAR, radar). This is critical for tasks like object recognition, quality control, and visual navigation (e.g., Simultaneous Localization and Mapping - SLAM).</a:t>
            </a:r>
          </a:p>
          <a:p>
            <a:endParaRPr lang="en-US" dirty="0"/>
          </a:p>
          <a:p>
            <a:r>
              <a:rPr lang="en-US" dirty="0"/>
              <a:t>Machine Learning (ML) &amp; Deep Learning: Enables systems to learn from experience and data, continually improving their performance. Reinforcement Learning, a key type of ML, is used to train robots to perform complex tasks by rewarding successful actions (trial and error).</a:t>
            </a:r>
          </a:p>
          <a:p>
            <a:endParaRPr lang="en-US" dirty="0"/>
          </a:p>
          <a:p>
            <a:r>
              <a:rPr lang="en-US" dirty="0"/>
              <a:t>Natural Language Processing (NLP) &amp; Conversational AI: Allows robots to understand and respond to human language and speech. This facilitates more intuitive human-robot interaction in customer service, healthcare, and collaborative robotics (</a:t>
            </a:r>
            <a:r>
              <a:rPr lang="en-US" dirty="0" err="1"/>
              <a:t>Cobots</a:t>
            </a:r>
            <a:r>
              <a:rPr lang="en-US" dirty="0"/>
              <a:t>).</a:t>
            </a:r>
          </a:p>
          <a:p>
            <a:endParaRPr lang="en-US" dirty="0"/>
          </a:p>
        </p:txBody>
      </p:sp>
    </p:spTree>
    <p:extLst>
      <p:ext uri="{BB962C8B-B14F-4D97-AF65-F5344CB8AC3E}">
        <p14:creationId xmlns:p14="http://schemas.microsoft.com/office/powerpoint/2010/main" val="41613311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4D3B-6AF7-D4D7-F087-69ACFB9FFDBD}"/>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53737158-8472-FC1D-02F3-414E1DCBF637}"/>
              </a:ext>
            </a:extLst>
          </p:cNvPr>
          <p:cNvSpPr>
            <a:spLocks noGrp="1"/>
          </p:cNvSpPr>
          <p:nvPr>
            <p:ph type="body" idx="1"/>
          </p:nvPr>
        </p:nvSpPr>
        <p:spPr>
          <a:xfrm>
            <a:off x="2059941" y="1616709"/>
            <a:ext cx="8074025" cy="3077766"/>
          </a:xfrm>
        </p:spPr>
        <p:txBody>
          <a:bodyPr>
            <a:normAutofit fontScale="77500" lnSpcReduction="20000"/>
          </a:bodyPr>
          <a:lstStyle/>
          <a:p>
            <a:r>
              <a:rPr lang="en-US" dirty="0"/>
              <a:t>Decision-Making Algorithms: The core logic that analyzes processed data (perception) and environmental constraints to select the optimal action for the system's goals, enabling autonomous navigation, path planning, and obstacle avoidance.</a:t>
            </a:r>
          </a:p>
          <a:p>
            <a:endParaRPr lang="en-US" dirty="0"/>
          </a:p>
          <a:p>
            <a:r>
              <a:rPr lang="en-US" dirty="0"/>
              <a:t>Edge AI: Processing sensor data locally on the robot/vehicle in real-time. This allows for fast, agile decision-making without the latency of cloud computing, which is vital for safe and reliable autonomous operation, such as in self-driving cars.</a:t>
            </a:r>
          </a:p>
          <a:p>
            <a:endParaRPr lang="en-US" dirty="0"/>
          </a:p>
        </p:txBody>
      </p:sp>
    </p:spTree>
    <p:extLst>
      <p:ext uri="{BB962C8B-B14F-4D97-AF65-F5344CB8AC3E}">
        <p14:creationId xmlns:p14="http://schemas.microsoft.com/office/powerpoint/2010/main" val="18744692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F028-0E33-43F5-DD0D-EF0CE58FFCC6}"/>
              </a:ext>
            </a:extLst>
          </p:cNvPr>
          <p:cNvSpPr>
            <a:spLocks noGrp="1"/>
          </p:cNvSpPr>
          <p:nvPr>
            <p:ph type="title"/>
          </p:nvPr>
        </p:nvSpPr>
        <p:spPr>
          <a:xfrm>
            <a:off x="2059941" y="145492"/>
            <a:ext cx="8072119" cy="615553"/>
          </a:xfrm>
        </p:spPr>
        <p:txBody>
          <a:bodyPr>
            <a:normAutofit fontScale="90000"/>
          </a:bodyPr>
          <a:lstStyle/>
          <a:p>
            <a:r>
              <a:rPr lang="en-US" dirty="0"/>
              <a:t>Applications Across Industries</a:t>
            </a:r>
          </a:p>
        </p:txBody>
      </p:sp>
      <p:sp>
        <p:nvSpPr>
          <p:cNvPr id="3" name="Text Placeholder 2">
            <a:extLst>
              <a:ext uri="{FF2B5EF4-FFF2-40B4-BE49-F238E27FC236}">
                <a16:creationId xmlns:a16="http://schemas.microsoft.com/office/drawing/2014/main" id="{71222C9E-4985-0F2F-6520-55D9E69AD402}"/>
              </a:ext>
            </a:extLst>
          </p:cNvPr>
          <p:cNvSpPr>
            <a:spLocks noGrp="1"/>
          </p:cNvSpPr>
          <p:nvPr>
            <p:ph type="body" idx="1"/>
          </p:nvPr>
        </p:nvSpPr>
        <p:spPr>
          <a:xfrm>
            <a:off x="1905001" y="914400"/>
            <a:ext cx="8074025" cy="5909310"/>
          </a:xfrm>
        </p:spPr>
        <p:txBody>
          <a:bodyPr>
            <a:normAutofit fontScale="92500" lnSpcReduction="20000"/>
          </a:bodyPr>
          <a:lstStyle/>
          <a:p>
            <a:r>
              <a:rPr lang="en-US" sz="1600" b="1" dirty="0"/>
              <a:t>Transportation &amp; Logistics</a:t>
            </a:r>
          </a:p>
          <a:p>
            <a:r>
              <a:rPr lang="en-US" sz="1600" dirty="0"/>
              <a:t>Autonomous Vehicles (AVs) and Drones: AI is responsible for real-time perception of the road, prediction of other agents' behavior, and safe navigation.</a:t>
            </a:r>
          </a:p>
          <a:p>
            <a:endParaRPr lang="en-US" sz="1600" dirty="0"/>
          </a:p>
          <a:p>
            <a:r>
              <a:rPr lang="en-US" sz="1600" dirty="0"/>
              <a:t>Warehouse Automation: Autonomous Mobile Robots (AMRs) use AI to navigate complex, dynamic warehouse floors, optimize routes, and handle picking and sorting tasks.</a:t>
            </a:r>
          </a:p>
          <a:p>
            <a:endParaRPr lang="en-US" sz="1600" dirty="0"/>
          </a:p>
          <a:p>
            <a:r>
              <a:rPr lang="en-US" sz="1600" b="1" dirty="0"/>
              <a:t>Healthcare</a:t>
            </a:r>
          </a:p>
          <a:p>
            <a:r>
              <a:rPr lang="en-US" sz="1600" dirty="0"/>
              <a:t>Surgical Robots: AI enhances the precision of robotic arms, assisting surgeons in minimally invasive procedures and reducing human error.</a:t>
            </a:r>
          </a:p>
          <a:p>
            <a:endParaRPr lang="en-US" sz="1600" dirty="0"/>
          </a:p>
          <a:p>
            <a:r>
              <a:rPr lang="en-US" sz="1600" dirty="0"/>
              <a:t>Patient Care: AI-powered companion robots and diagnostic systems assist with monitoring, therapy, and delivering supplies.</a:t>
            </a:r>
          </a:p>
          <a:p>
            <a:endParaRPr lang="en-US" sz="1600" b="1" dirty="0"/>
          </a:p>
          <a:p>
            <a:r>
              <a:rPr lang="en-US" sz="1600" b="1" dirty="0"/>
              <a:t>Manufacturing &amp; Industry</a:t>
            </a:r>
          </a:p>
          <a:p>
            <a:r>
              <a:rPr lang="en-US" sz="1600" dirty="0"/>
              <a:t>Collaborative Robots (</a:t>
            </a:r>
            <a:r>
              <a:rPr lang="en-US" sz="1600" dirty="0" err="1"/>
              <a:t>Cobots</a:t>
            </a:r>
            <a:r>
              <a:rPr lang="en-US" sz="1600" dirty="0"/>
              <a:t>): AI allows these robots to safely and effectively work directly alongside humans, adapting to human workflows and performing repetitive or strenuous tasks.</a:t>
            </a:r>
          </a:p>
          <a:p>
            <a:endParaRPr lang="en-US" sz="1600" dirty="0"/>
          </a:p>
          <a:p>
            <a:r>
              <a:rPr lang="en-US" sz="1600" dirty="0"/>
              <a:t>Quality Control: Intelligent vision systems use AI to inspect products for defects with high speed and accuracy, surpassing human capabilities.</a:t>
            </a:r>
          </a:p>
          <a:p>
            <a:endParaRPr lang="en-US" sz="1600" dirty="0"/>
          </a:p>
          <a:p>
            <a:r>
              <a:rPr lang="en-US" sz="1600" dirty="0"/>
              <a:t>Predictive Maintenance: AI algorithms monitor equipment sensors to predict failures before they occur, maximizing uptime.</a:t>
            </a:r>
          </a:p>
        </p:txBody>
      </p:sp>
    </p:spTree>
    <p:extLst>
      <p:ext uri="{BB962C8B-B14F-4D97-AF65-F5344CB8AC3E}">
        <p14:creationId xmlns:p14="http://schemas.microsoft.com/office/powerpoint/2010/main" val="9883947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14FE7-557D-6D4D-A507-81977AF9703E}"/>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56D6ACF-A482-8096-136D-D564FCBAABF4}"/>
              </a:ext>
            </a:extLst>
          </p:cNvPr>
          <p:cNvSpPr>
            <a:spLocks noGrp="1"/>
          </p:cNvSpPr>
          <p:nvPr>
            <p:ph type="body" idx="1"/>
          </p:nvPr>
        </p:nvSpPr>
        <p:spPr>
          <a:xfrm>
            <a:off x="2059941" y="1616710"/>
            <a:ext cx="8074025" cy="4001095"/>
          </a:xfrm>
        </p:spPr>
        <p:txBody>
          <a:bodyPr>
            <a:normAutofit fontScale="70000" lnSpcReduction="20000"/>
          </a:bodyPr>
          <a:lstStyle/>
          <a:p>
            <a:r>
              <a:rPr lang="en-US" dirty="0"/>
              <a:t>Agriculture</a:t>
            </a:r>
          </a:p>
          <a:p>
            <a:endParaRPr lang="en-US" dirty="0"/>
          </a:p>
          <a:p>
            <a:r>
              <a:rPr lang="en-US" dirty="0"/>
              <a:t>Precision Farming: Autonomous drones and ground vehicles use computer vision to monitor crop health, assess ripeness, target weeds for removal (reducing herbicide use), and optimize irrigation.</a:t>
            </a:r>
          </a:p>
          <a:p>
            <a:endParaRPr lang="en-US" dirty="0"/>
          </a:p>
          <a:p>
            <a:r>
              <a:rPr lang="en-US" dirty="0"/>
              <a:t>Defense &amp; Aerospace</a:t>
            </a:r>
          </a:p>
          <a:p>
            <a:endParaRPr lang="en-US" dirty="0"/>
          </a:p>
          <a:p>
            <a:r>
              <a:rPr lang="en-US" dirty="0"/>
              <a:t>Unmanned Systems: AI enables Unmanned Aerial Vehicles (UAVs), Unmanned Ground Vehicles (UGVs), and Unmanned Underwater Vehicles (UUVs) to perform reconnaissance, surveillance, and data collection in hazardous or inaccessible environments with minimal human intervention.</a:t>
            </a:r>
          </a:p>
        </p:txBody>
      </p:sp>
    </p:spTree>
    <p:extLst>
      <p:ext uri="{BB962C8B-B14F-4D97-AF65-F5344CB8AC3E}">
        <p14:creationId xmlns:p14="http://schemas.microsoft.com/office/powerpoint/2010/main" val="2477722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32A4C-2A7A-E1B6-B1F9-080B2BEABA34}"/>
              </a:ext>
            </a:extLst>
          </p:cNvPr>
          <p:cNvSpPr>
            <a:spLocks noGrp="1"/>
          </p:cNvSpPr>
          <p:nvPr>
            <p:ph type="title"/>
          </p:nvPr>
        </p:nvSpPr>
        <p:spPr>
          <a:xfrm>
            <a:off x="2059941" y="145492"/>
            <a:ext cx="8072119" cy="1846659"/>
          </a:xfrm>
        </p:spPr>
        <p:txBody>
          <a:bodyPr>
            <a:normAutofit fontScale="90000"/>
          </a:bodyPr>
          <a:lstStyle/>
          <a:p>
            <a:r>
              <a:rPr lang="en-IN" dirty="0"/>
              <a:t>AI in Robotics and Autonomous Systems</a:t>
            </a:r>
            <a:br>
              <a:rPr lang="en-IN" dirty="0"/>
            </a:br>
            <a:endParaRPr lang="en-US" dirty="0"/>
          </a:p>
        </p:txBody>
      </p:sp>
      <p:sp>
        <p:nvSpPr>
          <p:cNvPr id="3" name="Text Placeholder 2">
            <a:extLst>
              <a:ext uri="{FF2B5EF4-FFF2-40B4-BE49-F238E27FC236}">
                <a16:creationId xmlns:a16="http://schemas.microsoft.com/office/drawing/2014/main" id="{B5DC9233-9C01-69E1-0A04-079A2371038A}"/>
              </a:ext>
            </a:extLst>
          </p:cNvPr>
          <p:cNvSpPr>
            <a:spLocks noGrp="1"/>
          </p:cNvSpPr>
          <p:nvPr>
            <p:ph type="body" idx="1"/>
          </p:nvPr>
        </p:nvSpPr>
        <p:spPr>
          <a:xfrm>
            <a:off x="2059941" y="1616710"/>
            <a:ext cx="8074025" cy="2769989"/>
          </a:xfrm>
        </p:spPr>
        <p:txBody>
          <a:bodyPr>
            <a:normAutofit fontScale="77500" lnSpcReduction="20000"/>
          </a:bodyPr>
          <a:lstStyle/>
          <a:p>
            <a:r>
              <a:rPr lang="en-IN" dirty="0"/>
              <a:t>Artificial Intelligence (AI) enables robots and autonomous systems to </a:t>
            </a:r>
            <a:r>
              <a:rPr lang="en-IN" b="1" dirty="0"/>
              <a:t>perceive, reason, and act</a:t>
            </a:r>
            <a:r>
              <a:rPr lang="en-IN" dirty="0"/>
              <a:t> intelligently within their environment.</a:t>
            </a:r>
          </a:p>
          <a:p>
            <a:endParaRPr lang="en-IN" dirty="0"/>
          </a:p>
          <a:p>
            <a:r>
              <a:rPr lang="en-IN" dirty="0"/>
              <a:t>Combines </a:t>
            </a:r>
            <a:r>
              <a:rPr lang="en-IN" b="1" dirty="0"/>
              <a:t>machine learning</a:t>
            </a:r>
            <a:r>
              <a:rPr lang="en-IN" dirty="0"/>
              <a:t>, </a:t>
            </a:r>
            <a:r>
              <a:rPr lang="en-IN" b="1" dirty="0"/>
              <a:t>computer vision</a:t>
            </a:r>
            <a:r>
              <a:rPr lang="en-IN" dirty="0"/>
              <a:t>, </a:t>
            </a:r>
            <a:r>
              <a:rPr lang="en-IN" b="1" dirty="0"/>
              <a:t>sensor fusion</a:t>
            </a:r>
            <a:r>
              <a:rPr lang="en-IN" dirty="0"/>
              <a:t>, and </a:t>
            </a:r>
            <a:r>
              <a:rPr lang="en-IN" b="1" dirty="0"/>
              <a:t>control algorithms</a:t>
            </a:r>
            <a:r>
              <a:rPr lang="en-IN" dirty="0"/>
              <a:t>.</a:t>
            </a:r>
          </a:p>
          <a:p>
            <a:endParaRPr lang="en-IN" dirty="0"/>
          </a:p>
          <a:p>
            <a:r>
              <a:rPr lang="en-IN" dirty="0"/>
              <a:t>Goal: Create machines that can </a:t>
            </a:r>
            <a:r>
              <a:rPr lang="en-IN" b="1" dirty="0"/>
              <a:t>operate independently</a:t>
            </a:r>
            <a:r>
              <a:rPr lang="en-IN" dirty="0"/>
              <a:t>, adapt to changes, and </a:t>
            </a:r>
            <a:r>
              <a:rPr lang="en-IN" b="1" dirty="0"/>
              <a:t>learn from experience</a:t>
            </a:r>
            <a:r>
              <a:rPr lang="en-IN" dirty="0"/>
              <a:t>.</a:t>
            </a:r>
          </a:p>
          <a:p>
            <a:endParaRPr lang="en-US" dirty="0"/>
          </a:p>
        </p:txBody>
      </p:sp>
    </p:spTree>
    <p:extLst>
      <p:ext uri="{BB962C8B-B14F-4D97-AF65-F5344CB8AC3E}">
        <p14:creationId xmlns:p14="http://schemas.microsoft.com/office/powerpoint/2010/main" val="42105512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2F457-879F-2E96-ADF3-332E7E81BA98}"/>
              </a:ext>
            </a:extLst>
          </p:cNvPr>
          <p:cNvSpPr>
            <a:spLocks noGrp="1"/>
          </p:cNvSpPr>
          <p:nvPr>
            <p:ph type="title"/>
          </p:nvPr>
        </p:nvSpPr>
        <p:spPr>
          <a:xfrm>
            <a:off x="2059941" y="145492"/>
            <a:ext cx="8072119" cy="615553"/>
          </a:xfrm>
        </p:spPr>
        <p:txBody>
          <a:bodyPr>
            <a:normAutofit fontScale="90000"/>
          </a:bodyPr>
          <a:lstStyle/>
          <a:p>
            <a:r>
              <a:rPr lang="en-IN" dirty="0"/>
              <a:t>Key AI Components in Robotics</a:t>
            </a:r>
            <a:endParaRPr lang="en-US" dirty="0"/>
          </a:p>
        </p:txBody>
      </p:sp>
      <p:graphicFrame>
        <p:nvGraphicFramePr>
          <p:cNvPr id="4" name="Table 3">
            <a:extLst>
              <a:ext uri="{FF2B5EF4-FFF2-40B4-BE49-F238E27FC236}">
                <a16:creationId xmlns:a16="http://schemas.microsoft.com/office/drawing/2014/main" id="{7EE27923-5D4A-CBAD-C8B2-B79AFA21B5E3}"/>
              </a:ext>
            </a:extLst>
          </p:cNvPr>
          <p:cNvGraphicFramePr>
            <a:graphicFrameLocks noGrp="1"/>
          </p:cNvGraphicFramePr>
          <p:nvPr/>
        </p:nvGraphicFramePr>
        <p:xfrm>
          <a:off x="2209800" y="1524000"/>
          <a:ext cx="7769224" cy="3840480"/>
        </p:xfrm>
        <a:graphic>
          <a:graphicData uri="http://schemas.openxmlformats.org/drawingml/2006/table">
            <a:tbl>
              <a:tblPr/>
              <a:tblGrid>
                <a:gridCol w="3884612">
                  <a:extLst>
                    <a:ext uri="{9D8B030D-6E8A-4147-A177-3AD203B41FA5}">
                      <a16:colId xmlns:a16="http://schemas.microsoft.com/office/drawing/2014/main" val="2906678821"/>
                    </a:ext>
                  </a:extLst>
                </a:gridCol>
                <a:gridCol w="3884612">
                  <a:extLst>
                    <a:ext uri="{9D8B030D-6E8A-4147-A177-3AD203B41FA5}">
                      <a16:colId xmlns:a16="http://schemas.microsoft.com/office/drawing/2014/main" val="1313174870"/>
                    </a:ext>
                  </a:extLst>
                </a:gridCol>
              </a:tblGrid>
              <a:tr h="365760">
                <a:tc>
                  <a:txBody>
                    <a:bodyPr/>
                    <a:lstStyle/>
                    <a:p>
                      <a:pPr>
                        <a:buNone/>
                      </a:pPr>
                      <a:r>
                        <a:rPr lang="en-IN" sz="1800"/>
                        <a:t>Component</a:t>
                      </a:r>
                    </a:p>
                  </a:txBody>
                  <a:tcPr anchor="ctr">
                    <a:lnL>
                      <a:noFill/>
                    </a:lnL>
                    <a:lnR>
                      <a:noFill/>
                    </a:lnR>
                    <a:lnT>
                      <a:noFill/>
                    </a:lnT>
                    <a:lnB>
                      <a:noFill/>
                    </a:lnB>
                    <a:noFill/>
                  </a:tcPr>
                </a:tc>
                <a:tc>
                  <a:txBody>
                    <a:bodyPr/>
                    <a:lstStyle/>
                    <a:p>
                      <a:pPr>
                        <a:buNone/>
                      </a:pPr>
                      <a:r>
                        <a:rPr lang="en-IN" sz="1800"/>
                        <a:t>Description</a:t>
                      </a:r>
                    </a:p>
                  </a:txBody>
                  <a:tcPr anchor="ctr">
                    <a:lnL>
                      <a:noFill/>
                    </a:lnL>
                    <a:lnR>
                      <a:noFill/>
                    </a:lnR>
                    <a:lnT>
                      <a:noFill/>
                    </a:lnT>
                    <a:lnB>
                      <a:noFill/>
                    </a:lnB>
                    <a:noFill/>
                  </a:tcPr>
                </a:tc>
                <a:extLst>
                  <a:ext uri="{0D108BD9-81ED-4DB2-BD59-A6C34878D82A}">
                    <a16:rowId xmlns:a16="http://schemas.microsoft.com/office/drawing/2014/main" val="3709649927"/>
                  </a:ext>
                </a:extLst>
              </a:tr>
              <a:tr h="640080">
                <a:tc>
                  <a:txBody>
                    <a:bodyPr/>
                    <a:lstStyle/>
                    <a:p>
                      <a:pPr>
                        <a:buNone/>
                      </a:pPr>
                      <a:r>
                        <a:rPr lang="en-IN" sz="1800" b="1"/>
                        <a:t>Perception</a:t>
                      </a:r>
                      <a:endParaRPr lang="en-IN" sz="1800"/>
                    </a:p>
                  </a:txBody>
                  <a:tcPr anchor="ctr">
                    <a:lnL>
                      <a:noFill/>
                    </a:lnL>
                    <a:lnR>
                      <a:noFill/>
                    </a:lnR>
                    <a:lnT>
                      <a:noFill/>
                    </a:lnT>
                    <a:lnB>
                      <a:noFill/>
                    </a:lnB>
                    <a:noFill/>
                  </a:tcPr>
                </a:tc>
                <a:tc>
                  <a:txBody>
                    <a:bodyPr/>
                    <a:lstStyle/>
                    <a:p>
                      <a:pPr>
                        <a:buNone/>
                      </a:pPr>
                      <a:r>
                        <a:rPr lang="en-IN" sz="1800"/>
                        <a:t>Using sensors (camera, LiDAR, ultrasonic, radar) to perceive the environment.</a:t>
                      </a:r>
                    </a:p>
                  </a:txBody>
                  <a:tcPr anchor="ctr">
                    <a:lnL>
                      <a:noFill/>
                    </a:lnL>
                    <a:lnR>
                      <a:noFill/>
                    </a:lnR>
                    <a:lnT>
                      <a:noFill/>
                    </a:lnT>
                    <a:lnB>
                      <a:noFill/>
                    </a:lnB>
                    <a:noFill/>
                  </a:tcPr>
                </a:tc>
                <a:extLst>
                  <a:ext uri="{0D108BD9-81ED-4DB2-BD59-A6C34878D82A}">
                    <a16:rowId xmlns:a16="http://schemas.microsoft.com/office/drawing/2014/main" val="4236795530"/>
                  </a:ext>
                </a:extLst>
              </a:tr>
              <a:tr h="640080">
                <a:tc>
                  <a:txBody>
                    <a:bodyPr/>
                    <a:lstStyle/>
                    <a:p>
                      <a:pPr>
                        <a:buNone/>
                      </a:pPr>
                      <a:r>
                        <a:rPr lang="en-IN" sz="1800" b="1"/>
                        <a:t>Planning</a:t>
                      </a:r>
                      <a:endParaRPr lang="en-IN" sz="1800"/>
                    </a:p>
                  </a:txBody>
                  <a:tcPr anchor="ctr">
                    <a:lnL>
                      <a:noFill/>
                    </a:lnL>
                    <a:lnR>
                      <a:noFill/>
                    </a:lnR>
                    <a:lnT>
                      <a:noFill/>
                    </a:lnT>
                    <a:lnB>
                      <a:noFill/>
                    </a:lnB>
                    <a:noFill/>
                  </a:tcPr>
                </a:tc>
                <a:tc>
                  <a:txBody>
                    <a:bodyPr/>
                    <a:lstStyle/>
                    <a:p>
                      <a:pPr>
                        <a:buNone/>
                      </a:pPr>
                      <a:r>
                        <a:rPr lang="en-IN" sz="1800"/>
                        <a:t>Generating motion or task plans to achieve goals.</a:t>
                      </a:r>
                    </a:p>
                  </a:txBody>
                  <a:tcPr anchor="ctr">
                    <a:lnL>
                      <a:noFill/>
                    </a:lnL>
                    <a:lnR>
                      <a:noFill/>
                    </a:lnR>
                    <a:lnT>
                      <a:noFill/>
                    </a:lnT>
                    <a:lnB>
                      <a:noFill/>
                    </a:lnB>
                    <a:noFill/>
                  </a:tcPr>
                </a:tc>
                <a:extLst>
                  <a:ext uri="{0D108BD9-81ED-4DB2-BD59-A6C34878D82A}">
                    <a16:rowId xmlns:a16="http://schemas.microsoft.com/office/drawing/2014/main" val="1308661240"/>
                  </a:ext>
                </a:extLst>
              </a:tr>
              <a:tr h="640080">
                <a:tc>
                  <a:txBody>
                    <a:bodyPr/>
                    <a:lstStyle/>
                    <a:p>
                      <a:pPr>
                        <a:buNone/>
                      </a:pPr>
                      <a:r>
                        <a:rPr lang="en-IN" sz="1800" b="1"/>
                        <a:t>Learning</a:t>
                      </a:r>
                      <a:endParaRPr lang="en-IN" sz="1800"/>
                    </a:p>
                  </a:txBody>
                  <a:tcPr anchor="ctr">
                    <a:lnL>
                      <a:noFill/>
                    </a:lnL>
                    <a:lnR>
                      <a:noFill/>
                    </a:lnR>
                    <a:lnT>
                      <a:noFill/>
                    </a:lnT>
                    <a:lnB>
                      <a:noFill/>
                    </a:lnB>
                    <a:noFill/>
                  </a:tcPr>
                </a:tc>
                <a:tc>
                  <a:txBody>
                    <a:bodyPr/>
                    <a:lstStyle/>
                    <a:p>
                      <a:pPr>
                        <a:buNone/>
                      </a:pPr>
                      <a:r>
                        <a:rPr lang="en-IN" sz="1800"/>
                        <a:t>Using ML/DL algorithms to improve performance over time.</a:t>
                      </a:r>
                    </a:p>
                  </a:txBody>
                  <a:tcPr anchor="ctr">
                    <a:lnL>
                      <a:noFill/>
                    </a:lnL>
                    <a:lnR>
                      <a:noFill/>
                    </a:lnR>
                    <a:lnT>
                      <a:noFill/>
                    </a:lnT>
                    <a:lnB>
                      <a:noFill/>
                    </a:lnB>
                    <a:noFill/>
                  </a:tcPr>
                </a:tc>
                <a:extLst>
                  <a:ext uri="{0D108BD9-81ED-4DB2-BD59-A6C34878D82A}">
                    <a16:rowId xmlns:a16="http://schemas.microsoft.com/office/drawing/2014/main" val="84659026"/>
                  </a:ext>
                </a:extLst>
              </a:tr>
              <a:tr h="640080">
                <a:tc>
                  <a:txBody>
                    <a:bodyPr/>
                    <a:lstStyle/>
                    <a:p>
                      <a:pPr>
                        <a:buNone/>
                      </a:pPr>
                      <a:r>
                        <a:rPr lang="en-IN" sz="1800" b="1"/>
                        <a:t>Reasoning</a:t>
                      </a:r>
                      <a:endParaRPr lang="en-IN" sz="1800"/>
                    </a:p>
                  </a:txBody>
                  <a:tcPr anchor="ctr">
                    <a:lnL>
                      <a:noFill/>
                    </a:lnL>
                    <a:lnR>
                      <a:noFill/>
                    </a:lnR>
                    <a:lnT>
                      <a:noFill/>
                    </a:lnT>
                    <a:lnB>
                      <a:noFill/>
                    </a:lnB>
                    <a:noFill/>
                  </a:tcPr>
                </a:tc>
                <a:tc>
                  <a:txBody>
                    <a:bodyPr/>
                    <a:lstStyle/>
                    <a:p>
                      <a:pPr>
                        <a:buNone/>
                      </a:pPr>
                      <a:r>
                        <a:rPr lang="en-IN" sz="1800"/>
                        <a:t>Making logical decisions based on sensory input and objectives.</a:t>
                      </a:r>
                    </a:p>
                  </a:txBody>
                  <a:tcPr anchor="ctr">
                    <a:lnL>
                      <a:noFill/>
                    </a:lnL>
                    <a:lnR>
                      <a:noFill/>
                    </a:lnR>
                    <a:lnT>
                      <a:noFill/>
                    </a:lnT>
                    <a:lnB>
                      <a:noFill/>
                    </a:lnB>
                    <a:noFill/>
                  </a:tcPr>
                </a:tc>
                <a:extLst>
                  <a:ext uri="{0D108BD9-81ED-4DB2-BD59-A6C34878D82A}">
                    <a16:rowId xmlns:a16="http://schemas.microsoft.com/office/drawing/2014/main" val="2820757263"/>
                  </a:ext>
                </a:extLst>
              </a:tr>
              <a:tr h="365760">
                <a:tc>
                  <a:txBody>
                    <a:bodyPr/>
                    <a:lstStyle/>
                    <a:p>
                      <a:pPr>
                        <a:buNone/>
                      </a:pPr>
                      <a:r>
                        <a:rPr lang="en-IN" sz="1800" b="1"/>
                        <a:t>Control</a:t>
                      </a:r>
                      <a:endParaRPr lang="en-IN" sz="1800"/>
                    </a:p>
                  </a:txBody>
                  <a:tcPr anchor="ctr">
                    <a:lnL>
                      <a:noFill/>
                    </a:lnL>
                    <a:lnR>
                      <a:noFill/>
                    </a:lnR>
                    <a:lnT>
                      <a:noFill/>
                    </a:lnT>
                    <a:lnB>
                      <a:noFill/>
                    </a:lnB>
                    <a:noFill/>
                  </a:tcPr>
                </a:tc>
                <a:tc>
                  <a:txBody>
                    <a:bodyPr/>
                    <a:lstStyle/>
                    <a:p>
                      <a:pPr>
                        <a:buNone/>
                      </a:pPr>
                      <a:r>
                        <a:rPr lang="en-IN" sz="1800" dirty="0"/>
                        <a:t>Executing planned actions with precision.</a:t>
                      </a:r>
                    </a:p>
                  </a:txBody>
                  <a:tcPr anchor="ctr">
                    <a:lnL>
                      <a:noFill/>
                    </a:lnL>
                    <a:lnR>
                      <a:noFill/>
                    </a:lnR>
                    <a:lnT>
                      <a:noFill/>
                    </a:lnT>
                    <a:lnB>
                      <a:noFill/>
                    </a:lnB>
                    <a:noFill/>
                  </a:tcPr>
                </a:tc>
                <a:extLst>
                  <a:ext uri="{0D108BD9-81ED-4DB2-BD59-A6C34878D82A}">
                    <a16:rowId xmlns:a16="http://schemas.microsoft.com/office/drawing/2014/main" val="617614638"/>
                  </a:ext>
                </a:extLst>
              </a:tr>
            </a:tbl>
          </a:graphicData>
        </a:graphic>
      </p:graphicFrame>
    </p:spTree>
    <p:extLst>
      <p:ext uri="{BB962C8B-B14F-4D97-AF65-F5344CB8AC3E}">
        <p14:creationId xmlns:p14="http://schemas.microsoft.com/office/powerpoint/2010/main" val="32020456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594B6-2E37-3FB0-3E91-66D262C6C2ED}"/>
              </a:ext>
            </a:extLst>
          </p:cNvPr>
          <p:cNvSpPr>
            <a:spLocks noGrp="1"/>
          </p:cNvSpPr>
          <p:nvPr>
            <p:ph type="title"/>
          </p:nvPr>
        </p:nvSpPr>
        <p:spPr>
          <a:xfrm>
            <a:off x="2059941" y="145492"/>
            <a:ext cx="8072119" cy="615553"/>
          </a:xfrm>
        </p:spPr>
        <p:txBody>
          <a:bodyPr>
            <a:normAutofit fontScale="90000"/>
          </a:bodyPr>
          <a:lstStyle/>
          <a:p>
            <a:r>
              <a:rPr lang="en-IN" dirty="0"/>
              <a:t>Applications in Autonomous Systems</a:t>
            </a:r>
            <a:endParaRPr lang="en-US" dirty="0"/>
          </a:p>
        </p:txBody>
      </p:sp>
      <p:sp>
        <p:nvSpPr>
          <p:cNvPr id="3" name="Text Placeholder 2">
            <a:extLst>
              <a:ext uri="{FF2B5EF4-FFF2-40B4-BE49-F238E27FC236}">
                <a16:creationId xmlns:a16="http://schemas.microsoft.com/office/drawing/2014/main" id="{B4FDAE1E-5BF3-26DE-0E04-B7B15009C58C}"/>
              </a:ext>
            </a:extLst>
          </p:cNvPr>
          <p:cNvSpPr>
            <a:spLocks noGrp="1"/>
          </p:cNvSpPr>
          <p:nvPr>
            <p:ph type="body" idx="1"/>
          </p:nvPr>
        </p:nvSpPr>
        <p:spPr>
          <a:xfrm>
            <a:off x="2059941" y="1616710"/>
            <a:ext cx="8074025" cy="4924425"/>
          </a:xfrm>
        </p:spPr>
        <p:txBody>
          <a:bodyPr>
            <a:normAutofit fontScale="62500" lnSpcReduction="20000"/>
          </a:bodyPr>
          <a:lstStyle/>
          <a:p>
            <a:pPr marL="457200" indent="-457200">
              <a:buAutoNum type="alphaLcPeriod"/>
            </a:pPr>
            <a:r>
              <a:rPr lang="en-IN" b="1" dirty="0"/>
              <a:t>Autonomous Vehicles</a:t>
            </a:r>
          </a:p>
          <a:p>
            <a:pPr marL="457200" indent="-457200">
              <a:buAutoNum type="alphaLcPeriod"/>
            </a:pPr>
            <a:endParaRPr lang="en-IN" b="1" dirty="0"/>
          </a:p>
          <a:p>
            <a:r>
              <a:rPr lang="en-IN" dirty="0"/>
              <a:t>AI enables </a:t>
            </a:r>
            <a:r>
              <a:rPr lang="en-IN" b="1" dirty="0"/>
              <a:t>self-driving cars</a:t>
            </a:r>
            <a:r>
              <a:rPr lang="en-IN" dirty="0"/>
              <a:t>, drones, and delivery robots.</a:t>
            </a:r>
          </a:p>
          <a:p>
            <a:r>
              <a:rPr lang="en-IN" dirty="0"/>
              <a:t>Uses </a:t>
            </a:r>
            <a:r>
              <a:rPr lang="en-IN" b="1" dirty="0"/>
              <a:t>sensor fusion</a:t>
            </a:r>
            <a:r>
              <a:rPr lang="en-IN" dirty="0"/>
              <a:t> (LiDAR, cameras, GPS) and </a:t>
            </a:r>
            <a:r>
              <a:rPr lang="en-IN" b="1" dirty="0"/>
              <a:t>deep learning</a:t>
            </a:r>
            <a:r>
              <a:rPr lang="en-IN" dirty="0"/>
              <a:t> for object detection and navigation.</a:t>
            </a:r>
          </a:p>
          <a:p>
            <a:endParaRPr lang="en-IN" dirty="0"/>
          </a:p>
          <a:p>
            <a:r>
              <a:rPr lang="en-IN" dirty="0"/>
              <a:t>Example: Tesla Autopilot, Waymo, Baidu Apollo.</a:t>
            </a:r>
          </a:p>
          <a:p>
            <a:endParaRPr lang="en-IN" dirty="0"/>
          </a:p>
          <a:p>
            <a:r>
              <a:rPr lang="en-IN" b="1" dirty="0"/>
              <a:t>b. Industrial Robotics</a:t>
            </a:r>
          </a:p>
          <a:p>
            <a:endParaRPr lang="en-IN" b="1" dirty="0"/>
          </a:p>
          <a:p>
            <a:r>
              <a:rPr lang="en-IN" dirty="0"/>
              <a:t>Used in manufacturing for </a:t>
            </a:r>
            <a:r>
              <a:rPr lang="en-IN" b="1" dirty="0"/>
              <a:t>assembly, welding, packaging, inspection</a:t>
            </a:r>
            <a:r>
              <a:rPr lang="en-IN" dirty="0"/>
              <a:t>.</a:t>
            </a:r>
          </a:p>
          <a:p>
            <a:r>
              <a:rPr lang="en-IN" dirty="0"/>
              <a:t>AI adds flexibility — robots can </a:t>
            </a:r>
            <a:r>
              <a:rPr lang="en-IN" b="1" dirty="0"/>
              <a:t>learn new tasks</a:t>
            </a:r>
            <a:r>
              <a:rPr lang="en-IN" dirty="0"/>
              <a:t> and </a:t>
            </a:r>
            <a:r>
              <a:rPr lang="en-IN" b="1" dirty="0"/>
              <a:t>collaborate with humans (</a:t>
            </a:r>
            <a:r>
              <a:rPr lang="en-IN" b="1" dirty="0" err="1"/>
              <a:t>cobots</a:t>
            </a:r>
            <a:r>
              <a:rPr lang="en-IN" b="1" dirty="0"/>
              <a:t>)</a:t>
            </a:r>
            <a:r>
              <a:rPr lang="en-IN" dirty="0"/>
              <a:t>.</a:t>
            </a:r>
          </a:p>
          <a:p>
            <a:endParaRPr lang="en-IN" dirty="0"/>
          </a:p>
          <a:p>
            <a:r>
              <a:rPr lang="en-IN" dirty="0"/>
              <a:t>Example: FANUC and KUKA robots with machine vision.</a:t>
            </a:r>
          </a:p>
          <a:p>
            <a:endParaRPr lang="en-US" dirty="0"/>
          </a:p>
        </p:txBody>
      </p:sp>
    </p:spTree>
    <p:extLst>
      <p:ext uri="{BB962C8B-B14F-4D97-AF65-F5344CB8AC3E}">
        <p14:creationId xmlns:p14="http://schemas.microsoft.com/office/powerpoint/2010/main" val="37209400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632F3-FA27-5962-9BC3-FC63A434644F}"/>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11437A3D-2043-4A37-F9C1-10C34369CEAE}"/>
              </a:ext>
            </a:extLst>
          </p:cNvPr>
          <p:cNvSpPr>
            <a:spLocks noGrp="1"/>
          </p:cNvSpPr>
          <p:nvPr>
            <p:ph type="body" idx="1"/>
          </p:nvPr>
        </p:nvSpPr>
        <p:spPr>
          <a:xfrm>
            <a:off x="2059941" y="1480307"/>
            <a:ext cx="8074025" cy="5539978"/>
          </a:xfrm>
        </p:spPr>
        <p:txBody>
          <a:bodyPr>
            <a:normAutofit fontScale="70000" lnSpcReduction="20000"/>
          </a:bodyPr>
          <a:lstStyle/>
          <a:p>
            <a:r>
              <a:rPr lang="en-IN" b="1" dirty="0"/>
              <a:t>c. Healthcare Robots</a:t>
            </a:r>
          </a:p>
          <a:p>
            <a:endParaRPr lang="en-IN" b="1" dirty="0"/>
          </a:p>
          <a:p>
            <a:r>
              <a:rPr lang="en-IN" b="1" dirty="0"/>
              <a:t>Surgical robots</a:t>
            </a:r>
            <a:r>
              <a:rPr lang="en-IN" dirty="0"/>
              <a:t>, </a:t>
            </a:r>
            <a:r>
              <a:rPr lang="en-IN" b="1" dirty="0"/>
              <a:t>rehabilitation devices</a:t>
            </a:r>
            <a:r>
              <a:rPr lang="en-IN" dirty="0"/>
              <a:t>, and </a:t>
            </a:r>
            <a:r>
              <a:rPr lang="en-IN" b="1" dirty="0"/>
              <a:t>patient care bots</a:t>
            </a:r>
            <a:r>
              <a:rPr lang="en-IN" dirty="0"/>
              <a:t>.</a:t>
            </a:r>
          </a:p>
          <a:p>
            <a:r>
              <a:rPr lang="en-IN" dirty="0"/>
              <a:t>AI enhances precision and safety (e.g., da Vinci Surgical System, exoskeletons).</a:t>
            </a:r>
          </a:p>
          <a:p>
            <a:endParaRPr lang="en-IN" dirty="0"/>
          </a:p>
          <a:p>
            <a:r>
              <a:rPr lang="en-IN" b="1" dirty="0"/>
              <a:t>d. Service and Domestic Robots</a:t>
            </a:r>
          </a:p>
          <a:p>
            <a:endParaRPr lang="en-IN" b="1" dirty="0"/>
          </a:p>
          <a:p>
            <a:r>
              <a:rPr lang="en-IN" dirty="0"/>
              <a:t>AI-powered robots for </a:t>
            </a:r>
            <a:r>
              <a:rPr lang="en-IN" b="1" dirty="0"/>
              <a:t>cleaning, delivery, customer service</a:t>
            </a:r>
            <a:r>
              <a:rPr lang="en-IN" dirty="0"/>
              <a:t>.</a:t>
            </a:r>
          </a:p>
          <a:p>
            <a:r>
              <a:rPr lang="en-IN" dirty="0"/>
              <a:t>Example: SoftBank’s </a:t>
            </a:r>
            <a:r>
              <a:rPr lang="en-IN" b="1" dirty="0"/>
              <a:t>Pepper</a:t>
            </a:r>
            <a:r>
              <a:rPr lang="en-IN" dirty="0"/>
              <a:t>, Amazon’s </a:t>
            </a:r>
            <a:r>
              <a:rPr lang="en-IN" b="1" dirty="0"/>
              <a:t>Astro</a:t>
            </a:r>
            <a:r>
              <a:rPr lang="en-IN" dirty="0"/>
              <a:t>, Roomba.</a:t>
            </a:r>
          </a:p>
          <a:p>
            <a:endParaRPr lang="en-IN" dirty="0"/>
          </a:p>
          <a:p>
            <a:r>
              <a:rPr lang="en-IN" b="1" dirty="0"/>
              <a:t>e. Space and </a:t>
            </a:r>
            <a:r>
              <a:rPr lang="en-IN" b="1" dirty="0" err="1"/>
              <a:t>Defense</a:t>
            </a:r>
            <a:r>
              <a:rPr lang="en-IN" b="1" dirty="0"/>
              <a:t> Robots</a:t>
            </a:r>
          </a:p>
          <a:p>
            <a:endParaRPr lang="en-IN" b="1" dirty="0"/>
          </a:p>
          <a:p>
            <a:r>
              <a:rPr lang="en-IN" dirty="0"/>
              <a:t>Autonomous rovers (e.g., NASA’s Perseverance), underwater exploration drones.</a:t>
            </a:r>
          </a:p>
          <a:p>
            <a:r>
              <a:rPr lang="en-IN" dirty="0"/>
              <a:t>AI assists in </a:t>
            </a:r>
            <a:r>
              <a:rPr lang="en-IN" b="1" dirty="0"/>
              <a:t>path planning</a:t>
            </a:r>
            <a:r>
              <a:rPr lang="en-IN" dirty="0"/>
              <a:t>, </a:t>
            </a:r>
            <a:r>
              <a:rPr lang="en-IN" b="1" dirty="0"/>
              <a:t>fault detection</a:t>
            </a:r>
            <a:r>
              <a:rPr lang="en-IN" dirty="0"/>
              <a:t>, and </a:t>
            </a:r>
            <a:r>
              <a:rPr lang="en-IN" b="1" dirty="0"/>
              <a:t>decision-making in remote environments</a:t>
            </a:r>
            <a:r>
              <a:rPr lang="en-IN" dirty="0"/>
              <a:t>.</a:t>
            </a:r>
          </a:p>
          <a:p>
            <a:endParaRPr lang="en-US" dirty="0"/>
          </a:p>
        </p:txBody>
      </p:sp>
    </p:spTree>
    <p:extLst>
      <p:ext uri="{BB962C8B-B14F-4D97-AF65-F5344CB8AC3E}">
        <p14:creationId xmlns:p14="http://schemas.microsoft.com/office/powerpoint/2010/main" val="2023730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01E25-0F02-4EF8-6C20-62593863AF92}"/>
              </a:ext>
            </a:extLst>
          </p:cNvPr>
          <p:cNvSpPr>
            <a:spLocks noGrp="1"/>
          </p:cNvSpPr>
          <p:nvPr>
            <p:ph type="title"/>
          </p:nvPr>
        </p:nvSpPr>
        <p:spPr>
          <a:xfrm>
            <a:off x="2059941" y="145492"/>
            <a:ext cx="8072119" cy="615553"/>
          </a:xfrm>
        </p:spPr>
        <p:txBody>
          <a:bodyPr>
            <a:normAutofit fontScale="90000"/>
          </a:bodyPr>
          <a:lstStyle/>
          <a:p>
            <a:r>
              <a:rPr lang="en-IN" dirty="0"/>
              <a:t>Core AI Techniques Used</a:t>
            </a:r>
            <a:endParaRPr lang="en-US" dirty="0"/>
          </a:p>
        </p:txBody>
      </p:sp>
      <p:graphicFrame>
        <p:nvGraphicFramePr>
          <p:cNvPr id="4" name="Table 3">
            <a:extLst>
              <a:ext uri="{FF2B5EF4-FFF2-40B4-BE49-F238E27FC236}">
                <a16:creationId xmlns:a16="http://schemas.microsoft.com/office/drawing/2014/main" id="{42A663D5-DF17-E870-EA69-9D632DAD5DFE}"/>
              </a:ext>
            </a:extLst>
          </p:cNvPr>
          <p:cNvGraphicFramePr>
            <a:graphicFrameLocks noGrp="1"/>
          </p:cNvGraphicFramePr>
          <p:nvPr/>
        </p:nvGraphicFramePr>
        <p:xfrm>
          <a:off x="2060575" y="2133282"/>
          <a:ext cx="8074024" cy="3566160"/>
        </p:xfrm>
        <a:graphic>
          <a:graphicData uri="http://schemas.openxmlformats.org/drawingml/2006/table">
            <a:tbl>
              <a:tblPr/>
              <a:tblGrid>
                <a:gridCol w="4037012">
                  <a:extLst>
                    <a:ext uri="{9D8B030D-6E8A-4147-A177-3AD203B41FA5}">
                      <a16:colId xmlns:a16="http://schemas.microsoft.com/office/drawing/2014/main" val="4025915164"/>
                    </a:ext>
                  </a:extLst>
                </a:gridCol>
                <a:gridCol w="4037012">
                  <a:extLst>
                    <a:ext uri="{9D8B030D-6E8A-4147-A177-3AD203B41FA5}">
                      <a16:colId xmlns:a16="http://schemas.microsoft.com/office/drawing/2014/main" val="1623953313"/>
                    </a:ext>
                  </a:extLst>
                </a:gridCol>
              </a:tblGrid>
              <a:tr h="365760">
                <a:tc>
                  <a:txBody>
                    <a:bodyPr/>
                    <a:lstStyle/>
                    <a:p>
                      <a:pPr>
                        <a:buNone/>
                      </a:pPr>
                      <a:r>
                        <a:rPr lang="en-IN" sz="1800"/>
                        <a:t>Technique</a:t>
                      </a:r>
                    </a:p>
                  </a:txBody>
                  <a:tcPr anchor="ctr">
                    <a:lnL>
                      <a:noFill/>
                    </a:lnL>
                    <a:lnR>
                      <a:noFill/>
                    </a:lnR>
                    <a:lnT>
                      <a:noFill/>
                    </a:lnT>
                    <a:lnB>
                      <a:noFill/>
                    </a:lnB>
                    <a:noFill/>
                  </a:tcPr>
                </a:tc>
                <a:tc>
                  <a:txBody>
                    <a:bodyPr/>
                    <a:lstStyle/>
                    <a:p>
                      <a:pPr>
                        <a:buNone/>
                      </a:pPr>
                      <a:r>
                        <a:rPr lang="en-IN" sz="1800"/>
                        <a:t>Application</a:t>
                      </a:r>
                    </a:p>
                  </a:txBody>
                  <a:tcPr anchor="ctr">
                    <a:lnL>
                      <a:noFill/>
                    </a:lnL>
                    <a:lnR>
                      <a:noFill/>
                    </a:lnR>
                    <a:lnT>
                      <a:noFill/>
                    </a:lnT>
                    <a:lnB>
                      <a:noFill/>
                    </a:lnB>
                    <a:noFill/>
                  </a:tcPr>
                </a:tc>
                <a:extLst>
                  <a:ext uri="{0D108BD9-81ED-4DB2-BD59-A6C34878D82A}">
                    <a16:rowId xmlns:a16="http://schemas.microsoft.com/office/drawing/2014/main" val="1735295191"/>
                  </a:ext>
                </a:extLst>
              </a:tr>
              <a:tr h="640080">
                <a:tc>
                  <a:txBody>
                    <a:bodyPr/>
                    <a:lstStyle/>
                    <a:p>
                      <a:pPr>
                        <a:buNone/>
                      </a:pPr>
                      <a:r>
                        <a:rPr lang="en-IN" sz="1800" b="1"/>
                        <a:t>Computer Vision (CNNs, Transformers)</a:t>
                      </a:r>
                      <a:endParaRPr lang="en-IN" sz="1800"/>
                    </a:p>
                  </a:txBody>
                  <a:tcPr anchor="ctr">
                    <a:lnL>
                      <a:noFill/>
                    </a:lnL>
                    <a:lnR>
                      <a:noFill/>
                    </a:lnR>
                    <a:lnT>
                      <a:noFill/>
                    </a:lnT>
                    <a:lnB>
                      <a:noFill/>
                    </a:lnB>
                    <a:noFill/>
                  </a:tcPr>
                </a:tc>
                <a:tc>
                  <a:txBody>
                    <a:bodyPr/>
                    <a:lstStyle/>
                    <a:p>
                      <a:pPr>
                        <a:buNone/>
                      </a:pPr>
                      <a:r>
                        <a:rPr lang="en-IN" sz="1800"/>
                        <a:t>Object recognition, tracking, scene understanding</a:t>
                      </a:r>
                    </a:p>
                  </a:txBody>
                  <a:tcPr anchor="ctr">
                    <a:lnL>
                      <a:noFill/>
                    </a:lnL>
                    <a:lnR>
                      <a:noFill/>
                    </a:lnR>
                    <a:lnT>
                      <a:noFill/>
                    </a:lnT>
                    <a:lnB>
                      <a:noFill/>
                    </a:lnB>
                    <a:noFill/>
                  </a:tcPr>
                </a:tc>
                <a:extLst>
                  <a:ext uri="{0D108BD9-81ED-4DB2-BD59-A6C34878D82A}">
                    <a16:rowId xmlns:a16="http://schemas.microsoft.com/office/drawing/2014/main" val="1597428456"/>
                  </a:ext>
                </a:extLst>
              </a:tr>
              <a:tr h="640080">
                <a:tc>
                  <a:txBody>
                    <a:bodyPr/>
                    <a:lstStyle/>
                    <a:p>
                      <a:pPr>
                        <a:buNone/>
                      </a:pPr>
                      <a:r>
                        <a:rPr lang="en-IN" sz="1800" b="1" dirty="0"/>
                        <a:t>Reinforcement Learning (RL)</a:t>
                      </a:r>
                      <a:endParaRPr lang="en-IN" sz="1800" dirty="0"/>
                    </a:p>
                  </a:txBody>
                  <a:tcPr anchor="ctr">
                    <a:lnL>
                      <a:noFill/>
                    </a:lnL>
                    <a:lnR>
                      <a:noFill/>
                    </a:lnR>
                    <a:lnT>
                      <a:noFill/>
                    </a:lnT>
                    <a:lnB>
                      <a:noFill/>
                    </a:lnB>
                    <a:noFill/>
                  </a:tcPr>
                </a:tc>
                <a:tc>
                  <a:txBody>
                    <a:bodyPr/>
                    <a:lstStyle/>
                    <a:p>
                      <a:pPr>
                        <a:buNone/>
                      </a:pPr>
                      <a:r>
                        <a:rPr lang="en-IN" sz="1800"/>
                        <a:t>Autonomous decision-making and navigation</a:t>
                      </a:r>
                    </a:p>
                  </a:txBody>
                  <a:tcPr anchor="ctr">
                    <a:lnL>
                      <a:noFill/>
                    </a:lnL>
                    <a:lnR>
                      <a:noFill/>
                    </a:lnR>
                    <a:lnT>
                      <a:noFill/>
                    </a:lnT>
                    <a:lnB>
                      <a:noFill/>
                    </a:lnB>
                    <a:noFill/>
                  </a:tcPr>
                </a:tc>
                <a:extLst>
                  <a:ext uri="{0D108BD9-81ED-4DB2-BD59-A6C34878D82A}">
                    <a16:rowId xmlns:a16="http://schemas.microsoft.com/office/drawing/2014/main" val="3975129678"/>
                  </a:ext>
                </a:extLst>
              </a:tr>
              <a:tr h="640080">
                <a:tc>
                  <a:txBody>
                    <a:bodyPr/>
                    <a:lstStyle/>
                    <a:p>
                      <a:pPr>
                        <a:buNone/>
                      </a:pPr>
                      <a:r>
                        <a:rPr lang="en-IN" sz="1800" b="1"/>
                        <a:t>SLAM (Simultaneous Localization and Mapping)</a:t>
                      </a:r>
                      <a:endParaRPr lang="en-IN" sz="1800"/>
                    </a:p>
                  </a:txBody>
                  <a:tcPr anchor="ctr">
                    <a:lnL>
                      <a:noFill/>
                    </a:lnL>
                    <a:lnR>
                      <a:noFill/>
                    </a:lnR>
                    <a:lnT>
                      <a:noFill/>
                    </a:lnT>
                    <a:lnB>
                      <a:noFill/>
                    </a:lnB>
                    <a:noFill/>
                  </a:tcPr>
                </a:tc>
                <a:tc>
                  <a:txBody>
                    <a:bodyPr/>
                    <a:lstStyle/>
                    <a:p>
                      <a:pPr>
                        <a:buNone/>
                      </a:pPr>
                      <a:r>
                        <a:rPr lang="en-IN" sz="1800"/>
                        <a:t>Building environment maps while tracking location</a:t>
                      </a:r>
                    </a:p>
                  </a:txBody>
                  <a:tcPr anchor="ctr">
                    <a:lnL>
                      <a:noFill/>
                    </a:lnL>
                    <a:lnR>
                      <a:noFill/>
                    </a:lnR>
                    <a:lnT>
                      <a:noFill/>
                    </a:lnT>
                    <a:lnB>
                      <a:noFill/>
                    </a:lnB>
                    <a:noFill/>
                  </a:tcPr>
                </a:tc>
                <a:extLst>
                  <a:ext uri="{0D108BD9-81ED-4DB2-BD59-A6C34878D82A}">
                    <a16:rowId xmlns:a16="http://schemas.microsoft.com/office/drawing/2014/main" val="1278780822"/>
                  </a:ext>
                </a:extLst>
              </a:tr>
              <a:tr h="640080">
                <a:tc>
                  <a:txBody>
                    <a:bodyPr/>
                    <a:lstStyle/>
                    <a:p>
                      <a:pPr>
                        <a:buNone/>
                      </a:pPr>
                      <a:r>
                        <a:rPr lang="en-IN" sz="1800" b="1"/>
                        <a:t>Natural Language Processing (NLP)</a:t>
                      </a:r>
                      <a:endParaRPr lang="en-IN" sz="1800"/>
                    </a:p>
                  </a:txBody>
                  <a:tcPr anchor="ctr">
                    <a:lnL>
                      <a:noFill/>
                    </a:lnL>
                    <a:lnR>
                      <a:noFill/>
                    </a:lnR>
                    <a:lnT>
                      <a:noFill/>
                    </a:lnT>
                    <a:lnB>
                      <a:noFill/>
                    </a:lnB>
                    <a:noFill/>
                  </a:tcPr>
                </a:tc>
                <a:tc>
                  <a:txBody>
                    <a:bodyPr/>
                    <a:lstStyle/>
                    <a:p>
                      <a:pPr>
                        <a:buNone/>
                      </a:pPr>
                      <a:r>
                        <a:rPr lang="en-IN" sz="1800"/>
                        <a:t>Human-robot interaction (voice commands, chatbots)</a:t>
                      </a:r>
                    </a:p>
                  </a:txBody>
                  <a:tcPr anchor="ctr">
                    <a:lnL>
                      <a:noFill/>
                    </a:lnL>
                    <a:lnR>
                      <a:noFill/>
                    </a:lnR>
                    <a:lnT>
                      <a:noFill/>
                    </a:lnT>
                    <a:lnB>
                      <a:noFill/>
                    </a:lnB>
                    <a:noFill/>
                  </a:tcPr>
                </a:tc>
                <a:extLst>
                  <a:ext uri="{0D108BD9-81ED-4DB2-BD59-A6C34878D82A}">
                    <a16:rowId xmlns:a16="http://schemas.microsoft.com/office/drawing/2014/main" val="2588238011"/>
                  </a:ext>
                </a:extLst>
              </a:tr>
              <a:tr h="640080">
                <a:tc>
                  <a:txBody>
                    <a:bodyPr/>
                    <a:lstStyle/>
                    <a:p>
                      <a:pPr>
                        <a:buNone/>
                      </a:pPr>
                      <a:r>
                        <a:rPr lang="en-IN" sz="1800" b="1"/>
                        <a:t>Deep Learning (DL)</a:t>
                      </a:r>
                      <a:endParaRPr lang="en-IN" sz="1800"/>
                    </a:p>
                  </a:txBody>
                  <a:tcPr anchor="ctr">
                    <a:lnL>
                      <a:noFill/>
                    </a:lnL>
                    <a:lnR>
                      <a:noFill/>
                    </a:lnR>
                    <a:lnT>
                      <a:noFill/>
                    </a:lnT>
                    <a:lnB>
                      <a:noFill/>
                    </a:lnB>
                    <a:noFill/>
                  </a:tcPr>
                </a:tc>
                <a:tc>
                  <a:txBody>
                    <a:bodyPr/>
                    <a:lstStyle/>
                    <a:p>
                      <a:pPr>
                        <a:buNone/>
                      </a:pPr>
                      <a:r>
                        <a:rPr lang="en-IN" sz="1800" dirty="0"/>
                        <a:t>Sensor data interpretation, motion control</a:t>
                      </a:r>
                    </a:p>
                  </a:txBody>
                  <a:tcPr anchor="ctr">
                    <a:lnL>
                      <a:noFill/>
                    </a:lnL>
                    <a:lnR>
                      <a:noFill/>
                    </a:lnR>
                    <a:lnT>
                      <a:noFill/>
                    </a:lnT>
                    <a:lnB>
                      <a:noFill/>
                    </a:lnB>
                    <a:noFill/>
                  </a:tcPr>
                </a:tc>
                <a:extLst>
                  <a:ext uri="{0D108BD9-81ED-4DB2-BD59-A6C34878D82A}">
                    <a16:rowId xmlns:a16="http://schemas.microsoft.com/office/drawing/2014/main" val="2227170666"/>
                  </a:ext>
                </a:extLst>
              </a:tr>
            </a:tbl>
          </a:graphicData>
        </a:graphic>
      </p:graphicFrame>
    </p:spTree>
    <p:extLst>
      <p:ext uri="{BB962C8B-B14F-4D97-AF65-F5344CB8AC3E}">
        <p14:creationId xmlns:p14="http://schemas.microsoft.com/office/powerpoint/2010/main" val="25117685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0840-737A-6E6D-1CA4-6E8E37BA46F8}"/>
              </a:ext>
            </a:extLst>
          </p:cNvPr>
          <p:cNvSpPr>
            <a:spLocks noGrp="1"/>
          </p:cNvSpPr>
          <p:nvPr>
            <p:ph type="title"/>
          </p:nvPr>
        </p:nvSpPr>
        <p:spPr>
          <a:xfrm>
            <a:off x="2059941" y="145492"/>
            <a:ext cx="8072119" cy="615553"/>
          </a:xfrm>
        </p:spPr>
        <p:txBody>
          <a:bodyPr>
            <a:normAutofit fontScale="90000"/>
          </a:bodyPr>
          <a:lstStyle/>
          <a:p>
            <a:r>
              <a:rPr lang="en-US" dirty="0"/>
              <a:t>AI-Driven Innovations in Finance</a:t>
            </a:r>
          </a:p>
        </p:txBody>
      </p:sp>
      <p:sp>
        <p:nvSpPr>
          <p:cNvPr id="3" name="Text Placeholder 2">
            <a:extLst>
              <a:ext uri="{FF2B5EF4-FFF2-40B4-BE49-F238E27FC236}">
                <a16:creationId xmlns:a16="http://schemas.microsoft.com/office/drawing/2014/main" id="{AA5AC110-BD45-B606-F13E-CC0139C1FC47}"/>
              </a:ext>
            </a:extLst>
          </p:cNvPr>
          <p:cNvSpPr>
            <a:spLocks noGrp="1"/>
          </p:cNvSpPr>
          <p:nvPr>
            <p:ph type="body" idx="1"/>
          </p:nvPr>
        </p:nvSpPr>
        <p:spPr>
          <a:xfrm>
            <a:off x="2059941" y="1616710"/>
            <a:ext cx="8074025" cy="2462213"/>
          </a:xfrm>
        </p:spPr>
        <p:txBody>
          <a:bodyPr>
            <a:normAutofit fontScale="77500" lnSpcReduction="20000"/>
          </a:bodyPr>
          <a:lstStyle/>
          <a:p>
            <a:r>
              <a:rPr lang="en-US" dirty="0"/>
              <a:t>Artificial Intelligence (AI) in finance involves using machine learning, data analytics, and automation to enhance financial services, decision-making, and customer experience.</a:t>
            </a:r>
          </a:p>
          <a:p>
            <a:endParaRPr lang="en-US" dirty="0"/>
          </a:p>
          <a:p>
            <a:r>
              <a:rPr lang="en-IN" b="1" dirty="0"/>
              <a:t>Goal:</a:t>
            </a:r>
          </a:p>
          <a:p>
            <a:br>
              <a:rPr lang="en-IN" dirty="0"/>
            </a:br>
            <a:r>
              <a:rPr lang="en-IN" dirty="0"/>
              <a:t>Improve </a:t>
            </a:r>
            <a:r>
              <a:rPr lang="en-IN" b="1" dirty="0"/>
              <a:t>accuracy</a:t>
            </a:r>
            <a:r>
              <a:rPr lang="en-IN" dirty="0"/>
              <a:t>, </a:t>
            </a:r>
            <a:r>
              <a:rPr lang="en-IN" b="1" dirty="0"/>
              <a:t>efficiency</a:t>
            </a:r>
            <a:r>
              <a:rPr lang="en-IN" dirty="0"/>
              <a:t>, </a:t>
            </a:r>
            <a:r>
              <a:rPr lang="en-IN" b="1" dirty="0"/>
              <a:t>risk management</a:t>
            </a:r>
            <a:r>
              <a:rPr lang="en-IN" dirty="0"/>
              <a:t>, and </a:t>
            </a:r>
            <a:r>
              <a:rPr lang="en-IN" b="1" dirty="0"/>
              <a:t>personalization</a:t>
            </a:r>
            <a:r>
              <a:rPr lang="en-IN" dirty="0"/>
              <a:t> in financial operations.</a:t>
            </a:r>
            <a:endParaRPr lang="en-US" dirty="0"/>
          </a:p>
        </p:txBody>
      </p:sp>
    </p:spTree>
    <p:extLst>
      <p:ext uri="{BB962C8B-B14F-4D97-AF65-F5344CB8AC3E}">
        <p14:creationId xmlns:p14="http://schemas.microsoft.com/office/powerpoint/2010/main" val="26173456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8D775-9BCA-94B4-9FC7-BB4BD213665E}"/>
              </a:ext>
            </a:extLst>
          </p:cNvPr>
          <p:cNvSpPr>
            <a:spLocks noGrp="1"/>
          </p:cNvSpPr>
          <p:nvPr>
            <p:ph type="title"/>
          </p:nvPr>
        </p:nvSpPr>
        <p:spPr>
          <a:xfrm>
            <a:off x="2059941" y="145492"/>
            <a:ext cx="8072119" cy="615553"/>
          </a:xfrm>
        </p:spPr>
        <p:txBody>
          <a:bodyPr>
            <a:normAutofit fontScale="90000"/>
          </a:bodyPr>
          <a:lstStyle/>
          <a:p>
            <a:r>
              <a:rPr lang="en-IN" dirty="0"/>
              <a:t>Role of AI in the Financial Sector</a:t>
            </a:r>
            <a:endParaRPr lang="en-US" dirty="0"/>
          </a:p>
        </p:txBody>
      </p:sp>
      <p:sp>
        <p:nvSpPr>
          <p:cNvPr id="3" name="Text Placeholder 2">
            <a:extLst>
              <a:ext uri="{FF2B5EF4-FFF2-40B4-BE49-F238E27FC236}">
                <a16:creationId xmlns:a16="http://schemas.microsoft.com/office/drawing/2014/main" id="{1FCF77A1-034E-A806-41FC-6F96E8909AF3}"/>
              </a:ext>
            </a:extLst>
          </p:cNvPr>
          <p:cNvSpPr>
            <a:spLocks noGrp="1"/>
          </p:cNvSpPr>
          <p:nvPr>
            <p:ph type="body" idx="1"/>
          </p:nvPr>
        </p:nvSpPr>
        <p:spPr>
          <a:xfrm>
            <a:off x="2059941" y="1616710"/>
            <a:ext cx="8074025" cy="4001095"/>
          </a:xfrm>
        </p:spPr>
        <p:txBody>
          <a:bodyPr>
            <a:normAutofit fontScale="55000" lnSpcReduction="20000"/>
          </a:bodyPr>
          <a:lstStyle/>
          <a:p>
            <a:r>
              <a:rPr lang="en-US" dirty="0"/>
              <a:t>AI technologies are revolutionizing:</a:t>
            </a:r>
          </a:p>
          <a:p>
            <a:endParaRPr lang="en-US" dirty="0"/>
          </a:p>
          <a:p>
            <a:pPr marL="342900" indent="-342900">
              <a:buFont typeface="Wingdings" pitchFamily="2" charset="2"/>
              <a:buChar char="Ø"/>
            </a:pPr>
            <a:r>
              <a:rPr lang="en-US" dirty="0"/>
              <a:t>Banking operations</a:t>
            </a:r>
          </a:p>
          <a:p>
            <a:pPr marL="342900" indent="-342900">
              <a:buFont typeface="Wingdings" pitchFamily="2" charset="2"/>
              <a:buChar char="Ø"/>
            </a:pPr>
            <a:endParaRPr lang="en-US" dirty="0"/>
          </a:p>
          <a:p>
            <a:pPr marL="342900" indent="-342900">
              <a:buFont typeface="Wingdings" pitchFamily="2" charset="2"/>
              <a:buChar char="Ø"/>
            </a:pPr>
            <a:r>
              <a:rPr lang="en-US" dirty="0"/>
              <a:t>Investment management</a:t>
            </a:r>
          </a:p>
          <a:p>
            <a:pPr marL="342900" indent="-342900">
              <a:buFont typeface="Wingdings" pitchFamily="2" charset="2"/>
              <a:buChar char="Ø"/>
            </a:pPr>
            <a:endParaRPr lang="en-US" dirty="0"/>
          </a:p>
          <a:p>
            <a:pPr marL="342900" indent="-342900">
              <a:buFont typeface="Wingdings" pitchFamily="2" charset="2"/>
              <a:buChar char="Ø"/>
            </a:pPr>
            <a:r>
              <a:rPr lang="en-US" dirty="0"/>
              <a:t>Insurance</a:t>
            </a:r>
          </a:p>
          <a:p>
            <a:pPr marL="342900" indent="-342900">
              <a:buFont typeface="Wingdings" pitchFamily="2" charset="2"/>
              <a:buChar char="Ø"/>
            </a:pPr>
            <a:endParaRPr lang="en-US" dirty="0"/>
          </a:p>
          <a:p>
            <a:pPr marL="342900" indent="-342900">
              <a:buFont typeface="Wingdings" pitchFamily="2" charset="2"/>
              <a:buChar char="Ø"/>
            </a:pPr>
            <a:r>
              <a:rPr lang="en-US" dirty="0"/>
              <a:t>Risk assessment</a:t>
            </a:r>
          </a:p>
          <a:p>
            <a:pPr marL="342900" indent="-342900">
              <a:buFont typeface="Wingdings" pitchFamily="2" charset="2"/>
              <a:buChar char="Ø"/>
            </a:pPr>
            <a:endParaRPr lang="en-US" dirty="0"/>
          </a:p>
          <a:p>
            <a:pPr marL="342900" indent="-342900">
              <a:buFont typeface="Wingdings" pitchFamily="2" charset="2"/>
              <a:buChar char="Ø"/>
            </a:pPr>
            <a:r>
              <a:rPr lang="en-US" dirty="0"/>
              <a:t>Fraud detection</a:t>
            </a:r>
          </a:p>
          <a:p>
            <a:pPr marL="342900" indent="-342900">
              <a:buFont typeface="Wingdings" pitchFamily="2" charset="2"/>
              <a:buChar char="Ø"/>
            </a:pPr>
            <a:endParaRPr lang="en-US" dirty="0"/>
          </a:p>
          <a:p>
            <a:pPr marL="342900" indent="-342900">
              <a:buFont typeface="Wingdings" pitchFamily="2" charset="2"/>
              <a:buChar char="Ø"/>
            </a:pPr>
            <a:r>
              <a:rPr lang="en-US" dirty="0"/>
              <a:t>Customer services</a:t>
            </a:r>
          </a:p>
        </p:txBody>
      </p:sp>
    </p:spTree>
    <p:extLst>
      <p:ext uri="{BB962C8B-B14F-4D97-AF65-F5344CB8AC3E}">
        <p14:creationId xmlns:p14="http://schemas.microsoft.com/office/powerpoint/2010/main" val="37857717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7D17-4112-D1A8-8F83-586A8EBEA689}"/>
              </a:ext>
            </a:extLst>
          </p:cNvPr>
          <p:cNvSpPr>
            <a:spLocks noGrp="1"/>
          </p:cNvSpPr>
          <p:nvPr>
            <p:ph type="title"/>
          </p:nvPr>
        </p:nvSpPr>
        <p:spPr>
          <a:xfrm>
            <a:off x="2059941" y="145492"/>
            <a:ext cx="8072119" cy="615553"/>
          </a:xfrm>
        </p:spPr>
        <p:txBody>
          <a:bodyPr>
            <a:normAutofit fontScale="90000"/>
          </a:bodyPr>
          <a:lstStyle/>
          <a:p>
            <a:r>
              <a:rPr lang="en-US" dirty="0"/>
              <a:t>Core AI Technologies in Finance</a:t>
            </a:r>
          </a:p>
        </p:txBody>
      </p:sp>
      <p:graphicFrame>
        <p:nvGraphicFramePr>
          <p:cNvPr id="4" name="Table 3">
            <a:extLst>
              <a:ext uri="{FF2B5EF4-FFF2-40B4-BE49-F238E27FC236}">
                <a16:creationId xmlns:a16="http://schemas.microsoft.com/office/drawing/2014/main" id="{4D7D3EB4-9B90-6E4C-10D2-1429C4D32622}"/>
              </a:ext>
            </a:extLst>
          </p:cNvPr>
          <p:cNvGraphicFramePr>
            <a:graphicFrameLocks noGrp="1"/>
          </p:cNvGraphicFramePr>
          <p:nvPr/>
        </p:nvGraphicFramePr>
        <p:xfrm>
          <a:off x="1905000" y="1676400"/>
          <a:ext cx="8074024" cy="3566160"/>
        </p:xfrm>
        <a:graphic>
          <a:graphicData uri="http://schemas.openxmlformats.org/drawingml/2006/table">
            <a:tbl>
              <a:tblPr/>
              <a:tblGrid>
                <a:gridCol w="4037012">
                  <a:extLst>
                    <a:ext uri="{9D8B030D-6E8A-4147-A177-3AD203B41FA5}">
                      <a16:colId xmlns:a16="http://schemas.microsoft.com/office/drawing/2014/main" val="2487680632"/>
                    </a:ext>
                  </a:extLst>
                </a:gridCol>
                <a:gridCol w="4037012">
                  <a:extLst>
                    <a:ext uri="{9D8B030D-6E8A-4147-A177-3AD203B41FA5}">
                      <a16:colId xmlns:a16="http://schemas.microsoft.com/office/drawing/2014/main" val="198574722"/>
                    </a:ext>
                  </a:extLst>
                </a:gridCol>
              </a:tblGrid>
              <a:tr h="365760">
                <a:tc>
                  <a:txBody>
                    <a:bodyPr/>
                    <a:lstStyle/>
                    <a:p>
                      <a:pPr>
                        <a:buNone/>
                      </a:pPr>
                      <a:r>
                        <a:rPr lang="en-IN" sz="1800"/>
                        <a:t>Technology</a:t>
                      </a:r>
                    </a:p>
                  </a:txBody>
                  <a:tcPr anchor="ctr">
                    <a:lnL>
                      <a:noFill/>
                    </a:lnL>
                    <a:lnR>
                      <a:noFill/>
                    </a:lnR>
                    <a:lnT>
                      <a:noFill/>
                    </a:lnT>
                    <a:lnB>
                      <a:noFill/>
                    </a:lnB>
                    <a:noFill/>
                  </a:tcPr>
                </a:tc>
                <a:tc>
                  <a:txBody>
                    <a:bodyPr/>
                    <a:lstStyle/>
                    <a:p>
                      <a:pPr>
                        <a:buNone/>
                      </a:pPr>
                      <a:r>
                        <a:rPr lang="en-IN" sz="1800"/>
                        <a:t>Application</a:t>
                      </a:r>
                    </a:p>
                  </a:txBody>
                  <a:tcPr anchor="ctr">
                    <a:lnL>
                      <a:noFill/>
                    </a:lnL>
                    <a:lnR>
                      <a:noFill/>
                    </a:lnR>
                    <a:lnT>
                      <a:noFill/>
                    </a:lnT>
                    <a:lnB>
                      <a:noFill/>
                    </a:lnB>
                    <a:noFill/>
                  </a:tcPr>
                </a:tc>
                <a:extLst>
                  <a:ext uri="{0D108BD9-81ED-4DB2-BD59-A6C34878D82A}">
                    <a16:rowId xmlns:a16="http://schemas.microsoft.com/office/drawing/2014/main" val="3833851461"/>
                  </a:ext>
                </a:extLst>
              </a:tr>
              <a:tr h="640080">
                <a:tc>
                  <a:txBody>
                    <a:bodyPr/>
                    <a:lstStyle/>
                    <a:p>
                      <a:pPr>
                        <a:buNone/>
                      </a:pPr>
                      <a:r>
                        <a:rPr lang="en-IN" sz="1800" b="1"/>
                        <a:t>Machine Learning (ML)</a:t>
                      </a:r>
                      <a:endParaRPr lang="en-IN" sz="1800"/>
                    </a:p>
                  </a:txBody>
                  <a:tcPr anchor="ctr">
                    <a:lnL>
                      <a:noFill/>
                    </a:lnL>
                    <a:lnR>
                      <a:noFill/>
                    </a:lnR>
                    <a:lnT>
                      <a:noFill/>
                    </a:lnT>
                    <a:lnB>
                      <a:noFill/>
                    </a:lnB>
                    <a:noFill/>
                  </a:tcPr>
                </a:tc>
                <a:tc>
                  <a:txBody>
                    <a:bodyPr/>
                    <a:lstStyle/>
                    <a:p>
                      <a:pPr>
                        <a:buNone/>
                      </a:pPr>
                      <a:r>
                        <a:rPr lang="en-IN" sz="1800"/>
                        <a:t>Predictive analytics, credit scoring, algorithmic trading</a:t>
                      </a:r>
                    </a:p>
                  </a:txBody>
                  <a:tcPr anchor="ctr">
                    <a:lnL>
                      <a:noFill/>
                    </a:lnL>
                    <a:lnR>
                      <a:noFill/>
                    </a:lnR>
                    <a:lnT>
                      <a:noFill/>
                    </a:lnT>
                    <a:lnB>
                      <a:noFill/>
                    </a:lnB>
                    <a:noFill/>
                  </a:tcPr>
                </a:tc>
                <a:extLst>
                  <a:ext uri="{0D108BD9-81ED-4DB2-BD59-A6C34878D82A}">
                    <a16:rowId xmlns:a16="http://schemas.microsoft.com/office/drawing/2014/main" val="2764786088"/>
                  </a:ext>
                </a:extLst>
              </a:tr>
              <a:tr h="365760">
                <a:tc>
                  <a:txBody>
                    <a:bodyPr/>
                    <a:lstStyle/>
                    <a:p>
                      <a:pPr>
                        <a:buNone/>
                      </a:pPr>
                      <a:r>
                        <a:rPr lang="en-IN" sz="1800" b="1"/>
                        <a:t>Deep Learning (DL)</a:t>
                      </a:r>
                      <a:endParaRPr lang="en-IN" sz="1800"/>
                    </a:p>
                  </a:txBody>
                  <a:tcPr anchor="ctr">
                    <a:lnL>
                      <a:noFill/>
                    </a:lnL>
                    <a:lnR>
                      <a:noFill/>
                    </a:lnR>
                    <a:lnT>
                      <a:noFill/>
                    </a:lnT>
                    <a:lnB>
                      <a:noFill/>
                    </a:lnB>
                    <a:noFill/>
                  </a:tcPr>
                </a:tc>
                <a:tc>
                  <a:txBody>
                    <a:bodyPr/>
                    <a:lstStyle/>
                    <a:p>
                      <a:pPr>
                        <a:buNone/>
                      </a:pPr>
                      <a:r>
                        <a:rPr lang="en-IN" sz="1800"/>
                        <a:t>Image/text data analysis, fraud detection</a:t>
                      </a:r>
                    </a:p>
                  </a:txBody>
                  <a:tcPr anchor="ctr">
                    <a:lnL>
                      <a:noFill/>
                    </a:lnL>
                    <a:lnR>
                      <a:noFill/>
                    </a:lnR>
                    <a:lnT>
                      <a:noFill/>
                    </a:lnT>
                    <a:lnB>
                      <a:noFill/>
                    </a:lnB>
                    <a:noFill/>
                  </a:tcPr>
                </a:tc>
                <a:extLst>
                  <a:ext uri="{0D108BD9-81ED-4DB2-BD59-A6C34878D82A}">
                    <a16:rowId xmlns:a16="http://schemas.microsoft.com/office/drawing/2014/main" val="3546059224"/>
                  </a:ext>
                </a:extLst>
              </a:tr>
              <a:tr h="640080">
                <a:tc>
                  <a:txBody>
                    <a:bodyPr/>
                    <a:lstStyle/>
                    <a:p>
                      <a:pPr>
                        <a:buNone/>
                      </a:pPr>
                      <a:r>
                        <a:rPr lang="en-IN" sz="1800" b="1"/>
                        <a:t>Natural Language Processing (NLP)</a:t>
                      </a:r>
                      <a:endParaRPr lang="en-IN" sz="1800"/>
                    </a:p>
                  </a:txBody>
                  <a:tcPr anchor="ctr">
                    <a:lnL>
                      <a:noFill/>
                    </a:lnL>
                    <a:lnR>
                      <a:noFill/>
                    </a:lnR>
                    <a:lnT>
                      <a:noFill/>
                    </a:lnT>
                    <a:lnB>
                      <a:noFill/>
                    </a:lnB>
                    <a:noFill/>
                  </a:tcPr>
                </a:tc>
                <a:tc>
                  <a:txBody>
                    <a:bodyPr/>
                    <a:lstStyle/>
                    <a:p>
                      <a:pPr>
                        <a:buNone/>
                      </a:pPr>
                      <a:r>
                        <a:rPr lang="en-IN" sz="1800"/>
                        <a:t>Chatbots, sentiment analysis from financial news</a:t>
                      </a:r>
                    </a:p>
                  </a:txBody>
                  <a:tcPr anchor="ctr">
                    <a:lnL>
                      <a:noFill/>
                    </a:lnL>
                    <a:lnR>
                      <a:noFill/>
                    </a:lnR>
                    <a:lnT>
                      <a:noFill/>
                    </a:lnT>
                    <a:lnB>
                      <a:noFill/>
                    </a:lnB>
                    <a:noFill/>
                  </a:tcPr>
                </a:tc>
                <a:extLst>
                  <a:ext uri="{0D108BD9-81ED-4DB2-BD59-A6C34878D82A}">
                    <a16:rowId xmlns:a16="http://schemas.microsoft.com/office/drawing/2014/main" val="3399879575"/>
                  </a:ext>
                </a:extLst>
              </a:tr>
              <a:tr h="640080">
                <a:tc>
                  <a:txBody>
                    <a:bodyPr/>
                    <a:lstStyle/>
                    <a:p>
                      <a:pPr>
                        <a:buNone/>
                      </a:pPr>
                      <a:r>
                        <a:rPr lang="en-IN" sz="1800" b="1"/>
                        <a:t>Robotic Process Automation (RPA)</a:t>
                      </a:r>
                      <a:endParaRPr lang="en-IN" sz="1800"/>
                    </a:p>
                  </a:txBody>
                  <a:tcPr anchor="ctr">
                    <a:lnL>
                      <a:noFill/>
                    </a:lnL>
                    <a:lnR>
                      <a:noFill/>
                    </a:lnR>
                    <a:lnT>
                      <a:noFill/>
                    </a:lnT>
                    <a:lnB>
                      <a:noFill/>
                    </a:lnB>
                    <a:noFill/>
                  </a:tcPr>
                </a:tc>
                <a:tc>
                  <a:txBody>
                    <a:bodyPr/>
                    <a:lstStyle/>
                    <a:p>
                      <a:pPr>
                        <a:buNone/>
                      </a:pPr>
                      <a:r>
                        <a:rPr lang="en-IN" sz="1800"/>
                        <a:t>Automating repetitive banking and compliance tasks</a:t>
                      </a:r>
                    </a:p>
                  </a:txBody>
                  <a:tcPr anchor="ctr">
                    <a:lnL>
                      <a:noFill/>
                    </a:lnL>
                    <a:lnR>
                      <a:noFill/>
                    </a:lnR>
                    <a:lnT>
                      <a:noFill/>
                    </a:lnT>
                    <a:lnB>
                      <a:noFill/>
                    </a:lnB>
                    <a:noFill/>
                  </a:tcPr>
                </a:tc>
                <a:extLst>
                  <a:ext uri="{0D108BD9-81ED-4DB2-BD59-A6C34878D82A}">
                    <a16:rowId xmlns:a16="http://schemas.microsoft.com/office/drawing/2014/main" val="191534598"/>
                  </a:ext>
                </a:extLst>
              </a:tr>
              <a:tr h="640080">
                <a:tc>
                  <a:txBody>
                    <a:bodyPr/>
                    <a:lstStyle/>
                    <a:p>
                      <a:pPr>
                        <a:buNone/>
                      </a:pPr>
                      <a:r>
                        <a:rPr lang="en-IN" sz="1800" b="1"/>
                        <a:t>Predictive Analytics</a:t>
                      </a:r>
                      <a:endParaRPr lang="en-IN" sz="1800"/>
                    </a:p>
                  </a:txBody>
                  <a:tcPr anchor="ctr">
                    <a:lnL>
                      <a:noFill/>
                    </a:lnL>
                    <a:lnR>
                      <a:noFill/>
                    </a:lnR>
                    <a:lnT>
                      <a:noFill/>
                    </a:lnT>
                    <a:lnB>
                      <a:noFill/>
                    </a:lnB>
                    <a:noFill/>
                  </a:tcPr>
                </a:tc>
                <a:tc>
                  <a:txBody>
                    <a:bodyPr/>
                    <a:lstStyle/>
                    <a:p>
                      <a:pPr>
                        <a:buNone/>
                      </a:pPr>
                      <a:r>
                        <a:rPr lang="en-IN" sz="1800" dirty="0"/>
                        <a:t>Market trend forecasting and portfolio management</a:t>
                      </a:r>
                    </a:p>
                  </a:txBody>
                  <a:tcPr anchor="ctr">
                    <a:lnL>
                      <a:noFill/>
                    </a:lnL>
                    <a:lnR>
                      <a:noFill/>
                    </a:lnR>
                    <a:lnT>
                      <a:noFill/>
                    </a:lnT>
                    <a:lnB>
                      <a:noFill/>
                    </a:lnB>
                    <a:noFill/>
                  </a:tcPr>
                </a:tc>
                <a:extLst>
                  <a:ext uri="{0D108BD9-81ED-4DB2-BD59-A6C34878D82A}">
                    <a16:rowId xmlns:a16="http://schemas.microsoft.com/office/drawing/2014/main" val="3580931029"/>
                  </a:ext>
                </a:extLst>
              </a:tr>
            </a:tbl>
          </a:graphicData>
        </a:graphic>
      </p:graphicFrame>
    </p:spTree>
    <p:extLst>
      <p:ext uri="{BB962C8B-B14F-4D97-AF65-F5344CB8AC3E}">
        <p14:creationId xmlns:p14="http://schemas.microsoft.com/office/powerpoint/2010/main" val="2896235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D86C-9146-E8F4-11CD-69EAB9F1FA53}"/>
              </a:ext>
            </a:extLst>
          </p:cNvPr>
          <p:cNvSpPr>
            <a:spLocks noGrp="1"/>
          </p:cNvSpPr>
          <p:nvPr>
            <p:ph type="title"/>
          </p:nvPr>
        </p:nvSpPr>
        <p:spPr>
          <a:xfrm>
            <a:off x="2059941" y="145492"/>
            <a:ext cx="8072119" cy="615553"/>
          </a:xfrm>
        </p:spPr>
        <p:txBody>
          <a:bodyPr>
            <a:normAutofit fontScale="90000"/>
          </a:bodyPr>
          <a:lstStyle/>
          <a:p>
            <a:r>
              <a:rPr lang="en-US" dirty="0"/>
              <a:t>Key Applications</a:t>
            </a:r>
          </a:p>
        </p:txBody>
      </p:sp>
      <p:sp>
        <p:nvSpPr>
          <p:cNvPr id="4" name="Text Placeholder 2">
            <a:extLst>
              <a:ext uri="{FF2B5EF4-FFF2-40B4-BE49-F238E27FC236}">
                <a16:creationId xmlns:a16="http://schemas.microsoft.com/office/drawing/2014/main" id="{B9B84686-DD7F-C4E7-D8A1-E2DCA942A315}"/>
              </a:ext>
            </a:extLst>
          </p:cNvPr>
          <p:cNvSpPr>
            <a:spLocks noGrp="1"/>
          </p:cNvSpPr>
          <p:nvPr>
            <p:ph type="body" idx="1"/>
          </p:nvPr>
        </p:nvSpPr>
        <p:spPr>
          <a:xfrm>
            <a:off x="2058035" y="914401"/>
            <a:ext cx="8074025" cy="5847755"/>
          </a:xfrm>
        </p:spPr>
        <p:txBody>
          <a:bodyPr>
            <a:normAutofit fontScale="70000" lnSpcReduction="20000"/>
          </a:bodyPr>
          <a:lstStyle/>
          <a:p>
            <a:r>
              <a:rPr lang="en-US" b="1" dirty="0"/>
              <a:t>Fraud Detection and Prevention</a:t>
            </a:r>
          </a:p>
          <a:p>
            <a:endParaRPr lang="en-US" dirty="0"/>
          </a:p>
          <a:p>
            <a:pPr marL="342900" indent="-342900"/>
            <a:r>
              <a:rPr lang="en-US" dirty="0"/>
              <a:t>Detects unusual transaction patterns using ML.</a:t>
            </a:r>
          </a:p>
          <a:p>
            <a:pPr marL="342900" indent="-342900"/>
            <a:endParaRPr lang="en-US" dirty="0"/>
          </a:p>
          <a:p>
            <a:pPr marL="342900" indent="-342900"/>
            <a:r>
              <a:rPr lang="en-US" dirty="0"/>
              <a:t>Real-time alerts reduce financial losses.</a:t>
            </a:r>
          </a:p>
          <a:p>
            <a:endParaRPr lang="en-US" dirty="0"/>
          </a:p>
          <a:p>
            <a:r>
              <a:rPr lang="en-US" dirty="0"/>
              <a:t>Example: AI systems in Visa and Mastercard detect anomalies in milliseconds.</a:t>
            </a:r>
          </a:p>
          <a:p>
            <a:endParaRPr lang="en-US" dirty="0"/>
          </a:p>
          <a:p>
            <a:r>
              <a:rPr lang="en-US" b="1" dirty="0"/>
              <a:t>Algorithmic and High-Frequency Trading</a:t>
            </a:r>
          </a:p>
          <a:p>
            <a:endParaRPr lang="en-US" dirty="0"/>
          </a:p>
          <a:p>
            <a:pPr marL="342900" indent="-342900"/>
            <a:r>
              <a:rPr lang="en-US" dirty="0"/>
              <a:t>AI models analyze large datasets to make instant trading decisions.</a:t>
            </a:r>
          </a:p>
          <a:p>
            <a:pPr marL="342900" indent="-342900"/>
            <a:endParaRPr lang="en-US" dirty="0"/>
          </a:p>
          <a:p>
            <a:pPr marL="342900" indent="-342900"/>
            <a:r>
              <a:rPr lang="en-US" dirty="0"/>
              <a:t>Incorporates sentiment, news, and price signals.</a:t>
            </a:r>
          </a:p>
          <a:p>
            <a:endParaRPr lang="en-US" dirty="0"/>
          </a:p>
          <a:p>
            <a:r>
              <a:rPr lang="en-US" dirty="0"/>
              <a:t>Example: Goldman Sachs and Morgan Stanley use AI for trading optimization.</a:t>
            </a:r>
          </a:p>
          <a:p>
            <a:endParaRPr lang="en-US" dirty="0"/>
          </a:p>
          <a:p>
            <a:endParaRPr lang="en-US" dirty="0"/>
          </a:p>
        </p:txBody>
      </p:sp>
    </p:spTree>
    <p:extLst>
      <p:ext uri="{BB962C8B-B14F-4D97-AF65-F5344CB8AC3E}">
        <p14:creationId xmlns:p14="http://schemas.microsoft.com/office/powerpoint/2010/main" val="31677471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A8589-D004-5819-7892-19F904485B8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7CE641E-787B-6142-2AA2-40D5B51CD3E2}"/>
              </a:ext>
            </a:extLst>
          </p:cNvPr>
          <p:cNvSpPr>
            <a:spLocks noGrp="1"/>
          </p:cNvSpPr>
          <p:nvPr>
            <p:ph type="body" idx="1"/>
          </p:nvPr>
        </p:nvSpPr>
        <p:spPr>
          <a:xfrm>
            <a:off x="2059941" y="1616709"/>
            <a:ext cx="8074025" cy="5232202"/>
          </a:xfrm>
        </p:spPr>
        <p:txBody>
          <a:bodyPr>
            <a:normAutofit fontScale="77500" lnSpcReduction="20000"/>
          </a:bodyPr>
          <a:lstStyle/>
          <a:p>
            <a:r>
              <a:rPr lang="en-US" b="1" dirty="0"/>
              <a:t>Credit Scoring and Risk Assessment</a:t>
            </a:r>
          </a:p>
          <a:p>
            <a:endParaRPr lang="en-US" dirty="0"/>
          </a:p>
          <a:p>
            <a:pPr marL="342900" indent="-342900"/>
            <a:r>
              <a:rPr lang="en-US" dirty="0"/>
              <a:t>AI evaluates non-traditional data (e.g., spending habits, online behavior).</a:t>
            </a:r>
          </a:p>
          <a:p>
            <a:pPr marL="342900" indent="-342900"/>
            <a:endParaRPr lang="en-US" dirty="0"/>
          </a:p>
          <a:p>
            <a:pPr marL="342900" indent="-342900"/>
            <a:r>
              <a:rPr lang="en-US" dirty="0"/>
              <a:t>Enables fairer, faster loan approvals.</a:t>
            </a:r>
          </a:p>
          <a:p>
            <a:pPr marL="342900" indent="-342900"/>
            <a:endParaRPr lang="en-US" dirty="0"/>
          </a:p>
          <a:p>
            <a:r>
              <a:rPr lang="en-US" dirty="0"/>
              <a:t>Example: </a:t>
            </a:r>
            <a:r>
              <a:rPr lang="en-US" dirty="0" err="1"/>
              <a:t>ZestFinance</a:t>
            </a:r>
            <a:r>
              <a:rPr lang="en-US" dirty="0"/>
              <a:t>, Upstart.</a:t>
            </a:r>
          </a:p>
          <a:p>
            <a:endParaRPr lang="en-US" dirty="0"/>
          </a:p>
          <a:p>
            <a:r>
              <a:rPr lang="en-IN" b="1" dirty="0"/>
              <a:t>Personalized Banking</a:t>
            </a:r>
          </a:p>
          <a:p>
            <a:endParaRPr lang="en-IN" b="1" dirty="0"/>
          </a:p>
          <a:p>
            <a:r>
              <a:rPr lang="en-IN" dirty="0"/>
              <a:t>AI-driven recommendation systems suggest financial products tailored to user </a:t>
            </a:r>
            <a:r>
              <a:rPr lang="en-IN" dirty="0" err="1"/>
              <a:t>behavior</a:t>
            </a:r>
            <a:r>
              <a:rPr lang="en-IN" dirty="0"/>
              <a:t>.</a:t>
            </a:r>
          </a:p>
          <a:p>
            <a:endParaRPr lang="en-IN" dirty="0"/>
          </a:p>
          <a:p>
            <a:r>
              <a:rPr lang="en-IN" dirty="0"/>
              <a:t>Chatbots and virtual assistants (e.g., </a:t>
            </a:r>
            <a:r>
              <a:rPr lang="en-IN" b="1" dirty="0"/>
              <a:t>Erica</a:t>
            </a:r>
            <a:r>
              <a:rPr lang="en-IN" dirty="0"/>
              <a:t> by Bank of America).</a:t>
            </a:r>
          </a:p>
          <a:p>
            <a:endParaRPr lang="en-US" dirty="0"/>
          </a:p>
          <a:p>
            <a:endParaRPr lang="en-US" dirty="0"/>
          </a:p>
        </p:txBody>
      </p:sp>
    </p:spTree>
    <p:extLst>
      <p:ext uri="{BB962C8B-B14F-4D97-AF65-F5344CB8AC3E}">
        <p14:creationId xmlns:p14="http://schemas.microsoft.com/office/powerpoint/2010/main" val="33166787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ED026-5076-6C27-EB0E-BDE7E141D807}"/>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7F4C4C26-18C1-1A55-445E-0EF5832E8EBD}"/>
              </a:ext>
            </a:extLst>
          </p:cNvPr>
          <p:cNvSpPr>
            <a:spLocks noGrp="1"/>
          </p:cNvSpPr>
          <p:nvPr>
            <p:ph type="body" idx="1"/>
          </p:nvPr>
        </p:nvSpPr>
        <p:spPr>
          <a:xfrm>
            <a:off x="1742441" y="2035809"/>
            <a:ext cx="8074025" cy="3385542"/>
          </a:xfrm>
        </p:spPr>
        <p:txBody>
          <a:bodyPr>
            <a:normAutofit fontScale="55000" lnSpcReduction="20000"/>
          </a:bodyPr>
          <a:lstStyle/>
          <a:p>
            <a:r>
              <a:rPr lang="en-US" dirty="0"/>
              <a:t>Regulatory Compliance and Anti-Money Laundering (AML)</a:t>
            </a:r>
          </a:p>
          <a:p>
            <a:endParaRPr lang="en-US" dirty="0"/>
          </a:p>
          <a:p>
            <a:pPr marL="342900" indent="-342900"/>
            <a:r>
              <a:rPr lang="en-US" dirty="0"/>
              <a:t>AI systems monitor compliance automatically.</a:t>
            </a:r>
          </a:p>
          <a:p>
            <a:pPr marL="342900" indent="-342900"/>
            <a:endParaRPr lang="en-US" dirty="0"/>
          </a:p>
          <a:p>
            <a:pPr marL="342900" indent="-342900"/>
            <a:r>
              <a:rPr lang="en-US" dirty="0"/>
              <a:t>Pattern recognition detects suspicious financial networks.</a:t>
            </a:r>
          </a:p>
          <a:p>
            <a:pPr marL="342900" indent="-342900"/>
            <a:endParaRPr lang="en-US" dirty="0"/>
          </a:p>
          <a:p>
            <a:r>
              <a:rPr lang="en-US" dirty="0"/>
              <a:t>Wealth Management and Robo-Advisors</a:t>
            </a:r>
          </a:p>
          <a:p>
            <a:endParaRPr lang="en-US" dirty="0"/>
          </a:p>
          <a:p>
            <a:pPr marL="342900" indent="-342900"/>
            <a:r>
              <a:rPr lang="en-US" dirty="0"/>
              <a:t>AI-based advisors automate portfolio management.</a:t>
            </a:r>
          </a:p>
          <a:p>
            <a:endParaRPr lang="en-US" dirty="0"/>
          </a:p>
          <a:p>
            <a:r>
              <a:rPr lang="en-US" dirty="0"/>
              <a:t>Example: Betterment, </a:t>
            </a:r>
            <a:r>
              <a:rPr lang="en-US" dirty="0" err="1"/>
              <a:t>Wealthfront</a:t>
            </a:r>
            <a:r>
              <a:rPr lang="en-US" dirty="0"/>
              <a:t>.</a:t>
            </a:r>
          </a:p>
        </p:txBody>
      </p:sp>
    </p:spTree>
    <p:extLst>
      <p:ext uri="{BB962C8B-B14F-4D97-AF65-F5344CB8AC3E}">
        <p14:creationId xmlns:p14="http://schemas.microsoft.com/office/powerpoint/2010/main" val="1332588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760AEAD-AECE-47D0-7692-4E404B4E92C3}"/>
              </a:ext>
            </a:extLst>
          </p:cNvPr>
          <p:cNvSpPr>
            <a:spLocks noGrp="1"/>
          </p:cNvSpPr>
          <p:nvPr>
            <p:ph type="body" idx="1"/>
          </p:nvPr>
        </p:nvSpPr>
        <p:spPr>
          <a:xfrm>
            <a:off x="2058988" y="609601"/>
            <a:ext cx="8074025" cy="5847755"/>
          </a:xfrm>
        </p:spPr>
        <p:txBody>
          <a:bodyPr>
            <a:normAutofit fontScale="85000" lnSpcReduction="20000"/>
          </a:bodyPr>
          <a:lstStyle/>
          <a:p>
            <a:r>
              <a:rPr lang="en-IN" b="1" dirty="0"/>
              <a:t>Advantages</a:t>
            </a:r>
          </a:p>
          <a:p>
            <a:endParaRPr lang="en-IN" dirty="0"/>
          </a:p>
          <a:p>
            <a:r>
              <a:rPr lang="en-IN" b="1" dirty="0"/>
              <a:t>Efficiency &amp; Automation</a:t>
            </a:r>
            <a:r>
              <a:rPr lang="en-IN" dirty="0"/>
              <a:t> – Reduces manual workload</a:t>
            </a:r>
            <a:br>
              <a:rPr lang="en-IN" dirty="0"/>
            </a:br>
            <a:r>
              <a:rPr lang="en-IN" b="1" dirty="0"/>
              <a:t>Accuracy</a:t>
            </a:r>
            <a:r>
              <a:rPr lang="en-IN" dirty="0"/>
              <a:t> – AI models handle massive data precisely</a:t>
            </a:r>
            <a:br>
              <a:rPr lang="en-IN" dirty="0"/>
            </a:br>
            <a:r>
              <a:rPr lang="en-IN" b="1" dirty="0"/>
              <a:t>Fraud Reduction</a:t>
            </a:r>
            <a:r>
              <a:rPr lang="en-IN" dirty="0"/>
              <a:t> – Early anomaly detection</a:t>
            </a:r>
            <a:br>
              <a:rPr lang="en-IN" dirty="0"/>
            </a:br>
            <a:r>
              <a:rPr lang="en-IN" b="1" dirty="0"/>
              <a:t>Personalization</a:t>
            </a:r>
            <a:r>
              <a:rPr lang="en-IN" dirty="0"/>
              <a:t> – Enhanced customer experience</a:t>
            </a:r>
            <a:br>
              <a:rPr lang="en-IN" dirty="0"/>
            </a:br>
            <a:r>
              <a:rPr lang="en-IN" b="1" dirty="0"/>
              <a:t>Data-Driven Decision Making</a:t>
            </a:r>
            <a:r>
              <a:rPr lang="en-IN" dirty="0"/>
              <a:t> – Improved insights for investors and banks</a:t>
            </a:r>
          </a:p>
          <a:p>
            <a:br>
              <a:rPr lang="en-IN" dirty="0"/>
            </a:br>
            <a:endParaRPr lang="en-IN" dirty="0"/>
          </a:p>
          <a:p>
            <a:r>
              <a:rPr lang="en-IN" b="1" dirty="0"/>
              <a:t>Challenges and Ethical Concerns</a:t>
            </a:r>
          </a:p>
          <a:p>
            <a:endParaRPr lang="en-IN" b="1" dirty="0"/>
          </a:p>
          <a:p>
            <a:r>
              <a:rPr lang="en-IN" b="1" dirty="0"/>
              <a:t>Data Privacy</a:t>
            </a:r>
            <a:r>
              <a:rPr lang="en-IN" dirty="0"/>
              <a:t> – Sensitive financial data security</a:t>
            </a:r>
            <a:br>
              <a:rPr lang="en-IN" dirty="0"/>
            </a:br>
            <a:r>
              <a:rPr lang="en-IN" b="1" dirty="0"/>
              <a:t>Bias in Algorithms</a:t>
            </a:r>
            <a:r>
              <a:rPr lang="en-IN" dirty="0"/>
              <a:t> – Potential for unfair lending decisions</a:t>
            </a:r>
            <a:br>
              <a:rPr lang="en-IN" dirty="0"/>
            </a:br>
            <a:r>
              <a:rPr lang="en-IN" b="1" dirty="0"/>
              <a:t>Model Transparency</a:t>
            </a:r>
            <a:r>
              <a:rPr lang="en-IN" dirty="0"/>
              <a:t> – Black-box problem in AI predictions</a:t>
            </a:r>
            <a:br>
              <a:rPr lang="en-IN" dirty="0"/>
            </a:br>
            <a:r>
              <a:rPr lang="en-IN" b="1" dirty="0"/>
              <a:t>Cybersecurity Risks</a:t>
            </a:r>
            <a:r>
              <a:rPr lang="en-IN" dirty="0"/>
              <a:t> – AI systems can be exploited</a:t>
            </a:r>
            <a:br>
              <a:rPr lang="en-IN" dirty="0"/>
            </a:br>
            <a:r>
              <a:rPr lang="en-IN" b="1" dirty="0"/>
              <a:t>Regulatory Uncertainty</a:t>
            </a:r>
            <a:r>
              <a:rPr lang="en-IN" dirty="0"/>
              <a:t> – Compliance with evolving laws (e.g., GDPR, RBI, SEC)</a:t>
            </a:r>
          </a:p>
          <a:p>
            <a:endParaRPr lang="en-US" dirty="0"/>
          </a:p>
        </p:txBody>
      </p:sp>
    </p:spTree>
    <p:extLst>
      <p:ext uri="{BB962C8B-B14F-4D97-AF65-F5344CB8AC3E}">
        <p14:creationId xmlns:p14="http://schemas.microsoft.com/office/powerpoint/2010/main" val="13339670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C4FFB-DCEC-7882-3218-08E6F50C9F49}"/>
              </a:ext>
            </a:extLst>
          </p:cNvPr>
          <p:cNvSpPr>
            <a:spLocks noGrp="1"/>
          </p:cNvSpPr>
          <p:nvPr>
            <p:ph type="title"/>
          </p:nvPr>
        </p:nvSpPr>
        <p:spPr>
          <a:xfrm>
            <a:off x="2059941" y="145492"/>
            <a:ext cx="8072119" cy="615553"/>
          </a:xfrm>
        </p:spPr>
        <p:txBody>
          <a:bodyPr>
            <a:normAutofit fontScale="90000"/>
          </a:bodyPr>
          <a:lstStyle/>
          <a:p>
            <a:r>
              <a:rPr lang="en-US" dirty="0"/>
              <a:t>AI for Business Optimization</a:t>
            </a:r>
          </a:p>
        </p:txBody>
      </p:sp>
      <p:sp>
        <p:nvSpPr>
          <p:cNvPr id="3" name="Text Placeholder 2">
            <a:extLst>
              <a:ext uri="{FF2B5EF4-FFF2-40B4-BE49-F238E27FC236}">
                <a16:creationId xmlns:a16="http://schemas.microsoft.com/office/drawing/2014/main" id="{23D93313-462B-787C-F563-5DB30F17EA59}"/>
              </a:ext>
            </a:extLst>
          </p:cNvPr>
          <p:cNvSpPr>
            <a:spLocks noGrp="1"/>
          </p:cNvSpPr>
          <p:nvPr>
            <p:ph type="body" idx="1"/>
          </p:nvPr>
        </p:nvSpPr>
        <p:spPr>
          <a:xfrm>
            <a:off x="2059941" y="1616709"/>
            <a:ext cx="8074025" cy="2154436"/>
          </a:xfrm>
        </p:spPr>
        <p:txBody>
          <a:bodyPr>
            <a:normAutofit fontScale="77500" lnSpcReduction="20000"/>
          </a:bodyPr>
          <a:lstStyle/>
          <a:p>
            <a:r>
              <a:rPr lang="en-IN" dirty="0"/>
              <a:t>Artificial Intelligence (AI) is a powerful driver for </a:t>
            </a:r>
            <a:r>
              <a:rPr lang="en-IN" b="1" dirty="0"/>
              <a:t>business optimization</a:t>
            </a:r>
            <a:r>
              <a:rPr lang="en-IN" dirty="0"/>
              <a:t>, enabling companies to enhance efficiency, reduce costs, improve decision-making, and create superior customer experiences.</a:t>
            </a:r>
          </a:p>
          <a:p>
            <a:endParaRPr lang="en-IN" dirty="0"/>
          </a:p>
          <a:p>
            <a:r>
              <a:rPr lang="en-IN" dirty="0"/>
              <a:t>The core ways AI optimizes business operations are through </a:t>
            </a:r>
            <a:r>
              <a:rPr lang="en-IN" b="1" dirty="0"/>
              <a:t>automation, data analytics, and predictive capabilities</a:t>
            </a:r>
            <a:r>
              <a:rPr lang="en-IN" dirty="0"/>
              <a:t>.</a:t>
            </a:r>
          </a:p>
          <a:p>
            <a:endParaRPr lang="en-US" dirty="0"/>
          </a:p>
        </p:txBody>
      </p:sp>
    </p:spTree>
    <p:extLst>
      <p:ext uri="{BB962C8B-B14F-4D97-AF65-F5344CB8AC3E}">
        <p14:creationId xmlns:p14="http://schemas.microsoft.com/office/powerpoint/2010/main" val="37113171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C321-5737-119D-CDE7-31ADEE54BF19}"/>
              </a:ext>
            </a:extLst>
          </p:cNvPr>
          <p:cNvSpPr>
            <a:spLocks noGrp="1"/>
          </p:cNvSpPr>
          <p:nvPr>
            <p:ph type="title"/>
          </p:nvPr>
        </p:nvSpPr>
        <p:spPr/>
        <p:txBody>
          <a:bodyPr/>
          <a:lstStyle/>
          <a:p>
            <a:r>
              <a:rPr lang="en-US" dirty="0"/>
              <a:t>Key Applications and Use Cases for Business Optimization</a:t>
            </a:r>
          </a:p>
        </p:txBody>
      </p:sp>
      <p:pic>
        <p:nvPicPr>
          <p:cNvPr id="5" name="Picture 4" descr="A close-up of a business application&#10;&#10;AI-generated content may be incorrect.">
            <a:extLst>
              <a:ext uri="{FF2B5EF4-FFF2-40B4-BE49-F238E27FC236}">
                <a16:creationId xmlns:a16="http://schemas.microsoft.com/office/drawing/2014/main" id="{3E4CE513-D331-9DD3-D96F-A0C186CEA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40" y="1524000"/>
            <a:ext cx="7998460" cy="5232400"/>
          </a:xfrm>
          <a:prstGeom prst="rect">
            <a:avLst/>
          </a:prstGeom>
        </p:spPr>
      </p:pic>
    </p:spTree>
    <p:extLst>
      <p:ext uri="{BB962C8B-B14F-4D97-AF65-F5344CB8AC3E}">
        <p14:creationId xmlns:p14="http://schemas.microsoft.com/office/powerpoint/2010/main" val="22747754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4CD5C-C10B-D262-6CCB-2616C3EF1FF7}"/>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1310AF5D-F8A3-D32E-B709-447ED2C272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40" y="1905000"/>
            <a:ext cx="6743700" cy="812800"/>
          </a:xfrm>
          <a:prstGeom prst="rect">
            <a:avLst/>
          </a:prstGeom>
        </p:spPr>
      </p:pic>
    </p:spTree>
    <p:extLst>
      <p:ext uri="{BB962C8B-B14F-4D97-AF65-F5344CB8AC3E}">
        <p14:creationId xmlns:p14="http://schemas.microsoft.com/office/powerpoint/2010/main" val="33566820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FBA27-9F3E-3CF7-1D18-CE522476C792}"/>
              </a:ext>
            </a:extLst>
          </p:cNvPr>
          <p:cNvSpPr>
            <a:spLocks noGrp="1"/>
          </p:cNvSpPr>
          <p:nvPr>
            <p:ph type="title"/>
          </p:nvPr>
        </p:nvSpPr>
        <p:spPr/>
        <p:txBody>
          <a:bodyPr/>
          <a:lstStyle/>
          <a:p>
            <a:r>
              <a:rPr lang="en-IN" dirty="0"/>
              <a:t>Core Benefits of AI for Business Optimization</a:t>
            </a:r>
            <a:endParaRPr lang="en-US" dirty="0"/>
          </a:p>
        </p:txBody>
      </p:sp>
      <p:sp>
        <p:nvSpPr>
          <p:cNvPr id="3" name="Text Placeholder 2">
            <a:extLst>
              <a:ext uri="{FF2B5EF4-FFF2-40B4-BE49-F238E27FC236}">
                <a16:creationId xmlns:a16="http://schemas.microsoft.com/office/drawing/2014/main" id="{B41CC0C9-AD04-50E3-047B-A39E84B5A51D}"/>
              </a:ext>
            </a:extLst>
          </p:cNvPr>
          <p:cNvSpPr>
            <a:spLocks noGrp="1"/>
          </p:cNvSpPr>
          <p:nvPr>
            <p:ph type="body" idx="1"/>
          </p:nvPr>
        </p:nvSpPr>
        <p:spPr>
          <a:xfrm>
            <a:off x="2046312" y="1513462"/>
            <a:ext cx="8074025" cy="5170646"/>
          </a:xfrm>
        </p:spPr>
        <p:txBody>
          <a:bodyPr>
            <a:normAutofit fontScale="92500" lnSpcReduction="10000"/>
          </a:bodyPr>
          <a:lstStyle/>
          <a:p>
            <a:pPr marL="342900" indent="-342900">
              <a:buFont typeface="+mj-lt"/>
              <a:buAutoNum type="arabicPeriod"/>
            </a:pPr>
            <a:r>
              <a:rPr lang="en-US" sz="1600" dirty="0"/>
              <a:t>Increased Efficiency and Productivity: AI automates routine tasks, allowing human employees to concentrate on high-value, strategic, and creative work.</a:t>
            </a:r>
          </a:p>
          <a:p>
            <a:pPr marL="342900" indent="-342900">
              <a:buFont typeface="+mj-lt"/>
              <a:buAutoNum type="arabicPeriod"/>
            </a:pPr>
            <a:endParaRPr lang="en-US" sz="1600" dirty="0"/>
          </a:p>
          <a:p>
            <a:pPr marL="342900" indent="-342900">
              <a:buFont typeface="+mj-lt"/>
              <a:buAutoNum type="arabicPeriod"/>
            </a:pPr>
            <a:r>
              <a:rPr lang="en-US" sz="1600" dirty="0"/>
              <a:t>Cost Reduction: Automation minimizes labor costs, reduces human error (cutting down on rework), and optimizes resource use across operations and the supply chain.</a:t>
            </a:r>
          </a:p>
          <a:p>
            <a:pPr marL="342900" indent="-342900">
              <a:buFont typeface="+mj-lt"/>
              <a:buAutoNum type="arabicPeriod"/>
            </a:pPr>
            <a:endParaRPr lang="en-US" sz="1600" dirty="0"/>
          </a:p>
          <a:p>
            <a:pPr marL="342900" indent="-342900">
              <a:buFont typeface="+mj-lt"/>
              <a:buAutoNum type="arabicPeriod"/>
            </a:pPr>
            <a:r>
              <a:rPr lang="en-US" sz="1600" dirty="0"/>
              <a:t>Improved Accuracy and Quality: AI systems maintain consistent performance, significantly reduce human errors in data processing and quality control, and deliver high-quality, real-time insights.</a:t>
            </a:r>
          </a:p>
          <a:p>
            <a:pPr marL="342900" indent="-342900">
              <a:buFont typeface="+mj-lt"/>
              <a:buAutoNum type="arabicPeriod"/>
            </a:pPr>
            <a:endParaRPr lang="en-US" sz="1600" dirty="0"/>
          </a:p>
          <a:p>
            <a:pPr marL="342900" indent="-342900">
              <a:buFont typeface="+mj-lt"/>
              <a:buAutoNum type="arabicPeriod"/>
            </a:pPr>
            <a:r>
              <a:rPr lang="en-US" sz="1600" dirty="0"/>
              <a:t>Enhanced Customer Experience: Personalization, 24/7 support, and faster response times lead to higher customer satisfaction, loyalty, and increased sales (e.g., via cross-selling/up-selling recommendations).</a:t>
            </a:r>
          </a:p>
          <a:p>
            <a:pPr marL="342900" indent="-342900">
              <a:buFont typeface="+mj-lt"/>
              <a:buAutoNum type="arabicPeriod"/>
            </a:pPr>
            <a:endParaRPr lang="en-US" sz="1600" dirty="0"/>
          </a:p>
          <a:p>
            <a:pPr marL="342900" indent="-342900">
              <a:buFont typeface="+mj-lt"/>
              <a:buAutoNum type="arabicPeriod"/>
            </a:pPr>
            <a:r>
              <a:rPr lang="en-US" sz="1600" dirty="0"/>
              <a:t>Smarter Decision-Making: AI provides objective, data-driven insights and predictive forecasts, empowering leaders to make faster, more informed, and strategic decisions that adapt to changing market conditions.</a:t>
            </a:r>
          </a:p>
          <a:p>
            <a:pPr marL="342900" indent="-342900">
              <a:buFont typeface="+mj-lt"/>
              <a:buAutoNum type="arabicPeriod"/>
            </a:pPr>
            <a:endParaRPr lang="en-US" sz="1600" dirty="0"/>
          </a:p>
          <a:p>
            <a:pPr marL="342900" indent="-342900">
              <a:buFont typeface="+mj-lt"/>
              <a:buAutoNum type="arabicPeriod"/>
            </a:pPr>
            <a:r>
              <a:rPr lang="en-US" sz="1600" dirty="0"/>
              <a:t>Competitive Advantage: Businesses that leverage AI can innovate faster, adapt more quickly, and deliver better products and services, creating a clear competitive edge in their market.</a:t>
            </a:r>
          </a:p>
        </p:txBody>
      </p:sp>
    </p:spTree>
    <p:extLst>
      <p:ext uri="{BB962C8B-B14F-4D97-AF65-F5344CB8AC3E}">
        <p14:creationId xmlns:p14="http://schemas.microsoft.com/office/powerpoint/2010/main" val="3040645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81F1B-6E9E-5E5D-4025-67E4A72081BB}"/>
              </a:ext>
            </a:extLst>
          </p:cNvPr>
          <p:cNvSpPr>
            <a:spLocks noGrp="1"/>
          </p:cNvSpPr>
          <p:nvPr>
            <p:ph type="title"/>
          </p:nvPr>
        </p:nvSpPr>
        <p:spPr>
          <a:xfrm>
            <a:off x="2059941" y="145492"/>
            <a:ext cx="8072119" cy="615553"/>
          </a:xfrm>
        </p:spPr>
        <p:txBody>
          <a:bodyPr>
            <a:normAutofit fontScale="90000"/>
          </a:bodyPr>
          <a:lstStyle/>
          <a:p>
            <a:r>
              <a:rPr lang="en-US" dirty="0"/>
              <a:t>AI Techniques in Marketing</a:t>
            </a:r>
          </a:p>
        </p:txBody>
      </p:sp>
      <p:sp>
        <p:nvSpPr>
          <p:cNvPr id="3" name="Text Placeholder 2">
            <a:extLst>
              <a:ext uri="{FF2B5EF4-FFF2-40B4-BE49-F238E27FC236}">
                <a16:creationId xmlns:a16="http://schemas.microsoft.com/office/drawing/2014/main" id="{286C3594-43DA-0065-629C-CE706440AFA5}"/>
              </a:ext>
            </a:extLst>
          </p:cNvPr>
          <p:cNvSpPr>
            <a:spLocks noGrp="1"/>
          </p:cNvSpPr>
          <p:nvPr>
            <p:ph type="body" idx="1"/>
          </p:nvPr>
        </p:nvSpPr>
        <p:spPr>
          <a:xfrm>
            <a:off x="2059941" y="1616710"/>
            <a:ext cx="8074025" cy="1846659"/>
          </a:xfrm>
        </p:spPr>
        <p:txBody>
          <a:bodyPr>
            <a:normAutofit fontScale="85000" lnSpcReduction="20000"/>
          </a:bodyPr>
          <a:lstStyle/>
          <a:p>
            <a:r>
              <a:rPr lang="en-IN" dirty="0"/>
              <a:t>Artificial Intelligence (AI) has become a transformative force in marketing, enabling businesses to gather deeper customer insights, personalize experiences at scale, and automate complex tasks. The core AI techniques driving this revolution are based on various sub-fields of AI and their applications.</a:t>
            </a:r>
          </a:p>
          <a:p>
            <a:endParaRPr lang="en-US" dirty="0"/>
          </a:p>
        </p:txBody>
      </p:sp>
    </p:spTree>
    <p:extLst>
      <p:ext uri="{BB962C8B-B14F-4D97-AF65-F5344CB8AC3E}">
        <p14:creationId xmlns:p14="http://schemas.microsoft.com/office/powerpoint/2010/main" val="451345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A3AEB-55F9-1306-44A9-6FADBC873749}"/>
              </a:ext>
            </a:extLst>
          </p:cNvPr>
          <p:cNvSpPr>
            <a:spLocks noGrp="1"/>
          </p:cNvSpPr>
          <p:nvPr>
            <p:ph type="title"/>
          </p:nvPr>
        </p:nvSpPr>
        <p:spPr/>
        <p:txBody>
          <a:bodyPr/>
          <a:lstStyle/>
          <a:p>
            <a:r>
              <a:rPr lang="en-US" dirty="0"/>
              <a:t>Core AI Technologies Enabling Marketing</a:t>
            </a:r>
          </a:p>
        </p:txBody>
      </p:sp>
      <p:pic>
        <p:nvPicPr>
          <p:cNvPr id="5" name="Picture 4" descr="A white text on a white background&#10;&#10;AI-generated content may be incorrect.">
            <a:extLst>
              <a:ext uri="{FF2B5EF4-FFF2-40B4-BE49-F238E27FC236}">
                <a16:creationId xmlns:a16="http://schemas.microsoft.com/office/drawing/2014/main" id="{C0980140-6C59-4367-32C9-4A5520759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9940" y="1480109"/>
            <a:ext cx="7922260" cy="5232400"/>
          </a:xfrm>
          <a:prstGeom prst="rect">
            <a:avLst/>
          </a:prstGeom>
        </p:spPr>
      </p:pic>
    </p:spTree>
    <p:extLst>
      <p:ext uri="{BB962C8B-B14F-4D97-AF65-F5344CB8AC3E}">
        <p14:creationId xmlns:p14="http://schemas.microsoft.com/office/powerpoint/2010/main" val="2075919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AC0CD-1C85-338C-68E0-07E9C460775F}"/>
              </a:ext>
            </a:extLst>
          </p:cNvPr>
          <p:cNvSpPr>
            <a:spLocks noGrp="1"/>
          </p:cNvSpPr>
          <p:nvPr>
            <p:ph type="title"/>
          </p:nvPr>
        </p:nvSpPr>
        <p:spPr>
          <a:xfrm>
            <a:off x="2059941" y="145491"/>
            <a:ext cx="8072119" cy="1231106"/>
          </a:xfrm>
        </p:spPr>
        <p:txBody>
          <a:bodyPr>
            <a:normAutofit fontScale="90000"/>
          </a:bodyPr>
          <a:lstStyle/>
          <a:p>
            <a:r>
              <a:rPr lang="en-US" dirty="0"/>
              <a:t>Core AI Techniques Used in Marketing</a:t>
            </a:r>
            <a:br>
              <a:rPr lang="en-US" dirty="0"/>
            </a:br>
            <a:endParaRPr lang="en-US" dirty="0"/>
          </a:p>
        </p:txBody>
      </p:sp>
      <p:graphicFrame>
        <p:nvGraphicFramePr>
          <p:cNvPr id="4" name="Table 3">
            <a:extLst>
              <a:ext uri="{FF2B5EF4-FFF2-40B4-BE49-F238E27FC236}">
                <a16:creationId xmlns:a16="http://schemas.microsoft.com/office/drawing/2014/main" id="{3048A297-200B-84F9-00D1-D6A27AAF9531}"/>
              </a:ext>
            </a:extLst>
          </p:cNvPr>
          <p:cNvGraphicFramePr>
            <a:graphicFrameLocks noGrp="1"/>
          </p:cNvGraphicFramePr>
          <p:nvPr/>
        </p:nvGraphicFramePr>
        <p:xfrm>
          <a:off x="2362201" y="1376597"/>
          <a:ext cx="6885159" cy="4600574"/>
        </p:xfrm>
        <a:graphic>
          <a:graphicData uri="http://schemas.openxmlformats.org/drawingml/2006/table">
            <a:tbl>
              <a:tblPr/>
              <a:tblGrid>
                <a:gridCol w="2295053">
                  <a:extLst>
                    <a:ext uri="{9D8B030D-6E8A-4147-A177-3AD203B41FA5}">
                      <a16:colId xmlns:a16="http://schemas.microsoft.com/office/drawing/2014/main" val="547888288"/>
                    </a:ext>
                  </a:extLst>
                </a:gridCol>
                <a:gridCol w="2295053">
                  <a:extLst>
                    <a:ext uri="{9D8B030D-6E8A-4147-A177-3AD203B41FA5}">
                      <a16:colId xmlns:a16="http://schemas.microsoft.com/office/drawing/2014/main" val="2054565820"/>
                    </a:ext>
                  </a:extLst>
                </a:gridCol>
                <a:gridCol w="2295053">
                  <a:extLst>
                    <a:ext uri="{9D8B030D-6E8A-4147-A177-3AD203B41FA5}">
                      <a16:colId xmlns:a16="http://schemas.microsoft.com/office/drawing/2014/main" val="476004"/>
                    </a:ext>
                  </a:extLst>
                </a:gridCol>
              </a:tblGrid>
              <a:tr h="311903">
                <a:tc>
                  <a:txBody>
                    <a:bodyPr/>
                    <a:lstStyle/>
                    <a:p>
                      <a:pPr>
                        <a:buNone/>
                      </a:pPr>
                      <a:r>
                        <a:rPr lang="en-IN" sz="1500" b="1"/>
                        <a:t>AI Technique</a:t>
                      </a:r>
                      <a:endParaRPr lang="en-IN" sz="1500"/>
                    </a:p>
                  </a:txBody>
                  <a:tcPr marL="77976" marR="77976" marT="38988" marB="38988" anchor="ctr">
                    <a:lnL>
                      <a:noFill/>
                    </a:lnL>
                    <a:lnR>
                      <a:noFill/>
                    </a:lnR>
                    <a:lnT>
                      <a:noFill/>
                    </a:lnT>
                    <a:lnB>
                      <a:noFill/>
                    </a:lnB>
                    <a:noFill/>
                  </a:tcPr>
                </a:tc>
                <a:tc>
                  <a:txBody>
                    <a:bodyPr/>
                    <a:lstStyle/>
                    <a:p>
                      <a:pPr>
                        <a:buNone/>
                      </a:pPr>
                      <a:r>
                        <a:rPr lang="en-IN" sz="1500" b="1"/>
                        <a:t>Description</a:t>
                      </a:r>
                      <a:endParaRPr lang="en-IN" sz="1500"/>
                    </a:p>
                  </a:txBody>
                  <a:tcPr marL="77976" marR="77976" marT="38988" marB="38988" anchor="ctr">
                    <a:lnL>
                      <a:noFill/>
                    </a:lnL>
                    <a:lnR>
                      <a:noFill/>
                    </a:lnR>
                    <a:lnT>
                      <a:noFill/>
                    </a:lnT>
                    <a:lnB>
                      <a:noFill/>
                    </a:lnB>
                    <a:noFill/>
                  </a:tcPr>
                </a:tc>
                <a:tc>
                  <a:txBody>
                    <a:bodyPr/>
                    <a:lstStyle/>
                    <a:p>
                      <a:pPr>
                        <a:buNone/>
                      </a:pPr>
                      <a:r>
                        <a:rPr lang="en-IN" sz="1500" b="1"/>
                        <a:t>Application</a:t>
                      </a:r>
                      <a:endParaRPr lang="en-IN" sz="1500"/>
                    </a:p>
                  </a:txBody>
                  <a:tcPr marL="77976" marR="77976" marT="38988" marB="38988" anchor="ctr">
                    <a:lnL>
                      <a:noFill/>
                    </a:lnL>
                    <a:lnR>
                      <a:noFill/>
                    </a:lnR>
                    <a:lnT>
                      <a:noFill/>
                    </a:lnT>
                    <a:lnB>
                      <a:noFill/>
                    </a:lnB>
                    <a:noFill/>
                  </a:tcPr>
                </a:tc>
                <a:extLst>
                  <a:ext uri="{0D108BD9-81ED-4DB2-BD59-A6C34878D82A}">
                    <a16:rowId xmlns:a16="http://schemas.microsoft.com/office/drawing/2014/main" val="1708654439"/>
                  </a:ext>
                </a:extLst>
              </a:tr>
              <a:tr h="545831">
                <a:tc>
                  <a:txBody>
                    <a:bodyPr/>
                    <a:lstStyle/>
                    <a:p>
                      <a:pPr>
                        <a:buNone/>
                      </a:pPr>
                      <a:r>
                        <a:rPr lang="en-IN" sz="1500" b="1"/>
                        <a:t>Machine Learning (ML)</a:t>
                      </a:r>
                      <a:endParaRPr lang="en-IN" sz="1500"/>
                    </a:p>
                  </a:txBody>
                  <a:tcPr marL="77976" marR="77976" marT="38988" marB="38988" anchor="ctr">
                    <a:lnL>
                      <a:noFill/>
                    </a:lnL>
                    <a:lnR>
                      <a:noFill/>
                    </a:lnR>
                    <a:lnT>
                      <a:noFill/>
                    </a:lnT>
                    <a:lnB>
                      <a:noFill/>
                    </a:lnB>
                    <a:noFill/>
                  </a:tcPr>
                </a:tc>
                <a:tc>
                  <a:txBody>
                    <a:bodyPr/>
                    <a:lstStyle/>
                    <a:p>
                      <a:pPr>
                        <a:buNone/>
                      </a:pPr>
                      <a:r>
                        <a:rPr lang="en-IN" sz="1500"/>
                        <a:t>Learns patterns from customer data</a:t>
                      </a:r>
                    </a:p>
                  </a:txBody>
                  <a:tcPr marL="77976" marR="77976" marT="38988" marB="38988" anchor="ctr">
                    <a:lnL>
                      <a:noFill/>
                    </a:lnL>
                    <a:lnR>
                      <a:noFill/>
                    </a:lnR>
                    <a:lnT>
                      <a:noFill/>
                    </a:lnT>
                    <a:lnB>
                      <a:noFill/>
                    </a:lnB>
                    <a:noFill/>
                  </a:tcPr>
                </a:tc>
                <a:tc>
                  <a:txBody>
                    <a:bodyPr/>
                    <a:lstStyle/>
                    <a:p>
                      <a:pPr>
                        <a:buNone/>
                      </a:pPr>
                      <a:r>
                        <a:rPr lang="en-IN" sz="1500"/>
                        <a:t>Predicting customer churn, sales forecasting</a:t>
                      </a:r>
                    </a:p>
                  </a:txBody>
                  <a:tcPr marL="77976" marR="77976" marT="38988" marB="38988" anchor="ctr">
                    <a:lnL>
                      <a:noFill/>
                    </a:lnL>
                    <a:lnR>
                      <a:noFill/>
                    </a:lnR>
                    <a:lnT>
                      <a:noFill/>
                    </a:lnT>
                    <a:lnB>
                      <a:noFill/>
                    </a:lnB>
                    <a:noFill/>
                  </a:tcPr>
                </a:tc>
                <a:extLst>
                  <a:ext uri="{0D108BD9-81ED-4DB2-BD59-A6C34878D82A}">
                    <a16:rowId xmlns:a16="http://schemas.microsoft.com/office/drawing/2014/main" val="1095660498"/>
                  </a:ext>
                </a:extLst>
              </a:tr>
              <a:tr h="779758">
                <a:tc>
                  <a:txBody>
                    <a:bodyPr/>
                    <a:lstStyle/>
                    <a:p>
                      <a:pPr>
                        <a:buNone/>
                      </a:pPr>
                      <a:r>
                        <a:rPr lang="en-IN" sz="1500" b="1" dirty="0"/>
                        <a:t>Natural Language Processing (NLP)</a:t>
                      </a:r>
                      <a:endParaRPr lang="en-IN" sz="1500" dirty="0"/>
                    </a:p>
                  </a:txBody>
                  <a:tcPr marL="77976" marR="77976" marT="38988" marB="38988" anchor="ctr">
                    <a:lnL>
                      <a:noFill/>
                    </a:lnL>
                    <a:lnR>
                      <a:noFill/>
                    </a:lnR>
                    <a:lnT>
                      <a:noFill/>
                    </a:lnT>
                    <a:lnB>
                      <a:noFill/>
                    </a:lnB>
                    <a:noFill/>
                  </a:tcPr>
                </a:tc>
                <a:tc>
                  <a:txBody>
                    <a:bodyPr/>
                    <a:lstStyle/>
                    <a:p>
                      <a:pPr>
                        <a:buNone/>
                      </a:pPr>
                      <a:r>
                        <a:rPr lang="en-IN" sz="1500"/>
                        <a:t>Analyzes and understands human language</a:t>
                      </a:r>
                    </a:p>
                  </a:txBody>
                  <a:tcPr marL="77976" marR="77976" marT="38988" marB="38988" anchor="ctr">
                    <a:lnL>
                      <a:noFill/>
                    </a:lnL>
                    <a:lnR>
                      <a:noFill/>
                    </a:lnR>
                    <a:lnT>
                      <a:noFill/>
                    </a:lnT>
                    <a:lnB>
                      <a:noFill/>
                    </a:lnB>
                    <a:noFill/>
                  </a:tcPr>
                </a:tc>
                <a:tc>
                  <a:txBody>
                    <a:bodyPr/>
                    <a:lstStyle/>
                    <a:p>
                      <a:pPr>
                        <a:buNone/>
                      </a:pPr>
                      <a:r>
                        <a:rPr lang="en-IN" sz="1500"/>
                        <a:t>Sentiment analysis, chatbots, feedback analysis</a:t>
                      </a:r>
                    </a:p>
                  </a:txBody>
                  <a:tcPr marL="77976" marR="77976" marT="38988" marB="38988" anchor="ctr">
                    <a:lnL>
                      <a:noFill/>
                    </a:lnL>
                    <a:lnR>
                      <a:noFill/>
                    </a:lnR>
                    <a:lnT>
                      <a:noFill/>
                    </a:lnT>
                    <a:lnB>
                      <a:noFill/>
                    </a:lnB>
                    <a:noFill/>
                  </a:tcPr>
                </a:tc>
                <a:extLst>
                  <a:ext uri="{0D108BD9-81ED-4DB2-BD59-A6C34878D82A}">
                    <a16:rowId xmlns:a16="http://schemas.microsoft.com/office/drawing/2014/main" val="715249875"/>
                  </a:ext>
                </a:extLst>
              </a:tr>
              <a:tr h="779758">
                <a:tc>
                  <a:txBody>
                    <a:bodyPr/>
                    <a:lstStyle/>
                    <a:p>
                      <a:pPr>
                        <a:buNone/>
                      </a:pPr>
                      <a:r>
                        <a:rPr lang="en-IN" sz="1500" b="1"/>
                        <a:t>Deep Learning (DL)</a:t>
                      </a:r>
                      <a:endParaRPr lang="en-IN" sz="1500"/>
                    </a:p>
                  </a:txBody>
                  <a:tcPr marL="77976" marR="77976" marT="38988" marB="38988" anchor="ctr">
                    <a:lnL>
                      <a:noFill/>
                    </a:lnL>
                    <a:lnR>
                      <a:noFill/>
                    </a:lnR>
                    <a:lnT>
                      <a:noFill/>
                    </a:lnT>
                    <a:lnB>
                      <a:noFill/>
                    </a:lnB>
                    <a:noFill/>
                  </a:tcPr>
                </a:tc>
                <a:tc>
                  <a:txBody>
                    <a:bodyPr/>
                    <a:lstStyle/>
                    <a:p>
                      <a:pPr>
                        <a:buNone/>
                      </a:pPr>
                      <a:r>
                        <a:rPr lang="en-IN" sz="1500"/>
                        <a:t>Neural networks for image, speech, and behavior recognition</a:t>
                      </a:r>
                    </a:p>
                  </a:txBody>
                  <a:tcPr marL="77976" marR="77976" marT="38988" marB="38988" anchor="ctr">
                    <a:lnL>
                      <a:noFill/>
                    </a:lnL>
                    <a:lnR>
                      <a:noFill/>
                    </a:lnR>
                    <a:lnT>
                      <a:noFill/>
                    </a:lnT>
                    <a:lnB>
                      <a:noFill/>
                    </a:lnB>
                    <a:noFill/>
                  </a:tcPr>
                </a:tc>
                <a:tc>
                  <a:txBody>
                    <a:bodyPr/>
                    <a:lstStyle/>
                    <a:p>
                      <a:pPr>
                        <a:buNone/>
                      </a:pPr>
                      <a:r>
                        <a:rPr lang="en-IN" sz="1500"/>
                        <a:t>Ad targeting, image recognition in ads</a:t>
                      </a:r>
                    </a:p>
                  </a:txBody>
                  <a:tcPr marL="77976" marR="77976" marT="38988" marB="38988" anchor="ctr">
                    <a:lnL>
                      <a:noFill/>
                    </a:lnL>
                    <a:lnR>
                      <a:noFill/>
                    </a:lnR>
                    <a:lnT>
                      <a:noFill/>
                    </a:lnT>
                    <a:lnB>
                      <a:noFill/>
                    </a:lnB>
                    <a:noFill/>
                  </a:tcPr>
                </a:tc>
                <a:extLst>
                  <a:ext uri="{0D108BD9-81ED-4DB2-BD59-A6C34878D82A}">
                    <a16:rowId xmlns:a16="http://schemas.microsoft.com/office/drawing/2014/main" val="3290314476"/>
                  </a:ext>
                </a:extLst>
              </a:tr>
              <a:tr h="545831">
                <a:tc>
                  <a:txBody>
                    <a:bodyPr/>
                    <a:lstStyle/>
                    <a:p>
                      <a:pPr>
                        <a:buNone/>
                      </a:pPr>
                      <a:r>
                        <a:rPr lang="en-IN" sz="1500" b="1"/>
                        <a:t>Predictive Analytics</a:t>
                      </a:r>
                      <a:endParaRPr lang="en-IN" sz="1500"/>
                    </a:p>
                  </a:txBody>
                  <a:tcPr marL="77976" marR="77976" marT="38988" marB="38988" anchor="ctr">
                    <a:lnL>
                      <a:noFill/>
                    </a:lnL>
                    <a:lnR>
                      <a:noFill/>
                    </a:lnR>
                    <a:lnT>
                      <a:noFill/>
                    </a:lnT>
                    <a:lnB>
                      <a:noFill/>
                    </a:lnB>
                    <a:noFill/>
                  </a:tcPr>
                </a:tc>
                <a:tc>
                  <a:txBody>
                    <a:bodyPr/>
                    <a:lstStyle/>
                    <a:p>
                      <a:pPr>
                        <a:buNone/>
                      </a:pPr>
                      <a:r>
                        <a:rPr lang="en-IN" sz="1500"/>
                        <a:t>Uses past data to forecast future outcomes</a:t>
                      </a:r>
                    </a:p>
                  </a:txBody>
                  <a:tcPr marL="77976" marR="77976" marT="38988" marB="38988" anchor="ctr">
                    <a:lnL>
                      <a:noFill/>
                    </a:lnL>
                    <a:lnR>
                      <a:noFill/>
                    </a:lnR>
                    <a:lnT>
                      <a:noFill/>
                    </a:lnT>
                    <a:lnB>
                      <a:noFill/>
                    </a:lnB>
                    <a:noFill/>
                  </a:tcPr>
                </a:tc>
                <a:tc>
                  <a:txBody>
                    <a:bodyPr/>
                    <a:lstStyle/>
                    <a:p>
                      <a:pPr>
                        <a:buNone/>
                      </a:pPr>
                      <a:r>
                        <a:rPr lang="en-IN" sz="1500"/>
                        <a:t>Demand forecasting, lead scoring</a:t>
                      </a:r>
                    </a:p>
                  </a:txBody>
                  <a:tcPr marL="77976" marR="77976" marT="38988" marB="38988" anchor="ctr">
                    <a:lnL>
                      <a:noFill/>
                    </a:lnL>
                    <a:lnR>
                      <a:noFill/>
                    </a:lnR>
                    <a:lnT>
                      <a:noFill/>
                    </a:lnT>
                    <a:lnB>
                      <a:noFill/>
                    </a:lnB>
                    <a:noFill/>
                  </a:tcPr>
                </a:tc>
                <a:extLst>
                  <a:ext uri="{0D108BD9-81ED-4DB2-BD59-A6C34878D82A}">
                    <a16:rowId xmlns:a16="http://schemas.microsoft.com/office/drawing/2014/main" val="1585920267"/>
                  </a:ext>
                </a:extLst>
              </a:tr>
              <a:tr h="545831">
                <a:tc>
                  <a:txBody>
                    <a:bodyPr/>
                    <a:lstStyle/>
                    <a:p>
                      <a:pPr>
                        <a:buNone/>
                      </a:pPr>
                      <a:r>
                        <a:rPr lang="en-IN" sz="1500" b="1"/>
                        <a:t>Reinforcement Learning</a:t>
                      </a:r>
                      <a:endParaRPr lang="en-IN" sz="1500"/>
                    </a:p>
                  </a:txBody>
                  <a:tcPr marL="77976" marR="77976" marT="38988" marB="38988" anchor="ctr">
                    <a:lnL>
                      <a:noFill/>
                    </a:lnL>
                    <a:lnR>
                      <a:noFill/>
                    </a:lnR>
                    <a:lnT>
                      <a:noFill/>
                    </a:lnT>
                    <a:lnB>
                      <a:noFill/>
                    </a:lnB>
                    <a:noFill/>
                  </a:tcPr>
                </a:tc>
                <a:tc>
                  <a:txBody>
                    <a:bodyPr/>
                    <a:lstStyle/>
                    <a:p>
                      <a:pPr>
                        <a:buNone/>
                      </a:pPr>
                      <a:r>
                        <a:rPr lang="en-IN" sz="1500"/>
                        <a:t>Learns best actions through feedback</a:t>
                      </a:r>
                    </a:p>
                  </a:txBody>
                  <a:tcPr marL="77976" marR="77976" marT="38988" marB="38988" anchor="ctr">
                    <a:lnL>
                      <a:noFill/>
                    </a:lnL>
                    <a:lnR>
                      <a:noFill/>
                    </a:lnR>
                    <a:lnT>
                      <a:noFill/>
                    </a:lnT>
                    <a:lnB>
                      <a:noFill/>
                    </a:lnB>
                    <a:noFill/>
                  </a:tcPr>
                </a:tc>
                <a:tc>
                  <a:txBody>
                    <a:bodyPr/>
                    <a:lstStyle/>
                    <a:p>
                      <a:pPr>
                        <a:buNone/>
                      </a:pPr>
                      <a:r>
                        <a:rPr lang="en-IN" sz="1500"/>
                        <a:t>Dynamic pricing, ad optimization</a:t>
                      </a:r>
                    </a:p>
                  </a:txBody>
                  <a:tcPr marL="77976" marR="77976" marT="38988" marB="38988" anchor="ctr">
                    <a:lnL>
                      <a:noFill/>
                    </a:lnL>
                    <a:lnR>
                      <a:noFill/>
                    </a:lnR>
                    <a:lnT>
                      <a:noFill/>
                    </a:lnT>
                    <a:lnB>
                      <a:noFill/>
                    </a:lnB>
                    <a:noFill/>
                  </a:tcPr>
                </a:tc>
                <a:extLst>
                  <a:ext uri="{0D108BD9-81ED-4DB2-BD59-A6C34878D82A}">
                    <a16:rowId xmlns:a16="http://schemas.microsoft.com/office/drawing/2014/main" val="2703452333"/>
                  </a:ext>
                </a:extLst>
              </a:tr>
              <a:tr h="545831">
                <a:tc>
                  <a:txBody>
                    <a:bodyPr/>
                    <a:lstStyle/>
                    <a:p>
                      <a:pPr>
                        <a:buNone/>
                      </a:pPr>
                      <a:r>
                        <a:rPr lang="en-IN" sz="1500" b="1"/>
                        <a:t>Computer Vision</a:t>
                      </a:r>
                      <a:endParaRPr lang="en-IN" sz="1500"/>
                    </a:p>
                  </a:txBody>
                  <a:tcPr marL="77976" marR="77976" marT="38988" marB="38988" anchor="ctr">
                    <a:lnL>
                      <a:noFill/>
                    </a:lnL>
                    <a:lnR>
                      <a:noFill/>
                    </a:lnR>
                    <a:lnT>
                      <a:noFill/>
                    </a:lnT>
                    <a:lnB>
                      <a:noFill/>
                    </a:lnB>
                    <a:noFill/>
                  </a:tcPr>
                </a:tc>
                <a:tc>
                  <a:txBody>
                    <a:bodyPr/>
                    <a:lstStyle/>
                    <a:p>
                      <a:pPr>
                        <a:buNone/>
                      </a:pPr>
                      <a:r>
                        <a:rPr lang="en-IN" sz="1500"/>
                        <a:t>Analyzes visual content</a:t>
                      </a:r>
                    </a:p>
                  </a:txBody>
                  <a:tcPr marL="77976" marR="77976" marT="38988" marB="38988" anchor="ctr">
                    <a:lnL>
                      <a:noFill/>
                    </a:lnL>
                    <a:lnR>
                      <a:noFill/>
                    </a:lnR>
                    <a:lnT>
                      <a:noFill/>
                    </a:lnT>
                    <a:lnB>
                      <a:noFill/>
                    </a:lnB>
                    <a:noFill/>
                  </a:tcPr>
                </a:tc>
                <a:tc>
                  <a:txBody>
                    <a:bodyPr/>
                    <a:lstStyle/>
                    <a:p>
                      <a:pPr>
                        <a:buNone/>
                      </a:pPr>
                      <a:r>
                        <a:rPr lang="en-IN" sz="1500"/>
                        <a:t>Product tagging, visual search in e-commerce</a:t>
                      </a:r>
                    </a:p>
                  </a:txBody>
                  <a:tcPr marL="77976" marR="77976" marT="38988" marB="38988" anchor="ctr">
                    <a:lnL>
                      <a:noFill/>
                    </a:lnL>
                    <a:lnR>
                      <a:noFill/>
                    </a:lnR>
                    <a:lnT>
                      <a:noFill/>
                    </a:lnT>
                    <a:lnB>
                      <a:noFill/>
                    </a:lnB>
                    <a:noFill/>
                  </a:tcPr>
                </a:tc>
                <a:extLst>
                  <a:ext uri="{0D108BD9-81ED-4DB2-BD59-A6C34878D82A}">
                    <a16:rowId xmlns:a16="http://schemas.microsoft.com/office/drawing/2014/main" val="611807182"/>
                  </a:ext>
                </a:extLst>
              </a:tr>
              <a:tr h="545831">
                <a:tc>
                  <a:txBody>
                    <a:bodyPr/>
                    <a:lstStyle/>
                    <a:p>
                      <a:pPr>
                        <a:buNone/>
                      </a:pPr>
                      <a:r>
                        <a:rPr lang="en-IN" sz="1500" b="1"/>
                        <a:t>Generative AI</a:t>
                      </a:r>
                      <a:endParaRPr lang="en-IN" sz="1500"/>
                    </a:p>
                  </a:txBody>
                  <a:tcPr marL="77976" marR="77976" marT="38988" marB="38988" anchor="ctr">
                    <a:lnL>
                      <a:noFill/>
                    </a:lnL>
                    <a:lnR>
                      <a:noFill/>
                    </a:lnR>
                    <a:lnT>
                      <a:noFill/>
                    </a:lnT>
                    <a:lnB>
                      <a:noFill/>
                    </a:lnB>
                    <a:noFill/>
                  </a:tcPr>
                </a:tc>
                <a:tc>
                  <a:txBody>
                    <a:bodyPr/>
                    <a:lstStyle/>
                    <a:p>
                      <a:pPr>
                        <a:buNone/>
                      </a:pPr>
                      <a:r>
                        <a:rPr lang="en-IN" sz="1500"/>
                        <a:t>Creates new content using AI models</a:t>
                      </a:r>
                    </a:p>
                  </a:txBody>
                  <a:tcPr marL="77976" marR="77976" marT="38988" marB="38988" anchor="ctr">
                    <a:lnL>
                      <a:noFill/>
                    </a:lnL>
                    <a:lnR>
                      <a:noFill/>
                    </a:lnR>
                    <a:lnT>
                      <a:noFill/>
                    </a:lnT>
                    <a:lnB>
                      <a:noFill/>
                    </a:lnB>
                    <a:noFill/>
                  </a:tcPr>
                </a:tc>
                <a:tc>
                  <a:txBody>
                    <a:bodyPr/>
                    <a:lstStyle/>
                    <a:p>
                      <a:pPr>
                        <a:buNone/>
                      </a:pPr>
                      <a:r>
                        <a:rPr lang="en-IN" sz="1500" dirty="0"/>
                        <a:t>Automated ad copy, images, videos, and blogs</a:t>
                      </a:r>
                    </a:p>
                  </a:txBody>
                  <a:tcPr marL="77976" marR="77976" marT="38988" marB="38988" anchor="ctr">
                    <a:lnL>
                      <a:noFill/>
                    </a:lnL>
                    <a:lnR>
                      <a:noFill/>
                    </a:lnR>
                    <a:lnT>
                      <a:noFill/>
                    </a:lnT>
                    <a:lnB>
                      <a:noFill/>
                    </a:lnB>
                    <a:noFill/>
                  </a:tcPr>
                </a:tc>
                <a:extLst>
                  <a:ext uri="{0D108BD9-81ED-4DB2-BD59-A6C34878D82A}">
                    <a16:rowId xmlns:a16="http://schemas.microsoft.com/office/drawing/2014/main" val="2649976022"/>
                  </a:ext>
                </a:extLst>
              </a:tr>
            </a:tbl>
          </a:graphicData>
        </a:graphic>
      </p:graphicFrame>
    </p:spTree>
    <p:extLst>
      <p:ext uri="{BB962C8B-B14F-4D97-AF65-F5344CB8AC3E}">
        <p14:creationId xmlns:p14="http://schemas.microsoft.com/office/powerpoint/2010/main" val="24646388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ED460-7F7E-4E6B-C323-4B96B5440835}"/>
              </a:ext>
            </a:extLst>
          </p:cNvPr>
          <p:cNvSpPr>
            <a:spLocks noGrp="1"/>
          </p:cNvSpPr>
          <p:nvPr>
            <p:ph type="title"/>
          </p:nvPr>
        </p:nvSpPr>
        <p:spPr>
          <a:xfrm>
            <a:off x="2059941" y="145492"/>
            <a:ext cx="8072119" cy="615553"/>
          </a:xfrm>
        </p:spPr>
        <p:txBody>
          <a:bodyPr>
            <a:normAutofit fontScale="90000"/>
          </a:bodyPr>
          <a:lstStyle/>
          <a:p>
            <a:r>
              <a:rPr lang="en-IN" dirty="0"/>
              <a:t>Case Studies</a:t>
            </a:r>
            <a:endParaRPr lang="en-US" dirty="0"/>
          </a:p>
        </p:txBody>
      </p:sp>
      <p:graphicFrame>
        <p:nvGraphicFramePr>
          <p:cNvPr id="4" name="Table 3">
            <a:extLst>
              <a:ext uri="{FF2B5EF4-FFF2-40B4-BE49-F238E27FC236}">
                <a16:creationId xmlns:a16="http://schemas.microsoft.com/office/drawing/2014/main" id="{1B6DFBB9-1F47-399A-C5F7-17E46E6D9B4E}"/>
              </a:ext>
            </a:extLst>
          </p:cNvPr>
          <p:cNvGraphicFramePr>
            <a:graphicFrameLocks noGrp="1"/>
          </p:cNvGraphicFramePr>
          <p:nvPr/>
        </p:nvGraphicFramePr>
        <p:xfrm>
          <a:off x="1981200" y="1219200"/>
          <a:ext cx="8074026" cy="3200400"/>
        </p:xfrm>
        <a:graphic>
          <a:graphicData uri="http://schemas.openxmlformats.org/drawingml/2006/table">
            <a:tbl>
              <a:tblPr/>
              <a:tblGrid>
                <a:gridCol w="2691342">
                  <a:extLst>
                    <a:ext uri="{9D8B030D-6E8A-4147-A177-3AD203B41FA5}">
                      <a16:colId xmlns:a16="http://schemas.microsoft.com/office/drawing/2014/main" val="3327483554"/>
                    </a:ext>
                  </a:extLst>
                </a:gridCol>
                <a:gridCol w="2691342">
                  <a:extLst>
                    <a:ext uri="{9D8B030D-6E8A-4147-A177-3AD203B41FA5}">
                      <a16:colId xmlns:a16="http://schemas.microsoft.com/office/drawing/2014/main" val="3979491439"/>
                    </a:ext>
                  </a:extLst>
                </a:gridCol>
                <a:gridCol w="2691342">
                  <a:extLst>
                    <a:ext uri="{9D8B030D-6E8A-4147-A177-3AD203B41FA5}">
                      <a16:colId xmlns:a16="http://schemas.microsoft.com/office/drawing/2014/main" val="1786113308"/>
                    </a:ext>
                  </a:extLst>
                </a:gridCol>
              </a:tblGrid>
              <a:tr h="365760">
                <a:tc>
                  <a:txBody>
                    <a:bodyPr/>
                    <a:lstStyle/>
                    <a:p>
                      <a:pPr>
                        <a:buNone/>
                      </a:pPr>
                      <a:r>
                        <a:rPr lang="en-IN" sz="1800" b="1"/>
                        <a:t>Company</a:t>
                      </a:r>
                      <a:endParaRPr lang="en-IN" sz="1800"/>
                    </a:p>
                  </a:txBody>
                  <a:tcPr anchor="ctr">
                    <a:lnL>
                      <a:noFill/>
                    </a:lnL>
                    <a:lnR>
                      <a:noFill/>
                    </a:lnR>
                    <a:lnT>
                      <a:noFill/>
                    </a:lnT>
                    <a:lnB>
                      <a:noFill/>
                    </a:lnB>
                    <a:noFill/>
                  </a:tcPr>
                </a:tc>
                <a:tc>
                  <a:txBody>
                    <a:bodyPr/>
                    <a:lstStyle/>
                    <a:p>
                      <a:pPr>
                        <a:buNone/>
                      </a:pPr>
                      <a:r>
                        <a:rPr lang="en-IN" sz="1800" b="1"/>
                        <a:t>AI Application</a:t>
                      </a:r>
                      <a:endParaRPr lang="en-IN" sz="1800"/>
                    </a:p>
                  </a:txBody>
                  <a:tcPr anchor="ctr">
                    <a:lnL>
                      <a:noFill/>
                    </a:lnL>
                    <a:lnR>
                      <a:noFill/>
                    </a:lnR>
                    <a:lnT>
                      <a:noFill/>
                    </a:lnT>
                    <a:lnB>
                      <a:noFill/>
                    </a:lnB>
                    <a:noFill/>
                  </a:tcPr>
                </a:tc>
                <a:tc>
                  <a:txBody>
                    <a:bodyPr/>
                    <a:lstStyle/>
                    <a:p>
                      <a:pPr>
                        <a:buNone/>
                      </a:pPr>
                      <a:r>
                        <a:rPr lang="en-IN" sz="1800" b="1"/>
                        <a:t>Outcome</a:t>
                      </a:r>
                      <a:endParaRPr lang="en-IN" sz="1800"/>
                    </a:p>
                  </a:txBody>
                  <a:tcPr anchor="ctr">
                    <a:lnL>
                      <a:noFill/>
                    </a:lnL>
                    <a:lnR>
                      <a:noFill/>
                    </a:lnR>
                    <a:lnT>
                      <a:noFill/>
                    </a:lnT>
                    <a:lnB>
                      <a:noFill/>
                    </a:lnB>
                    <a:noFill/>
                  </a:tcPr>
                </a:tc>
                <a:extLst>
                  <a:ext uri="{0D108BD9-81ED-4DB2-BD59-A6C34878D82A}">
                    <a16:rowId xmlns:a16="http://schemas.microsoft.com/office/drawing/2014/main" val="3001750235"/>
                  </a:ext>
                </a:extLst>
              </a:tr>
              <a:tr h="640080">
                <a:tc>
                  <a:txBody>
                    <a:bodyPr/>
                    <a:lstStyle/>
                    <a:p>
                      <a:pPr>
                        <a:buNone/>
                      </a:pPr>
                      <a:r>
                        <a:rPr lang="en-IN" sz="1800" b="1" dirty="0"/>
                        <a:t>Netflix</a:t>
                      </a:r>
                      <a:endParaRPr lang="en-IN" sz="1800" dirty="0"/>
                    </a:p>
                  </a:txBody>
                  <a:tcPr anchor="ctr">
                    <a:lnL>
                      <a:noFill/>
                    </a:lnL>
                    <a:lnR>
                      <a:noFill/>
                    </a:lnR>
                    <a:lnT>
                      <a:noFill/>
                    </a:lnT>
                    <a:lnB>
                      <a:noFill/>
                    </a:lnB>
                    <a:noFill/>
                  </a:tcPr>
                </a:tc>
                <a:tc>
                  <a:txBody>
                    <a:bodyPr/>
                    <a:lstStyle/>
                    <a:p>
                      <a:pPr>
                        <a:buNone/>
                      </a:pPr>
                      <a:r>
                        <a:rPr lang="en-IN" sz="1800"/>
                        <a:t>Predictive algorithms for recommendations</a:t>
                      </a:r>
                    </a:p>
                  </a:txBody>
                  <a:tcPr anchor="ctr">
                    <a:lnL>
                      <a:noFill/>
                    </a:lnL>
                    <a:lnR>
                      <a:noFill/>
                    </a:lnR>
                    <a:lnT>
                      <a:noFill/>
                    </a:lnT>
                    <a:lnB>
                      <a:noFill/>
                    </a:lnB>
                    <a:noFill/>
                  </a:tcPr>
                </a:tc>
                <a:tc>
                  <a:txBody>
                    <a:bodyPr/>
                    <a:lstStyle/>
                    <a:p>
                      <a:pPr>
                        <a:buNone/>
                      </a:pPr>
                      <a:r>
                        <a:rPr lang="en-IN" sz="1800"/>
                        <a:t>80% of views come from recommendations</a:t>
                      </a:r>
                    </a:p>
                  </a:txBody>
                  <a:tcPr anchor="ctr">
                    <a:lnL>
                      <a:noFill/>
                    </a:lnL>
                    <a:lnR>
                      <a:noFill/>
                    </a:lnR>
                    <a:lnT>
                      <a:noFill/>
                    </a:lnT>
                    <a:lnB>
                      <a:noFill/>
                    </a:lnB>
                    <a:noFill/>
                  </a:tcPr>
                </a:tc>
                <a:extLst>
                  <a:ext uri="{0D108BD9-81ED-4DB2-BD59-A6C34878D82A}">
                    <a16:rowId xmlns:a16="http://schemas.microsoft.com/office/drawing/2014/main" val="1319653969"/>
                  </a:ext>
                </a:extLst>
              </a:tr>
              <a:tr h="640080">
                <a:tc>
                  <a:txBody>
                    <a:bodyPr/>
                    <a:lstStyle/>
                    <a:p>
                      <a:pPr>
                        <a:buNone/>
                      </a:pPr>
                      <a:r>
                        <a:rPr lang="en-IN" sz="1800" b="1"/>
                        <a:t>Coca-Cola</a:t>
                      </a:r>
                      <a:endParaRPr lang="en-IN" sz="1800"/>
                    </a:p>
                  </a:txBody>
                  <a:tcPr anchor="ctr">
                    <a:lnL>
                      <a:noFill/>
                    </a:lnL>
                    <a:lnR>
                      <a:noFill/>
                    </a:lnR>
                    <a:lnT>
                      <a:noFill/>
                    </a:lnT>
                    <a:lnB>
                      <a:noFill/>
                    </a:lnB>
                    <a:noFill/>
                  </a:tcPr>
                </a:tc>
                <a:tc>
                  <a:txBody>
                    <a:bodyPr/>
                    <a:lstStyle/>
                    <a:p>
                      <a:pPr>
                        <a:buNone/>
                      </a:pPr>
                      <a:r>
                        <a:rPr lang="en-IN" sz="1800"/>
                        <a:t>AI-driven content creation and sentiment analysis</a:t>
                      </a:r>
                    </a:p>
                  </a:txBody>
                  <a:tcPr anchor="ctr">
                    <a:lnL>
                      <a:noFill/>
                    </a:lnL>
                    <a:lnR>
                      <a:noFill/>
                    </a:lnR>
                    <a:lnT>
                      <a:noFill/>
                    </a:lnT>
                    <a:lnB>
                      <a:noFill/>
                    </a:lnB>
                    <a:noFill/>
                  </a:tcPr>
                </a:tc>
                <a:tc>
                  <a:txBody>
                    <a:bodyPr/>
                    <a:lstStyle/>
                    <a:p>
                      <a:pPr>
                        <a:buNone/>
                      </a:pPr>
                      <a:r>
                        <a:rPr lang="en-IN" sz="1800"/>
                        <a:t>Boosted engagement rates</a:t>
                      </a:r>
                    </a:p>
                  </a:txBody>
                  <a:tcPr anchor="ctr">
                    <a:lnL>
                      <a:noFill/>
                    </a:lnL>
                    <a:lnR>
                      <a:noFill/>
                    </a:lnR>
                    <a:lnT>
                      <a:noFill/>
                    </a:lnT>
                    <a:lnB>
                      <a:noFill/>
                    </a:lnB>
                    <a:noFill/>
                  </a:tcPr>
                </a:tc>
                <a:extLst>
                  <a:ext uri="{0D108BD9-81ED-4DB2-BD59-A6C34878D82A}">
                    <a16:rowId xmlns:a16="http://schemas.microsoft.com/office/drawing/2014/main" val="624709914"/>
                  </a:ext>
                </a:extLst>
              </a:tr>
              <a:tr h="640080">
                <a:tc>
                  <a:txBody>
                    <a:bodyPr/>
                    <a:lstStyle/>
                    <a:p>
                      <a:pPr>
                        <a:buNone/>
                      </a:pPr>
                      <a:r>
                        <a:rPr lang="en-IN" sz="1800" b="1"/>
                        <a:t>Amazon</a:t>
                      </a:r>
                      <a:endParaRPr lang="en-IN" sz="1800"/>
                    </a:p>
                  </a:txBody>
                  <a:tcPr anchor="ctr">
                    <a:lnL>
                      <a:noFill/>
                    </a:lnL>
                    <a:lnR>
                      <a:noFill/>
                    </a:lnR>
                    <a:lnT>
                      <a:noFill/>
                    </a:lnT>
                    <a:lnB>
                      <a:noFill/>
                    </a:lnB>
                    <a:noFill/>
                  </a:tcPr>
                </a:tc>
                <a:tc>
                  <a:txBody>
                    <a:bodyPr/>
                    <a:lstStyle/>
                    <a:p>
                      <a:pPr>
                        <a:buNone/>
                      </a:pPr>
                      <a:r>
                        <a:rPr lang="en-IN" sz="1800"/>
                        <a:t>Personalized product recommendations</a:t>
                      </a:r>
                    </a:p>
                  </a:txBody>
                  <a:tcPr anchor="ctr">
                    <a:lnL>
                      <a:noFill/>
                    </a:lnL>
                    <a:lnR>
                      <a:noFill/>
                    </a:lnR>
                    <a:lnT>
                      <a:noFill/>
                    </a:lnT>
                    <a:lnB>
                      <a:noFill/>
                    </a:lnB>
                    <a:noFill/>
                  </a:tcPr>
                </a:tc>
                <a:tc>
                  <a:txBody>
                    <a:bodyPr/>
                    <a:lstStyle/>
                    <a:p>
                      <a:pPr>
                        <a:buNone/>
                      </a:pPr>
                      <a:r>
                        <a:rPr lang="en-IN" sz="1800"/>
                        <a:t>35% of sales from recommendation engine</a:t>
                      </a:r>
                    </a:p>
                  </a:txBody>
                  <a:tcPr anchor="ctr">
                    <a:lnL>
                      <a:noFill/>
                    </a:lnL>
                    <a:lnR>
                      <a:noFill/>
                    </a:lnR>
                    <a:lnT>
                      <a:noFill/>
                    </a:lnT>
                    <a:lnB>
                      <a:noFill/>
                    </a:lnB>
                    <a:noFill/>
                  </a:tcPr>
                </a:tc>
                <a:extLst>
                  <a:ext uri="{0D108BD9-81ED-4DB2-BD59-A6C34878D82A}">
                    <a16:rowId xmlns:a16="http://schemas.microsoft.com/office/drawing/2014/main" val="2990936176"/>
                  </a:ext>
                </a:extLst>
              </a:tr>
              <a:tr h="640080">
                <a:tc>
                  <a:txBody>
                    <a:bodyPr/>
                    <a:lstStyle/>
                    <a:p>
                      <a:pPr>
                        <a:buNone/>
                      </a:pPr>
                      <a:r>
                        <a:rPr lang="en-IN" sz="1800" b="1"/>
                        <a:t>Sephora</a:t>
                      </a:r>
                      <a:endParaRPr lang="en-IN" sz="1800"/>
                    </a:p>
                  </a:txBody>
                  <a:tcPr anchor="ctr">
                    <a:lnL>
                      <a:noFill/>
                    </a:lnL>
                    <a:lnR>
                      <a:noFill/>
                    </a:lnR>
                    <a:lnT>
                      <a:noFill/>
                    </a:lnT>
                    <a:lnB>
                      <a:noFill/>
                    </a:lnB>
                    <a:noFill/>
                  </a:tcPr>
                </a:tc>
                <a:tc>
                  <a:txBody>
                    <a:bodyPr/>
                    <a:lstStyle/>
                    <a:p>
                      <a:pPr>
                        <a:buNone/>
                      </a:pPr>
                      <a:r>
                        <a:rPr lang="en-IN" sz="1800"/>
                        <a:t>Virtual try-on and AI chatbots</a:t>
                      </a:r>
                    </a:p>
                  </a:txBody>
                  <a:tcPr anchor="ctr">
                    <a:lnL>
                      <a:noFill/>
                    </a:lnL>
                    <a:lnR>
                      <a:noFill/>
                    </a:lnR>
                    <a:lnT>
                      <a:noFill/>
                    </a:lnT>
                    <a:lnB>
                      <a:noFill/>
                    </a:lnB>
                    <a:noFill/>
                  </a:tcPr>
                </a:tc>
                <a:tc>
                  <a:txBody>
                    <a:bodyPr/>
                    <a:lstStyle/>
                    <a:p>
                      <a:pPr>
                        <a:buNone/>
                      </a:pPr>
                      <a:r>
                        <a:rPr lang="en-IN" sz="1800" dirty="0"/>
                        <a:t>Enhanced customer satisfaction</a:t>
                      </a:r>
                    </a:p>
                  </a:txBody>
                  <a:tcPr anchor="ctr">
                    <a:lnL>
                      <a:noFill/>
                    </a:lnL>
                    <a:lnR>
                      <a:noFill/>
                    </a:lnR>
                    <a:lnT>
                      <a:noFill/>
                    </a:lnT>
                    <a:lnB>
                      <a:noFill/>
                    </a:lnB>
                    <a:noFill/>
                  </a:tcPr>
                </a:tc>
                <a:extLst>
                  <a:ext uri="{0D108BD9-81ED-4DB2-BD59-A6C34878D82A}">
                    <a16:rowId xmlns:a16="http://schemas.microsoft.com/office/drawing/2014/main" val="1870878896"/>
                  </a:ext>
                </a:extLst>
              </a:tr>
            </a:tbl>
          </a:graphicData>
        </a:graphic>
      </p:graphicFrame>
    </p:spTree>
    <p:extLst>
      <p:ext uri="{BB962C8B-B14F-4D97-AF65-F5344CB8AC3E}">
        <p14:creationId xmlns:p14="http://schemas.microsoft.com/office/powerpoint/2010/main" val="22576361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a:extLst>
              <a:ext uri="{FF2B5EF4-FFF2-40B4-BE49-F238E27FC236}">
                <a16:creationId xmlns:a16="http://schemas.microsoft.com/office/drawing/2014/main" id="{311A93DF-6391-42D2-3261-C24926306F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descr="A screenshot of a diagram&#10;&#10;AI-generated content may be incorrect.">
            <a:extLst>
              <a:ext uri="{FF2B5EF4-FFF2-40B4-BE49-F238E27FC236}">
                <a16:creationId xmlns:a16="http://schemas.microsoft.com/office/drawing/2014/main" id="{8B32CB3B-C471-CD72-9838-F486C07A94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2200" y="533400"/>
            <a:ext cx="7772400" cy="5943600"/>
          </a:xfrm>
          <a:prstGeom prst="rect">
            <a:avLst/>
          </a:prstGeom>
        </p:spPr>
      </p:pic>
    </p:spTree>
    <p:extLst>
      <p:ext uri="{BB962C8B-B14F-4D97-AF65-F5344CB8AC3E}">
        <p14:creationId xmlns:p14="http://schemas.microsoft.com/office/powerpoint/2010/main" val="16341261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09C1F-9317-1566-875D-75012BD56771}"/>
              </a:ext>
            </a:extLst>
          </p:cNvPr>
          <p:cNvSpPr>
            <a:spLocks noGrp="1"/>
          </p:cNvSpPr>
          <p:nvPr>
            <p:ph type="title"/>
          </p:nvPr>
        </p:nvSpPr>
        <p:spPr>
          <a:xfrm>
            <a:off x="2059941" y="145492"/>
            <a:ext cx="8072119" cy="615553"/>
          </a:xfrm>
        </p:spPr>
        <p:txBody>
          <a:bodyPr>
            <a:normAutofit fontScale="90000"/>
          </a:bodyPr>
          <a:lstStyle/>
          <a:p>
            <a:r>
              <a:rPr lang="en-US" dirty="0"/>
              <a:t>AI in Educational Technology</a:t>
            </a:r>
          </a:p>
        </p:txBody>
      </p:sp>
      <p:sp>
        <p:nvSpPr>
          <p:cNvPr id="3" name="Text Placeholder 2">
            <a:extLst>
              <a:ext uri="{FF2B5EF4-FFF2-40B4-BE49-F238E27FC236}">
                <a16:creationId xmlns:a16="http://schemas.microsoft.com/office/drawing/2014/main" id="{C5444DA4-3878-03B0-F65D-646A9D58C36E}"/>
              </a:ext>
            </a:extLst>
          </p:cNvPr>
          <p:cNvSpPr>
            <a:spLocks noGrp="1"/>
          </p:cNvSpPr>
          <p:nvPr>
            <p:ph type="body" idx="1"/>
          </p:nvPr>
        </p:nvSpPr>
        <p:spPr>
          <a:xfrm>
            <a:off x="2059941" y="1616709"/>
            <a:ext cx="8074025" cy="3385542"/>
          </a:xfrm>
        </p:spPr>
        <p:txBody>
          <a:bodyPr>
            <a:normAutofit fontScale="77500" lnSpcReduction="20000"/>
          </a:bodyPr>
          <a:lstStyle/>
          <a:p>
            <a:r>
              <a:rPr lang="en-IN" b="1" dirty="0"/>
              <a:t>Definition:</a:t>
            </a:r>
          </a:p>
          <a:p>
            <a:br>
              <a:rPr lang="en-IN" dirty="0"/>
            </a:br>
            <a:r>
              <a:rPr lang="en-IN" dirty="0"/>
              <a:t>Artificial Intelligence (AI) in Educational Technology refers to the integration of intelligent algorithms and data-driven systems to </a:t>
            </a:r>
            <a:r>
              <a:rPr lang="en-IN" b="1" dirty="0"/>
              <a:t>enhance learning, teaching, and administration</a:t>
            </a:r>
            <a:r>
              <a:rPr lang="en-IN" dirty="0"/>
              <a:t>.</a:t>
            </a:r>
          </a:p>
          <a:p>
            <a:endParaRPr lang="en-IN" dirty="0"/>
          </a:p>
          <a:p>
            <a:r>
              <a:rPr lang="en-IN" b="1" dirty="0"/>
              <a:t>Goal:</a:t>
            </a:r>
          </a:p>
          <a:p>
            <a:br>
              <a:rPr lang="en-IN" dirty="0"/>
            </a:br>
            <a:r>
              <a:rPr lang="en-IN" dirty="0"/>
              <a:t>To provide </a:t>
            </a:r>
            <a:r>
              <a:rPr lang="en-IN" b="1" dirty="0"/>
              <a:t>personalized learning experiences</a:t>
            </a:r>
            <a:r>
              <a:rPr lang="en-IN" dirty="0"/>
              <a:t>, </a:t>
            </a:r>
            <a:r>
              <a:rPr lang="en-IN" b="1" dirty="0"/>
              <a:t>automate administrative tasks</a:t>
            </a:r>
            <a:r>
              <a:rPr lang="en-IN" dirty="0"/>
              <a:t>, and </a:t>
            </a:r>
            <a:r>
              <a:rPr lang="en-IN" b="1" dirty="0"/>
              <a:t>improve educational outcomes</a:t>
            </a:r>
            <a:r>
              <a:rPr lang="en-IN" dirty="0"/>
              <a:t> using AI tools and analytics.</a:t>
            </a:r>
          </a:p>
          <a:p>
            <a:endParaRPr lang="en-US" dirty="0"/>
          </a:p>
        </p:txBody>
      </p:sp>
    </p:spTree>
    <p:extLst>
      <p:ext uri="{BB962C8B-B14F-4D97-AF65-F5344CB8AC3E}">
        <p14:creationId xmlns:p14="http://schemas.microsoft.com/office/powerpoint/2010/main" val="13848516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A5F6F-989A-F17B-8A66-5E040F8C2457}"/>
              </a:ext>
            </a:extLst>
          </p:cNvPr>
          <p:cNvSpPr>
            <a:spLocks noGrp="1"/>
          </p:cNvSpPr>
          <p:nvPr>
            <p:ph type="title"/>
          </p:nvPr>
        </p:nvSpPr>
        <p:spPr>
          <a:xfrm>
            <a:off x="2059941" y="145492"/>
            <a:ext cx="8072119" cy="615553"/>
          </a:xfrm>
        </p:spPr>
        <p:txBody>
          <a:bodyPr>
            <a:normAutofit fontScale="90000"/>
          </a:bodyPr>
          <a:lstStyle/>
          <a:p>
            <a:r>
              <a:rPr lang="en-IN" dirty="0"/>
              <a:t>Key AI Technologies Used in EdTech</a:t>
            </a:r>
            <a:endParaRPr lang="en-US" dirty="0"/>
          </a:p>
        </p:txBody>
      </p:sp>
      <p:graphicFrame>
        <p:nvGraphicFramePr>
          <p:cNvPr id="4" name="Table 3">
            <a:extLst>
              <a:ext uri="{FF2B5EF4-FFF2-40B4-BE49-F238E27FC236}">
                <a16:creationId xmlns:a16="http://schemas.microsoft.com/office/drawing/2014/main" id="{6268F1F9-40CA-741C-0B93-32B3F5768F99}"/>
              </a:ext>
            </a:extLst>
          </p:cNvPr>
          <p:cNvGraphicFramePr>
            <a:graphicFrameLocks noGrp="1"/>
          </p:cNvGraphicFramePr>
          <p:nvPr/>
        </p:nvGraphicFramePr>
        <p:xfrm>
          <a:off x="2065802" y="1188720"/>
          <a:ext cx="8074026" cy="4480560"/>
        </p:xfrm>
        <a:graphic>
          <a:graphicData uri="http://schemas.openxmlformats.org/drawingml/2006/table">
            <a:tbl>
              <a:tblPr/>
              <a:tblGrid>
                <a:gridCol w="2691342">
                  <a:extLst>
                    <a:ext uri="{9D8B030D-6E8A-4147-A177-3AD203B41FA5}">
                      <a16:colId xmlns:a16="http://schemas.microsoft.com/office/drawing/2014/main" val="1098958285"/>
                    </a:ext>
                  </a:extLst>
                </a:gridCol>
                <a:gridCol w="2691342">
                  <a:extLst>
                    <a:ext uri="{9D8B030D-6E8A-4147-A177-3AD203B41FA5}">
                      <a16:colId xmlns:a16="http://schemas.microsoft.com/office/drawing/2014/main" val="2821918739"/>
                    </a:ext>
                  </a:extLst>
                </a:gridCol>
                <a:gridCol w="2691342">
                  <a:extLst>
                    <a:ext uri="{9D8B030D-6E8A-4147-A177-3AD203B41FA5}">
                      <a16:colId xmlns:a16="http://schemas.microsoft.com/office/drawing/2014/main" val="3762948030"/>
                    </a:ext>
                  </a:extLst>
                </a:gridCol>
              </a:tblGrid>
              <a:tr h="365760">
                <a:tc>
                  <a:txBody>
                    <a:bodyPr/>
                    <a:lstStyle/>
                    <a:p>
                      <a:pPr>
                        <a:buNone/>
                      </a:pPr>
                      <a:r>
                        <a:rPr lang="en-IN" sz="1800" b="1"/>
                        <a:t>Technology</a:t>
                      </a:r>
                      <a:endParaRPr lang="en-IN" sz="1800"/>
                    </a:p>
                  </a:txBody>
                  <a:tcPr anchor="ctr">
                    <a:lnL>
                      <a:noFill/>
                    </a:lnL>
                    <a:lnR>
                      <a:noFill/>
                    </a:lnR>
                    <a:lnT>
                      <a:noFill/>
                    </a:lnT>
                    <a:lnB>
                      <a:noFill/>
                    </a:lnB>
                    <a:noFill/>
                  </a:tcPr>
                </a:tc>
                <a:tc>
                  <a:txBody>
                    <a:bodyPr/>
                    <a:lstStyle/>
                    <a:p>
                      <a:pPr>
                        <a:buNone/>
                      </a:pPr>
                      <a:r>
                        <a:rPr lang="en-IN" sz="1800" b="1"/>
                        <a:t>Function</a:t>
                      </a:r>
                      <a:endParaRPr lang="en-IN" sz="1800"/>
                    </a:p>
                  </a:txBody>
                  <a:tcPr anchor="ctr">
                    <a:lnL>
                      <a:noFill/>
                    </a:lnL>
                    <a:lnR>
                      <a:noFill/>
                    </a:lnR>
                    <a:lnT>
                      <a:noFill/>
                    </a:lnT>
                    <a:lnB>
                      <a:noFill/>
                    </a:lnB>
                    <a:noFill/>
                  </a:tcPr>
                </a:tc>
                <a:tc>
                  <a:txBody>
                    <a:bodyPr/>
                    <a:lstStyle/>
                    <a:p>
                      <a:pPr>
                        <a:buNone/>
                      </a:pPr>
                      <a:r>
                        <a:rPr lang="en-IN" sz="1800" b="1"/>
                        <a:t>Example Application</a:t>
                      </a:r>
                      <a:endParaRPr lang="en-IN" sz="1800"/>
                    </a:p>
                  </a:txBody>
                  <a:tcPr anchor="ctr">
                    <a:lnL>
                      <a:noFill/>
                    </a:lnL>
                    <a:lnR>
                      <a:noFill/>
                    </a:lnR>
                    <a:lnT>
                      <a:noFill/>
                    </a:lnT>
                    <a:lnB>
                      <a:noFill/>
                    </a:lnB>
                    <a:noFill/>
                  </a:tcPr>
                </a:tc>
                <a:extLst>
                  <a:ext uri="{0D108BD9-81ED-4DB2-BD59-A6C34878D82A}">
                    <a16:rowId xmlns:a16="http://schemas.microsoft.com/office/drawing/2014/main" val="2848671861"/>
                  </a:ext>
                </a:extLst>
              </a:tr>
              <a:tr h="640080">
                <a:tc>
                  <a:txBody>
                    <a:bodyPr/>
                    <a:lstStyle/>
                    <a:p>
                      <a:pPr>
                        <a:buNone/>
                      </a:pPr>
                      <a:r>
                        <a:rPr lang="en-IN" sz="1800" b="1"/>
                        <a:t>Machine Learning (ML)</a:t>
                      </a:r>
                      <a:endParaRPr lang="en-IN" sz="1800"/>
                    </a:p>
                  </a:txBody>
                  <a:tcPr anchor="ctr">
                    <a:lnL>
                      <a:noFill/>
                    </a:lnL>
                    <a:lnR>
                      <a:noFill/>
                    </a:lnR>
                    <a:lnT>
                      <a:noFill/>
                    </a:lnT>
                    <a:lnB>
                      <a:noFill/>
                    </a:lnB>
                    <a:noFill/>
                  </a:tcPr>
                </a:tc>
                <a:tc>
                  <a:txBody>
                    <a:bodyPr/>
                    <a:lstStyle/>
                    <a:p>
                      <a:pPr>
                        <a:buNone/>
                      </a:pPr>
                      <a:r>
                        <a:rPr lang="en-IN" sz="1800"/>
                        <a:t>Learns from student data to personalize content</a:t>
                      </a:r>
                    </a:p>
                  </a:txBody>
                  <a:tcPr anchor="ctr">
                    <a:lnL>
                      <a:noFill/>
                    </a:lnL>
                    <a:lnR>
                      <a:noFill/>
                    </a:lnR>
                    <a:lnT>
                      <a:noFill/>
                    </a:lnT>
                    <a:lnB>
                      <a:noFill/>
                    </a:lnB>
                    <a:noFill/>
                  </a:tcPr>
                </a:tc>
                <a:tc>
                  <a:txBody>
                    <a:bodyPr/>
                    <a:lstStyle/>
                    <a:p>
                      <a:pPr>
                        <a:buNone/>
                      </a:pPr>
                      <a:r>
                        <a:rPr lang="en-IN" sz="1800"/>
                        <a:t>Adaptive learning systems</a:t>
                      </a:r>
                    </a:p>
                  </a:txBody>
                  <a:tcPr anchor="ctr">
                    <a:lnL>
                      <a:noFill/>
                    </a:lnL>
                    <a:lnR>
                      <a:noFill/>
                    </a:lnR>
                    <a:lnT>
                      <a:noFill/>
                    </a:lnT>
                    <a:lnB>
                      <a:noFill/>
                    </a:lnB>
                    <a:noFill/>
                  </a:tcPr>
                </a:tc>
                <a:extLst>
                  <a:ext uri="{0D108BD9-81ED-4DB2-BD59-A6C34878D82A}">
                    <a16:rowId xmlns:a16="http://schemas.microsoft.com/office/drawing/2014/main" val="3296420224"/>
                  </a:ext>
                </a:extLst>
              </a:tr>
              <a:tr h="640080">
                <a:tc>
                  <a:txBody>
                    <a:bodyPr/>
                    <a:lstStyle/>
                    <a:p>
                      <a:pPr>
                        <a:buNone/>
                      </a:pPr>
                      <a:r>
                        <a:rPr lang="en-IN" sz="1800" b="1"/>
                        <a:t>Natural Language Processing (NLP)</a:t>
                      </a:r>
                      <a:endParaRPr lang="en-IN" sz="1800"/>
                    </a:p>
                  </a:txBody>
                  <a:tcPr anchor="ctr">
                    <a:lnL>
                      <a:noFill/>
                    </a:lnL>
                    <a:lnR>
                      <a:noFill/>
                    </a:lnR>
                    <a:lnT>
                      <a:noFill/>
                    </a:lnT>
                    <a:lnB>
                      <a:noFill/>
                    </a:lnB>
                    <a:noFill/>
                  </a:tcPr>
                </a:tc>
                <a:tc>
                  <a:txBody>
                    <a:bodyPr/>
                    <a:lstStyle/>
                    <a:p>
                      <a:pPr>
                        <a:buNone/>
                      </a:pPr>
                      <a:r>
                        <a:rPr lang="en-IN" sz="1800"/>
                        <a:t>Enables interaction through human language</a:t>
                      </a:r>
                    </a:p>
                  </a:txBody>
                  <a:tcPr anchor="ctr">
                    <a:lnL>
                      <a:noFill/>
                    </a:lnL>
                    <a:lnR>
                      <a:noFill/>
                    </a:lnR>
                    <a:lnT>
                      <a:noFill/>
                    </a:lnT>
                    <a:lnB>
                      <a:noFill/>
                    </a:lnB>
                    <a:noFill/>
                  </a:tcPr>
                </a:tc>
                <a:tc>
                  <a:txBody>
                    <a:bodyPr/>
                    <a:lstStyle/>
                    <a:p>
                      <a:pPr>
                        <a:buNone/>
                      </a:pPr>
                      <a:r>
                        <a:rPr lang="en-IN" sz="1800"/>
                        <a:t>Chatbots, essay grading</a:t>
                      </a:r>
                    </a:p>
                  </a:txBody>
                  <a:tcPr anchor="ctr">
                    <a:lnL>
                      <a:noFill/>
                    </a:lnL>
                    <a:lnR>
                      <a:noFill/>
                    </a:lnR>
                    <a:lnT>
                      <a:noFill/>
                    </a:lnT>
                    <a:lnB>
                      <a:noFill/>
                    </a:lnB>
                    <a:noFill/>
                  </a:tcPr>
                </a:tc>
                <a:extLst>
                  <a:ext uri="{0D108BD9-81ED-4DB2-BD59-A6C34878D82A}">
                    <a16:rowId xmlns:a16="http://schemas.microsoft.com/office/drawing/2014/main" val="88558478"/>
                  </a:ext>
                </a:extLst>
              </a:tr>
              <a:tr h="914400">
                <a:tc>
                  <a:txBody>
                    <a:bodyPr/>
                    <a:lstStyle/>
                    <a:p>
                      <a:pPr>
                        <a:buNone/>
                      </a:pPr>
                      <a:r>
                        <a:rPr lang="en-IN" sz="1800" b="1"/>
                        <a:t>Computer Vision</a:t>
                      </a:r>
                      <a:endParaRPr lang="en-IN" sz="1800"/>
                    </a:p>
                  </a:txBody>
                  <a:tcPr anchor="ctr">
                    <a:lnL>
                      <a:noFill/>
                    </a:lnL>
                    <a:lnR>
                      <a:noFill/>
                    </a:lnR>
                    <a:lnT>
                      <a:noFill/>
                    </a:lnT>
                    <a:lnB>
                      <a:noFill/>
                    </a:lnB>
                    <a:noFill/>
                  </a:tcPr>
                </a:tc>
                <a:tc>
                  <a:txBody>
                    <a:bodyPr/>
                    <a:lstStyle/>
                    <a:p>
                      <a:pPr>
                        <a:buNone/>
                      </a:pPr>
                      <a:r>
                        <a:rPr lang="en-IN" sz="1800"/>
                        <a:t>Visual recognition for monitoring and engagement</a:t>
                      </a:r>
                    </a:p>
                  </a:txBody>
                  <a:tcPr anchor="ctr">
                    <a:lnL>
                      <a:noFill/>
                    </a:lnL>
                    <a:lnR>
                      <a:noFill/>
                    </a:lnR>
                    <a:lnT>
                      <a:noFill/>
                    </a:lnT>
                    <a:lnB>
                      <a:noFill/>
                    </a:lnB>
                    <a:noFill/>
                  </a:tcPr>
                </a:tc>
                <a:tc>
                  <a:txBody>
                    <a:bodyPr/>
                    <a:lstStyle/>
                    <a:p>
                      <a:pPr>
                        <a:buNone/>
                      </a:pPr>
                      <a:r>
                        <a:rPr lang="en-IN" sz="1800"/>
                        <a:t>Online proctoring, gesture tracking</a:t>
                      </a:r>
                    </a:p>
                  </a:txBody>
                  <a:tcPr anchor="ctr">
                    <a:lnL>
                      <a:noFill/>
                    </a:lnL>
                    <a:lnR>
                      <a:noFill/>
                    </a:lnR>
                    <a:lnT>
                      <a:noFill/>
                    </a:lnT>
                    <a:lnB>
                      <a:noFill/>
                    </a:lnB>
                    <a:noFill/>
                  </a:tcPr>
                </a:tc>
                <a:extLst>
                  <a:ext uri="{0D108BD9-81ED-4DB2-BD59-A6C34878D82A}">
                    <a16:rowId xmlns:a16="http://schemas.microsoft.com/office/drawing/2014/main" val="1593689492"/>
                  </a:ext>
                </a:extLst>
              </a:tr>
              <a:tr h="640080">
                <a:tc>
                  <a:txBody>
                    <a:bodyPr/>
                    <a:lstStyle/>
                    <a:p>
                      <a:pPr>
                        <a:buNone/>
                      </a:pPr>
                      <a:r>
                        <a:rPr lang="en-IN" sz="1800" b="1"/>
                        <a:t>Speech Recognition</a:t>
                      </a:r>
                      <a:endParaRPr lang="en-IN" sz="1800"/>
                    </a:p>
                  </a:txBody>
                  <a:tcPr anchor="ctr">
                    <a:lnL>
                      <a:noFill/>
                    </a:lnL>
                    <a:lnR>
                      <a:noFill/>
                    </a:lnR>
                    <a:lnT>
                      <a:noFill/>
                    </a:lnT>
                    <a:lnB>
                      <a:noFill/>
                    </a:lnB>
                    <a:noFill/>
                  </a:tcPr>
                </a:tc>
                <a:tc>
                  <a:txBody>
                    <a:bodyPr/>
                    <a:lstStyle/>
                    <a:p>
                      <a:pPr>
                        <a:buNone/>
                      </a:pPr>
                      <a:r>
                        <a:rPr lang="en-IN" sz="1800"/>
                        <a:t>Converts spoken language into text</a:t>
                      </a:r>
                    </a:p>
                  </a:txBody>
                  <a:tcPr anchor="ctr">
                    <a:lnL>
                      <a:noFill/>
                    </a:lnL>
                    <a:lnR>
                      <a:noFill/>
                    </a:lnR>
                    <a:lnT>
                      <a:noFill/>
                    </a:lnT>
                    <a:lnB>
                      <a:noFill/>
                    </a:lnB>
                    <a:noFill/>
                  </a:tcPr>
                </a:tc>
                <a:tc>
                  <a:txBody>
                    <a:bodyPr/>
                    <a:lstStyle/>
                    <a:p>
                      <a:pPr>
                        <a:buNone/>
                      </a:pPr>
                      <a:r>
                        <a:rPr lang="en-IN" sz="1800"/>
                        <a:t>Voice-based learning tools</a:t>
                      </a:r>
                    </a:p>
                  </a:txBody>
                  <a:tcPr anchor="ctr">
                    <a:lnL>
                      <a:noFill/>
                    </a:lnL>
                    <a:lnR>
                      <a:noFill/>
                    </a:lnR>
                    <a:lnT>
                      <a:noFill/>
                    </a:lnT>
                    <a:lnB>
                      <a:noFill/>
                    </a:lnB>
                    <a:noFill/>
                  </a:tcPr>
                </a:tc>
                <a:extLst>
                  <a:ext uri="{0D108BD9-81ED-4DB2-BD59-A6C34878D82A}">
                    <a16:rowId xmlns:a16="http://schemas.microsoft.com/office/drawing/2014/main" val="2209918879"/>
                  </a:ext>
                </a:extLst>
              </a:tr>
              <a:tr h="640080">
                <a:tc>
                  <a:txBody>
                    <a:bodyPr/>
                    <a:lstStyle/>
                    <a:p>
                      <a:pPr>
                        <a:buNone/>
                      </a:pPr>
                      <a:r>
                        <a:rPr lang="en-IN" sz="1800" b="1"/>
                        <a:t>Reinforcement Learning</a:t>
                      </a:r>
                      <a:endParaRPr lang="en-IN" sz="1800"/>
                    </a:p>
                  </a:txBody>
                  <a:tcPr anchor="ctr">
                    <a:lnL>
                      <a:noFill/>
                    </a:lnL>
                    <a:lnR>
                      <a:noFill/>
                    </a:lnR>
                    <a:lnT>
                      <a:noFill/>
                    </a:lnT>
                    <a:lnB>
                      <a:noFill/>
                    </a:lnB>
                    <a:noFill/>
                  </a:tcPr>
                </a:tc>
                <a:tc>
                  <a:txBody>
                    <a:bodyPr/>
                    <a:lstStyle/>
                    <a:p>
                      <a:pPr>
                        <a:buNone/>
                      </a:pPr>
                      <a:r>
                        <a:rPr lang="en-IN" sz="1800"/>
                        <a:t>Optimizes teaching paths dynamically</a:t>
                      </a:r>
                    </a:p>
                  </a:txBody>
                  <a:tcPr anchor="ctr">
                    <a:lnL>
                      <a:noFill/>
                    </a:lnL>
                    <a:lnR>
                      <a:noFill/>
                    </a:lnR>
                    <a:lnT>
                      <a:noFill/>
                    </a:lnT>
                    <a:lnB>
                      <a:noFill/>
                    </a:lnB>
                    <a:noFill/>
                  </a:tcPr>
                </a:tc>
                <a:tc>
                  <a:txBody>
                    <a:bodyPr/>
                    <a:lstStyle/>
                    <a:p>
                      <a:pPr>
                        <a:buNone/>
                      </a:pPr>
                      <a:r>
                        <a:rPr lang="en-IN" sz="1800"/>
                        <a:t>Intelligent tutoring systems</a:t>
                      </a:r>
                    </a:p>
                  </a:txBody>
                  <a:tcPr anchor="ctr">
                    <a:lnL>
                      <a:noFill/>
                    </a:lnL>
                    <a:lnR>
                      <a:noFill/>
                    </a:lnR>
                    <a:lnT>
                      <a:noFill/>
                    </a:lnT>
                    <a:lnB>
                      <a:noFill/>
                    </a:lnB>
                    <a:noFill/>
                  </a:tcPr>
                </a:tc>
                <a:extLst>
                  <a:ext uri="{0D108BD9-81ED-4DB2-BD59-A6C34878D82A}">
                    <a16:rowId xmlns:a16="http://schemas.microsoft.com/office/drawing/2014/main" val="3944647073"/>
                  </a:ext>
                </a:extLst>
              </a:tr>
              <a:tr h="640080">
                <a:tc>
                  <a:txBody>
                    <a:bodyPr/>
                    <a:lstStyle/>
                    <a:p>
                      <a:pPr>
                        <a:buNone/>
                      </a:pPr>
                      <a:r>
                        <a:rPr lang="en-IN" sz="1800" b="1"/>
                        <a:t>Generative AI</a:t>
                      </a:r>
                      <a:endParaRPr lang="en-IN" sz="1800"/>
                    </a:p>
                  </a:txBody>
                  <a:tcPr anchor="ctr">
                    <a:lnL>
                      <a:noFill/>
                    </a:lnL>
                    <a:lnR>
                      <a:noFill/>
                    </a:lnR>
                    <a:lnT>
                      <a:noFill/>
                    </a:lnT>
                    <a:lnB>
                      <a:noFill/>
                    </a:lnB>
                    <a:noFill/>
                  </a:tcPr>
                </a:tc>
                <a:tc>
                  <a:txBody>
                    <a:bodyPr/>
                    <a:lstStyle/>
                    <a:p>
                      <a:pPr>
                        <a:buNone/>
                      </a:pPr>
                      <a:r>
                        <a:rPr lang="en-IN" sz="1800"/>
                        <a:t>Creates educational materials</a:t>
                      </a:r>
                    </a:p>
                  </a:txBody>
                  <a:tcPr anchor="ctr">
                    <a:lnL>
                      <a:noFill/>
                    </a:lnL>
                    <a:lnR>
                      <a:noFill/>
                    </a:lnR>
                    <a:lnT>
                      <a:noFill/>
                    </a:lnT>
                    <a:lnB>
                      <a:noFill/>
                    </a:lnB>
                    <a:noFill/>
                  </a:tcPr>
                </a:tc>
                <a:tc>
                  <a:txBody>
                    <a:bodyPr/>
                    <a:lstStyle/>
                    <a:p>
                      <a:pPr>
                        <a:buNone/>
                      </a:pPr>
                      <a:r>
                        <a:rPr lang="en-IN" sz="1800" dirty="0"/>
                        <a:t>Auto-generated quizzes, notes, and summaries</a:t>
                      </a:r>
                    </a:p>
                  </a:txBody>
                  <a:tcPr anchor="ctr">
                    <a:lnL>
                      <a:noFill/>
                    </a:lnL>
                    <a:lnR>
                      <a:noFill/>
                    </a:lnR>
                    <a:lnT>
                      <a:noFill/>
                    </a:lnT>
                    <a:lnB>
                      <a:noFill/>
                    </a:lnB>
                    <a:noFill/>
                  </a:tcPr>
                </a:tc>
                <a:extLst>
                  <a:ext uri="{0D108BD9-81ED-4DB2-BD59-A6C34878D82A}">
                    <a16:rowId xmlns:a16="http://schemas.microsoft.com/office/drawing/2014/main" val="2468976606"/>
                  </a:ext>
                </a:extLst>
              </a:tr>
            </a:tbl>
          </a:graphicData>
        </a:graphic>
      </p:graphicFrame>
    </p:spTree>
    <p:extLst>
      <p:ext uri="{BB962C8B-B14F-4D97-AF65-F5344CB8AC3E}">
        <p14:creationId xmlns:p14="http://schemas.microsoft.com/office/powerpoint/2010/main" val="23858847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circular diagram&#10;&#10;AI-generated content may be incorrect.">
            <a:extLst>
              <a:ext uri="{FF2B5EF4-FFF2-40B4-BE49-F238E27FC236}">
                <a16:creationId xmlns:a16="http://schemas.microsoft.com/office/drawing/2014/main" id="{644CFFA3-CAC6-1FC3-4F16-23C4E1826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77800"/>
            <a:ext cx="7848600" cy="6502400"/>
          </a:xfrm>
          <a:prstGeom prst="rect">
            <a:avLst/>
          </a:prstGeom>
        </p:spPr>
      </p:pic>
    </p:spTree>
    <p:extLst>
      <p:ext uri="{BB962C8B-B14F-4D97-AF65-F5344CB8AC3E}">
        <p14:creationId xmlns:p14="http://schemas.microsoft.com/office/powerpoint/2010/main" val="25164501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BF28F-056A-CA6E-9493-2FDA194087C7}"/>
              </a:ext>
            </a:extLst>
          </p:cNvPr>
          <p:cNvSpPr>
            <a:spLocks noGrp="1"/>
          </p:cNvSpPr>
          <p:nvPr>
            <p:ph type="title"/>
          </p:nvPr>
        </p:nvSpPr>
        <p:spPr>
          <a:xfrm>
            <a:off x="2059941" y="145492"/>
            <a:ext cx="8072119" cy="615553"/>
          </a:xfrm>
        </p:spPr>
        <p:txBody>
          <a:bodyPr>
            <a:normAutofit fontScale="90000"/>
          </a:bodyPr>
          <a:lstStyle/>
          <a:p>
            <a:r>
              <a:rPr lang="en-IN" dirty="0"/>
              <a:t>Case Studies</a:t>
            </a:r>
            <a:endParaRPr lang="en-US" dirty="0"/>
          </a:p>
        </p:txBody>
      </p:sp>
      <p:graphicFrame>
        <p:nvGraphicFramePr>
          <p:cNvPr id="4" name="Table 3">
            <a:extLst>
              <a:ext uri="{FF2B5EF4-FFF2-40B4-BE49-F238E27FC236}">
                <a16:creationId xmlns:a16="http://schemas.microsoft.com/office/drawing/2014/main" id="{B20DE934-471B-2CFF-1157-E2E3316B7474}"/>
              </a:ext>
            </a:extLst>
          </p:cNvPr>
          <p:cNvGraphicFramePr>
            <a:graphicFrameLocks noGrp="1"/>
          </p:cNvGraphicFramePr>
          <p:nvPr/>
        </p:nvGraphicFramePr>
        <p:xfrm>
          <a:off x="1905000" y="1524000"/>
          <a:ext cx="8074026" cy="3566160"/>
        </p:xfrm>
        <a:graphic>
          <a:graphicData uri="http://schemas.openxmlformats.org/drawingml/2006/table">
            <a:tbl>
              <a:tblPr/>
              <a:tblGrid>
                <a:gridCol w="2691342">
                  <a:extLst>
                    <a:ext uri="{9D8B030D-6E8A-4147-A177-3AD203B41FA5}">
                      <a16:colId xmlns:a16="http://schemas.microsoft.com/office/drawing/2014/main" val="4080147836"/>
                    </a:ext>
                  </a:extLst>
                </a:gridCol>
                <a:gridCol w="2691342">
                  <a:extLst>
                    <a:ext uri="{9D8B030D-6E8A-4147-A177-3AD203B41FA5}">
                      <a16:colId xmlns:a16="http://schemas.microsoft.com/office/drawing/2014/main" val="1627001857"/>
                    </a:ext>
                  </a:extLst>
                </a:gridCol>
                <a:gridCol w="2691342">
                  <a:extLst>
                    <a:ext uri="{9D8B030D-6E8A-4147-A177-3AD203B41FA5}">
                      <a16:colId xmlns:a16="http://schemas.microsoft.com/office/drawing/2014/main" val="986304404"/>
                    </a:ext>
                  </a:extLst>
                </a:gridCol>
              </a:tblGrid>
              <a:tr h="365760">
                <a:tc>
                  <a:txBody>
                    <a:bodyPr/>
                    <a:lstStyle/>
                    <a:p>
                      <a:pPr>
                        <a:buNone/>
                      </a:pPr>
                      <a:r>
                        <a:rPr lang="en-IN" sz="1800" b="1" dirty="0"/>
                        <a:t>Institution / Platform</a:t>
                      </a:r>
                      <a:endParaRPr lang="en-IN" sz="1800" dirty="0"/>
                    </a:p>
                  </a:txBody>
                  <a:tcPr anchor="ctr">
                    <a:lnL>
                      <a:noFill/>
                    </a:lnL>
                    <a:lnR>
                      <a:noFill/>
                    </a:lnR>
                    <a:lnT>
                      <a:noFill/>
                    </a:lnT>
                    <a:lnB>
                      <a:noFill/>
                    </a:lnB>
                    <a:noFill/>
                  </a:tcPr>
                </a:tc>
                <a:tc>
                  <a:txBody>
                    <a:bodyPr/>
                    <a:lstStyle/>
                    <a:p>
                      <a:pPr>
                        <a:buNone/>
                      </a:pPr>
                      <a:r>
                        <a:rPr lang="en-IN" sz="1800" b="1"/>
                        <a:t>AI Application</a:t>
                      </a:r>
                      <a:endParaRPr lang="en-IN" sz="1800"/>
                    </a:p>
                  </a:txBody>
                  <a:tcPr anchor="ctr">
                    <a:lnL>
                      <a:noFill/>
                    </a:lnL>
                    <a:lnR>
                      <a:noFill/>
                    </a:lnR>
                    <a:lnT>
                      <a:noFill/>
                    </a:lnT>
                    <a:lnB>
                      <a:noFill/>
                    </a:lnB>
                    <a:noFill/>
                  </a:tcPr>
                </a:tc>
                <a:tc>
                  <a:txBody>
                    <a:bodyPr/>
                    <a:lstStyle/>
                    <a:p>
                      <a:pPr>
                        <a:buNone/>
                      </a:pPr>
                      <a:r>
                        <a:rPr lang="en-IN" sz="1800" b="1"/>
                        <a:t>Impact</a:t>
                      </a:r>
                      <a:endParaRPr lang="en-IN" sz="1800"/>
                    </a:p>
                  </a:txBody>
                  <a:tcPr anchor="ctr">
                    <a:lnL>
                      <a:noFill/>
                    </a:lnL>
                    <a:lnR>
                      <a:noFill/>
                    </a:lnR>
                    <a:lnT>
                      <a:noFill/>
                    </a:lnT>
                    <a:lnB>
                      <a:noFill/>
                    </a:lnB>
                    <a:noFill/>
                  </a:tcPr>
                </a:tc>
                <a:extLst>
                  <a:ext uri="{0D108BD9-81ED-4DB2-BD59-A6C34878D82A}">
                    <a16:rowId xmlns:a16="http://schemas.microsoft.com/office/drawing/2014/main" val="693512731"/>
                  </a:ext>
                </a:extLst>
              </a:tr>
              <a:tr h="640080">
                <a:tc>
                  <a:txBody>
                    <a:bodyPr/>
                    <a:lstStyle/>
                    <a:p>
                      <a:pPr>
                        <a:buNone/>
                      </a:pPr>
                      <a:r>
                        <a:rPr lang="en-IN" sz="1800" b="1" dirty="0"/>
                        <a:t>Coursera / EdX</a:t>
                      </a:r>
                      <a:endParaRPr lang="en-IN" sz="1800" dirty="0"/>
                    </a:p>
                  </a:txBody>
                  <a:tcPr anchor="ctr">
                    <a:lnL>
                      <a:noFill/>
                    </a:lnL>
                    <a:lnR>
                      <a:noFill/>
                    </a:lnR>
                    <a:lnT>
                      <a:noFill/>
                    </a:lnT>
                    <a:lnB>
                      <a:noFill/>
                    </a:lnB>
                    <a:noFill/>
                  </a:tcPr>
                </a:tc>
                <a:tc>
                  <a:txBody>
                    <a:bodyPr/>
                    <a:lstStyle/>
                    <a:p>
                      <a:pPr>
                        <a:buNone/>
                      </a:pPr>
                      <a:r>
                        <a:rPr lang="en-IN" sz="1800" dirty="0"/>
                        <a:t>Adaptive course recommendations</a:t>
                      </a:r>
                    </a:p>
                  </a:txBody>
                  <a:tcPr anchor="ctr">
                    <a:lnL>
                      <a:noFill/>
                    </a:lnL>
                    <a:lnR>
                      <a:noFill/>
                    </a:lnR>
                    <a:lnT>
                      <a:noFill/>
                    </a:lnT>
                    <a:lnB>
                      <a:noFill/>
                    </a:lnB>
                    <a:noFill/>
                  </a:tcPr>
                </a:tc>
                <a:tc>
                  <a:txBody>
                    <a:bodyPr/>
                    <a:lstStyle/>
                    <a:p>
                      <a:pPr>
                        <a:buNone/>
                      </a:pPr>
                      <a:r>
                        <a:rPr lang="en-IN" sz="1800"/>
                        <a:t>Improved learner engagement</a:t>
                      </a:r>
                    </a:p>
                  </a:txBody>
                  <a:tcPr anchor="ctr">
                    <a:lnL>
                      <a:noFill/>
                    </a:lnL>
                    <a:lnR>
                      <a:noFill/>
                    </a:lnR>
                    <a:lnT>
                      <a:noFill/>
                    </a:lnT>
                    <a:lnB>
                      <a:noFill/>
                    </a:lnB>
                    <a:noFill/>
                  </a:tcPr>
                </a:tc>
                <a:extLst>
                  <a:ext uri="{0D108BD9-81ED-4DB2-BD59-A6C34878D82A}">
                    <a16:rowId xmlns:a16="http://schemas.microsoft.com/office/drawing/2014/main" val="2381807072"/>
                  </a:ext>
                </a:extLst>
              </a:tr>
              <a:tr h="640080">
                <a:tc>
                  <a:txBody>
                    <a:bodyPr/>
                    <a:lstStyle/>
                    <a:p>
                      <a:pPr>
                        <a:buNone/>
                      </a:pPr>
                      <a:r>
                        <a:rPr lang="en-IN" sz="1800" b="1"/>
                        <a:t>Duolingo</a:t>
                      </a:r>
                      <a:endParaRPr lang="en-IN" sz="1800"/>
                    </a:p>
                  </a:txBody>
                  <a:tcPr anchor="ctr">
                    <a:lnL>
                      <a:noFill/>
                    </a:lnL>
                    <a:lnR>
                      <a:noFill/>
                    </a:lnR>
                    <a:lnT>
                      <a:noFill/>
                    </a:lnT>
                    <a:lnB>
                      <a:noFill/>
                    </a:lnB>
                    <a:noFill/>
                  </a:tcPr>
                </a:tc>
                <a:tc>
                  <a:txBody>
                    <a:bodyPr/>
                    <a:lstStyle/>
                    <a:p>
                      <a:pPr>
                        <a:buNone/>
                      </a:pPr>
                      <a:r>
                        <a:rPr lang="en-IN" sz="1800"/>
                        <a:t>AI-based language tutoring</a:t>
                      </a:r>
                    </a:p>
                  </a:txBody>
                  <a:tcPr anchor="ctr">
                    <a:lnL>
                      <a:noFill/>
                    </a:lnL>
                    <a:lnR>
                      <a:noFill/>
                    </a:lnR>
                    <a:lnT>
                      <a:noFill/>
                    </a:lnT>
                    <a:lnB>
                      <a:noFill/>
                    </a:lnB>
                    <a:noFill/>
                  </a:tcPr>
                </a:tc>
                <a:tc>
                  <a:txBody>
                    <a:bodyPr/>
                    <a:lstStyle/>
                    <a:p>
                      <a:pPr>
                        <a:buNone/>
                      </a:pPr>
                      <a:r>
                        <a:rPr lang="en-IN" sz="1800"/>
                        <a:t>Personalized skill improvement</a:t>
                      </a:r>
                    </a:p>
                  </a:txBody>
                  <a:tcPr anchor="ctr">
                    <a:lnL>
                      <a:noFill/>
                    </a:lnL>
                    <a:lnR>
                      <a:noFill/>
                    </a:lnR>
                    <a:lnT>
                      <a:noFill/>
                    </a:lnT>
                    <a:lnB>
                      <a:noFill/>
                    </a:lnB>
                    <a:noFill/>
                  </a:tcPr>
                </a:tc>
                <a:extLst>
                  <a:ext uri="{0D108BD9-81ED-4DB2-BD59-A6C34878D82A}">
                    <a16:rowId xmlns:a16="http://schemas.microsoft.com/office/drawing/2014/main" val="1281978992"/>
                  </a:ext>
                </a:extLst>
              </a:tr>
              <a:tr h="640080">
                <a:tc>
                  <a:txBody>
                    <a:bodyPr/>
                    <a:lstStyle/>
                    <a:p>
                      <a:pPr>
                        <a:buNone/>
                      </a:pPr>
                      <a:r>
                        <a:rPr lang="en-IN" sz="1800" b="1"/>
                        <a:t>Carnegie Learning</a:t>
                      </a:r>
                      <a:endParaRPr lang="en-IN" sz="1800"/>
                    </a:p>
                  </a:txBody>
                  <a:tcPr anchor="ctr">
                    <a:lnL>
                      <a:noFill/>
                    </a:lnL>
                    <a:lnR>
                      <a:noFill/>
                    </a:lnR>
                    <a:lnT>
                      <a:noFill/>
                    </a:lnT>
                    <a:lnB>
                      <a:noFill/>
                    </a:lnB>
                    <a:noFill/>
                  </a:tcPr>
                </a:tc>
                <a:tc>
                  <a:txBody>
                    <a:bodyPr/>
                    <a:lstStyle/>
                    <a:p>
                      <a:pPr>
                        <a:buNone/>
                      </a:pPr>
                      <a:r>
                        <a:rPr lang="en-IN" sz="1800" dirty="0"/>
                        <a:t>Intelligent tutoring for math</a:t>
                      </a:r>
                    </a:p>
                  </a:txBody>
                  <a:tcPr anchor="ctr">
                    <a:lnL>
                      <a:noFill/>
                    </a:lnL>
                    <a:lnR>
                      <a:noFill/>
                    </a:lnR>
                    <a:lnT>
                      <a:noFill/>
                    </a:lnT>
                    <a:lnB>
                      <a:noFill/>
                    </a:lnB>
                    <a:noFill/>
                  </a:tcPr>
                </a:tc>
                <a:tc>
                  <a:txBody>
                    <a:bodyPr/>
                    <a:lstStyle/>
                    <a:p>
                      <a:pPr>
                        <a:buNone/>
                      </a:pPr>
                      <a:r>
                        <a:rPr lang="en-IN" sz="1800"/>
                        <a:t>Increased student success rates</a:t>
                      </a:r>
                    </a:p>
                  </a:txBody>
                  <a:tcPr anchor="ctr">
                    <a:lnL>
                      <a:noFill/>
                    </a:lnL>
                    <a:lnR>
                      <a:noFill/>
                    </a:lnR>
                    <a:lnT>
                      <a:noFill/>
                    </a:lnT>
                    <a:lnB>
                      <a:noFill/>
                    </a:lnB>
                    <a:noFill/>
                  </a:tcPr>
                </a:tc>
                <a:extLst>
                  <a:ext uri="{0D108BD9-81ED-4DB2-BD59-A6C34878D82A}">
                    <a16:rowId xmlns:a16="http://schemas.microsoft.com/office/drawing/2014/main" val="3223691130"/>
                  </a:ext>
                </a:extLst>
              </a:tr>
              <a:tr h="640080">
                <a:tc>
                  <a:txBody>
                    <a:bodyPr/>
                    <a:lstStyle/>
                    <a:p>
                      <a:pPr>
                        <a:buNone/>
                      </a:pPr>
                      <a:r>
                        <a:rPr lang="en-IN" sz="1800" b="1"/>
                        <a:t>Turnitin</a:t>
                      </a:r>
                      <a:endParaRPr lang="en-IN" sz="1800"/>
                    </a:p>
                  </a:txBody>
                  <a:tcPr anchor="ctr">
                    <a:lnL>
                      <a:noFill/>
                    </a:lnL>
                    <a:lnR>
                      <a:noFill/>
                    </a:lnR>
                    <a:lnT>
                      <a:noFill/>
                    </a:lnT>
                    <a:lnB>
                      <a:noFill/>
                    </a:lnB>
                    <a:noFill/>
                  </a:tcPr>
                </a:tc>
                <a:tc>
                  <a:txBody>
                    <a:bodyPr/>
                    <a:lstStyle/>
                    <a:p>
                      <a:pPr>
                        <a:buNone/>
                      </a:pPr>
                      <a:r>
                        <a:rPr lang="en-IN" sz="1800"/>
                        <a:t>AI plagiarism detection</a:t>
                      </a:r>
                    </a:p>
                  </a:txBody>
                  <a:tcPr anchor="ctr">
                    <a:lnL>
                      <a:noFill/>
                    </a:lnL>
                    <a:lnR>
                      <a:noFill/>
                    </a:lnR>
                    <a:lnT>
                      <a:noFill/>
                    </a:lnT>
                    <a:lnB>
                      <a:noFill/>
                    </a:lnB>
                    <a:noFill/>
                  </a:tcPr>
                </a:tc>
                <a:tc>
                  <a:txBody>
                    <a:bodyPr/>
                    <a:lstStyle/>
                    <a:p>
                      <a:pPr>
                        <a:buNone/>
                      </a:pPr>
                      <a:r>
                        <a:rPr lang="en-IN" sz="1800"/>
                        <a:t>Improved academic integrity</a:t>
                      </a:r>
                    </a:p>
                  </a:txBody>
                  <a:tcPr anchor="ctr">
                    <a:lnL>
                      <a:noFill/>
                    </a:lnL>
                    <a:lnR>
                      <a:noFill/>
                    </a:lnR>
                    <a:lnT>
                      <a:noFill/>
                    </a:lnT>
                    <a:lnB>
                      <a:noFill/>
                    </a:lnB>
                    <a:noFill/>
                  </a:tcPr>
                </a:tc>
                <a:extLst>
                  <a:ext uri="{0D108BD9-81ED-4DB2-BD59-A6C34878D82A}">
                    <a16:rowId xmlns:a16="http://schemas.microsoft.com/office/drawing/2014/main" val="3562717333"/>
                  </a:ext>
                </a:extLst>
              </a:tr>
              <a:tr h="640080">
                <a:tc>
                  <a:txBody>
                    <a:bodyPr/>
                    <a:lstStyle/>
                    <a:p>
                      <a:pPr>
                        <a:buNone/>
                      </a:pPr>
                      <a:r>
                        <a:rPr lang="en-IN" sz="1800" b="1" dirty="0"/>
                        <a:t>Open Learning</a:t>
                      </a:r>
                      <a:endParaRPr lang="en-IN" sz="1800" dirty="0"/>
                    </a:p>
                  </a:txBody>
                  <a:tcPr anchor="ctr">
                    <a:lnL>
                      <a:noFill/>
                    </a:lnL>
                    <a:lnR>
                      <a:noFill/>
                    </a:lnR>
                    <a:lnT>
                      <a:noFill/>
                    </a:lnT>
                    <a:lnB>
                      <a:noFill/>
                    </a:lnB>
                    <a:noFill/>
                  </a:tcPr>
                </a:tc>
                <a:tc>
                  <a:txBody>
                    <a:bodyPr/>
                    <a:lstStyle/>
                    <a:p>
                      <a:pPr>
                        <a:buNone/>
                      </a:pPr>
                      <a:r>
                        <a:rPr lang="en-IN" sz="1800" dirty="0"/>
                        <a:t>Predictive analytics</a:t>
                      </a:r>
                    </a:p>
                  </a:txBody>
                  <a:tcPr anchor="ctr">
                    <a:lnL>
                      <a:noFill/>
                    </a:lnL>
                    <a:lnR>
                      <a:noFill/>
                    </a:lnR>
                    <a:lnT>
                      <a:noFill/>
                    </a:lnT>
                    <a:lnB>
                      <a:noFill/>
                    </a:lnB>
                    <a:noFill/>
                  </a:tcPr>
                </a:tc>
                <a:tc>
                  <a:txBody>
                    <a:bodyPr/>
                    <a:lstStyle/>
                    <a:p>
                      <a:pPr>
                        <a:buNone/>
                      </a:pPr>
                      <a:r>
                        <a:rPr lang="en-IN" sz="1800" dirty="0"/>
                        <a:t>Identified struggling learners early</a:t>
                      </a:r>
                    </a:p>
                  </a:txBody>
                  <a:tcPr anchor="ctr">
                    <a:lnL>
                      <a:noFill/>
                    </a:lnL>
                    <a:lnR>
                      <a:noFill/>
                    </a:lnR>
                    <a:lnT>
                      <a:noFill/>
                    </a:lnT>
                    <a:lnB>
                      <a:noFill/>
                    </a:lnB>
                    <a:noFill/>
                  </a:tcPr>
                </a:tc>
                <a:extLst>
                  <a:ext uri="{0D108BD9-81ED-4DB2-BD59-A6C34878D82A}">
                    <a16:rowId xmlns:a16="http://schemas.microsoft.com/office/drawing/2014/main" val="514697914"/>
                  </a:ext>
                </a:extLst>
              </a:tr>
            </a:tbl>
          </a:graphicData>
        </a:graphic>
      </p:graphicFrame>
    </p:spTree>
    <p:extLst>
      <p:ext uri="{BB962C8B-B14F-4D97-AF65-F5344CB8AC3E}">
        <p14:creationId xmlns:p14="http://schemas.microsoft.com/office/powerpoint/2010/main" val="692510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3B40-5DC7-E685-7F55-3BE59FBCFF5C}"/>
              </a:ext>
            </a:extLst>
          </p:cNvPr>
          <p:cNvSpPr>
            <a:spLocks noGrp="1"/>
          </p:cNvSpPr>
          <p:nvPr>
            <p:ph type="title"/>
          </p:nvPr>
        </p:nvSpPr>
        <p:spPr>
          <a:xfrm>
            <a:off x="2059941" y="145492"/>
            <a:ext cx="8072119" cy="615553"/>
          </a:xfrm>
        </p:spPr>
        <p:txBody>
          <a:bodyPr>
            <a:normAutofit fontScale="90000"/>
          </a:bodyPr>
          <a:lstStyle/>
          <a:p>
            <a:r>
              <a:rPr lang="en-US" dirty="0"/>
              <a:t>AI Solutions for Smart Agriculture</a:t>
            </a:r>
          </a:p>
        </p:txBody>
      </p:sp>
      <p:sp>
        <p:nvSpPr>
          <p:cNvPr id="3" name="Text Placeholder 2">
            <a:extLst>
              <a:ext uri="{FF2B5EF4-FFF2-40B4-BE49-F238E27FC236}">
                <a16:creationId xmlns:a16="http://schemas.microsoft.com/office/drawing/2014/main" id="{39FB192C-10A1-E23E-3DA8-B02A4AFEC428}"/>
              </a:ext>
            </a:extLst>
          </p:cNvPr>
          <p:cNvSpPr>
            <a:spLocks noGrp="1"/>
          </p:cNvSpPr>
          <p:nvPr>
            <p:ph type="body" idx="1"/>
          </p:nvPr>
        </p:nvSpPr>
        <p:spPr>
          <a:xfrm>
            <a:off x="2059941" y="1616709"/>
            <a:ext cx="8074025" cy="3077766"/>
          </a:xfrm>
        </p:spPr>
        <p:txBody>
          <a:bodyPr>
            <a:normAutofit fontScale="70000" lnSpcReduction="20000"/>
          </a:bodyPr>
          <a:lstStyle/>
          <a:p>
            <a:r>
              <a:rPr lang="en-US" dirty="0"/>
              <a:t>Definition:</a:t>
            </a:r>
          </a:p>
          <a:p>
            <a:endParaRPr lang="en-US" dirty="0"/>
          </a:p>
          <a:p>
            <a:r>
              <a:rPr lang="en-US" dirty="0"/>
              <a:t>Artificial Intelligence (AI) in Smart Agriculture refers to the use of intelligent systems, data analytics, sensors, and machine learning algorithms to monitor, analyze, and optimize agricultural operations.</a:t>
            </a:r>
          </a:p>
          <a:p>
            <a:endParaRPr lang="en-US" dirty="0"/>
          </a:p>
          <a:p>
            <a:r>
              <a:rPr lang="en-US" dirty="0"/>
              <a:t>Goal:</a:t>
            </a:r>
          </a:p>
          <a:p>
            <a:endParaRPr lang="en-US" dirty="0"/>
          </a:p>
          <a:p>
            <a:r>
              <a:rPr lang="en-US" dirty="0"/>
              <a:t>To increase crop productivity, resource efficiency, and sustainability through data-driven decision-making and automation.</a:t>
            </a:r>
          </a:p>
        </p:txBody>
      </p:sp>
    </p:spTree>
    <p:extLst>
      <p:ext uri="{BB962C8B-B14F-4D97-AF65-F5344CB8AC3E}">
        <p14:creationId xmlns:p14="http://schemas.microsoft.com/office/powerpoint/2010/main" val="560523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10AB-A43E-AC5F-FB52-5E5BFFF83B56}"/>
              </a:ext>
            </a:extLst>
          </p:cNvPr>
          <p:cNvSpPr>
            <a:spLocks noGrp="1"/>
          </p:cNvSpPr>
          <p:nvPr>
            <p:ph type="title"/>
          </p:nvPr>
        </p:nvSpPr>
        <p:spPr>
          <a:xfrm>
            <a:off x="2059941" y="145492"/>
            <a:ext cx="8072119" cy="615553"/>
          </a:xfrm>
        </p:spPr>
        <p:txBody>
          <a:bodyPr>
            <a:normAutofit fontScale="90000"/>
          </a:bodyPr>
          <a:lstStyle/>
          <a:p>
            <a:r>
              <a:rPr lang="en-US" dirty="0"/>
              <a:t>Why AI in Agriculture?</a:t>
            </a:r>
          </a:p>
        </p:txBody>
      </p:sp>
      <p:graphicFrame>
        <p:nvGraphicFramePr>
          <p:cNvPr id="4" name="Table 3">
            <a:extLst>
              <a:ext uri="{FF2B5EF4-FFF2-40B4-BE49-F238E27FC236}">
                <a16:creationId xmlns:a16="http://schemas.microsoft.com/office/drawing/2014/main" id="{3D6732BA-060E-B5F9-6CA0-AD798E121EC9}"/>
              </a:ext>
            </a:extLst>
          </p:cNvPr>
          <p:cNvGraphicFramePr>
            <a:graphicFrameLocks noGrp="1"/>
          </p:cNvGraphicFramePr>
          <p:nvPr/>
        </p:nvGraphicFramePr>
        <p:xfrm>
          <a:off x="2059940" y="1524000"/>
          <a:ext cx="8074024" cy="2743200"/>
        </p:xfrm>
        <a:graphic>
          <a:graphicData uri="http://schemas.openxmlformats.org/drawingml/2006/table">
            <a:tbl>
              <a:tblPr/>
              <a:tblGrid>
                <a:gridCol w="4037012">
                  <a:extLst>
                    <a:ext uri="{9D8B030D-6E8A-4147-A177-3AD203B41FA5}">
                      <a16:colId xmlns:a16="http://schemas.microsoft.com/office/drawing/2014/main" val="1245373488"/>
                    </a:ext>
                  </a:extLst>
                </a:gridCol>
                <a:gridCol w="4037012">
                  <a:extLst>
                    <a:ext uri="{9D8B030D-6E8A-4147-A177-3AD203B41FA5}">
                      <a16:colId xmlns:a16="http://schemas.microsoft.com/office/drawing/2014/main" val="3030205582"/>
                    </a:ext>
                  </a:extLst>
                </a:gridCol>
              </a:tblGrid>
              <a:tr h="365760">
                <a:tc>
                  <a:txBody>
                    <a:bodyPr/>
                    <a:lstStyle/>
                    <a:p>
                      <a:pPr>
                        <a:buNone/>
                      </a:pPr>
                      <a:r>
                        <a:rPr lang="en-IN" sz="1800" b="1"/>
                        <a:t>Traditional Challenges</a:t>
                      </a:r>
                      <a:endParaRPr lang="en-IN" sz="1800"/>
                    </a:p>
                  </a:txBody>
                  <a:tcPr anchor="ctr">
                    <a:lnL>
                      <a:noFill/>
                    </a:lnL>
                    <a:lnR>
                      <a:noFill/>
                    </a:lnR>
                    <a:lnT>
                      <a:noFill/>
                    </a:lnT>
                    <a:lnB>
                      <a:noFill/>
                    </a:lnB>
                    <a:noFill/>
                  </a:tcPr>
                </a:tc>
                <a:tc>
                  <a:txBody>
                    <a:bodyPr/>
                    <a:lstStyle/>
                    <a:p>
                      <a:pPr>
                        <a:buNone/>
                      </a:pPr>
                      <a:r>
                        <a:rPr lang="en-IN" sz="1800" b="1"/>
                        <a:t>AI-Driven Solutions</a:t>
                      </a:r>
                      <a:endParaRPr lang="en-IN" sz="1800"/>
                    </a:p>
                  </a:txBody>
                  <a:tcPr anchor="ctr">
                    <a:lnL>
                      <a:noFill/>
                    </a:lnL>
                    <a:lnR>
                      <a:noFill/>
                    </a:lnR>
                    <a:lnT>
                      <a:noFill/>
                    </a:lnT>
                    <a:lnB>
                      <a:noFill/>
                    </a:lnB>
                    <a:noFill/>
                  </a:tcPr>
                </a:tc>
                <a:extLst>
                  <a:ext uri="{0D108BD9-81ED-4DB2-BD59-A6C34878D82A}">
                    <a16:rowId xmlns:a16="http://schemas.microsoft.com/office/drawing/2014/main" val="4195354785"/>
                  </a:ext>
                </a:extLst>
              </a:tr>
              <a:tr h="640080">
                <a:tc>
                  <a:txBody>
                    <a:bodyPr/>
                    <a:lstStyle/>
                    <a:p>
                      <a:pPr>
                        <a:buNone/>
                      </a:pPr>
                      <a:r>
                        <a:rPr lang="en-IN" sz="1800" dirty="0"/>
                        <a:t>Unpredictable weather and soil conditions</a:t>
                      </a:r>
                    </a:p>
                  </a:txBody>
                  <a:tcPr anchor="ctr">
                    <a:lnL>
                      <a:noFill/>
                    </a:lnL>
                    <a:lnR>
                      <a:noFill/>
                    </a:lnR>
                    <a:lnT>
                      <a:noFill/>
                    </a:lnT>
                    <a:lnB>
                      <a:noFill/>
                    </a:lnB>
                    <a:noFill/>
                  </a:tcPr>
                </a:tc>
                <a:tc>
                  <a:txBody>
                    <a:bodyPr/>
                    <a:lstStyle/>
                    <a:p>
                      <a:pPr>
                        <a:buNone/>
                      </a:pPr>
                      <a:r>
                        <a:rPr lang="en-IN" sz="1800"/>
                        <a:t>Predictive analytics for climate and soil</a:t>
                      </a:r>
                    </a:p>
                  </a:txBody>
                  <a:tcPr anchor="ctr">
                    <a:lnL>
                      <a:noFill/>
                    </a:lnL>
                    <a:lnR>
                      <a:noFill/>
                    </a:lnR>
                    <a:lnT>
                      <a:noFill/>
                    </a:lnT>
                    <a:lnB>
                      <a:noFill/>
                    </a:lnB>
                    <a:noFill/>
                  </a:tcPr>
                </a:tc>
                <a:extLst>
                  <a:ext uri="{0D108BD9-81ED-4DB2-BD59-A6C34878D82A}">
                    <a16:rowId xmlns:a16="http://schemas.microsoft.com/office/drawing/2014/main" val="2302161055"/>
                  </a:ext>
                </a:extLst>
              </a:tr>
              <a:tr h="640080">
                <a:tc>
                  <a:txBody>
                    <a:bodyPr/>
                    <a:lstStyle/>
                    <a:p>
                      <a:pPr>
                        <a:buNone/>
                      </a:pPr>
                      <a:r>
                        <a:rPr lang="en-IN" sz="1800"/>
                        <a:t>Resource wastage (water, fertilizer, pesticides)</a:t>
                      </a:r>
                    </a:p>
                  </a:txBody>
                  <a:tcPr anchor="ctr">
                    <a:lnL>
                      <a:noFill/>
                    </a:lnL>
                    <a:lnR>
                      <a:noFill/>
                    </a:lnR>
                    <a:lnT>
                      <a:noFill/>
                    </a:lnT>
                    <a:lnB>
                      <a:noFill/>
                    </a:lnB>
                    <a:noFill/>
                  </a:tcPr>
                </a:tc>
                <a:tc>
                  <a:txBody>
                    <a:bodyPr/>
                    <a:lstStyle/>
                    <a:p>
                      <a:pPr>
                        <a:buNone/>
                      </a:pPr>
                      <a:r>
                        <a:rPr lang="en-IN" sz="1800"/>
                        <a:t>AI-based precision farming</a:t>
                      </a:r>
                    </a:p>
                  </a:txBody>
                  <a:tcPr anchor="ctr">
                    <a:lnL>
                      <a:noFill/>
                    </a:lnL>
                    <a:lnR>
                      <a:noFill/>
                    </a:lnR>
                    <a:lnT>
                      <a:noFill/>
                    </a:lnT>
                    <a:lnB>
                      <a:noFill/>
                    </a:lnB>
                    <a:noFill/>
                  </a:tcPr>
                </a:tc>
                <a:extLst>
                  <a:ext uri="{0D108BD9-81ED-4DB2-BD59-A6C34878D82A}">
                    <a16:rowId xmlns:a16="http://schemas.microsoft.com/office/drawing/2014/main" val="745157049"/>
                  </a:ext>
                </a:extLst>
              </a:tr>
              <a:tr h="365760">
                <a:tc>
                  <a:txBody>
                    <a:bodyPr/>
                    <a:lstStyle/>
                    <a:p>
                      <a:pPr>
                        <a:buNone/>
                      </a:pPr>
                      <a:r>
                        <a:rPr lang="en-IN" sz="1800"/>
                        <a:t>Labor shortage</a:t>
                      </a:r>
                    </a:p>
                  </a:txBody>
                  <a:tcPr anchor="ctr">
                    <a:lnL>
                      <a:noFill/>
                    </a:lnL>
                    <a:lnR>
                      <a:noFill/>
                    </a:lnR>
                    <a:lnT>
                      <a:noFill/>
                    </a:lnT>
                    <a:lnB>
                      <a:noFill/>
                    </a:lnB>
                    <a:noFill/>
                  </a:tcPr>
                </a:tc>
                <a:tc>
                  <a:txBody>
                    <a:bodyPr/>
                    <a:lstStyle/>
                    <a:p>
                      <a:pPr>
                        <a:buNone/>
                      </a:pPr>
                      <a:r>
                        <a:rPr lang="en-IN" sz="1800"/>
                        <a:t>Agricultural robotics and automation</a:t>
                      </a:r>
                    </a:p>
                  </a:txBody>
                  <a:tcPr anchor="ctr">
                    <a:lnL>
                      <a:noFill/>
                    </a:lnL>
                    <a:lnR>
                      <a:noFill/>
                    </a:lnR>
                    <a:lnT>
                      <a:noFill/>
                    </a:lnT>
                    <a:lnB>
                      <a:noFill/>
                    </a:lnB>
                    <a:noFill/>
                  </a:tcPr>
                </a:tc>
                <a:extLst>
                  <a:ext uri="{0D108BD9-81ED-4DB2-BD59-A6C34878D82A}">
                    <a16:rowId xmlns:a16="http://schemas.microsoft.com/office/drawing/2014/main" val="2227896842"/>
                  </a:ext>
                </a:extLst>
              </a:tr>
              <a:tr h="365760">
                <a:tc>
                  <a:txBody>
                    <a:bodyPr/>
                    <a:lstStyle/>
                    <a:p>
                      <a:pPr>
                        <a:buNone/>
                      </a:pPr>
                      <a:r>
                        <a:rPr lang="en-IN" sz="1800"/>
                        <a:t>Crop diseases and pest outbreaks</a:t>
                      </a:r>
                    </a:p>
                  </a:txBody>
                  <a:tcPr anchor="ctr">
                    <a:lnL>
                      <a:noFill/>
                    </a:lnL>
                    <a:lnR>
                      <a:noFill/>
                    </a:lnR>
                    <a:lnT>
                      <a:noFill/>
                    </a:lnT>
                    <a:lnB>
                      <a:noFill/>
                    </a:lnB>
                    <a:noFill/>
                  </a:tcPr>
                </a:tc>
                <a:tc>
                  <a:txBody>
                    <a:bodyPr/>
                    <a:lstStyle/>
                    <a:p>
                      <a:pPr>
                        <a:buNone/>
                      </a:pPr>
                      <a:r>
                        <a:rPr lang="en-IN" sz="1800"/>
                        <a:t>Computer vision for early detection</a:t>
                      </a:r>
                    </a:p>
                  </a:txBody>
                  <a:tcPr anchor="ctr">
                    <a:lnL>
                      <a:noFill/>
                    </a:lnL>
                    <a:lnR>
                      <a:noFill/>
                    </a:lnR>
                    <a:lnT>
                      <a:noFill/>
                    </a:lnT>
                    <a:lnB>
                      <a:noFill/>
                    </a:lnB>
                    <a:noFill/>
                  </a:tcPr>
                </a:tc>
                <a:extLst>
                  <a:ext uri="{0D108BD9-81ED-4DB2-BD59-A6C34878D82A}">
                    <a16:rowId xmlns:a16="http://schemas.microsoft.com/office/drawing/2014/main" val="2096482523"/>
                  </a:ext>
                </a:extLst>
              </a:tr>
              <a:tr h="365760">
                <a:tc>
                  <a:txBody>
                    <a:bodyPr/>
                    <a:lstStyle/>
                    <a:p>
                      <a:pPr>
                        <a:buNone/>
                      </a:pPr>
                      <a:r>
                        <a:rPr lang="en-IN" sz="1800"/>
                        <a:t>Market uncertainty</a:t>
                      </a:r>
                    </a:p>
                  </a:txBody>
                  <a:tcPr anchor="ctr">
                    <a:lnL>
                      <a:noFill/>
                    </a:lnL>
                    <a:lnR>
                      <a:noFill/>
                    </a:lnR>
                    <a:lnT>
                      <a:noFill/>
                    </a:lnT>
                    <a:lnB>
                      <a:noFill/>
                    </a:lnB>
                    <a:noFill/>
                  </a:tcPr>
                </a:tc>
                <a:tc>
                  <a:txBody>
                    <a:bodyPr/>
                    <a:lstStyle/>
                    <a:p>
                      <a:pPr>
                        <a:buNone/>
                      </a:pPr>
                      <a:r>
                        <a:rPr lang="en-IN" sz="1800" dirty="0"/>
                        <a:t>AI-based price forecasting</a:t>
                      </a:r>
                    </a:p>
                  </a:txBody>
                  <a:tcPr anchor="ctr">
                    <a:lnL>
                      <a:noFill/>
                    </a:lnL>
                    <a:lnR>
                      <a:noFill/>
                    </a:lnR>
                    <a:lnT>
                      <a:noFill/>
                    </a:lnT>
                    <a:lnB>
                      <a:noFill/>
                    </a:lnB>
                    <a:noFill/>
                  </a:tcPr>
                </a:tc>
                <a:extLst>
                  <a:ext uri="{0D108BD9-81ED-4DB2-BD59-A6C34878D82A}">
                    <a16:rowId xmlns:a16="http://schemas.microsoft.com/office/drawing/2014/main" val="829361340"/>
                  </a:ext>
                </a:extLst>
              </a:tr>
            </a:tbl>
          </a:graphicData>
        </a:graphic>
      </p:graphicFrame>
    </p:spTree>
    <p:extLst>
      <p:ext uri="{BB962C8B-B14F-4D97-AF65-F5344CB8AC3E}">
        <p14:creationId xmlns:p14="http://schemas.microsoft.com/office/powerpoint/2010/main" val="520755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8F3F-CDE2-F98B-ECC6-49BFFF71B352}"/>
              </a:ext>
            </a:extLst>
          </p:cNvPr>
          <p:cNvSpPr>
            <a:spLocks noGrp="1"/>
          </p:cNvSpPr>
          <p:nvPr>
            <p:ph type="title"/>
          </p:nvPr>
        </p:nvSpPr>
        <p:spPr/>
        <p:txBody>
          <a:bodyPr/>
          <a:lstStyle/>
          <a:p>
            <a:r>
              <a:rPr lang="en-US" dirty="0"/>
              <a:t>Key AI Technologies Used in Agriculture</a:t>
            </a:r>
          </a:p>
        </p:txBody>
      </p:sp>
      <p:graphicFrame>
        <p:nvGraphicFramePr>
          <p:cNvPr id="4" name="Table 3">
            <a:extLst>
              <a:ext uri="{FF2B5EF4-FFF2-40B4-BE49-F238E27FC236}">
                <a16:creationId xmlns:a16="http://schemas.microsoft.com/office/drawing/2014/main" id="{C0E4FD57-5B9E-F427-600B-C761D6CFE435}"/>
              </a:ext>
            </a:extLst>
          </p:cNvPr>
          <p:cNvGraphicFramePr>
            <a:graphicFrameLocks noGrp="1"/>
          </p:cNvGraphicFramePr>
          <p:nvPr/>
        </p:nvGraphicFramePr>
        <p:xfrm>
          <a:off x="2052173" y="1600200"/>
          <a:ext cx="8074024" cy="4023360"/>
        </p:xfrm>
        <a:graphic>
          <a:graphicData uri="http://schemas.openxmlformats.org/drawingml/2006/table">
            <a:tbl>
              <a:tblPr/>
              <a:tblGrid>
                <a:gridCol w="4037012">
                  <a:extLst>
                    <a:ext uri="{9D8B030D-6E8A-4147-A177-3AD203B41FA5}">
                      <a16:colId xmlns:a16="http://schemas.microsoft.com/office/drawing/2014/main" val="1432451618"/>
                    </a:ext>
                  </a:extLst>
                </a:gridCol>
                <a:gridCol w="4037012">
                  <a:extLst>
                    <a:ext uri="{9D8B030D-6E8A-4147-A177-3AD203B41FA5}">
                      <a16:colId xmlns:a16="http://schemas.microsoft.com/office/drawing/2014/main" val="869397320"/>
                    </a:ext>
                  </a:extLst>
                </a:gridCol>
              </a:tblGrid>
              <a:tr h="365760">
                <a:tc>
                  <a:txBody>
                    <a:bodyPr/>
                    <a:lstStyle/>
                    <a:p>
                      <a:pPr>
                        <a:buNone/>
                      </a:pPr>
                      <a:r>
                        <a:rPr lang="en-IN" sz="1800" b="1"/>
                        <a:t>Technology</a:t>
                      </a:r>
                      <a:endParaRPr lang="en-IN" sz="1800"/>
                    </a:p>
                  </a:txBody>
                  <a:tcPr anchor="ctr">
                    <a:lnL>
                      <a:noFill/>
                    </a:lnL>
                    <a:lnR>
                      <a:noFill/>
                    </a:lnR>
                    <a:lnT>
                      <a:noFill/>
                    </a:lnT>
                    <a:lnB>
                      <a:noFill/>
                    </a:lnB>
                    <a:noFill/>
                  </a:tcPr>
                </a:tc>
                <a:tc>
                  <a:txBody>
                    <a:bodyPr/>
                    <a:lstStyle/>
                    <a:p>
                      <a:pPr>
                        <a:buNone/>
                      </a:pPr>
                      <a:r>
                        <a:rPr lang="en-IN" sz="1800" b="1"/>
                        <a:t>Application</a:t>
                      </a:r>
                      <a:endParaRPr lang="en-IN" sz="1800"/>
                    </a:p>
                  </a:txBody>
                  <a:tcPr anchor="ctr">
                    <a:lnL>
                      <a:noFill/>
                    </a:lnL>
                    <a:lnR>
                      <a:noFill/>
                    </a:lnR>
                    <a:lnT>
                      <a:noFill/>
                    </a:lnT>
                    <a:lnB>
                      <a:noFill/>
                    </a:lnB>
                    <a:noFill/>
                  </a:tcPr>
                </a:tc>
                <a:extLst>
                  <a:ext uri="{0D108BD9-81ED-4DB2-BD59-A6C34878D82A}">
                    <a16:rowId xmlns:a16="http://schemas.microsoft.com/office/drawing/2014/main" val="453659810"/>
                  </a:ext>
                </a:extLst>
              </a:tr>
              <a:tr h="640080">
                <a:tc>
                  <a:txBody>
                    <a:bodyPr/>
                    <a:lstStyle/>
                    <a:p>
                      <a:pPr>
                        <a:buNone/>
                      </a:pPr>
                      <a:r>
                        <a:rPr lang="en-IN" sz="1800" b="1" dirty="0"/>
                        <a:t>Machine Learning (ML)</a:t>
                      </a:r>
                      <a:endParaRPr lang="en-IN" sz="1800" dirty="0"/>
                    </a:p>
                  </a:txBody>
                  <a:tcPr anchor="ctr">
                    <a:lnL>
                      <a:noFill/>
                    </a:lnL>
                    <a:lnR>
                      <a:noFill/>
                    </a:lnR>
                    <a:lnT>
                      <a:noFill/>
                    </a:lnT>
                    <a:lnB>
                      <a:noFill/>
                    </a:lnB>
                    <a:noFill/>
                  </a:tcPr>
                </a:tc>
                <a:tc>
                  <a:txBody>
                    <a:bodyPr/>
                    <a:lstStyle/>
                    <a:p>
                      <a:pPr>
                        <a:buNone/>
                      </a:pPr>
                      <a:r>
                        <a:rPr lang="en-IN" sz="1800"/>
                        <a:t>Crop yield prediction, weather forecasting</a:t>
                      </a:r>
                    </a:p>
                  </a:txBody>
                  <a:tcPr anchor="ctr">
                    <a:lnL>
                      <a:noFill/>
                    </a:lnL>
                    <a:lnR>
                      <a:noFill/>
                    </a:lnR>
                    <a:lnT>
                      <a:noFill/>
                    </a:lnT>
                    <a:lnB>
                      <a:noFill/>
                    </a:lnB>
                    <a:noFill/>
                  </a:tcPr>
                </a:tc>
                <a:extLst>
                  <a:ext uri="{0D108BD9-81ED-4DB2-BD59-A6C34878D82A}">
                    <a16:rowId xmlns:a16="http://schemas.microsoft.com/office/drawing/2014/main" val="3443571072"/>
                  </a:ext>
                </a:extLst>
              </a:tr>
              <a:tr h="640080">
                <a:tc>
                  <a:txBody>
                    <a:bodyPr/>
                    <a:lstStyle/>
                    <a:p>
                      <a:pPr>
                        <a:buNone/>
                      </a:pPr>
                      <a:r>
                        <a:rPr lang="en-IN" sz="1800" b="1"/>
                        <a:t>Computer Vision</a:t>
                      </a:r>
                      <a:endParaRPr lang="en-IN" sz="1800"/>
                    </a:p>
                  </a:txBody>
                  <a:tcPr anchor="ctr">
                    <a:lnL>
                      <a:noFill/>
                    </a:lnL>
                    <a:lnR>
                      <a:noFill/>
                    </a:lnR>
                    <a:lnT>
                      <a:noFill/>
                    </a:lnT>
                    <a:lnB>
                      <a:noFill/>
                    </a:lnB>
                    <a:noFill/>
                  </a:tcPr>
                </a:tc>
                <a:tc>
                  <a:txBody>
                    <a:bodyPr/>
                    <a:lstStyle/>
                    <a:p>
                      <a:pPr>
                        <a:buNone/>
                      </a:pPr>
                      <a:r>
                        <a:rPr lang="en-IN" sz="1800"/>
                        <a:t>Plant disease detection, weed identification</a:t>
                      </a:r>
                    </a:p>
                  </a:txBody>
                  <a:tcPr anchor="ctr">
                    <a:lnL>
                      <a:noFill/>
                    </a:lnL>
                    <a:lnR>
                      <a:noFill/>
                    </a:lnR>
                    <a:lnT>
                      <a:noFill/>
                    </a:lnT>
                    <a:lnB>
                      <a:noFill/>
                    </a:lnB>
                    <a:noFill/>
                  </a:tcPr>
                </a:tc>
                <a:extLst>
                  <a:ext uri="{0D108BD9-81ED-4DB2-BD59-A6C34878D82A}">
                    <a16:rowId xmlns:a16="http://schemas.microsoft.com/office/drawing/2014/main" val="2495693334"/>
                  </a:ext>
                </a:extLst>
              </a:tr>
              <a:tr h="365760">
                <a:tc>
                  <a:txBody>
                    <a:bodyPr/>
                    <a:lstStyle/>
                    <a:p>
                      <a:pPr>
                        <a:buNone/>
                      </a:pPr>
                      <a:r>
                        <a:rPr lang="en-IN" sz="1800" b="1"/>
                        <a:t>Deep Learning</a:t>
                      </a:r>
                      <a:endParaRPr lang="en-IN" sz="1800"/>
                    </a:p>
                  </a:txBody>
                  <a:tcPr anchor="ctr">
                    <a:lnL>
                      <a:noFill/>
                    </a:lnL>
                    <a:lnR>
                      <a:noFill/>
                    </a:lnR>
                    <a:lnT>
                      <a:noFill/>
                    </a:lnT>
                    <a:lnB>
                      <a:noFill/>
                    </a:lnB>
                    <a:noFill/>
                  </a:tcPr>
                </a:tc>
                <a:tc>
                  <a:txBody>
                    <a:bodyPr/>
                    <a:lstStyle/>
                    <a:p>
                      <a:pPr>
                        <a:buNone/>
                      </a:pPr>
                      <a:r>
                        <a:rPr lang="en-IN" sz="1800"/>
                        <a:t>Drone and satellite image analysis</a:t>
                      </a:r>
                    </a:p>
                  </a:txBody>
                  <a:tcPr anchor="ctr">
                    <a:lnL>
                      <a:noFill/>
                    </a:lnL>
                    <a:lnR>
                      <a:noFill/>
                    </a:lnR>
                    <a:lnT>
                      <a:noFill/>
                    </a:lnT>
                    <a:lnB>
                      <a:noFill/>
                    </a:lnB>
                    <a:noFill/>
                  </a:tcPr>
                </a:tc>
                <a:extLst>
                  <a:ext uri="{0D108BD9-81ED-4DB2-BD59-A6C34878D82A}">
                    <a16:rowId xmlns:a16="http://schemas.microsoft.com/office/drawing/2014/main" val="1200862812"/>
                  </a:ext>
                </a:extLst>
              </a:tr>
              <a:tr h="640080">
                <a:tc>
                  <a:txBody>
                    <a:bodyPr/>
                    <a:lstStyle/>
                    <a:p>
                      <a:pPr>
                        <a:buNone/>
                      </a:pPr>
                      <a:r>
                        <a:rPr lang="en-IN" sz="1800" b="1"/>
                        <a:t>IoT (Internet of Things)</a:t>
                      </a:r>
                      <a:endParaRPr lang="en-IN" sz="1800"/>
                    </a:p>
                  </a:txBody>
                  <a:tcPr anchor="ctr">
                    <a:lnL>
                      <a:noFill/>
                    </a:lnL>
                    <a:lnR>
                      <a:noFill/>
                    </a:lnR>
                    <a:lnT>
                      <a:noFill/>
                    </a:lnT>
                    <a:lnB>
                      <a:noFill/>
                    </a:lnB>
                    <a:noFill/>
                  </a:tcPr>
                </a:tc>
                <a:tc>
                  <a:txBody>
                    <a:bodyPr/>
                    <a:lstStyle/>
                    <a:p>
                      <a:pPr>
                        <a:buNone/>
                      </a:pPr>
                      <a:r>
                        <a:rPr lang="en-IN" sz="1800"/>
                        <a:t>Smart sensors for soil, water, and weather monitoring</a:t>
                      </a:r>
                    </a:p>
                  </a:txBody>
                  <a:tcPr anchor="ctr">
                    <a:lnL>
                      <a:noFill/>
                    </a:lnL>
                    <a:lnR>
                      <a:noFill/>
                    </a:lnR>
                    <a:lnT>
                      <a:noFill/>
                    </a:lnT>
                    <a:lnB>
                      <a:noFill/>
                    </a:lnB>
                    <a:noFill/>
                  </a:tcPr>
                </a:tc>
                <a:extLst>
                  <a:ext uri="{0D108BD9-81ED-4DB2-BD59-A6C34878D82A}">
                    <a16:rowId xmlns:a16="http://schemas.microsoft.com/office/drawing/2014/main" val="3541618536"/>
                  </a:ext>
                </a:extLst>
              </a:tr>
              <a:tr h="640080">
                <a:tc>
                  <a:txBody>
                    <a:bodyPr/>
                    <a:lstStyle/>
                    <a:p>
                      <a:pPr>
                        <a:buNone/>
                      </a:pPr>
                      <a:r>
                        <a:rPr lang="en-IN" sz="1800" b="1"/>
                        <a:t>Robotics &amp; Automation</a:t>
                      </a:r>
                      <a:endParaRPr lang="en-IN" sz="1800"/>
                    </a:p>
                  </a:txBody>
                  <a:tcPr anchor="ctr">
                    <a:lnL>
                      <a:noFill/>
                    </a:lnL>
                    <a:lnR>
                      <a:noFill/>
                    </a:lnR>
                    <a:lnT>
                      <a:noFill/>
                    </a:lnT>
                    <a:lnB>
                      <a:noFill/>
                    </a:lnB>
                    <a:noFill/>
                  </a:tcPr>
                </a:tc>
                <a:tc>
                  <a:txBody>
                    <a:bodyPr/>
                    <a:lstStyle/>
                    <a:p>
                      <a:pPr>
                        <a:buNone/>
                      </a:pPr>
                      <a:r>
                        <a:rPr lang="en-IN" sz="1800"/>
                        <a:t>Autonomous tractors, drones, and harvesters</a:t>
                      </a:r>
                    </a:p>
                  </a:txBody>
                  <a:tcPr anchor="ctr">
                    <a:lnL>
                      <a:noFill/>
                    </a:lnL>
                    <a:lnR>
                      <a:noFill/>
                    </a:lnR>
                    <a:lnT>
                      <a:noFill/>
                    </a:lnT>
                    <a:lnB>
                      <a:noFill/>
                    </a:lnB>
                    <a:noFill/>
                  </a:tcPr>
                </a:tc>
                <a:extLst>
                  <a:ext uri="{0D108BD9-81ED-4DB2-BD59-A6C34878D82A}">
                    <a16:rowId xmlns:a16="http://schemas.microsoft.com/office/drawing/2014/main" val="1983184933"/>
                  </a:ext>
                </a:extLst>
              </a:tr>
              <a:tr h="365760">
                <a:tc>
                  <a:txBody>
                    <a:bodyPr/>
                    <a:lstStyle/>
                    <a:p>
                      <a:pPr>
                        <a:buNone/>
                      </a:pPr>
                      <a:r>
                        <a:rPr lang="en-IN" sz="1800" b="1"/>
                        <a:t>Predictive Analytics</a:t>
                      </a:r>
                      <a:endParaRPr lang="en-IN" sz="1800"/>
                    </a:p>
                  </a:txBody>
                  <a:tcPr anchor="ctr">
                    <a:lnL>
                      <a:noFill/>
                    </a:lnL>
                    <a:lnR>
                      <a:noFill/>
                    </a:lnR>
                    <a:lnT>
                      <a:noFill/>
                    </a:lnT>
                    <a:lnB>
                      <a:noFill/>
                    </a:lnB>
                    <a:noFill/>
                  </a:tcPr>
                </a:tc>
                <a:tc>
                  <a:txBody>
                    <a:bodyPr/>
                    <a:lstStyle/>
                    <a:p>
                      <a:pPr>
                        <a:buNone/>
                      </a:pPr>
                      <a:r>
                        <a:rPr lang="en-IN" sz="1800"/>
                        <a:t>Crop and price forecasting</a:t>
                      </a:r>
                    </a:p>
                  </a:txBody>
                  <a:tcPr anchor="ctr">
                    <a:lnL>
                      <a:noFill/>
                    </a:lnL>
                    <a:lnR>
                      <a:noFill/>
                    </a:lnR>
                    <a:lnT>
                      <a:noFill/>
                    </a:lnT>
                    <a:lnB>
                      <a:noFill/>
                    </a:lnB>
                    <a:noFill/>
                  </a:tcPr>
                </a:tc>
                <a:extLst>
                  <a:ext uri="{0D108BD9-81ED-4DB2-BD59-A6C34878D82A}">
                    <a16:rowId xmlns:a16="http://schemas.microsoft.com/office/drawing/2014/main" val="3671556642"/>
                  </a:ext>
                </a:extLst>
              </a:tr>
              <a:tr h="365760">
                <a:tc>
                  <a:txBody>
                    <a:bodyPr/>
                    <a:lstStyle/>
                    <a:p>
                      <a:pPr>
                        <a:buNone/>
                      </a:pPr>
                      <a:r>
                        <a:rPr lang="en-IN" sz="1800" b="1"/>
                        <a:t>Natural Language Processing (NLP)</a:t>
                      </a:r>
                      <a:endParaRPr lang="en-IN" sz="1800"/>
                    </a:p>
                  </a:txBody>
                  <a:tcPr anchor="ctr">
                    <a:lnL>
                      <a:noFill/>
                    </a:lnL>
                    <a:lnR>
                      <a:noFill/>
                    </a:lnR>
                    <a:lnT>
                      <a:noFill/>
                    </a:lnT>
                    <a:lnB>
                      <a:noFill/>
                    </a:lnB>
                    <a:noFill/>
                  </a:tcPr>
                </a:tc>
                <a:tc>
                  <a:txBody>
                    <a:bodyPr/>
                    <a:lstStyle/>
                    <a:p>
                      <a:pPr>
                        <a:buNone/>
                      </a:pPr>
                      <a:r>
                        <a:rPr lang="en-IN" sz="1800" dirty="0"/>
                        <a:t>Chatbots for farmer advisory services</a:t>
                      </a:r>
                    </a:p>
                  </a:txBody>
                  <a:tcPr anchor="ctr">
                    <a:lnL>
                      <a:noFill/>
                    </a:lnL>
                    <a:lnR>
                      <a:noFill/>
                    </a:lnR>
                    <a:lnT>
                      <a:noFill/>
                    </a:lnT>
                    <a:lnB>
                      <a:noFill/>
                    </a:lnB>
                    <a:noFill/>
                  </a:tcPr>
                </a:tc>
                <a:extLst>
                  <a:ext uri="{0D108BD9-81ED-4DB2-BD59-A6C34878D82A}">
                    <a16:rowId xmlns:a16="http://schemas.microsoft.com/office/drawing/2014/main" val="2762742386"/>
                  </a:ext>
                </a:extLst>
              </a:tr>
            </a:tbl>
          </a:graphicData>
        </a:graphic>
      </p:graphicFrame>
    </p:spTree>
    <p:extLst>
      <p:ext uri="{BB962C8B-B14F-4D97-AF65-F5344CB8AC3E}">
        <p14:creationId xmlns:p14="http://schemas.microsoft.com/office/powerpoint/2010/main" val="30630847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157E9-AE02-C69B-8D8C-60C448C6462F}"/>
              </a:ext>
            </a:extLst>
          </p:cNvPr>
          <p:cNvSpPr>
            <a:spLocks noGrp="1"/>
          </p:cNvSpPr>
          <p:nvPr>
            <p:ph type="title"/>
          </p:nvPr>
        </p:nvSpPr>
        <p:spPr/>
        <p:txBody>
          <a:bodyPr/>
          <a:lstStyle/>
          <a:p>
            <a:r>
              <a:rPr lang="en-US" dirty="0"/>
              <a:t>Major Applications of AI in Smart Agriculture</a:t>
            </a:r>
          </a:p>
        </p:txBody>
      </p:sp>
      <p:sp>
        <p:nvSpPr>
          <p:cNvPr id="3" name="Text Placeholder 2">
            <a:extLst>
              <a:ext uri="{FF2B5EF4-FFF2-40B4-BE49-F238E27FC236}">
                <a16:creationId xmlns:a16="http://schemas.microsoft.com/office/drawing/2014/main" id="{064EB916-D3F6-EDA8-B0BE-7F0EEDD3ACC1}"/>
              </a:ext>
            </a:extLst>
          </p:cNvPr>
          <p:cNvSpPr>
            <a:spLocks noGrp="1"/>
          </p:cNvSpPr>
          <p:nvPr>
            <p:ph type="body" idx="1"/>
          </p:nvPr>
        </p:nvSpPr>
        <p:spPr>
          <a:xfrm>
            <a:off x="2059941" y="1616709"/>
            <a:ext cx="8074025" cy="4678204"/>
          </a:xfrm>
        </p:spPr>
        <p:txBody>
          <a:bodyPr>
            <a:normAutofit fontScale="85000" lnSpcReduction="20000"/>
          </a:bodyPr>
          <a:lstStyle/>
          <a:p>
            <a:r>
              <a:rPr lang="en-US" sz="1600" b="1" dirty="0"/>
              <a:t>A. Precision Farming</a:t>
            </a:r>
          </a:p>
          <a:p>
            <a:endParaRPr lang="en-US" sz="1600" dirty="0"/>
          </a:p>
          <a:p>
            <a:r>
              <a:rPr lang="en-US" sz="1600" dirty="0"/>
              <a:t>AI combines sensor data and satellite imagery to optimize irrigation, fertilization, and pesticide use.</a:t>
            </a:r>
          </a:p>
          <a:p>
            <a:endParaRPr lang="en-US" sz="1600" dirty="0"/>
          </a:p>
          <a:p>
            <a:r>
              <a:rPr lang="en-US" sz="1600" dirty="0"/>
              <a:t>Example: John Deere’s See &amp; Spray technology identifies and targets weeds precisely.</a:t>
            </a:r>
          </a:p>
          <a:p>
            <a:endParaRPr lang="en-US" sz="1600" dirty="0"/>
          </a:p>
          <a:p>
            <a:r>
              <a:rPr lang="en-US" sz="1600" b="1" dirty="0"/>
              <a:t>B. Crop Monitoring and Disease Detection</a:t>
            </a:r>
          </a:p>
          <a:p>
            <a:endParaRPr lang="en-US" sz="1600" dirty="0"/>
          </a:p>
          <a:p>
            <a:r>
              <a:rPr lang="en-US" sz="1600" dirty="0"/>
              <a:t>Computer vision models detect pests, nutrient deficiencies, and diseases from leaf images.</a:t>
            </a:r>
          </a:p>
          <a:p>
            <a:endParaRPr lang="en-US" sz="1600" dirty="0"/>
          </a:p>
          <a:p>
            <a:r>
              <a:rPr lang="en-US" sz="1600" dirty="0"/>
              <a:t>Example: </a:t>
            </a:r>
            <a:r>
              <a:rPr lang="en-US" sz="1600" dirty="0" err="1"/>
              <a:t>Plantix</a:t>
            </a:r>
            <a:r>
              <a:rPr lang="en-US" sz="1600" dirty="0"/>
              <a:t> app identifies over 100 plant diseases using AI.</a:t>
            </a:r>
          </a:p>
          <a:p>
            <a:endParaRPr lang="en-US" sz="1600" dirty="0"/>
          </a:p>
          <a:p>
            <a:r>
              <a:rPr lang="en-US" sz="1600" b="1" dirty="0"/>
              <a:t>C. Predictive Analytics for Yield and Weather</a:t>
            </a:r>
          </a:p>
          <a:p>
            <a:endParaRPr lang="en-US" sz="1600" dirty="0"/>
          </a:p>
          <a:p>
            <a:r>
              <a:rPr lang="en-US" sz="1600" dirty="0"/>
              <a:t>ML models predict crop yield and weather risks based on historical data.</a:t>
            </a:r>
          </a:p>
          <a:p>
            <a:endParaRPr lang="en-US" sz="1600" dirty="0"/>
          </a:p>
          <a:p>
            <a:r>
              <a:rPr lang="en-US" sz="1600" dirty="0"/>
              <a:t>Helps in planning sowing and harvesting schedules.</a:t>
            </a:r>
          </a:p>
        </p:txBody>
      </p:sp>
    </p:spTree>
    <p:extLst>
      <p:ext uri="{BB962C8B-B14F-4D97-AF65-F5344CB8AC3E}">
        <p14:creationId xmlns:p14="http://schemas.microsoft.com/office/powerpoint/2010/main" val="38853496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0F1B31A-65DF-FA4E-A859-53AEC0482A1E}"/>
              </a:ext>
            </a:extLst>
          </p:cNvPr>
          <p:cNvSpPr>
            <a:spLocks noGrp="1"/>
          </p:cNvSpPr>
          <p:nvPr>
            <p:ph type="body" idx="1"/>
          </p:nvPr>
        </p:nvSpPr>
        <p:spPr>
          <a:xfrm>
            <a:off x="2058988" y="351235"/>
            <a:ext cx="8074025" cy="6155531"/>
          </a:xfrm>
        </p:spPr>
        <p:txBody>
          <a:bodyPr>
            <a:normAutofit fontScale="77500" lnSpcReduction="20000"/>
          </a:bodyPr>
          <a:lstStyle/>
          <a:p>
            <a:r>
              <a:rPr lang="en-US" sz="1600" b="1" dirty="0"/>
              <a:t>D. Smart Irrigation Systems</a:t>
            </a:r>
          </a:p>
          <a:p>
            <a:endParaRPr lang="en-US" sz="1600" dirty="0"/>
          </a:p>
          <a:p>
            <a:r>
              <a:rPr lang="en-US" sz="1600" dirty="0"/>
              <a:t>IoT sensors and AI algorithms control water usage based on soil moisture and weather conditions.</a:t>
            </a:r>
          </a:p>
          <a:p>
            <a:endParaRPr lang="en-US" sz="1600" dirty="0"/>
          </a:p>
          <a:p>
            <a:r>
              <a:rPr lang="en-US" sz="1600" dirty="0"/>
              <a:t>Example: Arable Mark and CropX optimize irrigation decisions.</a:t>
            </a:r>
          </a:p>
          <a:p>
            <a:endParaRPr lang="en-US" sz="1600" dirty="0"/>
          </a:p>
          <a:p>
            <a:r>
              <a:rPr lang="en-US" sz="1600" b="1" dirty="0"/>
              <a:t>E. Autonomous Machines and Robots</a:t>
            </a:r>
          </a:p>
          <a:p>
            <a:endParaRPr lang="en-US" sz="1600" dirty="0"/>
          </a:p>
          <a:p>
            <a:r>
              <a:rPr lang="en-US" sz="1600" dirty="0"/>
              <a:t>AI-powered drones for aerial monitoring and pesticide spraying.</a:t>
            </a:r>
          </a:p>
          <a:p>
            <a:endParaRPr lang="en-US" sz="1600" dirty="0"/>
          </a:p>
          <a:p>
            <a:r>
              <a:rPr lang="en-US" sz="1600" dirty="0"/>
              <a:t>Autonomous tractors and robotic harvesters reduce manual labor.</a:t>
            </a:r>
          </a:p>
          <a:p>
            <a:endParaRPr lang="en-US" sz="1600" dirty="0"/>
          </a:p>
          <a:p>
            <a:r>
              <a:rPr lang="en-US" sz="1600" b="1" dirty="0"/>
              <a:t>F. Supply Chain Optimization</a:t>
            </a:r>
          </a:p>
          <a:p>
            <a:endParaRPr lang="en-US" sz="1600" dirty="0"/>
          </a:p>
          <a:p>
            <a:r>
              <a:rPr lang="en-US" sz="1600" dirty="0"/>
              <a:t>AI predicts demand and optimizes logistics and storage conditions.</a:t>
            </a:r>
          </a:p>
          <a:p>
            <a:endParaRPr lang="en-US" sz="1600" dirty="0"/>
          </a:p>
          <a:p>
            <a:r>
              <a:rPr lang="en-US" sz="1600" dirty="0"/>
              <a:t>Example: AI platforms forecast crop prices and detect spoilage.</a:t>
            </a:r>
          </a:p>
          <a:p>
            <a:endParaRPr lang="en-US" sz="1600" dirty="0"/>
          </a:p>
          <a:p>
            <a:r>
              <a:rPr lang="en-US" sz="1600" b="1" dirty="0"/>
              <a:t>G. Farmer Advisory and Decision Support</a:t>
            </a:r>
          </a:p>
          <a:p>
            <a:endParaRPr lang="en-US" sz="1600" dirty="0"/>
          </a:p>
          <a:p>
            <a:r>
              <a:rPr lang="en-US" sz="1600" dirty="0"/>
              <a:t>Chatbots and voice assistants guide farmers on crop selection, weather alerts, and pest control.</a:t>
            </a:r>
          </a:p>
          <a:p>
            <a:endParaRPr lang="en-US" sz="1600" dirty="0"/>
          </a:p>
          <a:p>
            <a:r>
              <a:rPr lang="en-US" sz="1600" dirty="0"/>
              <a:t>Example: IBM Watson Decision Platform for Agriculture.</a:t>
            </a:r>
          </a:p>
        </p:txBody>
      </p:sp>
    </p:spTree>
    <p:extLst>
      <p:ext uri="{BB962C8B-B14F-4D97-AF65-F5344CB8AC3E}">
        <p14:creationId xmlns:p14="http://schemas.microsoft.com/office/powerpoint/2010/main" val="30362673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D0589-EEB4-D853-7EA9-A99190CBB444}"/>
              </a:ext>
            </a:extLst>
          </p:cNvPr>
          <p:cNvSpPr>
            <a:spLocks noGrp="1"/>
          </p:cNvSpPr>
          <p:nvPr>
            <p:ph type="title"/>
          </p:nvPr>
        </p:nvSpPr>
        <p:spPr>
          <a:xfrm>
            <a:off x="2059941" y="145492"/>
            <a:ext cx="8072119" cy="615553"/>
          </a:xfrm>
        </p:spPr>
        <p:txBody>
          <a:bodyPr>
            <a:normAutofit fontScale="90000"/>
          </a:bodyPr>
          <a:lstStyle/>
          <a:p>
            <a:r>
              <a:rPr lang="en-US" dirty="0"/>
              <a:t>Benefits of AI in Agriculture</a:t>
            </a:r>
          </a:p>
        </p:txBody>
      </p:sp>
      <p:sp>
        <p:nvSpPr>
          <p:cNvPr id="3" name="Text Placeholder 2">
            <a:extLst>
              <a:ext uri="{FF2B5EF4-FFF2-40B4-BE49-F238E27FC236}">
                <a16:creationId xmlns:a16="http://schemas.microsoft.com/office/drawing/2014/main" id="{1A95E386-B0DE-8315-C666-48FB1412304F}"/>
              </a:ext>
            </a:extLst>
          </p:cNvPr>
          <p:cNvSpPr>
            <a:spLocks noGrp="1"/>
          </p:cNvSpPr>
          <p:nvPr>
            <p:ph type="body" idx="1"/>
          </p:nvPr>
        </p:nvSpPr>
        <p:spPr>
          <a:xfrm>
            <a:off x="2059941" y="1616710"/>
            <a:ext cx="8074025" cy="2769989"/>
          </a:xfrm>
        </p:spPr>
        <p:txBody>
          <a:bodyPr>
            <a:normAutofit fontScale="70000" lnSpcReduction="20000"/>
          </a:bodyPr>
          <a:lstStyle/>
          <a:p>
            <a:r>
              <a:rPr lang="en-IN" b="1" dirty="0"/>
              <a:t>Increased Productivity</a:t>
            </a:r>
            <a:r>
              <a:rPr lang="en-IN" dirty="0"/>
              <a:t> – Better yield through data-driven insights</a:t>
            </a:r>
          </a:p>
          <a:p>
            <a:br>
              <a:rPr lang="en-IN" dirty="0"/>
            </a:br>
            <a:r>
              <a:rPr lang="en-IN" b="1" dirty="0"/>
              <a:t>Resource Optimization</a:t>
            </a:r>
            <a:r>
              <a:rPr lang="en-IN" dirty="0"/>
              <a:t> – Efficient use of water, fertilizers, and energy</a:t>
            </a:r>
          </a:p>
          <a:p>
            <a:br>
              <a:rPr lang="en-IN" dirty="0"/>
            </a:br>
            <a:r>
              <a:rPr lang="en-IN" b="1" dirty="0"/>
              <a:t>Early Disease Detection</a:t>
            </a:r>
            <a:r>
              <a:rPr lang="en-IN" dirty="0"/>
              <a:t> – Prevents losses using predictive alerts</a:t>
            </a:r>
          </a:p>
          <a:p>
            <a:br>
              <a:rPr lang="en-IN" dirty="0"/>
            </a:br>
            <a:r>
              <a:rPr lang="en-IN" b="1" dirty="0"/>
              <a:t>Reduced Labor Cost</a:t>
            </a:r>
            <a:r>
              <a:rPr lang="en-IN" dirty="0"/>
              <a:t> – Automation of repetitive tasks</a:t>
            </a:r>
          </a:p>
          <a:p>
            <a:br>
              <a:rPr lang="en-IN" dirty="0"/>
            </a:br>
            <a:r>
              <a:rPr lang="en-IN" b="1" dirty="0"/>
              <a:t>Sustainability</a:t>
            </a:r>
            <a:r>
              <a:rPr lang="en-IN" dirty="0"/>
              <a:t> – Supports eco-friendly and climate-resilient farming</a:t>
            </a:r>
            <a:endParaRPr lang="en-US" dirty="0"/>
          </a:p>
        </p:txBody>
      </p:sp>
    </p:spTree>
    <p:extLst>
      <p:ext uri="{BB962C8B-B14F-4D97-AF65-F5344CB8AC3E}">
        <p14:creationId xmlns:p14="http://schemas.microsoft.com/office/powerpoint/2010/main" val="27871487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3A628-DF89-7D58-CB66-7CB953EB1CDA}"/>
              </a:ext>
            </a:extLst>
          </p:cNvPr>
          <p:cNvSpPr>
            <a:spLocks noGrp="1"/>
          </p:cNvSpPr>
          <p:nvPr>
            <p:ph type="title"/>
          </p:nvPr>
        </p:nvSpPr>
        <p:spPr>
          <a:xfrm>
            <a:off x="2059941" y="145492"/>
            <a:ext cx="8072119" cy="615553"/>
          </a:xfrm>
        </p:spPr>
        <p:txBody>
          <a:bodyPr>
            <a:normAutofit fontScale="90000"/>
          </a:bodyPr>
          <a:lstStyle/>
          <a:p>
            <a:r>
              <a:rPr lang="en-US" dirty="0"/>
              <a:t>Challenges and Limitations</a:t>
            </a:r>
          </a:p>
        </p:txBody>
      </p:sp>
      <p:sp>
        <p:nvSpPr>
          <p:cNvPr id="3" name="Text Placeholder 2">
            <a:extLst>
              <a:ext uri="{FF2B5EF4-FFF2-40B4-BE49-F238E27FC236}">
                <a16:creationId xmlns:a16="http://schemas.microsoft.com/office/drawing/2014/main" id="{3D1A6124-DCD5-04D7-91FD-658ABDBF7622}"/>
              </a:ext>
            </a:extLst>
          </p:cNvPr>
          <p:cNvSpPr>
            <a:spLocks noGrp="1"/>
          </p:cNvSpPr>
          <p:nvPr>
            <p:ph type="body" idx="1"/>
          </p:nvPr>
        </p:nvSpPr>
        <p:spPr>
          <a:xfrm>
            <a:off x="2059941" y="1616710"/>
            <a:ext cx="8074025" cy="2769989"/>
          </a:xfrm>
        </p:spPr>
        <p:txBody>
          <a:bodyPr>
            <a:normAutofit fontScale="70000" lnSpcReduction="20000"/>
          </a:bodyPr>
          <a:lstStyle/>
          <a:p>
            <a:r>
              <a:rPr lang="en-IN" b="1" dirty="0"/>
              <a:t>High Cost of Technology</a:t>
            </a:r>
            <a:r>
              <a:rPr lang="en-IN" dirty="0"/>
              <a:t> – Limited access for small-scale farmers</a:t>
            </a:r>
          </a:p>
          <a:p>
            <a:br>
              <a:rPr lang="en-IN" dirty="0"/>
            </a:br>
            <a:r>
              <a:rPr lang="en-IN" b="1" dirty="0"/>
              <a:t>Data Availability &amp; Quality</a:t>
            </a:r>
            <a:r>
              <a:rPr lang="en-IN" dirty="0"/>
              <a:t> – Need for reliable, </a:t>
            </a:r>
            <a:r>
              <a:rPr lang="en-IN" dirty="0" err="1"/>
              <a:t>labeled</a:t>
            </a:r>
            <a:r>
              <a:rPr lang="en-IN" dirty="0"/>
              <a:t> datasets</a:t>
            </a:r>
          </a:p>
          <a:p>
            <a:br>
              <a:rPr lang="en-IN" dirty="0"/>
            </a:br>
            <a:r>
              <a:rPr lang="en-IN" b="1" dirty="0"/>
              <a:t>Infrastructure Gaps</a:t>
            </a:r>
            <a:r>
              <a:rPr lang="en-IN" dirty="0"/>
              <a:t> – Poor connectivity in rural areas</a:t>
            </a:r>
          </a:p>
          <a:p>
            <a:br>
              <a:rPr lang="en-IN" dirty="0"/>
            </a:br>
            <a:r>
              <a:rPr lang="en-IN" b="1" dirty="0"/>
              <a:t>Skill Gap</a:t>
            </a:r>
            <a:r>
              <a:rPr lang="en-IN" dirty="0"/>
              <a:t> – Farmers’ lack of AI and digital literacy</a:t>
            </a:r>
          </a:p>
          <a:p>
            <a:br>
              <a:rPr lang="en-IN" dirty="0"/>
            </a:br>
            <a:r>
              <a:rPr lang="en-IN" b="1" dirty="0"/>
              <a:t>Ethical &amp; Privacy Issues</a:t>
            </a:r>
            <a:r>
              <a:rPr lang="en-IN" dirty="0"/>
              <a:t> – Data ownership concerns</a:t>
            </a:r>
            <a:endParaRPr lang="en-US" dirty="0"/>
          </a:p>
        </p:txBody>
      </p:sp>
    </p:spTree>
    <p:extLst>
      <p:ext uri="{BB962C8B-B14F-4D97-AF65-F5344CB8AC3E}">
        <p14:creationId xmlns:p14="http://schemas.microsoft.com/office/powerpoint/2010/main" val="27067154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11FD-C752-344E-B192-73EBC42BD0D2}"/>
              </a:ext>
            </a:extLst>
          </p:cNvPr>
          <p:cNvSpPr>
            <a:spLocks noGrp="1"/>
          </p:cNvSpPr>
          <p:nvPr>
            <p:ph type="title"/>
          </p:nvPr>
        </p:nvSpPr>
        <p:spPr>
          <a:xfrm>
            <a:off x="2059941" y="145492"/>
            <a:ext cx="8072119" cy="615553"/>
          </a:xfrm>
        </p:spPr>
        <p:txBody>
          <a:bodyPr>
            <a:normAutofit fontScale="90000"/>
          </a:bodyPr>
          <a:lstStyle/>
          <a:p>
            <a:r>
              <a:rPr lang="en-US" dirty="0"/>
              <a:t>Future Trends in AI Agriculture</a:t>
            </a:r>
          </a:p>
        </p:txBody>
      </p:sp>
      <p:sp>
        <p:nvSpPr>
          <p:cNvPr id="3" name="Text Placeholder 2">
            <a:extLst>
              <a:ext uri="{FF2B5EF4-FFF2-40B4-BE49-F238E27FC236}">
                <a16:creationId xmlns:a16="http://schemas.microsoft.com/office/drawing/2014/main" id="{71C27EE2-B8F2-77F3-DB64-6104ECC37ADE}"/>
              </a:ext>
            </a:extLst>
          </p:cNvPr>
          <p:cNvSpPr>
            <a:spLocks noGrp="1"/>
          </p:cNvSpPr>
          <p:nvPr>
            <p:ph type="body" idx="1"/>
          </p:nvPr>
        </p:nvSpPr>
        <p:spPr>
          <a:xfrm>
            <a:off x="2059941" y="1616709"/>
            <a:ext cx="8074025" cy="3385542"/>
          </a:xfrm>
        </p:spPr>
        <p:txBody>
          <a:bodyPr>
            <a:normAutofit fontScale="70000" lnSpcReduction="20000"/>
          </a:bodyPr>
          <a:lstStyle/>
          <a:p>
            <a:r>
              <a:rPr lang="en-IN" b="1" dirty="0"/>
              <a:t>AI + IoT (</a:t>
            </a:r>
            <a:r>
              <a:rPr lang="en-IN" b="1" dirty="0" err="1"/>
              <a:t>AgroTech</a:t>
            </a:r>
            <a:r>
              <a:rPr lang="en-IN" b="1" dirty="0"/>
              <a:t>)</a:t>
            </a:r>
            <a:r>
              <a:rPr lang="en-IN" dirty="0"/>
              <a:t> – Integrated sensor networks</a:t>
            </a:r>
          </a:p>
          <a:p>
            <a:br>
              <a:rPr lang="en-IN" dirty="0"/>
            </a:br>
            <a:r>
              <a:rPr lang="en-IN" b="1" dirty="0"/>
              <a:t>Autonomous Farming Systems</a:t>
            </a:r>
            <a:r>
              <a:rPr lang="en-IN" dirty="0"/>
              <a:t> – Self-driving tractors, robotic planters</a:t>
            </a:r>
          </a:p>
          <a:p>
            <a:br>
              <a:rPr lang="en-IN" dirty="0"/>
            </a:br>
            <a:r>
              <a:rPr lang="en-IN" b="1" dirty="0"/>
              <a:t>AI for Climate-Resilient Agriculture</a:t>
            </a:r>
            <a:r>
              <a:rPr lang="en-IN" dirty="0"/>
              <a:t> – Predicting and adapting to climate change</a:t>
            </a:r>
          </a:p>
          <a:p>
            <a:br>
              <a:rPr lang="en-IN" dirty="0"/>
            </a:br>
            <a:r>
              <a:rPr lang="en-IN" b="1" dirty="0"/>
              <a:t>Drone Swarms</a:t>
            </a:r>
            <a:r>
              <a:rPr lang="en-IN" dirty="0"/>
              <a:t> – Coordinated drone operations for large-scale monitoring</a:t>
            </a:r>
          </a:p>
          <a:p>
            <a:br>
              <a:rPr lang="en-IN" dirty="0"/>
            </a:br>
            <a:r>
              <a:rPr lang="en-IN" b="1" dirty="0"/>
              <a:t>Blockchain + AI</a:t>
            </a:r>
            <a:r>
              <a:rPr lang="en-IN" dirty="0"/>
              <a:t> – Transparent supply chain and traceability</a:t>
            </a:r>
            <a:endParaRPr lang="en-US" dirty="0"/>
          </a:p>
        </p:txBody>
      </p:sp>
    </p:spTree>
    <p:extLst>
      <p:ext uri="{BB962C8B-B14F-4D97-AF65-F5344CB8AC3E}">
        <p14:creationId xmlns:p14="http://schemas.microsoft.com/office/powerpoint/2010/main" val="20507555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2AAD9-5B7E-1BDD-A1E0-347E9CC4C351}"/>
              </a:ext>
            </a:extLst>
          </p:cNvPr>
          <p:cNvSpPr>
            <a:spLocks noGrp="1"/>
          </p:cNvSpPr>
          <p:nvPr>
            <p:ph type="title"/>
          </p:nvPr>
        </p:nvSpPr>
        <p:spPr>
          <a:xfrm>
            <a:off x="2059941" y="145492"/>
            <a:ext cx="8072119" cy="615553"/>
          </a:xfrm>
        </p:spPr>
        <p:txBody>
          <a:bodyPr>
            <a:normAutofit fontScale="90000"/>
          </a:bodyPr>
          <a:lstStyle/>
          <a:p>
            <a:r>
              <a:rPr lang="en-US" dirty="0"/>
              <a:t>Case Studies</a:t>
            </a:r>
          </a:p>
        </p:txBody>
      </p:sp>
      <p:graphicFrame>
        <p:nvGraphicFramePr>
          <p:cNvPr id="4" name="Table 3">
            <a:extLst>
              <a:ext uri="{FF2B5EF4-FFF2-40B4-BE49-F238E27FC236}">
                <a16:creationId xmlns:a16="http://schemas.microsoft.com/office/drawing/2014/main" id="{43783F9B-B4B6-3F4B-130F-7662473AEA30}"/>
              </a:ext>
            </a:extLst>
          </p:cNvPr>
          <p:cNvGraphicFramePr>
            <a:graphicFrameLocks noGrp="1"/>
          </p:cNvGraphicFramePr>
          <p:nvPr/>
        </p:nvGraphicFramePr>
        <p:xfrm>
          <a:off x="1981200" y="1066800"/>
          <a:ext cx="8074026" cy="3566160"/>
        </p:xfrm>
        <a:graphic>
          <a:graphicData uri="http://schemas.openxmlformats.org/drawingml/2006/table">
            <a:tbl>
              <a:tblPr/>
              <a:tblGrid>
                <a:gridCol w="2691342">
                  <a:extLst>
                    <a:ext uri="{9D8B030D-6E8A-4147-A177-3AD203B41FA5}">
                      <a16:colId xmlns:a16="http://schemas.microsoft.com/office/drawing/2014/main" val="2888871562"/>
                    </a:ext>
                  </a:extLst>
                </a:gridCol>
                <a:gridCol w="2691342">
                  <a:extLst>
                    <a:ext uri="{9D8B030D-6E8A-4147-A177-3AD203B41FA5}">
                      <a16:colId xmlns:a16="http://schemas.microsoft.com/office/drawing/2014/main" val="2602880792"/>
                    </a:ext>
                  </a:extLst>
                </a:gridCol>
                <a:gridCol w="2691342">
                  <a:extLst>
                    <a:ext uri="{9D8B030D-6E8A-4147-A177-3AD203B41FA5}">
                      <a16:colId xmlns:a16="http://schemas.microsoft.com/office/drawing/2014/main" val="3371035525"/>
                    </a:ext>
                  </a:extLst>
                </a:gridCol>
              </a:tblGrid>
              <a:tr h="365760">
                <a:tc>
                  <a:txBody>
                    <a:bodyPr/>
                    <a:lstStyle/>
                    <a:p>
                      <a:pPr>
                        <a:buNone/>
                      </a:pPr>
                      <a:r>
                        <a:rPr lang="en-IN" sz="1800" b="1"/>
                        <a:t>Organization / Project</a:t>
                      </a:r>
                      <a:endParaRPr lang="en-IN" sz="1800"/>
                    </a:p>
                  </a:txBody>
                  <a:tcPr anchor="ctr">
                    <a:lnL>
                      <a:noFill/>
                    </a:lnL>
                    <a:lnR>
                      <a:noFill/>
                    </a:lnR>
                    <a:lnT>
                      <a:noFill/>
                    </a:lnT>
                    <a:lnB>
                      <a:noFill/>
                    </a:lnB>
                    <a:noFill/>
                  </a:tcPr>
                </a:tc>
                <a:tc>
                  <a:txBody>
                    <a:bodyPr/>
                    <a:lstStyle/>
                    <a:p>
                      <a:pPr>
                        <a:buNone/>
                      </a:pPr>
                      <a:r>
                        <a:rPr lang="en-IN" sz="1800" b="1"/>
                        <a:t>AI Application</a:t>
                      </a:r>
                      <a:endParaRPr lang="en-IN" sz="1800"/>
                    </a:p>
                  </a:txBody>
                  <a:tcPr anchor="ctr">
                    <a:lnL>
                      <a:noFill/>
                    </a:lnL>
                    <a:lnR>
                      <a:noFill/>
                    </a:lnR>
                    <a:lnT>
                      <a:noFill/>
                    </a:lnT>
                    <a:lnB>
                      <a:noFill/>
                    </a:lnB>
                    <a:noFill/>
                  </a:tcPr>
                </a:tc>
                <a:tc>
                  <a:txBody>
                    <a:bodyPr/>
                    <a:lstStyle/>
                    <a:p>
                      <a:pPr>
                        <a:buNone/>
                      </a:pPr>
                      <a:r>
                        <a:rPr lang="en-IN" sz="1800" b="1"/>
                        <a:t>Outcome</a:t>
                      </a:r>
                      <a:endParaRPr lang="en-IN" sz="1800"/>
                    </a:p>
                  </a:txBody>
                  <a:tcPr anchor="ctr">
                    <a:lnL>
                      <a:noFill/>
                    </a:lnL>
                    <a:lnR>
                      <a:noFill/>
                    </a:lnR>
                    <a:lnT>
                      <a:noFill/>
                    </a:lnT>
                    <a:lnB>
                      <a:noFill/>
                    </a:lnB>
                    <a:noFill/>
                  </a:tcPr>
                </a:tc>
                <a:extLst>
                  <a:ext uri="{0D108BD9-81ED-4DB2-BD59-A6C34878D82A}">
                    <a16:rowId xmlns:a16="http://schemas.microsoft.com/office/drawing/2014/main" val="2152573164"/>
                  </a:ext>
                </a:extLst>
              </a:tr>
              <a:tr h="640080">
                <a:tc>
                  <a:txBody>
                    <a:bodyPr/>
                    <a:lstStyle/>
                    <a:p>
                      <a:pPr>
                        <a:buNone/>
                      </a:pPr>
                      <a:r>
                        <a:rPr lang="en-IN" sz="1800" b="1"/>
                        <a:t>John Deere</a:t>
                      </a:r>
                      <a:endParaRPr lang="en-IN" sz="1800"/>
                    </a:p>
                  </a:txBody>
                  <a:tcPr anchor="ctr">
                    <a:lnL>
                      <a:noFill/>
                    </a:lnL>
                    <a:lnR>
                      <a:noFill/>
                    </a:lnR>
                    <a:lnT>
                      <a:noFill/>
                    </a:lnT>
                    <a:lnB>
                      <a:noFill/>
                    </a:lnB>
                    <a:noFill/>
                  </a:tcPr>
                </a:tc>
                <a:tc>
                  <a:txBody>
                    <a:bodyPr/>
                    <a:lstStyle/>
                    <a:p>
                      <a:pPr>
                        <a:buNone/>
                      </a:pPr>
                      <a:r>
                        <a:rPr lang="en-IN" sz="1800"/>
                        <a:t>Computer vision for weed detection</a:t>
                      </a:r>
                    </a:p>
                  </a:txBody>
                  <a:tcPr anchor="ctr">
                    <a:lnL>
                      <a:noFill/>
                    </a:lnL>
                    <a:lnR>
                      <a:noFill/>
                    </a:lnR>
                    <a:lnT>
                      <a:noFill/>
                    </a:lnT>
                    <a:lnB>
                      <a:noFill/>
                    </a:lnB>
                    <a:noFill/>
                  </a:tcPr>
                </a:tc>
                <a:tc>
                  <a:txBody>
                    <a:bodyPr/>
                    <a:lstStyle/>
                    <a:p>
                      <a:pPr>
                        <a:buNone/>
                      </a:pPr>
                      <a:r>
                        <a:rPr lang="en-IN" sz="1800"/>
                        <a:t>Reduced pesticide usage</a:t>
                      </a:r>
                    </a:p>
                  </a:txBody>
                  <a:tcPr anchor="ctr">
                    <a:lnL>
                      <a:noFill/>
                    </a:lnL>
                    <a:lnR>
                      <a:noFill/>
                    </a:lnR>
                    <a:lnT>
                      <a:noFill/>
                    </a:lnT>
                    <a:lnB>
                      <a:noFill/>
                    </a:lnB>
                    <a:noFill/>
                  </a:tcPr>
                </a:tc>
                <a:extLst>
                  <a:ext uri="{0D108BD9-81ED-4DB2-BD59-A6C34878D82A}">
                    <a16:rowId xmlns:a16="http://schemas.microsoft.com/office/drawing/2014/main" val="570883367"/>
                  </a:ext>
                </a:extLst>
              </a:tr>
              <a:tr h="640080">
                <a:tc>
                  <a:txBody>
                    <a:bodyPr/>
                    <a:lstStyle/>
                    <a:p>
                      <a:pPr>
                        <a:buNone/>
                      </a:pPr>
                      <a:r>
                        <a:rPr lang="en-IN" sz="1800" b="1"/>
                        <a:t>IBM Watson</a:t>
                      </a:r>
                      <a:endParaRPr lang="en-IN" sz="1800"/>
                    </a:p>
                  </a:txBody>
                  <a:tcPr anchor="ctr">
                    <a:lnL>
                      <a:noFill/>
                    </a:lnL>
                    <a:lnR>
                      <a:noFill/>
                    </a:lnR>
                    <a:lnT>
                      <a:noFill/>
                    </a:lnT>
                    <a:lnB>
                      <a:noFill/>
                    </a:lnB>
                    <a:noFill/>
                  </a:tcPr>
                </a:tc>
                <a:tc>
                  <a:txBody>
                    <a:bodyPr/>
                    <a:lstStyle/>
                    <a:p>
                      <a:pPr>
                        <a:buNone/>
                      </a:pPr>
                      <a:r>
                        <a:rPr lang="en-IN" sz="1800"/>
                        <a:t>Predictive analytics &amp; farm management</a:t>
                      </a:r>
                    </a:p>
                  </a:txBody>
                  <a:tcPr anchor="ctr">
                    <a:lnL>
                      <a:noFill/>
                    </a:lnL>
                    <a:lnR>
                      <a:noFill/>
                    </a:lnR>
                    <a:lnT>
                      <a:noFill/>
                    </a:lnT>
                    <a:lnB>
                      <a:noFill/>
                    </a:lnB>
                    <a:noFill/>
                  </a:tcPr>
                </a:tc>
                <a:tc>
                  <a:txBody>
                    <a:bodyPr/>
                    <a:lstStyle/>
                    <a:p>
                      <a:pPr>
                        <a:buNone/>
                      </a:pPr>
                      <a:r>
                        <a:rPr lang="en-IN" sz="1800"/>
                        <a:t>Improved crop planning</a:t>
                      </a:r>
                    </a:p>
                  </a:txBody>
                  <a:tcPr anchor="ctr">
                    <a:lnL>
                      <a:noFill/>
                    </a:lnL>
                    <a:lnR>
                      <a:noFill/>
                    </a:lnR>
                    <a:lnT>
                      <a:noFill/>
                    </a:lnT>
                    <a:lnB>
                      <a:noFill/>
                    </a:lnB>
                    <a:noFill/>
                  </a:tcPr>
                </a:tc>
                <a:extLst>
                  <a:ext uri="{0D108BD9-81ED-4DB2-BD59-A6C34878D82A}">
                    <a16:rowId xmlns:a16="http://schemas.microsoft.com/office/drawing/2014/main" val="3877176448"/>
                  </a:ext>
                </a:extLst>
              </a:tr>
              <a:tr h="640080">
                <a:tc>
                  <a:txBody>
                    <a:bodyPr/>
                    <a:lstStyle/>
                    <a:p>
                      <a:pPr>
                        <a:buNone/>
                      </a:pPr>
                      <a:r>
                        <a:rPr lang="en-IN" sz="1800" b="1"/>
                        <a:t>Microsoft AI Sowing App (India)</a:t>
                      </a:r>
                      <a:endParaRPr lang="en-IN" sz="1800"/>
                    </a:p>
                  </a:txBody>
                  <a:tcPr anchor="ctr">
                    <a:lnL>
                      <a:noFill/>
                    </a:lnL>
                    <a:lnR>
                      <a:noFill/>
                    </a:lnR>
                    <a:lnT>
                      <a:noFill/>
                    </a:lnT>
                    <a:lnB>
                      <a:noFill/>
                    </a:lnB>
                    <a:noFill/>
                  </a:tcPr>
                </a:tc>
                <a:tc>
                  <a:txBody>
                    <a:bodyPr/>
                    <a:lstStyle/>
                    <a:p>
                      <a:pPr>
                        <a:buNone/>
                      </a:pPr>
                      <a:r>
                        <a:rPr lang="en-IN" sz="1800"/>
                        <a:t>AI + weather data for sowing time</a:t>
                      </a:r>
                    </a:p>
                  </a:txBody>
                  <a:tcPr anchor="ctr">
                    <a:lnL>
                      <a:noFill/>
                    </a:lnL>
                    <a:lnR>
                      <a:noFill/>
                    </a:lnR>
                    <a:lnT>
                      <a:noFill/>
                    </a:lnT>
                    <a:lnB>
                      <a:noFill/>
                    </a:lnB>
                    <a:noFill/>
                  </a:tcPr>
                </a:tc>
                <a:tc>
                  <a:txBody>
                    <a:bodyPr/>
                    <a:lstStyle/>
                    <a:p>
                      <a:pPr>
                        <a:buNone/>
                      </a:pPr>
                      <a:r>
                        <a:rPr lang="en-IN" sz="1800"/>
                        <a:t>30% higher yield</a:t>
                      </a:r>
                    </a:p>
                  </a:txBody>
                  <a:tcPr anchor="ctr">
                    <a:lnL>
                      <a:noFill/>
                    </a:lnL>
                    <a:lnR>
                      <a:noFill/>
                    </a:lnR>
                    <a:lnT>
                      <a:noFill/>
                    </a:lnT>
                    <a:lnB>
                      <a:noFill/>
                    </a:lnB>
                    <a:noFill/>
                  </a:tcPr>
                </a:tc>
                <a:extLst>
                  <a:ext uri="{0D108BD9-81ED-4DB2-BD59-A6C34878D82A}">
                    <a16:rowId xmlns:a16="http://schemas.microsoft.com/office/drawing/2014/main" val="1552825195"/>
                  </a:ext>
                </a:extLst>
              </a:tr>
              <a:tr h="640080">
                <a:tc>
                  <a:txBody>
                    <a:bodyPr/>
                    <a:lstStyle/>
                    <a:p>
                      <a:pPr>
                        <a:buNone/>
                      </a:pPr>
                      <a:r>
                        <a:rPr lang="en-IN" sz="1800" b="1"/>
                        <a:t>Blue River Technology</a:t>
                      </a:r>
                      <a:endParaRPr lang="en-IN" sz="1800"/>
                    </a:p>
                  </a:txBody>
                  <a:tcPr anchor="ctr">
                    <a:lnL>
                      <a:noFill/>
                    </a:lnL>
                    <a:lnR>
                      <a:noFill/>
                    </a:lnR>
                    <a:lnT>
                      <a:noFill/>
                    </a:lnT>
                    <a:lnB>
                      <a:noFill/>
                    </a:lnB>
                    <a:noFill/>
                  </a:tcPr>
                </a:tc>
                <a:tc>
                  <a:txBody>
                    <a:bodyPr/>
                    <a:lstStyle/>
                    <a:p>
                      <a:pPr>
                        <a:buNone/>
                      </a:pPr>
                      <a:r>
                        <a:rPr lang="en-IN" sz="1800"/>
                        <a:t>Smart spraying robots</a:t>
                      </a:r>
                    </a:p>
                  </a:txBody>
                  <a:tcPr anchor="ctr">
                    <a:lnL>
                      <a:noFill/>
                    </a:lnL>
                    <a:lnR>
                      <a:noFill/>
                    </a:lnR>
                    <a:lnT>
                      <a:noFill/>
                    </a:lnT>
                    <a:lnB>
                      <a:noFill/>
                    </a:lnB>
                    <a:noFill/>
                  </a:tcPr>
                </a:tc>
                <a:tc>
                  <a:txBody>
                    <a:bodyPr/>
                    <a:lstStyle/>
                    <a:p>
                      <a:pPr>
                        <a:buNone/>
                      </a:pPr>
                      <a:r>
                        <a:rPr lang="en-IN" sz="1800"/>
                        <a:t>Precision pesticide application</a:t>
                      </a:r>
                    </a:p>
                  </a:txBody>
                  <a:tcPr anchor="ctr">
                    <a:lnL>
                      <a:noFill/>
                    </a:lnL>
                    <a:lnR>
                      <a:noFill/>
                    </a:lnR>
                    <a:lnT>
                      <a:noFill/>
                    </a:lnT>
                    <a:lnB>
                      <a:noFill/>
                    </a:lnB>
                    <a:noFill/>
                  </a:tcPr>
                </a:tc>
                <a:extLst>
                  <a:ext uri="{0D108BD9-81ED-4DB2-BD59-A6C34878D82A}">
                    <a16:rowId xmlns:a16="http://schemas.microsoft.com/office/drawing/2014/main" val="1293448632"/>
                  </a:ext>
                </a:extLst>
              </a:tr>
              <a:tr h="640080">
                <a:tc>
                  <a:txBody>
                    <a:bodyPr/>
                    <a:lstStyle/>
                    <a:p>
                      <a:pPr>
                        <a:buNone/>
                      </a:pPr>
                      <a:r>
                        <a:rPr lang="en-IN" sz="1800" b="1"/>
                        <a:t>CropIn</a:t>
                      </a:r>
                      <a:endParaRPr lang="en-IN" sz="1800"/>
                    </a:p>
                  </a:txBody>
                  <a:tcPr anchor="ctr">
                    <a:lnL>
                      <a:noFill/>
                    </a:lnL>
                    <a:lnR>
                      <a:noFill/>
                    </a:lnR>
                    <a:lnT>
                      <a:noFill/>
                    </a:lnT>
                    <a:lnB>
                      <a:noFill/>
                    </a:lnB>
                    <a:noFill/>
                  </a:tcPr>
                </a:tc>
                <a:tc>
                  <a:txBody>
                    <a:bodyPr/>
                    <a:lstStyle/>
                    <a:p>
                      <a:pPr>
                        <a:buNone/>
                      </a:pPr>
                      <a:r>
                        <a:rPr lang="en-IN" sz="1800"/>
                        <a:t>AI-based farm monitoring platform</a:t>
                      </a:r>
                    </a:p>
                  </a:txBody>
                  <a:tcPr anchor="ctr">
                    <a:lnL>
                      <a:noFill/>
                    </a:lnL>
                    <a:lnR>
                      <a:noFill/>
                    </a:lnR>
                    <a:lnT>
                      <a:noFill/>
                    </a:lnT>
                    <a:lnB>
                      <a:noFill/>
                    </a:lnB>
                    <a:noFill/>
                  </a:tcPr>
                </a:tc>
                <a:tc>
                  <a:txBody>
                    <a:bodyPr/>
                    <a:lstStyle/>
                    <a:p>
                      <a:pPr>
                        <a:buNone/>
                      </a:pPr>
                      <a:r>
                        <a:rPr lang="en-IN" sz="1800" dirty="0"/>
                        <a:t>Real-time crop health data</a:t>
                      </a:r>
                    </a:p>
                  </a:txBody>
                  <a:tcPr anchor="ctr">
                    <a:lnL>
                      <a:noFill/>
                    </a:lnL>
                    <a:lnR>
                      <a:noFill/>
                    </a:lnR>
                    <a:lnT>
                      <a:noFill/>
                    </a:lnT>
                    <a:lnB>
                      <a:noFill/>
                    </a:lnB>
                    <a:noFill/>
                  </a:tcPr>
                </a:tc>
                <a:extLst>
                  <a:ext uri="{0D108BD9-81ED-4DB2-BD59-A6C34878D82A}">
                    <a16:rowId xmlns:a16="http://schemas.microsoft.com/office/drawing/2014/main" val="3364152650"/>
                  </a:ext>
                </a:extLst>
              </a:tr>
            </a:tbl>
          </a:graphicData>
        </a:graphic>
      </p:graphicFrame>
    </p:spTree>
    <p:extLst>
      <p:ext uri="{BB962C8B-B14F-4D97-AF65-F5344CB8AC3E}">
        <p14:creationId xmlns:p14="http://schemas.microsoft.com/office/powerpoint/2010/main" val="21646180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2299E-B1BE-3F25-EA27-B4C963BFD51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3A3FF61-2D7D-CACD-295F-C0BC720C8B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19583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4372</Words>
  <Application>Microsoft Macintosh PowerPoint</Application>
  <PresentationFormat>Widescreen</PresentationFormat>
  <Paragraphs>641</Paragraphs>
  <Slides>74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Aptos</vt:lpstr>
      <vt:lpstr>Aptos Display</vt:lpstr>
      <vt:lpstr>Arial</vt:lpstr>
      <vt:lpstr>Calibri</vt:lpstr>
      <vt:lpstr>Cambria Math</vt:lpstr>
      <vt:lpstr>Times New Roman</vt:lpstr>
      <vt:lpstr>Wingdings</vt:lpstr>
      <vt:lpstr>Office Theme</vt:lpstr>
      <vt:lpstr>B Tech CSE(AI-DS)</vt:lpstr>
      <vt:lpstr>Unit 4 – AI Applications</vt:lpstr>
      <vt:lpstr>Artificial Intelligence in Game Development </vt:lpstr>
      <vt:lpstr>Role of AI in Games</vt:lpstr>
      <vt:lpstr>AI Techniques Used in Game Development</vt:lpstr>
      <vt:lpstr>heuristic algorithm</vt:lpstr>
      <vt:lpstr>A* (A-Star) Algorithm</vt:lpstr>
      <vt:lpstr>PowerPoint Presentation</vt:lpstr>
      <vt:lpstr>How A* solves the 8-Puzzle problem. </vt:lpstr>
      <vt:lpstr>PowerPoint Presentation</vt:lpstr>
      <vt:lpstr>PowerPoint Presentation</vt:lpstr>
      <vt:lpstr>Minimax </vt:lpstr>
      <vt:lpstr>PowerPoint Presentation</vt:lpstr>
      <vt:lpstr>PowerPoint Presentation</vt:lpstr>
      <vt:lpstr>Alpha-Beta Pruning (in Game AI)</vt:lpstr>
      <vt:lpstr>Key Terms</vt:lpstr>
      <vt:lpstr>Working Principle </vt:lpstr>
      <vt:lpstr>Alpha-Beta Pruning (in Game AI)</vt:lpstr>
      <vt:lpstr>AI Applications in Healthcare</vt:lpstr>
      <vt:lpstr>PowerPoint Presentation</vt:lpstr>
      <vt:lpstr>Role of AI in Healthcare</vt:lpstr>
      <vt:lpstr>PowerPoint Presentation</vt:lpstr>
      <vt:lpstr>PowerPoint Presentation</vt:lpstr>
      <vt:lpstr>PowerPoint Presentation</vt:lpstr>
      <vt:lpstr>PowerPoint Presentation</vt:lpstr>
      <vt:lpstr>AI Applications in Healthcare, organized by key domains and examples: </vt:lpstr>
      <vt:lpstr> Drug Discovery and Development</vt:lpstr>
      <vt:lpstr>Predictive Analytics and Disease Forecasting</vt:lpstr>
      <vt:lpstr>Hospital Management and Workflow Automation</vt:lpstr>
      <vt:lpstr>Virtual Health Assistants and Chatbots</vt:lpstr>
      <vt:lpstr>Remote Monitoring and Wearable Devices </vt:lpstr>
      <vt:lpstr>Surgery and Robotics</vt:lpstr>
      <vt:lpstr>AI in Robotics and Autonomous Systems</vt:lpstr>
      <vt:lpstr>PowerPoint Presentation</vt:lpstr>
      <vt:lpstr>PowerPoint Presentation</vt:lpstr>
      <vt:lpstr>Key AI Technologies Driving Autonomy</vt:lpstr>
      <vt:lpstr>PowerPoint Presentation</vt:lpstr>
      <vt:lpstr>Applications Across Industries</vt:lpstr>
      <vt:lpstr>PowerPoint Presentation</vt:lpstr>
      <vt:lpstr>AI in Robotics and Autonomous Systems </vt:lpstr>
      <vt:lpstr>Key AI Components in Robotics</vt:lpstr>
      <vt:lpstr>Applications in Autonomous Systems</vt:lpstr>
      <vt:lpstr>PowerPoint Presentation</vt:lpstr>
      <vt:lpstr>Core AI Techniques Used</vt:lpstr>
      <vt:lpstr>AI-Driven Innovations in Finance</vt:lpstr>
      <vt:lpstr>Role of AI in the Financial Sector</vt:lpstr>
      <vt:lpstr>Core AI Technologies in Finance</vt:lpstr>
      <vt:lpstr>Key Applications</vt:lpstr>
      <vt:lpstr>PowerPoint Presentation</vt:lpstr>
      <vt:lpstr>PowerPoint Presentation</vt:lpstr>
      <vt:lpstr>PowerPoint Presentation</vt:lpstr>
      <vt:lpstr>AI for Business Optimization</vt:lpstr>
      <vt:lpstr>Key Applications and Use Cases for Business Optimization</vt:lpstr>
      <vt:lpstr>PowerPoint Presentation</vt:lpstr>
      <vt:lpstr>Core Benefits of AI for Business Optimization</vt:lpstr>
      <vt:lpstr>AI Techniques in Marketing</vt:lpstr>
      <vt:lpstr>Core AI Technologies Enabling Marketing</vt:lpstr>
      <vt:lpstr>Core AI Techniques Used in Marketing </vt:lpstr>
      <vt:lpstr>Case Studies</vt:lpstr>
      <vt:lpstr>PowerPoint Presentation</vt:lpstr>
      <vt:lpstr>AI in Educational Technology</vt:lpstr>
      <vt:lpstr>Key AI Technologies Used in EdTech</vt:lpstr>
      <vt:lpstr>PowerPoint Presentation</vt:lpstr>
      <vt:lpstr>Case Studies</vt:lpstr>
      <vt:lpstr>AI Solutions for Smart Agriculture</vt:lpstr>
      <vt:lpstr>Why AI in Agriculture?</vt:lpstr>
      <vt:lpstr>Key AI Technologies Used in Agriculture</vt:lpstr>
      <vt:lpstr>Major Applications of AI in Smart Agriculture</vt:lpstr>
      <vt:lpstr>PowerPoint Presentation</vt:lpstr>
      <vt:lpstr>Benefits of AI in Agriculture</vt:lpstr>
      <vt:lpstr>Challenges and Limitations</vt:lpstr>
      <vt:lpstr>Future Trends in AI Agriculture</vt:lpstr>
      <vt:lpstr>Case Studies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Devendra Joshi</dc:creator>
  <cp:lastModifiedBy>Devendra Joshi</cp:lastModifiedBy>
  <cp:revision>2</cp:revision>
  <dcterms:created xsi:type="dcterms:W3CDTF">2025-10-13T08:13:44Z</dcterms:created>
  <dcterms:modified xsi:type="dcterms:W3CDTF">2025-10-13T08:32:25Z</dcterms:modified>
</cp:coreProperties>
</file>