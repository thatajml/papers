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834" r:id="rId2"/>
    <p:sldId id="835" r:id="rId3"/>
    <p:sldId id="836" r:id="rId4"/>
    <p:sldId id="837" r:id="rId5"/>
    <p:sldId id="838" r:id="rId6"/>
    <p:sldId id="839" r:id="rId7"/>
    <p:sldId id="840" r:id="rId8"/>
    <p:sldId id="841" r:id="rId9"/>
    <p:sldId id="842" r:id="rId10"/>
    <p:sldId id="843" r:id="rId11"/>
    <p:sldId id="844" r:id="rId12"/>
    <p:sldId id="845" r:id="rId13"/>
    <p:sldId id="846" r:id="rId14"/>
    <p:sldId id="847" r:id="rId15"/>
    <p:sldId id="848" r:id="rId16"/>
    <p:sldId id="849" r:id="rId17"/>
    <p:sldId id="850" r:id="rId18"/>
    <p:sldId id="851" r:id="rId19"/>
    <p:sldId id="852" r:id="rId20"/>
    <p:sldId id="853" r:id="rId21"/>
    <p:sldId id="854" r:id="rId22"/>
    <p:sldId id="855" r:id="rId23"/>
    <p:sldId id="856" r:id="rId24"/>
    <p:sldId id="857" r:id="rId25"/>
    <p:sldId id="858" r:id="rId26"/>
    <p:sldId id="859" r:id="rId27"/>
    <p:sldId id="860" r:id="rId28"/>
    <p:sldId id="861" r:id="rId29"/>
    <p:sldId id="862" r:id="rId30"/>
    <p:sldId id="863" r:id="rId31"/>
    <p:sldId id="864" r:id="rId32"/>
    <p:sldId id="865" r:id="rId33"/>
    <p:sldId id="866" r:id="rId34"/>
    <p:sldId id="867" r:id="rId35"/>
    <p:sldId id="868" r:id="rId36"/>
    <p:sldId id="869" r:id="rId37"/>
    <p:sldId id="870" r:id="rId38"/>
    <p:sldId id="871" r:id="rId39"/>
    <p:sldId id="872" r:id="rId40"/>
    <p:sldId id="873" r:id="rId41"/>
    <p:sldId id="874" r:id="rId42"/>
    <p:sldId id="875" r:id="rId43"/>
    <p:sldId id="876" r:id="rId44"/>
    <p:sldId id="877" r:id="rId45"/>
    <p:sldId id="878" r:id="rId46"/>
    <p:sldId id="879" r:id="rId47"/>
    <p:sldId id="880" r:id="rId48"/>
    <p:sldId id="881" r:id="rId49"/>
    <p:sldId id="882" r:id="rId50"/>
    <p:sldId id="883" r:id="rId51"/>
    <p:sldId id="884" r:id="rId52"/>
    <p:sldId id="885" r:id="rId53"/>
    <p:sldId id="886" r:id="rId54"/>
    <p:sldId id="887" r:id="rId55"/>
    <p:sldId id="888" r:id="rId56"/>
    <p:sldId id="889" r:id="rId57"/>
    <p:sldId id="89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9"/>
  </p:normalViewPr>
  <p:slideViewPr>
    <p:cSldViewPr snapToGrid="0">
      <p:cViewPr varScale="1">
        <p:scale>
          <a:sx n="112" d="100"/>
          <a:sy n="112"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8239-EBC3-3BA8-6975-1D8C13B514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F7672C-90EF-CD7B-FAAC-7D3029CFCC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D466316-0B92-AC99-307D-8BCCE6BE50C3}"/>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4ADF2438-AEA5-682E-4524-5D20F7C97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E0310-7B28-036C-3FE7-1AA542F31098}"/>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1223880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158C-5EDB-9EEA-7A88-3B63B80FDD3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B4AB3E5-D726-57D9-48F2-1937743EF56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CD17D87-186B-A55D-80EA-CEBEC65F10F1}"/>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34990515-843A-76F0-D581-D3638C584B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132AA-7473-3BE5-192C-F337D61B64AF}"/>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3794325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F636-E3ED-0380-9212-D9C8517383E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B6A7632-7B13-5560-1BF0-9398F446E2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2EEFEF-0185-B4B9-730A-FEC5615A2936}"/>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7BE71ABC-F152-6D58-6BDB-BE3D587C7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C5EE-B986-3094-C70A-69D555F4B678}"/>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3785453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C25A-EF65-36D9-E495-EE1F3F1DE8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2910334-DC08-B1DF-416C-4560455B615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0832752-6902-2662-3C70-7238568DFD4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DA40162-7C63-6301-7D13-30B9362CDC05}"/>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6" name="Footer Placeholder 5">
            <a:extLst>
              <a:ext uri="{FF2B5EF4-FFF2-40B4-BE49-F238E27FC236}">
                <a16:creationId xmlns:a16="http://schemas.microsoft.com/office/drawing/2014/main" id="{CD3D9B31-C7E1-ACBB-7065-92BC244118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0457F-A32F-9E81-2FDE-32048BF711BF}"/>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586428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769B-A78D-4863-8287-827C6BFA07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D65DAFC-D0F5-9395-04F8-173F09B75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AAE1ADB-C9ED-6D03-F7BE-4DEBD023AB6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85CD9F4-FC4C-070E-1CD9-35BCE96D4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B5F58B-AEA3-60B2-A722-CF6561351DD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C83BDFB-5F29-A74B-1C40-294CF908091E}"/>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8" name="Footer Placeholder 7">
            <a:extLst>
              <a:ext uri="{FF2B5EF4-FFF2-40B4-BE49-F238E27FC236}">
                <a16:creationId xmlns:a16="http://schemas.microsoft.com/office/drawing/2014/main" id="{8F030050-68C3-D46B-69F7-C4E92FCD54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C8F8E5-4F56-69FB-8FA9-7EDFDE10AFEA}"/>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3703365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A2C5-36CC-2940-AADF-25D4B10EB80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F21581E-6724-BD5D-36BD-B1BFFD55F9B7}"/>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4" name="Footer Placeholder 3">
            <a:extLst>
              <a:ext uri="{FF2B5EF4-FFF2-40B4-BE49-F238E27FC236}">
                <a16:creationId xmlns:a16="http://schemas.microsoft.com/office/drawing/2014/main" id="{FFBF62DF-BC22-F761-18F3-34A9BB6423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7B881F-973D-9A70-6604-00F866AD9FDD}"/>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339813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6D877A-AE3D-2931-923A-F1C187486AE5}"/>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3" name="Footer Placeholder 2">
            <a:extLst>
              <a:ext uri="{FF2B5EF4-FFF2-40B4-BE49-F238E27FC236}">
                <a16:creationId xmlns:a16="http://schemas.microsoft.com/office/drawing/2014/main" id="{644E4188-90E6-55F3-1813-2D38F25715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5D5385-E1E6-C4FA-7A8D-2E340AB94EBF}"/>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955931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CD3B0-AC7A-C2C5-8C33-2640230F576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EBE7E37-255A-1AE7-FB4F-9A2E90925F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230491D-5B0D-AAC7-9A34-1258C3929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DE08AE-F020-7015-96F4-C81DB1B10F9E}"/>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6" name="Footer Placeholder 5">
            <a:extLst>
              <a:ext uri="{FF2B5EF4-FFF2-40B4-BE49-F238E27FC236}">
                <a16:creationId xmlns:a16="http://schemas.microsoft.com/office/drawing/2014/main" id="{CE5F5143-CCA0-4FD0-A14D-DA0097ACE6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B59E43-25B3-D6EF-5BDB-FADAECDC652D}"/>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1306826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33CF-1530-DB6C-0761-9C75B319AF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82C9B33-F668-5741-D3E8-3D72A6B47E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86B0B1-9492-D0B0-1A73-9C38CA961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08D6E5-1D50-BE38-C24A-8040020E48DF}"/>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6" name="Footer Placeholder 5">
            <a:extLst>
              <a:ext uri="{FF2B5EF4-FFF2-40B4-BE49-F238E27FC236}">
                <a16:creationId xmlns:a16="http://schemas.microsoft.com/office/drawing/2014/main" id="{710C3FE5-AC02-12EE-F198-1447E4F485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3B964-A95A-1596-DB93-C3CA25CE0E51}"/>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155383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5C974-4628-A5B9-85CF-54E624C79C6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C34EB3A-844B-F9D7-2B93-0661019C98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9AE4693-9504-12C2-D64A-7E97EB5C049C}"/>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7C46226D-57E4-421B-D7FF-920AEFAE70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9437D-16E2-9ECC-7144-818BFBFFD3CA}"/>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2820688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36FD68-156D-A705-29B9-9BE7AC2BFBA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9E39711-A7C2-32C7-5BC5-830449EDD5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3D1024-81B1-26ED-214A-D315AA0864D3}"/>
              </a:ext>
            </a:extLst>
          </p:cNvPr>
          <p:cNvSpPr>
            <a:spLocks noGrp="1"/>
          </p:cNvSpPr>
          <p:nvPr>
            <p:ph type="dt" sz="half" idx="10"/>
          </p:nvPr>
        </p:nvSpPr>
        <p:spPr/>
        <p:txBody>
          <a:body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A166B60C-7C92-C893-CFCD-0D968B12D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AD7AB-8544-8831-C44C-C09B22B9AC42}"/>
              </a:ext>
            </a:extLst>
          </p:cNvPr>
          <p:cNvSpPr>
            <a:spLocks noGrp="1"/>
          </p:cNvSpPr>
          <p:nvPr>
            <p:ph type="sldNum" sz="quarter" idx="12"/>
          </p:nvPr>
        </p:nvSpPr>
        <p:spPr/>
        <p:txBody>
          <a:bodyPr/>
          <a:lstStyle/>
          <a:p>
            <a:fld id="{110B3A19-03B5-F54B-9069-337C4323CFE8}" type="slidenum">
              <a:rPr lang="en-US" smtClean="0"/>
              <a:t>‹#›</a:t>
            </a:fld>
            <a:endParaRPr lang="en-US"/>
          </a:p>
        </p:txBody>
      </p:sp>
    </p:spTree>
    <p:extLst>
      <p:ext uri="{BB962C8B-B14F-4D97-AF65-F5344CB8AC3E}">
        <p14:creationId xmlns:p14="http://schemas.microsoft.com/office/powerpoint/2010/main" val="1570260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F2259E-EB4F-5A88-D4C6-AFD1397B14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479F2A-60CD-56D8-BA85-1588A716A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62F0C0E-D34A-5442-5FEE-B8B4F3D14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75856C-7ED3-7849-BFCA-45ABE8024EEE}" type="datetimeFigureOut">
              <a:rPr lang="en-US" smtClean="0"/>
              <a:t>10/31/25</a:t>
            </a:fld>
            <a:endParaRPr lang="en-US"/>
          </a:p>
        </p:txBody>
      </p:sp>
      <p:sp>
        <p:nvSpPr>
          <p:cNvPr id="5" name="Footer Placeholder 4">
            <a:extLst>
              <a:ext uri="{FF2B5EF4-FFF2-40B4-BE49-F238E27FC236}">
                <a16:creationId xmlns:a16="http://schemas.microsoft.com/office/drawing/2014/main" id="{6CD10B5E-461E-3A20-5574-7EF6ABA590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557895-CAE5-03BC-DF0F-7C5038A09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0B3A19-03B5-F54B-9069-337C4323CFE8}" type="slidenum">
              <a:rPr lang="en-US" smtClean="0"/>
              <a:t>‹#›</a:t>
            </a:fld>
            <a:endParaRPr lang="en-US"/>
          </a:p>
        </p:txBody>
      </p:sp>
    </p:spTree>
    <p:extLst>
      <p:ext uri="{BB962C8B-B14F-4D97-AF65-F5344CB8AC3E}">
        <p14:creationId xmlns:p14="http://schemas.microsoft.com/office/powerpoint/2010/main" val="3701795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2299E-B1BE-3F25-EA27-B4C963BFD513}"/>
              </a:ext>
            </a:extLst>
          </p:cNvPr>
          <p:cNvSpPr>
            <a:spLocks noGrp="1"/>
          </p:cNvSpPr>
          <p:nvPr>
            <p:ph type="title"/>
          </p:nvPr>
        </p:nvSpPr>
        <p:spPr>
          <a:xfrm>
            <a:off x="2059941" y="145492"/>
            <a:ext cx="8072119" cy="615553"/>
          </a:xfrm>
        </p:spPr>
        <p:txBody>
          <a:bodyPr>
            <a:normAutofit fontScale="90000"/>
          </a:bodyPr>
          <a:lstStyle/>
          <a:p>
            <a:r>
              <a:rPr lang="en-US" dirty="0"/>
              <a:t>Unit 5 Case Studies</a:t>
            </a:r>
          </a:p>
        </p:txBody>
      </p:sp>
      <p:sp>
        <p:nvSpPr>
          <p:cNvPr id="3" name="Text Placeholder 2">
            <a:extLst>
              <a:ext uri="{FF2B5EF4-FFF2-40B4-BE49-F238E27FC236}">
                <a16:creationId xmlns:a16="http://schemas.microsoft.com/office/drawing/2014/main" id="{93A3FF61-2D7D-CACD-295F-C0BC720C8B9D}"/>
              </a:ext>
            </a:extLst>
          </p:cNvPr>
          <p:cNvSpPr>
            <a:spLocks noGrp="1"/>
          </p:cNvSpPr>
          <p:nvPr>
            <p:ph type="body" idx="1"/>
          </p:nvPr>
        </p:nvSpPr>
        <p:spPr>
          <a:xfrm>
            <a:off x="2059941" y="1616710"/>
            <a:ext cx="8074025" cy="4558299"/>
          </a:xfrm>
        </p:spPr>
        <p:txBody>
          <a:bodyPr>
            <a:normAutofit fontScale="55000" lnSpcReduction="20000"/>
          </a:bodyPr>
          <a:lstStyle/>
          <a:p>
            <a:pPr marL="342900" indent="-342900">
              <a:lnSpc>
                <a:spcPct val="150000"/>
              </a:lnSpc>
              <a:buFont typeface="Wingdings" pitchFamily="2" charset="2"/>
              <a:buChar char="Ø"/>
            </a:pPr>
            <a:r>
              <a:rPr lang="en-US" dirty="0"/>
              <a:t>IBM deep Blue</a:t>
            </a:r>
          </a:p>
          <a:p>
            <a:pPr marL="342900" indent="-342900">
              <a:lnSpc>
                <a:spcPct val="150000"/>
              </a:lnSpc>
              <a:buFont typeface="Wingdings" pitchFamily="2" charset="2"/>
              <a:buChar char="Ø"/>
            </a:pPr>
            <a:r>
              <a:rPr lang="en-US" dirty="0"/>
              <a:t>AI AlphaGo</a:t>
            </a:r>
          </a:p>
          <a:p>
            <a:pPr marL="342900" indent="-342900">
              <a:lnSpc>
                <a:spcPct val="150000"/>
              </a:lnSpc>
              <a:buFont typeface="Wingdings" pitchFamily="2" charset="2"/>
              <a:buChar char="Ø"/>
            </a:pPr>
            <a:r>
              <a:rPr lang="en-US" dirty="0"/>
              <a:t>Parkinson’s Disease Prediction</a:t>
            </a:r>
          </a:p>
          <a:p>
            <a:pPr marL="342900" indent="-342900">
              <a:lnSpc>
                <a:spcPct val="150000"/>
              </a:lnSpc>
              <a:buFont typeface="Wingdings" pitchFamily="2" charset="2"/>
              <a:buChar char="Ø"/>
            </a:pPr>
            <a:r>
              <a:rPr lang="en-US" dirty="0"/>
              <a:t>Tesla Autopilot </a:t>
            </a:r>
          </a:p>
          <a:p>
            <a:pPr marL="342900" indent="-342900">
              <a:lnSpc>
                <a:spcPct val="150000"/>
              </a:lnSpc>
              <a:buFont typeface="Wingdings" pitchFamily="2" charset="2"/>
              <a:buChar char="Ø"/>
            </a:pPr>
            <a:r>
              <a:rPr lang="en-US" dirty="0"/>
              <a:t>Robinhood’s AI-Driven Fraud Detection</a:t>
            </a:r>
          </a:p>
          <a:p>
            <a:pPr marL="342900" indent="-342900">
              <a:lnSpc>
                <a:spcPct val="150000"/>
              </a:lnSpc>
              <a:buFont typeface="Wingdings" pitchFamily="2" charset="2"/>
              <a:buChar char="Ø"/>
            </a:pPr>
            <a:r>
              <a:rPr lang="en-US" dirty="0"/>
              <a:t>IBM Watson</a:t>
            </a:r>
          </a:p>
          <a:p>
            <a:pPr marL="342900" indent="-342900">
              <a:lnSpc>
                <a:spcPct val="150000"/>
              </a:lnSpc>
              <a:buFont typeface="Wingdings" pitchFamily="2" charset="2"/>
              <a:buChar char="Ø"/>
            </a:pPr>
            <a:r>
              <a:rPr lang="en-US" dirty="0"/>
              <a:t>Alexa</a:t>
            </a:r>
          </a:p>
          <a:p>
            <a:pPr marL="342900" indent="-342900">
              <a:lnSpc>
                <a:spcPct val="150000"/>
              </a:lnSpc>
              <a:buFont typeface="Wingdings" pitchFamily="2" charset="2"/>
              <a:buChar char="Ø"/>
            </a:pPr>
            <a:r>
              <a:rPr lang="en-US" dirty="0"/>
              <a:t>Siri</a:t>
            </a:r>
          </a:p>
          <a:p>
            <a:pPr marL="342900" indent="-342900">
              <a:lnSpc>
                <a:spcPct val="150000"/>
              </a:lnSpc>
              <a:buFont typeface="Wingdings" pitchFamily="2" charset="2"/>
              <a:buChar char="Ø"/>
            </a:pPr>
            <a:r>
              <a:rPr lang="en-US" dirty="0"/>
              <a:t>Eliza</a:t>
            </a:r>
          </a:p>
          <a:p>
            <a:pPr marL="342900" indent="-342900">
              <a:lnSpc>
                <a:spcPct val="150000"/>
              </a:lnSpc>
              <a:buFont typeface="Wingdings" pitchFamily="2" charset="2"/>
              <a:buChar char="Ø"/>
            </a:pPr>
            <a:r>
              <a:rPr lang="en-US" dirty="0"/>
              <a:t>ChatGPT</a:t>
            </a:r>
          </a:p>
        </p:txBody>
      </p:sp>
    </p:spTree>
    <p:extLst>
      <p:ext uri="{BB962C8B-B14F-4D97-AF65-F5344CB8AC3E}">
        <p14:creationId xmlns:p14="http://schemas.microsoft.com/office/powerpoint/2010/main" val="2319583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7B3F-8AE0-F1FA-070F-3E395BE105C6}"/>
              </a:ext>
            </a:extLst>
          </p:cNvPr>
          <p:cNvSpPr>
            <a:spLocks noGrp="1"/>
          </p:cNvSpPr>
          <p:nvPr>
            <p:ph type="title"/>
          </p:nvPr>
        </p:nvSpPr>
        <p:spPr>
          <a:xfrm>
            <a:off x="2059941" y="145492"/>
            <a:ext cx="8072119" cy="615553"/>
          </a:xfrm>
        </p:spPr>
        <p:txBody>
          <a:bodyPr>
            <a:normAutofit fontScale="90000"/>
          </a:bodyPr>
          <a:lstStyle/>
          <a:p>
            <a:r>
              <a:rPr lang="en-US" dirty="0"/>
              <a:t>IBM Deep Blue</a:t>
            </a:r>
          </a:p>
        </p:txBody>
      </p:sp>
      <p:sp>
        <p:nvSpPr>
          <p:cNvPr id="3" name="Text Placeholder 2">
            <a:extLst>
              <a:ext uri="{FF2B5EF4-FFF2-40B4-BE49-F238E27FC236}">
                <a16:creationId xmlns:a16="http://schemas.microsoft.com/office/drawing/2014/main" id="{D771A642-3619-9323-61E7-F162FDD2B4ED}"/>
              </a:ext>
            </a:extLst>
          </p:cNvPr>
          <p:cNvSpPr>
            <a:spLocks noGrp="1"/>
          </p:cNvSpPr>
          <p:nvPr>
            <p:ph type="body" idx="1"/>
          </p:nvPr>
        </p:nvSpPr>
        <p:spPr>
          <a:xfrm>
            <a:off x="951231" y="733420"/>
            <a:ext cx="8074025" cy="6401753"/>
          </a:xfrm>
        </p:spPr>
        <p:txBody>
          <a:bodyPr>
            <a:normAutofit fontScale="92500" lnSpcReduction="20000"/>
          </a:bodyPr>
          <a:lstStyle/>
          <a:p>
            <a:r>
              <a:rPr lang="en-IN" b="1" dirty="0"/>
              <a:t>IBM Deep Blue</a:t>
            </a:r>
            <a:r>
              <a:rPr lang="en-IN" dirty="0"/>
              <a:t> was a chess-playing computer developed by IBM. It became famous for defeating world chess champion </a:t>
            </a:r>
            <a:r>
              <a:rPr lang="en-IN" b="1" dirty="0"/>
              <a:t>Garry Kasparov</a:t>
            </a:r>
            <a:r>
              <a:rPr lang="en-IN" dirty="0"/>
              <a:t> in 1997 — the first time a computer had beaten a reigning world champion under standard tournament conditions.</a:t>
            </a:r>
          </a:p>
          <a:p>
            <a:pPr marL="0" indent="0">
              <a:buNone/>
            </a:pPr>
            <a:endParaRPr lang="en-IN" dirty="0"/>
          </a:p>
          <a:p>
            <a:r>
              <a:rPr lang="en-IN" b="1" dirty="0"/>
              <a:t>Key Features:</a:t>
            </a:r>
          </a:p>
          <a:p>
            <a:endParaRPr lang="en-IN" b="1" dirty="0"/>
          </a:p>
          <a:p>
            <a:r>
              <a:rPr lang="en-IN" sz="1800" b="1" dirty="0"/>
              <a:t>Type:</a:t>
            </a:r>
            <a:r>
              <a:rPr lang="en-IN" sz="1800" dirty="0"/>
              <a:t> Specialized supercomputer for chess.</a:t>
            </a:r>
          </a:p>
          <a:p>
            <a:endParaRPr lang="en-IN" sz="1800" dirty="0"/>
          </a:p>
          <a:p>
            <a:r>
              <a:rPr lang="en-IN" sz="1800" b="1" dirty="0"/>
              <a:t>Search Algorithm:</a:t>
            </a:r>
            <a:r>
              <a:rPr lang="en-IN" sz="1800" dirty="0"/>
              <a:t> Used a brute-force search combined with heuristic evaluation.</a:t>
            </a:r>
          </a:p>
          <a:p>
            <a:endParaRPr lang="en-IN" sz="1800" dirty="0"/>
          </a:p>
          <a:p>
            <a:r>
              <a:rPr lang="en-IN" sz="1800" b="1" dirty="0"/>
              <a:t>Processing Power:</a:t>
            </a:r>
            <a:r>
              <a:rPr lang="en-IN" sz="1800" dirty="0"/>
              <a:t> Could evaluate about </a:t>
            </a:r>
            <a:r>
              <a:rPr lang="en-IN" sz="1800" b="1" dirty="0"/>
              <a:t>200 million positions per second</a:t>
            </a:r>
            <a:r>
              <a:rPr lang="en-IN" sz="1800" dirty="0"/>
              <a:t>.</a:t>
            </a:r>
          </a:p>
          <a:p>
            <a:endParaRPr lang="en-IN" sz="1800" dirty="0"/>
          </a:p>
          <a:p>
            <a:r>
              <a:rPr lang="en-IN" sz="1800" b="1" dirty="0"/>
              <a:t>Programming:</a:t>
            </a:r>
            <a:r>
              <a:rPr lang="en-IN" sz="1800" dirty="0"/>
              <a:t> Incorporated extensive chess knowledge from grandmasters.</a:t>
            </a:r>
          </a:p>
          <a:p>
            <a:endParaRPr lang="en-IN" sz="1800" dirty="0"/>
          </a:p>
          <a:p>
            <a:r>
              <a:rPr lang="en-IN" sz="1800" b="1" dirty="0"/>
              <a:t>Significance:</a:t>
            </a:r>
            <a:r>
              <a:rPr lang="en-IN" sz="1800" dirty="0"/>
              <a:t> Marked a milestone in </a:t>
            </a:r>
            <a:r>
              <a:rPr lang="en-IN" sz="1800" b="1" dirty="0"/>
              <a:t>Artificial Intelligence (AI)</a:t>
            </a:r>
            <a:r>
              <a:rPr lang="en-IN" sz="1800" dirty="0"/>
              <a:t> and </a:t>
            </a:r>
            <a:r>
              <a:rPr lang="en-IN" sz="1800" b="1" dirty="0"/>
              <a:t>computational power</a:t>
            </a:r>
            <a:r>
              <a:rPr lang="en-IN" sz="1800" dirty="0"/>
              <a:t>, showcasing how machines could perform complex reasoning in a structured domain.</a:t>
            </a:r>
          </a:p>
          <a:p>
            <a:endParaRPr lang="en-IN" dirty="0"/>
          </a:p>
          <a:p>
            <a:endParaRPr lang="en-US" dirty="0"/>
          </a:p>
        </p:txBody>
      </p:sp>
    </p:spTree>
    <p:extLst>
      <p:ext uri="{BB962C8B-B14F-4D97-AF65-F5344CB8AC3E}">
        <p14:creationId xmlns:p14="http://schemas.microsoft.com/office/powerpoint/2010/main" val="3421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18300-5A72-CE7B-C564-85A9549DC07A}"/>
              </a:ext>
            </a:extLst>
          </p:cNvPr>
          <p:cNvSpPr>
            <a:spLocks noGrp="1"/>
          </p:cNvSpPr>
          <p:nvPr>
            <p:ph type="title"/>
          </p:nvPr>
        </p:nvSpPr>
        <p:spPr/>
        <p:txBody>
          <a:bodyPr/>
          <a:lstStyle/>
          <a:p>
            <a:r>
              <a:rPr lang="en-IN" dirty="0"/>
              <a:t>System Architecture</a:t>
            </a:r>
            <a:br>
              <a:rPr lang="en-IN" dirty="0"/>
            </a:br>
            <a:endParaRPr lang="en-US" dirty="0"/>
          </a:p>
        </p:txBody>
      </p:sp>
      <p:sp>
        <p:nvSpPr>
          <p:cNvPr id="3" name="Text Placeholder 2">
            <a:extLst>
              <a:ext uri="{FF2B5EF4-FFF2-40B4-BE49-F238E27FC236}">
                <a16:creationId xmlns:a16="http://schemas.microsoft.com/office/drawing/2014/main" id="{9BD539BE-A588-9E6C-1A7E-48C7BC8EB8A4}"/>
              </a:ext>
            </a:extLst>
          </p:cNvPr>
          <p:cNvSpPr>
            <a:spLocks noGrp="1"/>
          </p:cNvSpPr>
          <p:nvPr>
            <p:ph type="body" idx="1"/>
          </p:nvPr>
        </p:nvSpPr>
        <p:spPr>
          <a:xfrm>
            <a:off x="2059941" y="1616710"/>
            <a:ext cx="8074025" cy="3477875"/>
          </a:xfrm>
        </p:spPr>
        <p:txBody>
          <a:bodyPr>
            <a:normAutofit fontScale="70000" lnSpcReduction="20000"/>
          </a:bodyPr>
          <a:lstStyle/>
          <a:p>
            <a:r>
              <a:rPr lang="en-IN" b="1" dirty="0"/>
              <a:t>Hardware:</a:t>
            </a:r>
          </a:p>
          <a:p>
            <a:endParaRPr lang="en-IN" dirty="0"/>
          </a:p>
          <a:p>
            <a:pPr lvl="1"/>
            <a:r>
              <a:rPr lang="en-IN" dirty="0"/>
              <a:t>Contained </a:t>
            </a:r>
            <a:r>
              <a:rPr lang="en-IN" b="1" dirty="0"/>
              <a:t>30 IBM RS/6000 SP processors</a:t>
            </a:r>
            <a:r>
              <a:rPr lang="en-IN" dirty="0"/>
              <a:t>.</a:t>
            </a:r>
          </a:p>
          <a:p>
            <a:pPr lvl="1"/>
            <a:r>
              <a:rPr lang="en-IN" dirty="0"/>
              <a:t>Equipped with </a:t>
            </a:r>
            <a:r>
              <a:rPr lang="en-IN" b="1" dirty="0"/>
              <a:t>480 custom VLSI chess chips</a:t>
            </a:r>
            <a:r>
              <a:rPr lang="en-IN" dirty="0"/>
              <a:t> for parallel computation.</a:t>
            </a:r>
          </a:p>
          <a:p>
            <a:pPr lvl="1"/>
            <a:r>
              <a:rPr lang="en-IN" dirty="0"/>
              <a:t>Could evaluate </a:t>
            </a:r>
            <a:r>
              <a:rPr lang="en-IN" b="1" dirty="0"/>
              <a:t>200 million chess positions per second</a:t>
            </a:r>
            <a:r>
              <a:rPr lang="en-IN" dirty="0"/>
              <a:t>.</a:t>
            </a:r>
          </a:p>
          <a:p>
            <a:pPr lvl="1"/>
            <a:endParaRPr lang="en-IN" dirty="0"/>
          </a:p>
          <a:p>
            <a:r>
              <a:rPr lang="en-IN" b="1" dirty="0"/>
              <a:t>Software:</a:t>
            </a:r>
          </a:p>
          <a:p>
            <a:endParaRPr lang="en-IN" dirty="0"/>
          </a:p>
          <a:p>
            <a:pPr lvl="1"/>
            <a:r>
              <a:rPr lang="en-IN" dirty="0"/>
              <a:t>Used </a:t>
            </a:r>
            <a:r>
              <a:rPr lang="en-IN" b="1" dirty="0"/>
              <a:t>minimax search algorithm</a:t>
            </a:r>
            <a:r>
              <a:rPr lang="en-IN" dirty="0"/>
              <a:t> with </a:t>
            </a:r>
            <a:r>
              <a:rPr lang="en-IN" b="1" dirty="0"/>
              <a:t>alpha-beta pruning</a:t>
            </a:r>
            <a:r>
              <a:rPr lang="en-IN" dirty="0"/>
              <a:t>.</a:t>
            </a:r>
          </a:p>
          <a:p>
            <a:pPr lvl="1"/>
            <a:r>
              <a:rPr lang="en-IN" dirty="0"/>
              <a:t>Integrated </a:t>
            </a:r>
            <a:r>
              <a:rPr lang="en-IN" b="1" dirty="0"/>
              <a:t>opening book</a:t>
            </a:r>
            <a:r>
              <a:rPr lang="en-IN" dirty="0"/>
              <a:t> and </a:t>
            </a:r>
            <a:r>
              <a:rPr lang="en-IN" b="1" dirty="0"/>
              <a:t>endgame databases</a:t>
            </a:r>
            <a:r>
              <a:rPr lang="en-IN" dirty="0"/>
              <a:t>.</a:t>
            </a:r>
          </a:p>
          <a:p>
            <a:pPr lvl="1"/>
            <a:r>
              <a:rPr lang="en-IN" dirty="0"/>
              <a:t>Employed </a:t>
            </a:r>
            <a:r>
              <a:rPr lang="en-IN" b="1" dirty="0"/>
              <a:t>heuristic evaluation functions</a:t>
            </a:r>
            <a:r>
              <a:rPr lang="en-IN" dirty="0"/>
              <a:t> to assess chessboard positions.</a:t>
            </a:r>
          </a:p>
          <a:p>
            <a:endParaRPr lang="en-US" dirty="0"/>
          </a:p>
        </p:txBody>
      </p:sp>
    </p:spTree>
    <p:extLst>
      <p:ext uri="{BB962C8B-B14F-4D97-AF65-F5344CB8AC3E}">
        <p14:creationId xmlns:p14="http://schemas.microsoft.com/office/powerpoint/2010/main" val="68141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F4F5-CC47-92FE-CAE2-CC6812F6C14E}"/>
              </a:ext>
            </a:extLst>
          </p:cNvPr>
          <p:cNvSpPr>
            <a:spLocks noGrp="1"/>
          </p:cNvSpPr>
          <p:nvPr>
            <p:ph type="title"/>
          </p:nvPr>
        </p:nvSpPr>
        <p:spPr/>
        <p:txBody>
          <a:bodyPr/>
          <a:lstStyle/>
          <a:p>
            <a:r>
              <a:rPr lang="en-IN" dirty="0"/>
              <a:t>Working Principle</a:t>
            </a:r>
            <a:br>
              <a:rPr lang="en-IN" dirty="0"/>
            </a:br>
            <a:endParaRPr lang="en-US" dirty="0"/>
          </a:p>
        </p:txBody>
      </p:sp>
      <p:sp>
        <p:nvSpPr>
          <p:cNvPr id="3" name="Text Placeholder 2">
            <a:extLst>
              <a:ext uri="{FF2B5EF4-FFF2-40B4-BE49-F238E27FC236}">
                <a16:creationId xmlns:a16="http://schemas.microsoft.com/office/drawing/2014/main" id="{16E11BBE-884C-6EDF-B7F7-A63DA8017D89}"/>
              </a:ext>
            </a:extLst>
          </p:cNvPr>
          <p:cNvSpPr>
            <a:spLocks noGrp="1"/>
          </p:cNvSpPr>
          <p:nvPr>
            <p:ph type="body" idx="1"/>
          </p:nvPr>
        </p:nvSpPr>
        <p:spPr>
          <a:xfrm>
            <a:off x="2059941" y="1616709"/>
            <a:ext cx="8074025" cy="4616648"/>
          </a:xfrm>
        </p:spPr>
        <p:txBody>
          <a:bodyPr>
            <a:normAutofit fontScale="70000" lnSpcReduction="20000"/>
          </a:bodyPr>
          <a:lstStyle/>
          <a:p>
            <a:pPr marL="457200" indent="-457200">
              <a:buFont typeface="+mj-lt"/>
              <a:buAutoNum type="arabicPeriod"/>
            </a:pPr>
            <a:r>
              <a:rPr lang="en-IN" b="1" dirty="0"/>
              <a:t>Input:</a:t>
            </a:r>
            <a:r>
              <a:rPr lang="en-IN" dirty="0"/>
              <a:t> Current chessboard configuration.</a:t>
            </a:r>
          </a:p>
          <a:p>
            <a:pPr marL="457200" indent="-457200">
              <a:buFont typeface="+mj-lt"/>
              <a:buAutoNum type="arabicPeriod"/>
            </a:pPr>
            <a:endParaRPr lang="en-IN" dirty="0"/>
          </a:p>
          <a:p>
            <a:pPr marL="457200" indent="-457200">
              <a:buFont typeface="+mj-lt"/>
              <a:buAutoNum type="arabicPeriod"/>
            </a:pPr>
            <a:r>
              <a:rPr lang="en-IN" b="1" dirty="0"/>
              <a:t>Move Generation:</a:t>
            </a:r>
            <a:r>
              <a:rPr lang="en-IN" dirty="0"/>
              <a:t> Lists all possible legal moves.</a:t>
            </a:r>
          </a:p>
          <a:p>
            <a:pPr marL="457200" indent="-457200">
              <a:buFont typeface="+mj-lt"/>
              <a:buAutoNum type="arabicPeriod"/>
            </a:pPr>
            <a:endParaRPr lang="en-IN" dirty="0"/>
          </a:p>
          <a:p>
            <a:pPr marL="457200" indent="-457200">
              <a:buFont typeface="+mj-lt"/>
              <a:buAutoNum type="arabicPeriod"/>
            </a:pPr>
            <a:r>
              <a:rPr lang="en-IN" b="1" dirty="0"/>
              <a:t>Search:</a:t>
            </a:r>
            <a:r>
              <a:rPr lang="en-IN" dirty="0"/>
              <a:t> Explores millions of move sequences using a </a:t>
            </a:r>
            <a:r>
              <a:rPr lang="en-IN" b="1" dirty="0"/>
              <a:t>tree search algorithm</a:t>
            </a:r>
            <a:r>
              <a:rPr lang="en-IN" dirty="0"/>
              <a:t>.</a:t>
            </a:r>
          </a:p>
          <a:p>
            <a:pPr marL="457200" indent="-457200">
              <a:buFont typeface="+mj-lt"/>
              <a:buAutoNum type="arabicPeriod"/>
            </a:pPr>
            <a:endParaRPr lang="en-IN" dirty="0"/>
          </a:p>
          <a:p>
            <a:pPr marL="457200" indent="-457200">
              <a:buFont typeface="+mj-lt"/>
              <a:buAutoNum type="arabicPeriod"/>
            </a:pPr>
            <a:r>
              <a:rPr lang="en-IN" b="1" dirty="0"/>
              <a:t>Evaluation:</a:t>
            </a:r>
            <a:r>
              <a:rPr lang="en-IN" dirty="0"/>
              <a:t> Scores positions using heuristics (material, king safety, mobility, pawn structure, etc.).</a:t>
            </a:r>
          </a:p>
          <a:p>
            <a:pPr marL="457200" indent="-457200">
              <a:buFont typeface="+mj-lt"/>
              <a:buAutoNum type="arabicPeriod"/>
            </a:pPr>
            <a:endParaRPr lang="en-IN" dirty="0"/>
          </a:p>
          <a:p>
            <a:pPr marL="457200" indent="-457200">
              <a:buFont typeface="+mj-lt"/>
              <a:buAutoNum type="arabicPeriod"/>
            </a:pPr>
            <a:r>
              <a:rPr lang="en-IN" b="1" dirty="0"/>
              <a:t>Selection:</a:t>
            </a:r>
            <a:r>
              <a:rPr lang="en-IN" dirty="0"/>
              <a:t> Chooses the move leading to the highest evaluated score.</a:t>
            </a:r>
          </a:p>
          <a:p>
            <a:pPr marL="457200" indent="-457200">
              <a:buFont typeface="+mj-lt"/>
              <a:buAutoNum type="arabicPeriod"/>
            </a:pPr>
            <a:endParaRPr lang="en-IN" dirty="0"/>
          </a:p>
          <a:p>
            <a:pPr marL="457200" indent="-457200">
              <a:buFont typeface="+mj-lt"/>
              <a:buAutoNum type="arabicPeriod"/>
            </a:pPr>
            <a:r>
              <a:rPr lang="en-IN" b="1" dirty="0"/>
              <a:t>Output:</a:t>
            </a:r>
            <a:r>
              <a:rPr lang="en-IN" dirty="0"/>
              <a:t> Best move recommendation.</a:t>
            </a:r>
          </a:p>
          <a:p>
            <a:endParaRPr lang="en-US" dirty="0"/>
          </a:p>
        </p:txBody>
      </p:sp>
    </p:spTree>
    <p:extLst>
      <p:ext uri="{BB962C8B-B14F-4D97-AF65-F5344CB8AC3E}">
        <p14:creationId xmlns:p14="http://schemas.microsoft.com/office/powerpoint/2010/main" val="2453995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41128-0910-28F0-287C-531DFAD26B43}"/>
              </a:ext>
            </a:extLst>
          </p:cNvPr>
          <p:cNvSpPr>
            <a:spLocks noGrp="1"/>
          </p:cNvSpPr>
          <p:nvPr>
            <p:ph type="title"/>
          </p:nvPr>
        </p:nvSpPr>
        <p:spPr/>
        <p:txBody>
          <a:bodyPr/>
          <a:lstStyle/>
          <a:p>
            <a:r>
              <a:rPr lang="en-IN" dirty="0"/>
              <a:t>AI Concepts Involved</a:t>
            </a:r>
            <a:br>
              <a:rPr lang="en-IN" dirty="0"/>
            </a:br>
            <a:endParaRPr lang="en-US" dirty="0"/>
          </a:p>
        </p:txBody>
      </p:sp>
      <p:sp>
        <p:nvSpPr>
          <p:cNvPr id="3" name="Text Placeholder 2">
            <a:extLst>
              <a:ext uri="{FF2B5EF4-FFF2-40B4-BE49-F238E27FC236}">
                <a16:creationId xmlns:a16="http://schemas.microsoft.com/office/drawing/2014/main" id="{2D116B14-5C10-263F-FD23-0828573C6AAB}"/>
              </a:ext>
            </a:extLst>
          </p:cNvPr>
          <p:cNvSpPr>
            <a:spLocks noGrp="1"/>
          </p:cNvSpPr>
          <p:nvPr>
            <p:ph type="body" idx="1"/>
          </p:nvPr>
        </p:nvSpPr>
        <p:spPr>
          <a:xfrm>
            <a:off x="2059941" y="1616709"/>
            <a:ext cx="8074025" cy="2154436"/>
          </a:xfrm>
        </p:spPr>
        <p:txBody>
          <a:bodyPr>
            <a:normAutofit fontScale="77500" lnSpcReduction="20000"/>
          </a:bodyPr>
          <a:lstStyle/>
          <a:p>
            <a:pPr marL="342900" indent="-342900">
              <a:buFont typeface="Wingdings" pitchFamily="2" charset="2"/>
              <a:buChar char="Ø"/>
            </a:pPr>
            <a:r>
              <a:rPr lang="en-IN" b="1" dirty="0"/>
              <a:t>Game Tree Search</a:t>
            </a:r>
            <a:endParaRPr lang="en-IN" dirty="0"/>
          </a:p>
          <a:p>
            <a:pPr marL="342900" indent="-342900">
              <a:buFont typeface="Wingdings" pitchFamily="2" charset="2"/>
              <a:buChar char="Ø"/>
            </a:pPr>
            <a:r>
              <a:rPr lang="en-IN" b="1" dirty="0"/>
              <a:t>Heuristic Evaluation</a:t>
            </a:r>
            <a:endParaRPr lang="en-IN" dirty="0"/>
          </a:p>
          <a:p>
            <a:pPr marL="342900" indent="-342900">
              <a:buFont typeface="Wingdings" pitchFamily="2" charset="2"/>
              <a:buChar char="Ø"/>
            </a:pPr>
            <a:r>
              <a:rPr lang="en-IN" b="1" dirty="0"/>
              <a:t>Alpha-Beta Pruning</a:t>
            </a:r>
            <a:endParaRPr lang="en-IN" dirty="0"/>
          </a:p>
          <a:p>
            <a:pPr marL="342900" indent="-342900">
              <a:buFont typeface="Wingdings" pitchFamily="2" charset="2"/>
              <a:buChar char="Ø"/>
            </a:pPr>
            <a:r>
              <a:rPr lang="en-IN" b="1" dirty="0"/>
              <a:t>Parallel Processing</a:t>
            </a:r>
            <a:endParaRPr lang="en-IN" dirty="0"/>
          </a:p>
          <a:p>
            <a:pPr marL="342900" indent="-342900">
              <a:buFont typeface="Wingdings" pitchFamily="2" charset="2"/>
              <a:buChar char="Ø"/>
            </a:pPr>
            <a:r>
              <a:rPr lang="en-IN" b="1" dirty="0"/>
              <a:t>Domain-Specific Knowledge Representation</a:t>
            </a:r>
            <a:endParaRPr lang="en-IN" dirty="0"/>
          </a:p>
          <a:p>
            <a:pPr marL="342900" indent="-342900">
              <a:buFont typeface="Wingdings" pitchFamily="2" charset="2"/>
              <a:buChar char="Ø"/>
            </a:pPr>
            <a:r>
              <a:rPr lang="en-IN" b="1" dirty="0"/>
              <a:t>Expert System Principles</a:t>
            </a:r>
            <a:endParaRPr lang="en-IN" dirty="0"/>
          </a:p>
          <a:p>
            <a:endParaRPr lang="en-US" dirty="0"/>
          </a:p>
        </p:txBody>
      </p:sp>
    </p:spTree>
    <p:extLst>
      <p:ext uri="{BB962C8B-B14F-4D97-AF65-F5344CB8AC3E}">
        <p14:creationId xmlns:p14="http://schemas.microsoft.com/office/powerpoint/2010/main" val="3163413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F6CBD-C412-CC48-53B3-E1C60FF588F2}"/>
              </a:ext>
            </a:extLst>
          </p:cNvPr>
          <p:cNvSpPr>
            <a:spLocks noGrp="1"/>
          </p:cNvSpPr>
          <p:nvPr>
            <p:ph type="title"/>
          </p:nvPr>
        </p:nvSpPr>
        <p:spPr>
          <a:xfrm>
            <a:off x="2059941" y="145492"/>
            <a:ext cx="8072119" cy="615553"/>
          </a:xfrm>
        </p:spPr>
        <p:txBody>
          <a:bodyPr>
            <a:normAutofit fontScale="90000"/>
          </a:bodyPr>
          <a:lstStyle/>
          <a:p>
            <a:r>
              <a:rPr lang="en-IN" dirty="0"/>
              <a:t>AI AlphaGo</a:t>
            </a:r>
            <a:endParaRPr lang="en-US" dirty="0"/>
          </a:p>
        </p:txBody>
      </p:sp>
      <p:sp>
        <p:nvSpPr>
          <p:cNvPr id="3" name="Text Placeholder 2">
            <a:extLst>
              <a:ext uri="{FF2B5EF4-FFF2-40B4-BE49-F238E27FC236}">
                <a16:creationId xmlns:a16="http://schemas.microsoft.com/office/drawing/2014/main" id="{C5442564-3391-3572-0AB8-217CA69A2643}"/>
              </a:ext>
            </a:extLst>
          </p:cNvPr>
          <p:cNvSpPr>
            <a:spLocks noGrp="1"/>
          </p:cNvSpPr>
          <p:nvPr>
            <p:ph type="body" idx="1"/>
          </p:nvPr>
        </p:nvSpPr>
        <p:spPr>
          <a:xfrm>
            <a:off x="2059941" y="1616709"/>
            <a:ext cx="8074025" cy="3385542"/>
          </a:xfrm>
        </p:spPr>
        <p:txBody>
          <a:bodyPr>
            <a:normAutofit fontScale="70000" lnSpcReduction="20000"/>
          </a:bodyPr>
          <a:lstStyle/>
          <a:p>
            <a:r>
              <a:rPr lang="en-IN" b="1" dirty="0"/>
              <a:t>Introduction</a:t>
            </a:r>
          </a:p>
          <a:p>
            <a:endParaRPr lang="en-IN" b="1" dirty="0"/>
          </a:p>
          <a:p>
            <a:pPr marL="342900" indent="-342900"/>
            <a:r>
              <a:rPr lang="en-IN" b="1" dirty="0"/>
              <a:t>AlphaGo</a:t>
            </a:r>
            <a:r>
              <a:rPr lang="en-IN" dirty="0"/>
              <a:t> is an artificial intelligence program developed by </a:t>
            </a:r>
            <a:r>
              <a:rPr lang="en-IN" b="1" dirty="0"/>
              <a:t>DeepMind Technologies</a:t>
            </a:r>
            <a:r>
              <a:rPr lang="en-IN" dirty="0"/>
              <a:t> (a subsidiary of Google).</a:t>
            </a:r>
          </a:p>
          <a:p>
            <a:pPr marL="342900" indent="-342900"/>
            <a:endParaRPr lang="en-IN" dirty="0"/>
          </a:p>
          <a:p>
            <a:pPr marL="342900" indent="-342900"/>
            <a:r>
              <a:rPr lang="en-IN" dirty="0"/>
              <a:t>It was designed to play the ancient board game </a:t>
            </a:r>
            <a:r>
              <a:rPr lang="en-IN" b="1" dirty="0"/>
              <a:t>Go</a:t>
            </a:r>
            <a:r>
              <a:rPr lang="en-IN" dirty="0"/>
              <a:t>, which is significantly more complex than chess.</a:t>
            </a:r>
          </a:p>
          <a:p>
            <a:pPr marL="342900" indent="-342900"/>
            <a:endParaRPr lang="en-IN" dirty="0"/>
          </a:p>
          <a:p>
            <a:pPr marL="342900" indent="-342900"/>
            <a:r>
              <a:rPr lang="en-IN" dirty="0"/>
              <a:t>In </a:t>
            </a:r>
            <a:r>
              <a:rPr lang="en-IN" b="1" dirty="0"/>
              <a:t>2016</a:t>
            </a:r>
            <a:r>
              <a:rPr lang="en-IN" dirty="0"/>
              <a:t>, AlphaGo made history by </a:t>
            </a:r>
            <a:r>
              <a:rPr lang="en-IN" b="1" dirty="0"/>
              <a:t>defeating world Go champion Lee Sedol (9-dan professional)</a:t>
            </a:r>
            <a:r>
              <a:rPr lang="en-IN" dirty="0"/>
              <a:t> — a landmark event in AI research.</a:t>
            </a:r>
          </a:p>
          <a:p>
            <a:endParaRPr lang="en-US" dirty="0"/>
          </a:p>
        </p:txBody>
      </p:sp>
    </p:spTree>
    <p:extLst>
      <p:ext uri="{BB962C8B-B14F-4D97-AF65-F5344CB8AC3E}">
        <p14:creationId xmlns:p14="http://schemas.microsoft.com/office/powerpoint/2010/main" val="295948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0F9BA-809C-FBC8-363B-A43E8E4F8AE3}"/>
              </a:ext>
            </a:extLst>
          </p:cNvPr>
          <p:cNvSpPr>
            <a:spLocks noGrp="1"/>
          </p:cNvSpPr>
          <p:nvPr>
            <p:ph type="title"/>
          </p:nvPr>
        </p:nvSpPr>
        <p:spPr>
          <a:xfrm>
            <a:off x="2059941" y="145492"/>
            <a:ext cx="8072119" cy="615553"/>
          </a:xfrm>
        </p:spPr>
        <p:txBody>
          <a:bodyPr>
            <a:normAutofit fontScale="90000"/>
          </a:bodyPr>
          <a:lstStyle/>
          <a:p>
            <a:r>
              <a:rPr lang="en-IN" dirty="0"/>
              <a:t>Why Go Was a Major Challenge for AI</a:t>
            </a:r>
            <a:endParaRPr lang="en-US" dirty="0"/>
          </a:p>
        </p:txBody>
      </p:sp>
      <p:sp>
        <p:nvSpPr>
          <p:cNvPr id="3" name="Text Placeholder 2">
            <a:extLst>
              <a:ext uri="{FF2B5EF4-FFF2-40B4-BE49-F238E27FC236}">
                <a16:creationId xmlns:a16="http://schemas.microsoft.com/office/drawing/2014/main" id="{B1DE76D1-2225-FB8C-ECDA-D7AE46194A9A}"/>
              </a:ext>
            </a:extLst>
          </p:cNvPr>
          <p:cNvSpPr>
            <a:spLocks noGrp="1"/>
          </p:cNvSpPr>
          <p:nvPr>
            <p:ph type="body" idx="1"/>
          </p:nvPr>
        </p:nvSpPr>
        <p:spPr>
          <a:xfrm>
            <a:off x="2059941" y="1616710"/>
            <a:ext cx="8074025" cy="3583940"/>
          </a:xfrm>
        </p:spPr>
        <p:txBody>
          <a:bodyPr>
            <a:normAutofit fontScale="92500" lnSpcReduction="10000"/>
          </a:bodyPr>
          <a:lstStyle/>
          <a:p>
            <a:pPr marL="342900" indent="-342900"/>
            <a:r>
              <a:rPr lang="en-IN" dirty="0"/>
              <a:t>The game of Go has an extremely large </a:t>
            </a:r>
            <a:r>
              <a:rPr lang="en-IN" b="1" dirty="0"/>
              <a:t>state space</a:t>
            </a:r>
            <a:r>
              <a:rPr lang="en-IN" dirty="0"/>
              <a:t> — about </a:t>
            </a:r>
            <a:r>
              <a:rPr lang="en-IN" b="1" dirty="0"/>
              <a:t>10¹⁷⁰ possible board configurations</a:t>
            </a:r>
            <a:r>
              <a:rPr lang="en-IN" dirty="0"/>
              <a:t> (compared to chess’s ~10⁴⁷).</a:t>
            </a:r>
          </a:p>
          <a:p>
            <a:pPr marL="342900" indent="-342900"/>
            <a:endParaRPr lang="en-IN" dirty="0"/>
          </a:p>
          <a:p>
            <a:pPr marL="342900" indent="-342900"/>
            <a:r>
              <a:rPr lang="en-IN" dirty="0"/>
              <a:t>Traditional brute-force methods (like those used by IBM Deep Blue) were </a:t>
            </a:r>
            <a:r>
              <a:rPr lang="en-IN" b="1" dirty="0"/>
              <a:t>impractical</a:t>
            </a:r>
            <a:r>
              <a:rPr lang="en-IN" dirty="0"/>
              <a:t>.</a:t>
            </a:r>
          </a:p>
          <a:p>
            <a:pPr marL="342900" indent="-342900"/>
            <a:endParaRPr lang="en-IN" dirty="0"/>
          </a:p>
          <a:p>
            <a:pPr marL="342900" indent="-342900"/>
            <a:r>
              <a:rPr lang="en-IN" dirty="0"/>
              <a:t>Success required </a:t>
            </a:r>
            <a:r>
              <a:rPr lang="en-IN" b="1" dirty="0"/>
              <a:t>learning</a:t>
            </a:r>
            <a:r>
              <a:rPr lang="en-IN" dirty="0"/>
              <a:t>, </a:t>
            </a:r>
            <a:r>
              <a:rPr lang="en-IN" b="1" dirty="0"/>
              <a:t>intuition</a:t>
            </a:r>
            <a:r>
              <a:rPr lang="en-IN" dirty="0"/>
              <a:t>, and </a:t>
            </a:r>
            <a:r>
              <a:rPr lang="en-IN" b="1" dirty="0"/>
              <a:t>pattern recognition</a:t>
            </a:r>
            <a:r>
              <a:rPr lang="en-IN" dirty="0"/>
              <a:t>, mimicking human cognitive strategies.</a:t>
            </a:r>
          </a:p>
          <a:p>
            <a:endParaRPr lang="en-US" dirty="0"/>
          </a:p>
        </p:txBody>
      </p:sp>
    </p:spTree>
    <p:extLst>
      <p:ext uri="{BB962C8B-B14F-4D97-AF65-F5344CB8AC3E}">
        <p14:creationId xmlns:p14="http://schemas.microsoft.com/office/powerpoint/2010/main" val="1905314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5DD-A30F-F82F-44D0-3989007C41EF}"/>
              </a:ext>
            </a:extLst>
          </p:cNvPr>
          <p:cNvSpPr>
            <a:spLocks noGrp="1"/>
          </p:cNvSpPr>
          <p:nvPr>
            <p:ph type="title"/>
          </p:nvPr>
        </p:nvSpPr>
        <p:spPr>
          <a:xfrm>
            <a:off x="2059941" y="145492"/>
            <a:ext cx="8072119" cy="615553"/>
          </a:xfrm>
        </p:spPr>
        <p:txBody>
          <a:bodyPr>
            <a:normAutofit fontScale="90000"/>
          </a:bodyPr>
          <a:lstStyle/>
          <a:p>
            <a:r>
              <a:rPr lang="en-IN" dirty="0"/>
              <a:t>Development Background</a:t>
            </a:r>
            <a:endParaRPr lang="en-US" dirty="0"/>
          </a:p>
        </p:txBody>
      </p:sp>
      <p:sp>
        <p:nvSpPr>
          <p:cNvPr id="3" name="Text Placeholder 2">
            <a:extLst>
              <a:ext uri="{FF2B5EF4-FFF2-40B4-BE49-F238E27FC236}">
                <a16:creationId xmlns:a16="http://schemas.microsoft.com/office/drawing/2014/main" id="{4F990280-8C2F-D2C9-90D3-CE1DB5A45A43}"/>
              </a:ext>
            </a:extLst>
          </p:cNvPr>
          <p:cNvSpPr>
            <a:spLocks noGrp="1"/>
          </p:cNvSpPr>
          <p:nvPr>
            <p:ph type="body" idx="1"/>
          </p:nvPr>
        </p:nvSpPr>
        <p:spPr/>
        <p:txBody>
          <a:bodyPr>
            <a:normAutofit fontScale="55000" lnSpcReduction="20000"/>
          </a:bodyPr>
          <a:lstStyle/>
          <a:p>
            <a:pPr marL="342900" indent="-342900"/>
            <a:r>
              <a:rPr lang="en-US" dirty="0"/>
              <a:t>Developed by DeepMind Technologies, founded by Demis Hassabis, Shane Legg, and Mustafa Suleyman.</a:t>
            </a:r>
          </a:p>
          <a:p>
            <a:pPr marL="342900" indent="-342900"/>
            <a:endParaRPr lang="en-US" dirty="0"/>
          </a:p>
          <a:p>
            <a:pPr marL="342900" indent="-342900"/>
            <a:r>
              <a:rPr lang="en-US" dirty="0"/>
              <a:t>Built upon deep learning and reinforcement learning architectures.</a:t>
            </a:r>
          </a:p>
          <a:p>
            <a:pPr marL="342900" indent="-342900"/>
            <a:endParaRPr lang="en-US" dirty="0"/>
          </a:p>
          <a:p>
            <a:pPr marL="342900" indent="-342900"/>
            <a:r>
              <a:rPr lang="en-US" dirty="0"/>
              <a:t>Published in Nature (2016) under the paper titled “Mastering the game of Go with deep neural networks and tree search.”</a:t>
            </a:r>
          </a:p>
          <a:p>
            <a:endParaRPr lang="en-US" dirty="0"/>
          </a:p>
          <a:p>
            <a:pPr marL="342900" indent="-342900"/>
            <a:r>
              <a:rPr lang="en-US" dirty="0"/>
              <a:t>AlphaGo defeated:</a:t>
            </a:r>
          </a:p>
          <a:p>
            <a:endParaRPr lang="en-US" dirty="0"/>
          </a:p>
          <a:p>
            <a:r>
              <a:rPr lang="en-US" dirty="0"/>
              <a:t>	Fan Hui (European Champion, 2015)</a:t>
            </a:r>
          </a:p>
          <a:p>
            <a:endParaRPr lang="en-US" dirty="0"/>
          </a:p>
          <a:p>
            <a:r>
              <a:rPr lang="en-US" dirty="0"/>
              <a:t>	Lee Sedol (2016) — winning 4–1</a:t>
            </a:r>
          </a:p>
          <a:p>
            <a:endParaRPr lang="en-US" dirty="0"/>
          </a:p>
          <a:p>
            <a:r>
              <a:rPr lang="en-US" dirty="0"/>
              <a:t>	Ke Jie (2017) — the world’s #1 Go player at that time</a:t>
            </a:r>
          </a:p>
        </p:txBody>
      </p:sp>
    </p:spTree>
    <p:extLst>
      <p:ext uri="{BB962C8B-B14F-4D97-AF65-F5344CB8AC3E}">
        <p14:creationId xmlns:p14="http://schemas.microsoft.com/office/powerpoint/2010/main" val="831715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C23E4-81E7-6021-B234-981646D58B75}"/>
              </a:ext>
            </a:extLst>
          </p:cNvPr>
          <p:cNvSpPr>
            <a:spLocks noGrp="1"/>
          </p:cNvSpPr>
          <p:nvPr>
            <p:ph type="title"/>
          </p:nvPr>
        </p:nvSpPr>
        <p:spPr>
          <a:xfrm>
            <a:off x="2059941" y="145492"/>
            <a:ext cx="8072119" cy="615553"/>
          </a:xfrm>
        </p:spPr>
        <p:txBody>
          <a:bodyPr>
            <a:normAutofit fontScale="90000"/>
          </a:bodyPr>
          <a:lstStyle/>
          <a:p>
            <a:r>
              <a:rPr lang="en-IN" dirty="0"/>
              <a:t>System Architecture</a:t>
            </a:r>
            <a:endParaRPr lang="en-US" dirty="0"/>
          </a:p>
        </p:txBody>
      </p:sp>
      <p:sp>
        <p:nvSpPr>
          <p:cNvPr id="3" name="Text Placeholder 2">
            <a:extLst>
              <a:ext uri="{FF2B5EF4-FFF2-40B4-BE49-F238E27FC236}">
                <a16:creationId xmlns:a16="http://schemas.microsoft.com/office/drawing/2014/main" id="{8DB5A79A-CC8F-4C73-EFCC-4D769A0D9059}"/>
              </a:ext>
            </a:extLst>
          </p:cNvPr>
          <p:cNvSpPr>
            <a:spLocks noGrp="1"/>
          </p:cNvSpPr>
          <p:nvPr>
            <p:ph type="body" idx="1"/>
          </p:nvPr>
        </p:nvSpPr>
        <p:spPr>
          <a:xfrm>
            <a:off x="2059941" y="761045"/>
            <a:ext cx="8074025" cy="5847755"/>
          </a:xfrm>
        </p:spPr>
        <p:txBody>
          <a:bodyPr>
            <a:normAutofit fontScale="77500" lnSpcReduction="20000"/>
          </a:bodyPr>
          <a:lstStyle/>
          <a:p>
            <a:r>
              <a:rPr lang="en-US" dirty="0"/>
              <a:t>AlphaGo combines deep neural networks and tree search algorithms:</a:t>
            </a:r>
          </a:p>
          <a:p>
            <a:endParaRPr lang="en-US" dirty="0"/>
          </a:p>
          <a:p>
            <a:r>
              <a:rPr lang="en-US" dirty="0"/>
              <a:t>1. Neural Networks</a:t>
            </a:r>
          </a:p>
          <a:p>
            <a:endParaRPr lang="en-US" dirty="0"/>
          </a:p>
          <a:p>
            <a:pPr marL="342900" indent="-342900"/>
            <a:r>
              <a:rPr lang="en-US" sz="1800" dirty="0"/>
              <a:t>Policy Network: Suggests possible moves (probability distribution over actions).</a:t>
            </a:r>
          </a:p>
          <a:p>
            <a:pPr marL="342900" indent="-342900"/>
            <a:r>
              <a:rPr lang="en-US" sz="1800" dirty="0"/>
              <a:t>Value Network: Predicts the outcome (win/loss probability) from a given board position.</a:t>
            </a:r>
          </a:p>
          <a:p>
            <a:endParaRPr lang="en-US" dirty="0"/>
          </a:p>
          <a:p>
            <a:r>
              <a:rPr lang="en-US" dirty="0"/>
              <a:t>Both trained using supervised learning from expert games and reinforcement learning through self-play.</a:t>
            </a:r>
          </a:p>
          <a:p>
            <a:endParaRPr lang="en-US" dirty="0"/>
          </a:p>
          <a:p>
            <a:r>
              <a:rPr lang="en-US" dirty="0"/>
              <a:t>2. Monte Carlo Tree Search (MCTS)</a:t>
            </a:r>
          </a:p>
          <a:p>
            <a:endParaRPr lang="en-US" dirty="0"/>
          </a:p>
          <a:p>
            <a:pPr marL="342900" indent="-342900"/>
            <a:r>
              <a:rPr lang="en-US" sz="1800" dirty="0"/>
              <a:t>Simulates many possible future games (playouts).</a:t>
            </a:r>
          </a:p>
          <a:p>
            <a:pPr marL="342900" indent="-342900"/>
            <a:endParaRPr lang="en-US" sz="1800" dirty="0"/>
          </a:p>
          <a:p>
            <a:pPr marL="342900" indent="-342900"/>
            <a:r>
              <a:rPr lang="en-US" sz="1800" dirty="0"/>
              <a:t>Combines the policy network to focus the search and the value network to evaluate positions efficiently.</a:t>
            </a:r>
          </a:p>
          <a:p>
            <a:pPr marL="342900" indent="-342900"/>
            <a:endParaRPr lang="en-US" sz="1800" dirty="0"/>
          </a:p>
          <a:p>
            <a:pPr marL="342900" indent="-342900"/>
            <a:r>
              <a:rPr lang="en-US" sz="1800" dirty="0"/>
              <a:t>Balances exploration and exploitation using probabilistic methods.</a:t>
            </a:r>
          </a:p>
        </p:txBody>
      </p:sp>
    </p:spTree>
    <p:extLst>
      <p:ext uri="{BB962C8B-B14F-4D97-AF65-F5344CB8AC3E}">
        <p14:creationId xmlns:p14="http://schemas.microsoft.com/office/powerpoint/2010/main" val="623965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6FD7-D9ED-93B1-459D-57FB0536A5C0}"/>
              </a:ext>
            </a:extLst>
          </p:cNvPr>
          <p:cNvSpPr>
            <a:spLocks noGrp="1"/>
          </p:cNvSpPr>
          <p:nvPr>
            <p:ph type="title"/>
          </p:nvPr>
        </p:nvSpPr>
        <p:spPr/>
        <p:txBody>
          <a:bodyPr/>
          <a:lstStyle/>
          <a:p>
            <a:r>
              <a:rPr lang="en-US" dirty="0"/>
              <a:t>Learning Process</a:t>
            </a:r>
            <a:br>
              <a:rPr lang="en-US" dirty="0"/>
            </a:br>
            <a:endParaRPr lang="en-US" dirty="0"/>
          </a:p>
        </p:txBody>
      </p:sp>
      <p:sp>
        <p:nvSpPr>
          <p:cNvPr id="3" name="Text Placeholder 2">
            <a:extLst>
              <a:ext uri="{FF2B5EF4-FFF2-40B4-BE49-F238E27FC236}">
                <a16:creationId xmlns:a16="http://schemas.microsoft.com/office/drawing/2014/main" id="{C698D317-A097-94A0-396A-6D3AC0FF08E5}"/>
              </a:ext>
            </a:extLst>
          </p:cNvPr>
          <p:cNvSpPr>
            <a:spLocks noGrp="1"/>
          </p:cNvSpPr>
          <p:nvPr>
            <p:ph type="body" idx="1"/>
          </p:nvPr>
        </p:nvSpPr>
        <p:spPr>
          <a:xfrm>
            <a:off x="2059941" y="1616709"/>
            <a:ext cx="8074025" cy="4616648"/>
          </a:xfrm>
        </p:spPr>
        <p:txBody>
          <a:bodyPr>
            <a:normAutofit fontScale="55000" lnSpcReduction="20000"/>
          </a:bodyPr>
          <a:lstStyle/>
          <a:p>
            <a:endParaRPr lang="en-US" dirty="0"/>
          </a:p>
          <a:p>
            <a:r>
              <a:rPr lang="en-US" dirty="0"/>
              <a:t>1. Supervised Learning Phase:</a:t>
            </a:r>
          </a:p>
          <a:p>
            <a:endParaRPr lang="en-US" dirty="0"/>
          </a:p>
          <a:p>
            <a:pPr marL="342900" indent="-342900"/>
            <a:r>
              <a:rPr lang="en-US" dirty="0"/>
              <a:t>Trained on 30 million positions from expert human games.</a:t>
            </a:r>
          </a:p>
          <a:p>
            <a:pPr marL="342900" indent="-342900"/>
            <a:endParaRPr lang="en-US" dirty="0"/>
          </a:p>
          <a:p>
            <a:pPr marL="342900" indent="-342900"/>
            <a:r>
              <a:rPr lang="en-US" dirty="0"/>
              <a:t>Learned to imitate professional moves (~57% accuracy).</a:t>
            </a:r>
          </a:p>
          <a:p>
            <a:endParaRPr lang="en-US" dirty="0"/>
          </a:p>
          <a:p>
            <a:r>
              <a:rPr lang="en-US" dirty="0"/>
              <a:t>2. Reinforcement Learning Phase:</a:t>
            </a:r>
          </a:p>
          <a:p>
            <a:endParaRPr lang="en-US" dirty="0"/>
          </a:p>
          <a:p>
            <a:pPr marL="342900" indent="-342900"/>
            <a:r>
              <a:rPr lang="en-US" dirty="0"/>
              <a:t>Played millions of games against itself (self-play).</a:t>
            </a:r>
          </a:p>
          <a:p>
            <a:pPr marL="342900" indent="-342900"/>
            <a:endParaRPr lang="en-US" dirty="0"/>
          </a:p>
          <a:p>
            <a:pPr marL="342900" indent="-342900"/>
            <a:r>
              <a:rPr lang="en-US" dirty="0"/>
              <a:t>Used reinforcement signals (win/loss) to improve its policy and value estimation.</a:t>
            </a:r>
          </a:p>
          <a:p>
            <a:pPr marL="342900" indent="-342900"/>
            <a:endParaRPr lang="en-US" dirty="0"/>
          </a:p>
          <a:p>
            <a:pPr marL="342900" indent="-342900"/>
            <a:r>
              <a:rPr lang="en-US" dirty="0"/>
              <a:t>Gradually surpassed human-level performance.</a:t>
            </a:r>
          </a:p>
        </p:txBody>
      </p:sp>
    </p:spTree>
    <p:extLst>
      <p:ext uri="{BB962C8B-B14F-4D97-AF65-F5344CB8AC3E}">
        <p14:creationId xmlns:p14="http://schemas.microsoft.com/office/powerpoint/2010/main" val="416059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C4766-62B3-C192-C2FF-5B7C6898B850}"/>
              </a:ext>
            </a:extLst>
          </p:cNvPr>
          <p:cNvSpPr>
            <a:spLocks noGrp="1"/>
          </p:cNvSpPr>
          <p:nvPr>
            <p:ph type="title"/>
          </p:nvPr>
        </p:nvSpPr>
        <p:spPr/>
        <p:txBody>
          <a:bodyPr/>
          <a:lstStyle/>
          <a:p>
            <a:r>
              <a:rPr lang="en-IN" dirty="0"/>
              <a:t>Key Algorithms Used</a:t>
            </a:r>
            <a:br>
              <a:rPr lang="en-IN" dirty="0"/>
            </a:br>
            <a:endParaRPr lang="en-US" dirty="0"/>
          </a:p>
        </p:txBody>
      </p:sp>
      <p:sp>
        <p:nvSpPr>
          <p:cNvPr id="3" name="Text Placeholder 2">
            <a:extLst>
              <a:ext uri="{FF2B5EF4-FFF2-40B4-BE49-F238E27FC236}">
                <a16:creationId xmlns:a16="http://schemas.microsoft.com/office/drawing/2014/main" id="{1433D0E2-992D-EE07-2CFE-752AF69ED7B8}"/>
              </a:ext>
            </a:extLst>
          </p:cNvPr>
          <p:cNvSpPr>
            <a:spLocks noGrp="1"/>
          </p:cNvSpPr>
          <p:nvPr>
            <p:ph type="body" idx="1"/>
          </p:nvPr>
        </p:nvSpPr>
        <p:spPr>
          <a:xfrm>
            <a:off x="2059941" y="1616709"/>
            <a:ext cx="8074025" cy="3077766"/>
          </a:xfrm>
        </p:spPr>
        <p:txBody>
          <a:bodyPr>
            <a:normAutofit fontScale="70000" lnSpcReduction="20000"/>
          </a:bodyPr>
          <a:lstStyle/>
          <a:p>
            <a:pPr marL="457200" indent="-457200">
              <a:buFont typeface="+mj-lt"/>
              <a:buAutoNum type="arabicPeriod"/>
            </a:pPr>
            <a:r>
              <a:rPr lang="en-IN" b="1" dirty="0"/>
              <a:t>Deep Neural Networks (DNNs)</a:t>
            </a:r>
            <a:r>
              <a:rPr lang="en-IN" dirty="0"/>
              <a:t> for move prediction and board evaluation.</a:t>
            </a:r>
          </a:p>
          <a:p>
            <a:pPr marL="457200" indent="-457200">
              <a:buFont typeface="+mj-lt"/>
              <a:buAutoNum type="arabicPeriod"/>
            </a:pPr>
            <a:endParaRPr lang="en-IN" dirty="0"/>
          </a:p>
          <a:p>
            <a:pPr marL="457200" indent="-457200">
              <a:buFont typeface="+mj-lt"/>
              <a:buAutoNum type="arabicPeriod"/>
            </a:pPr>
            <a:r>
              <a:rPr lang="en-IN" b="1" dirty="0"/>
              <a:t>Reinforcement Learning (RL)</a:t>
            </a:r>
            <a:r>
              <a:rPr lang="en-IN" dirty="0"/>
              <a:t> for improvement through experience.</a:t>
            </a:r>
          </a:p>
          <a:p>
            <a:pPr marL="457200" indent="-457200">
              <a:buFont typeface="+mj-lt"/>
              <a:buAutoNum type="arabicPeriod"/>
            </a:pPr>
            <a:endParaRPr lang="en-IN" dirty="0"/>
          </a:p>
          <a:p>
            <a:pPr marL="457200" indent="-457200">
              <a:buFont typeface="+mj-lt"/>
              <a:buAutoNum type="arabicPeriod"/>
            </a:pPr>
            <a:r>
              <a:rPr lang="en-IN" b="1" dirty="0"/>
              <a:t>Monte Carlo Tree Search (MCTS)</a:t>
            </a:r>
            <a:r>
              <a:rPr lang="en-IN" dirty="0"/>
              <a:t> for efficient exploration of move sequences.</a:t>
            </a:r>
          </a:p>
          <a:p>
            <a:pPr marL="457200" indent="-457200">
              <a:buFont typeface="+mj-lt"/>
              <a:buAutoNum type="arabicPeriod"/>
            </a:pPr>
            <a:endParaRPr lang="en-IN" dirty="0"/>
          </a:p>
          <a:p>
            <a:pPr marL="457200" indent="-457200">
              <a:buFont typeface="+mj-lt"/>
              <a:buAutoNum type="arabicPeriod"/>
            </a:pPr>
            <a:r>
              <a:rPr lang="en-IN" b="1" dirty="0"/>
              <a:t>Gradient Descent Optimization</a:t>
            </a:r>
            <a:r>
              <a:rPr lang="en-IN" dirty="0"/>
              <a:t> for model training.</a:t>
            </a:r>
          </a:p>
          <a:p>
            <a:endParaRPr lang="en-US" dirty="0"/>
          </a:p>
        </p:txBody>
      </p:sp>
    </p:spTree>
    <p:extLst>
      <p:ext uri="{BB962C8B-B14F-4D97-AF65-F5344CB8AC3E}">
        <p14:creationId xmlns:p14="http://schemas.microsoft.com/office/powerpoint/2010/main" val="882040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00131-5704-1067-8C7C-4001DDBD7C56}"/>
              </a:ext>
            </a:extLst>
          </p:cNvPr>
          <p:cNvSpPr>
            <a:spLocks noGrp="1"/>
          </p:cNvSpPr>
          <p:nvPr>
            <p:ph type="title"/>
          </p:nvPr>
        </p:nvSpPr>
        <p:spPr>
          <a:xfrm>
            <a:off x="2059941" y="145492"/>
            <a:ext cx="8072119" cy="615553"/>
          </a:xfrm>
        </p:spPr>
        <p:txBody>
          <a:bodyPr>
            <a:normAutofit fontScale="90000"/>
          </a:bodyPr>
          <a:lstStyle/>
          <a:p>
            <a:r>
              <a:rPr lang="en-IN" dirty="0"/>
              <a:t>Technical Overview</a:t>
            </a:r>
            <a:endParaRPr lang="en-US" dirty="0"/>
          </a:p>
        </p:txBody>
      </p:sp>
      <p:graphicFrame>
        <p:nvGraphicFramePr>
          <p:cNvPr id="4" name="Table 3">
            <a:extLst>
              <a:ext uri="{FF2B5EF4-FFF2-40B4-BE49-F238E27FC236}">
                <a16:creationId xmlns:a16="http://schemas.microsoft.com/office/drawing/2014/main" id="{57E44BD8-30DF-A985-B7DD-79D1F5AFDDFF}"/>
              </a:ext>
            </a:extLst>
          </p:cNvPr>
          <p:cNvGraphicFramePr>
            <a:graphicFrameLocks noGrp="1"/>
          </p:cNvGraphicFramePr>
          <p:nvPr/>
        </p:nvGraphicFramePr>
        <p:xfrm>
          <a:off x="1828800" y="1143000"/>
          <a:ext cx="8074024" cy="3749040"/>
        </p:xfrm>
        <a:graphic>
          <a:graphicData uri="http://schemas.openxmlformats.org/drawingml/2006/table">
            <a:tbl>
              <a:tblPr/>
              <a:tblGrid>
                <a:gridCol w="4037012">
                  <a:extLst>
                    <a:ext uri="{9D8B030D-6E8A-4147-A177-3AD203B41FA5}">
                      <a16:colId xmlns:a16="http://schemas.microsoft.com/office/drawing/2014/main" val="1199938285"/>
                    </a:ext>
                  </a:extLst>
                </a:gridCol>
                <a:gridCol w="4037012">
                  <a:extLst>
                    <a:ext uri="{9D8B030D-6E8A-4147-A177-3AD203B41FA5}">
                      <a16:colId xmlns:a16="http://schemas.microsoft.com/office/drawing/2014/main" val="947577637"/>
                    </a:ext>
                  </a:extLst>
                </a:gridCol>
              </a:tblGrid>
              <a:tr h="365760">
                <a:tc>
                  <a:txBody>
                    <a:bodyPr/>
                    <a:lstStyle/>
                    <a:p>
                      <a:pPr>
                        <a:buNone/>
                      </a:pPr>
                      <a:r>
                        <a:rPr lang="en-IN" sz="1800" dirty="0"/>
                        <a:t>Component</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2349784076"/>
                  </a:ext>
                </a:extLst>
              </a:tr>
              <a:tr h="365760">
                <a:tc>
                  <a:txBody>
                    <a:bodyPr/>
                    <a:lstStyle/>
                    <a:p>
                      <a:pPr>
                        <a:buNone/>
                      </a:pPr>
                      <a:r>
                        <a:rPr lang="en-IN" sz="1800" b="1"/>
                        <a:t>Game</a:t>
                      </a:r>
                      <a:endParaRPr lang="en-IN" sz="1800"/>
                    </a:p>
                  </a:txBody>
                  <a:tcPr anchor="ctr">
                    <a:lnL>
                      <a:noFill/>
                    </a:lnL>
                    <a:lnR>
                      <a:noFill/>
                    </a:lnR>
                    <a:lnT>
                      <a:noFill/>
                    </a:lnT>
                    <a:lnB>
                      <a:noFill/>
                    </a:lnB>
                    <a:noFill/>
                  </a:tcPr>
                </a:tc>
                <a:tc>
                  <a:txBody>
                    <a:bodyPr/>
                    <a:lstStyle/>
                    <a:p>
                      <a:pPr>
                        <a:buNone/>
                      </a:pPr>
                      <a:r>
                        <a:rPr lang="en-IN" sz="1800"/>
                        <a:t>Go (19×19 grid)</a:t>
                      </a:r>
                    </a:p>
                  </a:txBody>
                  <a:tcPr anchor="ctr">
                    <a:lnL>
                      <a:noFill/>
                    </a:lnL>
                    <a:lnR>
                      <a:noFill/>
                    </a:lnR>
                    <a:lnT>
                      <a:noFill/>
                    </a:lnT>
                    <a:lnB>
                      <a:noFill/>
                    </a:lnB>
                    <a:noFill/>
                  </a:tcPr>
                </a:tc>
                <a:extLst>
                  <a:ext uri="{0D108BD9-81ED-4DB2-BD59-A6C34878D82A}">
                    <a16:rowId xmlns:a16="http://schemas.microsoft.com/office/drawing/2014/main" val="1204898494"/>
                  </a:ext>
                </a:extLst>
              </a:tr>
              <a:tr h="365760">
                <a:tc>
                  <a:txBody>
                    <a:bodyPr/>
                    <a:lstStyle/>
                    <a:p>
                      <a:pPr>
                        <a:buNone/>
                      </a:pPr>
                      <a:r>
                        <a:rPr lang="en-IN" sz="1800" b="1"/>
                        <a:t>Learning Type</a:t>
                      </a:r>
                      <a:endParaRPr lang="en-IN" sz="1800"/>
                    </a:p>
                  </a:txBody>
                  <a:tcPr anchor="ctr">
                    <a:lnL>
                      <a:noFill/>
                    </a:lnL>
                    <a:lnR>
                      <a:noFill/>
                    </a:lnR>
                    <a:lnT>
                      <a:noFill/>
                    </a:lnT>
                    <a:lnB>
                      <a:noFill/>
                    </a:lnB>
                    <a:noFill/>
                  </a:tcPr>
                </a:tc>
                <a:tc>
                  <a:txBody>
                    <a:bodyPr/>
                    <a:lstStyle/>
                    <a:p>
                      <a:pPr>
                        <a:buNone/>
                      </a:pPr>
                      <a:r>
                        <a:rPr lang="en-IN" sz="1800"/>
                        <a:t>Supervised + Reinforcement Learning</a:t>
                      </a:r>
                    </a:p>
                  </a:txBody>
                  <a:tcPr anchor="ctr">
                    <a:lnL>
                      <a:noFill/>
                    </a:lnL>
                    <a:lnR>
                      <a:noFill/>
                    </a:lnR>
                    <a:lnT>
                      <a:noFill/>
                    </a:lnT>
                    <a:lnB>
                      <a:noFill/>
                    </a:lnB>
                    <a:noFill/>
                  </a:tcPr>
                </a:tc>
                <a:extLst>
                  <a:ext uri="{0D108BD9-81ED-4DB2-BD59-A6C34878D82A}">
                    <a16:rowId xmlns:a16="http://schemas.microsoft.com/office/drawing/2014/main" val="2733333879"/>
                  </a:ext>
                </a:extLst>
              </a:tr>
              <a:tr h="640080">
                <a:tc>
                  <a:txBody>
                    <a:bodyPr/>
                    <a:lstStyle/>
                    <a:p>
                      <a:pPr>
                        <a:buNone/>
                      </a:pPr>
                      <a:r>
                        <a:rPr lang="en-IN" sz="1800" b="1"/>
                        <a:t>Algorithm</a:t>
                      </a:r>
                      <a:endParaRPr lang="en-IN" sz="1800"/>
                    </a:p>
                  </a:txBody>
                  <a:tcPr anchor="ctr">
                    <a:lnL>
                      <a:noFill/>
                    </a:lnL>
                    <a:lnR>
                      <a:noFill/>
                    </a:lnR>
                    <a:lnT>
                      <a:noFill/>
                    </a:lnT>
                    <a:lnB>
                      <a:noFill/>
                    </a:lnB>
                    <a:noFill/>
                  </a:tcPr>
                </a:tc>
                <a:tc>
                  <a:txBody>
                    <a:bodyPr/>
                    <a:lstStyle/>
                    <a:p>
                      <a:pPr>
                        <a:buNone/>
                      </a:pPr>
                      <a:r>
                        <a:rPr lang="en-IN" sz="1800"/>
                        <a:t>Deep Neural Networks + Monte Carlo Tree Search</a:t>
                      </a:r>
                    </a:p>
                  </a:txBody>
                  <a:tcPr anchor="ctr">
                    <a:lnL>
                      <a:noFill/>
                    </a:lnL>
                    <a:lnR>
                      <a:noFill/>
                    </a:lnR>
                    <a:lnT>
                      <a:noFill/>
                    </a:lnT>
                    <a:lnB>
                      <a:noFill/>
                    </a:lnB>
                    <a:noFill/>
                  </a:tcPr>
                </a:tc>
                <a:extLst>
                  <a:ext uri="{0D108BD9-81ED-4DB2-BD59-A6C34878D82A}">
                    <a16:rowId xmlns:a16="http://schemas.microsoft.com/office/drawing/2014/main" val="1047139452"/>
                  </a:ext>
                </a:extLst>
              </a:tr>
              <a:tr h="365760">
                <a:tc>
                  <a:txBody>
                    <a:bodyPr/>
                    <a:lstStyle/>
                    <a:p>
                      <a:pPr>
                        <a:buNone/>
                      </a:pPr>
                      <a:r>
                        <a:rPr lang="en-IN" sz="1800" b="1"/>
                        <a:t>Training Data</a:t>
                      </a:r>
                      <a:endParaRPr lang="en-IN" sz="1800"/>
                    </a:p>
                  </a:txBody>
                  <a:tcPr anchor="ctr">
                    <a:lnL>
                      <a:noFill/>
                    </a:lnL>
                    <a:lnR>
                      <a:noFill/>
                    </a:lnR>
                    <a:lnT>
                      <a:noFill/>
                    </a:lnT>
                    <a:lnB>
                      <a:noFill/>
                    </a:lnB>
                    <a:noFill/>
                  </a:tcPr>
                </a:tc>
                <a:tc>
                  <a:txBody>
                    <a:bodyPr/>
                    <a:lstStyle/>
                    <a:p>
                      <a:pPr>
                        <a:buNone/>
                      </a:pPr>
                      <a:r>
                        <a:rPr lang="en-IN" sz="1800"/>
                        <a:t>Human expert games + Self-play</a:t>
                      </a:r>
                    </a:p>
                  </a:txBody>
                  <a:tcPr anchor="ctr">
                    <a:lnL>
                      <a:noFill/>
                    </a:lnL>
                    <a:lnR>
                      <a:noFill/>
                    </a:lnR>
                    <a:lnT>
                      <a:noFill/>
                    </a:lnT>
                    <a:lnB>
                      <a:noFill/>
                    </a:lnB>
                    <a:noFill/>
                  </a:tcPr>
                </a:tc>
                <a:extLst>
                  <a:ext uri="{0D108BD9-81ED-4DB2-BD59-A6C34878D82A}">
                    <a16:rowId xmlns:a16="http://schemas.microsoft.com/office/drawing/2014/main" val="2840500386"/>
                  </a:ext>
                </a:extLst>
              </a:tr>
              <a:tr h="640080">
                <a:tc>
                  <a:txBody>
                    <a:bodyPr/>
                    <a:lstStyle/>
                    <a:p>
                      <a:pPr>
                        <a:buNone/>
                      </a:pPr>
                      <a:r>
                        <a:rPr lang="en-IN" sz="1800" b="1"/>
                        <a:t>Computing Power</a:t>
                      </a:r>
                      <a:endParaRPr lang="en-IN" sz="1800"/>
                    </a:p>
                  </a:txBody>
                  <a:tcPr anchor="ctr">
                    <a:lnL>
                      <a:noFill/>
                    </a:lnL>
                    <a:lnR>
                      <a:noFill/>
                    </a:lnR>
                    <a:lnT>
                      <a:noFill/>
                    </a:lnT>
                    <a:lnB>
                      <a:noFill/>
                    </a:lnB>
                    <a:noFill/>
                  </a:tcPr>
                </a:tc>
                <a:tc>
                  <a:txBody>
                    <a:bodyPr/>
                    <a:lstStyle/>
                    <a:p>
                      <a:pPr>
                        <a:buNone/>
                      </a:pPr>
                      <a:r>
                        <a:rPr lang="en-IN" sz="1800"/>
                        <a:t>1920 CPUs + 280 GPUs (for AlphaGo Zero, fewer but more efficient)</a:t>
                      </a:r>
                    </a:p>
                  </a:txBody>
                  <a:tcPr anchor="ctr">
                    <a:lnL>
                      <a:noFill/>
                    </a:lnL>
                    <a:lnR>
                      <a:noFill/>
                    </a:lnR>
                    <a:lnT>
                      <a:noFill/>
                    </a:lnT>
                    <a:lnB>
                      <a:noFill/>
                    </a:lnB>
                    <a:noFill/>
                  </a:tcPr>
                </a:tc>
                <a:extLst>
                  <a:ext uri="{0D108BD9-81ED-4DB2-BD59-A6C34878D82A}">
                    <a16:rowId xmlns:a16="http://schemas.microsoft.com/office/drawing/2014/main" val="3639367179"/>
                  </a:ext>
                </a:extLst>
              </a:tr>
              <a:tr h="365760">
                <a:tc>
                  <a:txBody>
                    <a:bodyPr/>
                    <a:lstStyle/>
                    <a:p>
                      <a:pPr>
                        <a:buNone/>
                      </a:pPr>
                      <a:r>
                        <a:rPr lang="en-IN" sz="1800" b="1"/>
                        <a:t>Programming Language</a:t>
                      </a:r>
                      <a:endParaRPr lang="en-IN" sz="1800"/>
                    </a:p>
                  </a:txBody>
                  <a:tcPr anchor="ctr">
                    <a:lnL>
                      <a:noFill/>
                    </a:lnL>
                    <a:lnR>
                      <a:noFill/>
                    </a:lnR>
                    <a:lnT>
                      <a:noFill/>
                    </a:lnT>
                    <a:lnB>
                      <a:noFill/>
                    </a:lnB>
                    <a:noFill/>
                  </a:tcPr>
                </a:tc>
                <a:tc>
                  <a:txBody>
                    <a:bodyPr/>
                    <a:lstStyle/>
                    <a:p>
                      <a:pPr>
                        <a:buNone/>
                      </a:pPr>
                      <a:r>
                        <a:rPr lang="en-IN" sz="1800"/>
                        <a:t>Primarily Python &amp; C++</a:t>
                      </a:r>
                    </a:p>
                  </a:txBody>
                  <a:tcPr anchor="ctr">
                    <a:lnL>
                      <a:noFill/>
                    </a:lnL>
                    <a:lnR>
                      <a:noFill/>
                    </a:lnR>
                    <a:lnT>
                      <a:noFill/>
                    </a:lnT>
                    <a:lnB>
                      <a:noFill/>
                    </a:lnB>
                    <a:noFill/>
                  </a:tcPr>
                </a:tc>
                <a:extLst>
                  <a:ext uri="{0D108BD9-81ED-4DB2-BD59-A6C34878D82A}">
                    <a16:rowId xmlns:a16="http://schemas.microsoft.com/office/drawing/2014/main" val="756218356"/>
                  </a:ext>
                </a:extLst>
              </a:tr>
              <a:tr h="640080">
                <a:tc>
                  <a:txBody>
                    <a:bodyPr/>
                    <a:lstStyle/>
                    <a:p>
                      <a:pPr>
                        <a:buNone/>
                      </a:pPr>
                      <a:r>
                        <a:rPr lang="en-IN" sz="1800" b="1"/>
                        <a:t>Framework</a:t>
                      </a:r>
                      <a:endParaRPr lang="en-IN" sz="1800"/>
                    </a:p>
                  </a:txBody>
                  <a:tcPr anchor="ctr">
                    <a:lnL>
                      <a:noFill/>
                    </a:lnL>
                    <a:lnR>
                      <a:noFill/>
                    </a:lnR>
                    <a:lnT>
                      <a:noFill/>
                    </a:lnT>
                    <a:lnB>
                      <a:noFill/>
                    </a:lnB>
                    <a:noFill/>
                  </a:tcPr>
                </a:tc>
                <a:tc>
                  <a:txBody>
                    <a:bodyPr/>
                    <a:lstStyle/>
                    <a:p>
                      <a:pPr>
                        <a:buNone/>
                      </a:pPr>
                      <a:r>
                        <a:rPr lang="en-IN" sz="1800" dirty="0"/>
                        <a:t>TensorFlow (DeepMind’s in-house libraries)</a:t>
                      </a:r>
                    </a:p>
                  </a:txBody>
                  <a:tcPr anchor="ctr">
                    <a:lnL>
                      <a:noFill/>
                    </a:lnL>
                    <a:lnR>
                      <a:noFill/>
                    </a:lnR>
                    <a:lnT>
                      <a:noFill/>
                    </a:lnT>
                    <a:lnB>
                      <a:noFill/>
                    </a:lnB>
                    <a:noFill/>
                  </a:tcPr>
                </a:tc>
                <a:extLst>
                  <a:ext uri="{0D108BD9-81ED-4DB2-BD59-A6C34878D82A}">
                    <a16:rowId xmlns:a16="http://schemas.microsoft.com/office/drawing/2014/main" val="1507667060"/>
                  </a:ext>
                </a:extLst>
              </a:tr>
            </a:tbl>
          </a:graphicData>
        </a:graphic>
      </p:graphicFrame>
    </p:spTree>
    <p:extLst>
      <p:ext uri="{BB962C8B-B14F-4D97-AF65-F5344CB8AC3E}">
        <p14:creationId xmlns:p14="http://schemas.microsoft.com/office/powerpoint/2010/main" val="488260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71E0-13F0-FA55-4565-87C85D57AC22}"/>
              </a:ext>
            </a:extLst>
          </p:cNvPr>
          <p:cNvSpPr>
            <a:spLocks noGrp="1"/>
          </p:cNvSpPr>
          <p:nvPr>
            <p:ph type="title"/>
          </p:nvPr>
        </p:nvSpPr>
        <p:spPr/>
        <p:txBody>
          <a:bodyPr/>
          <a:lstStyle/>
          <a:p>
            <a:r>
              <a:rPr lang="en-IN" dirty="0"/>
              <a:t>Comparison: AlphaGo vs IBM Deep Blue</a:t>
            </a:r>
            <a:endParaRPr lang="en-US" dirty="0"/>
          </a:p>
        </p:txBody>
      </p:sp>
      <p:graphicFrame>
        <p:nvGraphicFramePr>
          <p:cNvPr id="4" name="Table 3">
            <a:extLst>
              <a:ext uri="{FF2B5EF4-FFF2-40B4-BE49-F238E27FC236}">
                <a16:creationId xmlns:a16="http://schemas.microsoft.com/office/drawing/2014/main" id="{8655DDDE-9BA1-172F-E3EC-180D96CCDC2C}"/>
              </a:ext>
            </a:extLst>
          </p:cNvPr>
          <p:cNvGraphicFramePr>
            <a:graphicFrameLocks noGrp="1"/>
          </p:cNvGraphicFramePr>
          <p:nvPr/>
        </p:nvGraphicFramePr>
        <p:xfrm>
          <a:off x="2059940" y="1874520"/>
          <a:ext cx="8074026" cy="3108960"/>
        </p:xfrm>
        <a:graphic>
          <a:graphicData uri="http://schemas.openxmlformats.org/drawingml/2006/table">
            <a:tbl>
              <a:tblPr/>
              <a:tblGrid>
                <a:gridCol w="2691342">
                  <a:extLst>
                    <a:ext uri="{9D8B030D-6E8A-4147-A177-3AD203B41FA5}">
                      <a16:colId xmlns:a16="http://schemas.microsoft.com/office/drawing/2014/main" val="261529854"/>
                    </a:ext>
                  </a:extLst>
                </a:gridCol>
                <a:gridCol w="2691342">
                  <a:extLst>
                    <a:ext uri="{9D8B030D-6E8A-4147-A177-3AD203B41FA5}">
                      <a16:colId xmlns:a16="http://schemas.microsoft.com/office/drawing/2014/main" val="816613491"/>
                    </a:ext>
                  </a:extLst>
                </a:gridCol>
                <a:gridCol w="2691342">
                  <a:extLst>
                    <a:ext uri="{9D8B030D-6E8A-4147-A177-3AD203B41FA5}">
                      <a16:colId xmlns:a16="http://schemas.microsoft.com/office/drawing/2014/main" val="1456405611"/>
                    </a:ext>
                  </a:extLst>
                </a:gridCol>
              </a:tblGrid>
              <a:tr h="365760">
                <a:tc>
                  <a:txBody>
                    <a:bodyPr/>
                    <a:lstStyle/>
                    <a:p>
                      <a:pPr>
                        <a:buNone/>
                      </a:pPr>
                      <a:r>
                        <a:rPr lang="en-IN" sz="1800"/>
                        <a:t>Feature</a:t>
                      </a:r>
                    </a:p>
                  </a:txBody>
                  <a:tcPr anchor="ctr">
                    <a:lnL>
                      <a:noFill/>
                    </a:lnL>
                    <a:lnR>
                      <a:noFill/>
                    </a:lnR>
                    <a:lnT>
                      <a:noFill/>
                    </a:lnT>
                    <a:lnB>
                      <a:noFill/>
                    </a:lnB>
                    <a:noFill/>
                  </a:tcPr>
                </a:tc>
                <a:tc>
                  <a:txBody>
                    <a:bodyPr/>
                    <a:lstStyle/>
                    <a:p>
                      <a:pPr>
                        <a:buNone/>
                      </a:pPr>
                      <a:r>
                        <a:rPr lang="en-IN" sz="1800" b="1"/>
                        <a:t>IBM Deep Blue</a:t>
                      </a:r>
                      <a:endParaRPr lang="en-IN" sz="1800"/>
                    </a:p>
                  </a:txBody>
                  <a:tcPr anchor="ctr">
                    <a:lnL>
                      <a:noFill/>
                    </a:lnL>
                    <a:lnR>
                      <a:noFill/>
                    </a:lnR>
                    <a:lnT>
                      <a:noFill/>
                    </a:lnT>
                    <a:lnB>
                      <a:noFill/>
                    </a:lnB>
                    <a:noFill/>
                  </a:tcPr>
                </a:tc>
                <a:tc>
                  <a:txBody>
                    <a:bodyPr/>
                    <a:lstStyle/>
                    <a:p>
                      <a:pPr>
                        <a:buNone/>
                      </a:pPr>
                      <a:r>
                        <a:rPr lang="en-IN" sz="1800" b="1"/>
                        <a:t>AlphaGo</a:t>
                      </a:r>
                      <a:endParaRPr lang="en-IN" sz="1800"/>
                    </a:p>
                  </a:txBody>
                  <a:tcPr anchor="ctr">
                    <a:lnL>
                      <a:noFill/>
                    </a:lnL>
                    <a:lnR>
                      <a:noFill/>
                    </a:lnR>
                    <a:lnT>
                      <a:noFill/>
                    </a:lnT>
                    <a:lnB>
                      <a:noFill/>
                    </a:lnB>
                    <a:noFill/>
                  </a:tcPr>
                </a:tc>
                <a:extLst>
                  <a:ext uri="{0D108BD9-81ED-4DB2-BD59-A6C34878D82A}">
                    <a16:rowId xmlns:a16="http://schemas.microsoft.com/office/drawing/2014/main" val="2222250427"/>
                  </a:ext>
                </a:extLst>
              </a:tr>
              <a:tr h="365760">
                <a:tc>
                  <a:txBody>
                    <a:bodyPr/>
                    <a:lstStyle/>
                    <a:p>
                      <a:pPr>
                        <a:buNone/>
                      </a:pPr>
                      <a:r>
                        <a:rPr lang="en-IN" sz="1800" b="1" dirty="0"/>
                        <a:t>Game</a:t>
                      </a:r>
                      <a:endParaRPr lang="en-IN" sz="1800" dirty="0"/>
                    </a:p>
                  </a:txBody>
                  <a:tcPr anchor="ctr">
                    <a:lnL>
                      <a:noFill/>
                    </a:lnL>
                    <a:lnR>
                      <a:noFill/>
                    </a:lnR>
                    <a:lnT>
                      <a:noFill/>
                    </a:lnT>
                    <a:lnB>
                      <a:noFill/>
                    </a:lnB>
                    <a:noFill/>
                  </a:tcPr>
                </a:tc>
                <a:tc>
                  <a:txBody>
                    <a:bodyPr/>
                    <a:lstStyle/>
                    <a:p>
                      <a:pPr>
                        <a:buNone/>
                      </a:pPr>
                      <a:r>
                        <a:rPr lang="en-IN" sz="1800"/>
                        <a:t>Chess</a:t>
                      </a:r>
                    </a:p>
                  </a:txBody>
                  <a:tcPr anchor="ctr">
                    <a:lnL>
                      <a:noFill/>
                    </a:lnL>
                    <a:lnR>
                      <a:noFill/>
                    </a:lnR>
                    <a:lnT>
                      <a:noFill/>
                    </a:lnT>
                    <a:lnB>
                      <a:noFill/>
                    </a:lnB>
                    <a:noFill/>
                  </a:tcPr>
                </a:tc>
                <a:tc>
                  <a:txBody>
                    <a:bodyPr/>
                    <a:lstStyle/>
                    <a:p>
                      <a:pPr>
                        <a:buNone/>
                      </a:pPr>
                      <a:r>
                        <a:rPr lang="en-IN" sz="1800"/>
                        <a:t>Go</a:t>
                      </a:r>
                    </a:p>
                  </a:txBody>
                  <a:tcPr anchor="ctr">
                    <a:lnL>
                      <a:noFill/>
                    </a:lnL>
                    <a:lnR>
                      <a:noFill/>
                    </a:lnR>
                    <a:lnT>
                      <a:noFill/>
                    </a:lnT>
                    <a:lnB>
                      <a:noFill/>
                    </a:lnB>
                    <a:noFill/>
                  </a:tcPr>
                </a:tc>
                <a:extLst>
                  <a:ext uri="{0D108BD9-81ED-4DB2-BD59-A6C34878D82A}">
                    <a16:rowId xmlns:a16="http://schemas.microsoft.com/office/drawing/2014/main" val="193396156"/>
                  </a:ext>
                </a:extLst>
              </a:tr>
              <a:tr h="640080">
                <a:tc>
                  <a:txBody>
                    <a:bodyPr/>
                    <a:lstStyle/>
                    <a:p>
                      <a:pPr>
                        <a:buNone/>
                      </a:pPr>
                      <a:r>
                        <a:rPr lang="en-IN" sz="1800" b="1"/>
                        <a:t>Approach</a:t>
                      </a:r>
                      <a:endParaRPr lang="en-IN" sz="1800"/>
                    </a:p>
                  </a:txBody>
                  <a:tcPr anchor="ctr">
                    <a:lnL>
                      <a:noFill/>
                    </a:lnL>
                    <a:lnR>
                      <a:noFill/>
                    </a:lnR>
                    <a:lnT>
                      <a:noFill/>
                    </a:lnT>
                    <a:lnB>
                      <a:noFill/>
                    </a:lnB>
                    <a:noFill/>
                  </a:tcPr>
                </a:tc>
                <a:tc>
                  <a:txBody>
                    <a:bodyPr/>
                    <a:lstStyle/>
                    <a:p>
                      <a:pPr>
                        <a:buNone/>
                      </a:pPr>
                      <a:r>
                        <a:rPr lang="en-IN" sz="1800"/>
                        <a:t>Brute-force + heuristics</a:t>
                      </a:r>
                    </a:p>
                  </a:txBody>
                  <a:tcPr anchor="ctr">
                    <a:lnL>
                      <a:noFill/>
                    </a:lnL>
                    <a:lnR>
                      <a:noFill/>
                    </a:lnR>
                    <a:lnT>
                      <a:noFill/>
                    </a:lnT>
                    <a:lnB>
                      <a:noFill/>
                    </a:lnB>
                    <a:noFill/>
                  </a:tcPr>
                </a:tc>
                <a:tc>
                  <a:txBody>
                    <a:bodyPr/>
                    <a:lstStyle/>
                    <a:p>
                      <a:pPr>
                        <a:buNone/>
                      </a:pPr>
                      <a:r>
                        <a:rPr lang="en-IN" sz="1800"/>
                        <a:t>Deep learning + reinforcement learning</a:t>
                      </a:r>
                    </a:p>
                  </a:txBody>
                  <a:tcPr anchor="ctr">
                    <a:lnL>
                      <a:noFill/>
                    </a:lnL>
                    <a:lnR>
                      <a:noFill/>
                    </a:lnR>
                    <a:lnT>
                      <a:noFill/>
                    </a:lnT>
                    <a:lnB>
                      <a:noFill/>
                    </a:lnB>
                    <a:noFill/>
                  </a:tcPr>
                </a:tc>
                <a:extLst>
                  <a:ext uri="{0D108BD9-81ED-4DB2-BD59-A6C34878D82A}">
                    <a16:rowId xmlns:a16="http://schemas.microsoft.com/office/drawing/2014/main" val="1084826148"/>
                  </a:ext>
                </a:extLst>
              </a:tr>
              <a:tr h="365760">
                <a:tc>
                  <a:txBody>
                    <a:bodyPr/>
                    <a:lstStyle/>
                    <a:p>
                      <a:pPr>
                        <a:buNone/>
                      </a:pPr>
                      <a:r>
                        <a:rPr lang="en-IN" sz="1800" b="1"/>
                        <a:t>Learning</a:t>
                      </a:r>
                      <a:endParaRPr lang="en-IN" sz="1800"/>
                    </a:p>
                  </a:txBody>
                  <a:tcPr anchor="ctr">
                    <a:lnL>
                      <a:noFill/>
                    </a:lnL>
                    <a:lnR>
                      <a:noFill/>
                    </a:lnR>
                    <a:lnT>
                      <a:noFill/>
                    </a:lnT>
                    <a:lnB>
                      <a:noFill/>
                    </a:lnB>
                    <a:noFill/>
                  </a:tcPr>
                </a:tc>
                <a:tc>
                  <a:txBody>
                    <a:bodyPr/>
                    <a:lstStyle/>
                    <a:p>
                      <a:pPr>
                        <a:buNone/>
                      </a:pPr>
                      <a:r>
                        <a:rPr lang="en-IN" sz="1800"/>
                        <a:t>None (pre-programmed)</a:t>
                      </a:r>
                    </a:p>
                  </a:txBody>
                  <a:tcPr anchor="ctr">
                    <a:lnL>
                      <a:noFill/>
                    </a:lnL>
                    <a:lnR>
                      <a:noFill/>
                    </a:lnR>
                    <a:lnT>
                      <a:noFill/>
                    </a:lnT>
                    <a:lnB>
                      <a:noFill/>
                    </a:lnB>
                    <a:noFill/>
                  </a:tcPr>
                </a:tc>
                <a:tc>
                  <a:txBody>
                    <a:bodyPr/>
                    <a:lstStyle/>
                    <a:p>
                      <a:pPr>
                        <a:buNone/>
                      </a:pPr>
                      <a:r>
                        <a:rPr lang="en-IN" sz="1800"/>
                        <a:t>Learned via self-play</a:t>
                      </a:r>
                    </a:p>
                  </a:txBody>
                  <a:tcPr anchor="ctr">
                    <a:lnL>
                      <a:noFill/>
                    </a:lnL>
                    <a:lnR>
                      <a:noFill/>
                    </a:lnR>
                    <a:lnT>
                      <a:noFill/>
                    </a:lnT>
                    <a:lnB>
                      <a:noFill/>
                    </a:lnB>
                    <a:noFill/>
                  </a:tcPr>
                </a:tc>
                <a:extLst>
                  <a:ext uri="{0D108BD9-81ED-4DB2-BD59-A6C34878D82A}">
                    <a16:rowId xmlns:a16="http://schemas.microsoft.com/office/drawing/2014/main" val="1315582960"/>
                  </a:ext>
                </a:extLst>
              </a:tr>
              <a:tr h="640080">
                <a:tc>
                  <a:txBody>
                    <a:bodyPr/>
                    <a:lstStyle/>
                    <a:p>
                      <a:pPr>
                        <a:buNone/>
                      </a:pPr>
                      <a:r>
                        <a:rPr lang="en-IN" sz="1800" b="1"/>
                        <a:t>Algorithm</a:t>
                      </a:r>
                      <a:endParaRPr lang="en-IN" sz="1800"/>
                    </a:p>
                  </a:txBody>
                  <a:tcPr anchor="ctr">
                    <a:lnL>
                      <a:noFill/>
                    </a:lnL>
                    <a:lnR>
                      <a:noFill/>
                    </a:lnR>
                    <a:lnT>
                      <a:noFill/>
                    </a:lnT>
                    <a:lnB>
                      <a:noFill/>
                    </a:lnB>
                    <a:noFill/>
                  </a:tcPr>
                </a:tc>
                <a:tc>
                  <a:txBody>
                    <a:bodyPr/>
                    <a:lstStyle/>
                    <a:p>
                      <a:pPr>
                        <a:buNone/>
                      </a:pPr>
                      <a:r>
                        <a:rPr lang="en-IN" sz="1800"/>
                        <a:t>Minimax + Alpha-Beta Pruning</a:t>
                      </a:r>
                    </a:p>
                  </a:txBody>
                  <a:tcPr anchor="ctr">
                    <a:lnL>
                      <a:noFill/>
                    </a:lnL>
                    <a:lnR>
                      <a:noFill/>
                    </a:lnR>
                    <a:lnT>
                      <a:noFill/>
                    </a:lnT>
                    <a:lnB>
                      <a:noFill/>
                    </a:lnB>
                    <a:noFill/>
                  </a:tcPr>
                </a:tc>
                <a:tc>
                  <a:txBody>
                    <a:bodyPr/>
                    <a:lstStyle/>
                    <a:p>
                      <a:pPr>
                        <a:buNone/>
                      </a:pPr>
                      <a:r>
                        <a:rPr lang="en-IN" sz="1800"/>
                        <a:t>MCTS + Deep Neural Networks</a:t>
                      </a:r>
                    </a:p>
                  </a:txBody>
                  <a:tcPr anchor="ctr">
                    <a:lnL>
                      <a:noFill/>
                    </a:lnL>
                    <a:lnR>
                      <a:noFill/>
                    </a:lnR>
                    <a:lnT>
                      <a:noFill/>
                    </a:lnT>
                    <a:lnB>
                      <a:noFill/>
                    </a:lnB>
                    <a:noFill/>
                  </a:tcPr>
                </a:tc>
                <a:extLst>
                  <a:ext uri="{0D108BD9-81ED-4DB2-BD59-A6C34878D82A}">
                    <a16:rowId xmlns:a16="http://schemas.microsoft.com/office/drawing/2014/main" val="2213846898"/>
                  </a:ext>
                </a:extLst>
              </a:tr>
              <a:tr h="365760">
                <a:tc>
                  <a:txBody>
                    <a:bodyPr/>
                    <a:lstStyle/>
                    <a:p>
                      <a:pPr>
                        <a:buNone/>
                      </a:pPr>
                      <a:r>
                        <a:rPr lang="en-IN" sz="1800" b="1"/>
                        <a:t>Victory</a:t>
                      </a:r>
                      <a:endParaRPr lang="en-IN" sz="1800"/>
                    </a:p>
                  </a:txBody>
                  <a:tcPr anchor="ctr">
                    <a:lnL>
                      <a:noFill/>
                    </a:lnL>
                    <a:lnR>
                      <a:noFill/>
                    </a:lnR>
                    <a:lnT>
                      <a:noFill/>
                    </a:lnT>
                    <a:lnB>
                      <a:noFill/>
                    </a:lnB>
                    <a:noFill/>
                  </a:tcPr>
                </a:tc>
                <a:tc>
                  <a:txBody>
                    <a:bodyPr/>
                    <a:lstStyle/>
                    <a:p>
                      <a:pPr>
                        <a:buNone/>
                      </a:pPr>
                      <a:r>
                        <a:rPr lang="en-IN" sz="1800"/>
                        <a:t>Garry Kasparov (1997)</a:t>
                      </a:r>
                    </a:p>
                  </a:txBody>
                  <a:tcPr anchor="ctr">
                    <a:lnL>
                      <a:noFill/>
                    </a:lnL>
                    <a:lnR>
                      <a:noFill/>
                    </a:lnR>
                    <a:lnT>
                      <a:noFill/>
                    </a:lnT>
                    <a:lnB>
                      <a:noFill/>
                    </a:lnB>
                    <a:noFill/>
                  </a:tcPr>
                </a:tc>
                <a:tc>
                  <a:txBody>
                    <a:bodyPr/>
                    <a:lstStyle/>
                    <a:p>
                      <a:pPr>
                        <a:buNone/>
                      </a:pPr>
                      <a:r>
                        <a:rPr lang="en-IN" sz="1800"/>
                        <a:t>Lee Sedol (2016)</a:t>
                      </a:r>
                    </a:p>
                  </a:txBody>
                  <a:tcPr anchor="ctr">
                    <a:lnL>
                      <a:noFill/>
                    </a:lnL>
                    <a:lnR>
                      <a:noFill/>
                    </a:lnR>
                    <a:lnT>
                      <a:noFill/>
                    </a:lnT>
                    <a:lnB>
                      <a:noFill/>
                    </a:lnB>
                    <a:noFill/>
                  </a:tcPr>
                </a:tc>
                <a:extLst>
                  <a:ext uri="{0D108BD9-81ED-4DB2-BD59-A6C34878D82A}">
                    <a16:rowId xmlns:a16="http://schemas.microsoft.com/office/drawing/2014/main" val="2930460993"/>
                  </a:ext>
                </a:extLst>
              </a:tr>
              <a:tr h="365760">
                <a:tc>
                  <a:txBody>
                    <a:bodyPr/>
                    <a:lstStyle/>
                    <a:p>
                      <a:pPr>
                        <a:buNone/>
                      </a:pPr>
                      <a:r>
                        <a:rPr lang="en-IN" sz="1800" b="1"/>
                        <a:t>Significance</a:t>
                      </a:r>
                      <a:endParaRPr lang="en-IN" sz="1800"/>
                    </a:p>
                  </a:txBody>
                  <a:tcPr anchor="ctr">
                    <a:lnL>
                      <a:noFill/>
                    </a:lnL>
                    <a:lnR>
                      <a:noFill/>
                    </a:lnR>
                    <a:lnT>
                      <a:noFill/>
                    </a:lnT>
                    <a:lnB>
                      <a:noFill/>
                    </a:lnB>
                    <a:noFill/>
                  </a:tcPr>
                </a:tc>
                <a:tc>
                  <a:txBody>
                    <a:bodyPr/>
                    <a:lstStyle/>
                    <a:p>
                      <a:pPr>
                        <a:buNone/>
                      </a:pPr>
                      <a:r>
                        <a:rPr lang="en-IN" sz="1800"/>
                        <a:t>Power of computation</a:t>
                      </a:r>
                    </a:p>
                  </a:txBody>
                  <a:tcPr anchor="ctr">
                    <a:lnL>
                      <a:noFill/>
                    </a:lnL>
                    <a:lnR>
                      <a:noFill/>
                    </a:lnR>
                    <a:lnT>
                      <a:noFill/>
                    </a:lnT>
                    <a:lnB>
                      <a:noFill/>
                    </a:lnB>
                    <a:noFill/>
                  </a:tcPr>
                </a:tc>
                <a:tc>
                  <a:txBody>
                    <a:bodyPr/>
                    <a:lstStyle/>
                    <a:p>
                      <a:pPr>
                        <a:buNone/>
                      </a:pPr>
                      <a:r>
                        <a:rPr lang="en-IN" sz="1800" dirty="0"/>
                        <a:t>Power of learning</a:t>
                      </a:r>
                    </a:p>
                  </a:txBody>
                  <a:tcPr anchor="ctr">
                    <a:lnL>
                      <a:noFill/>
                    </a:lnL>
                    <a:lnR>
                      <a:noFill/>
                    </a:lnR>
                    <a:lnT>
                      <a:noFill/>
                    </a:lnT>
                    <a:lnB>
                      <a:noFill/>
                    </a:lnB>
                    <a:noFill/>
                  </a:tcPr>
                </a:tc>
                <a:extLst>
                  <a:ext uri="{0D108BD9-81ED-4DB2-BD59-A6C34878D82A}">
                    <a16:rowId xmlns:a16="http://schemas.microsoft.com/office/drawing/2014/main" val="2141562630"/>
                  </a:ext>
                </a:extLst>
              </a:tr>
            </a:tbl>
          </a:graphicData>
        </a:graphic>
      </p:graphicFrame>
    </p:spTree>
    <p:extLst>
      <p:ext uri="{BB962C8B-B14F-4D97-AF65-F5344CB8AC3E}">
        <p14:creationId xmlns:p14="http://schemas.microsoft.com/office/powerpoint/2010/main" val="3892816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E8B5-D18F-ED09-622C-36AC4316B4F0}"/>
              </a:ext>
            </a:extLst>
          </p:cNvPr>
          <p:cNvSpPr>
            <a:spLocks noGrp="1"/>
          </p:cNvSpPr>
          <p:nvPr>
            <p:ph type="title"/>
          </p:nvPr>
        </p:nvSpPr>
        <p:spPr>
          <a:xfrm>
            <a:off x="2059941" y="145492"/>
            <a:ext cx="8072119" cy="615553"/>
          </a:xfrm>
        </p:spPr>
        <p:txBody>
          <a:bodyPr>
            <a:normAutofit fontScale="90000"/>
          </a:bodyPr>
          <a:lstStyle/>
          <a:p>
            <a:r>
              <a:rPr lang="en-US" dirty="0"/>
              <a:t>Parkinson’s Disease Prediction</a:t>
            </a:r>
          </a:p>
        </p:txBody>
      </p:sp>
      <p:sp>
        <p:nvSpPr>
          <p:cNvPr id="3" name="Text Placeholder 2">
            <a:extLst>
              <a:ext uri="{FF2B5EF4-FFF2-40B4-BE49-F238E27FC236}">
                <a16:creationId xmlns:a16="http://schemas.microsoft.com/office/drawing/2014/main" id="{AD607C0A-E655-C78A-A504-C54F5B2C4BBE}"/>
              </a:ext>
            </a:extLst>
          </p:cNvPr>
          <p:cNvSpPr>
            <a:spLocks noGrp="1"/>
          </p:cNvSpPr>
          <p:nvPr>
            <p:ph type="body" idx="1"/>
          </p:nvPr>
        </p:nvSpPr>
        <p:spPr>
          <a:xfrm>
            <a:off x="2059941" y="1616709"/>
            <a:ext cx="8074025" cy="3385542"/>
          </a:xfrm>
        </p:spPr>
        <p:txBody>
          <a:bodyPr>
            <a:normAutofit fontScale="70000" lnSpcReduction="20000"/>
          </a:bodyPr>
          <a:lstStyle/>
          <a:p>
            <a:r>
              <a:rPr lang="en-IN" b="1" dirty="0"/>
              <a:t>Introduction</a:t>
            </a:r>
          </a:p>
          <a:p>
            <a:endParaRPr lang="en-IN" b="1" dirty="0"/>
          </a:p>
          <a:p>
            <a:pPr marL="342900" indent="-342900"/>
            <a:r>
              <a:rPr lang="en-IN" b="1" dirty="0"/>
              <a:t>Parkinson’s Disease (PD)</a:t>
            </a:r>
            <a:r>
              <a:rPr lang="en-IN" dirty="0"/>
              <a:t> is a </a:t>
            </a:r>
            <a:r>
              <a:rPr lang="en-IN" b="1" dirty="0"/>
              <a:t>neurodegenerative disorder</a:t>
            </a:r>
            <a:r>
              <a:rPr lang="en-IN" dirty="0"/>
              <a:t> affecting movement, speech, and balance.</a:t>
            </a:r>
          </a:p>
          <a:p>
            <a:pPr marL="342900" indent="-342900"/>
            <a:endParaRPr lang="en-IN" dirty="0"/>
          </a:p>
          <a:p>
            <a:pPr marL="342900" indent="-342900"/>
            <a:r>
              <a:rPr lang="en-IN" dirty="0"/>
              <a:t>Early detection is challenging since symptoms appear gradually.</a:t>
            </a:r>
          </a:p>
          <a:p>
            <a:pPr marL="342900" indent="-342900"/>
            <a:endParaRPr lang="en-IN" dirty="0"/>
          </a:p>
          <a:p>
            <a:pPr marL="342900" indent="-342900"/>
            <a:r>
              <a:rPr lang="en-IN" b="1" dirty="0"/>
              <a:t>AI and Machine Learning</a:t>
            </a:r>
            <a:r>
              <a:rPr lang="en-IN" dirty="0"/>
              <a:t> help in </a:t>
            </a:r>
            <a:r>
              <a:rPr lang="en-IN" b="1" dirty="0"/>
              <a:t>early diagnosis and progression prediction</a:t>
            </a:r>
            <a:r>
              <a:rPr lang="en-IN" dirty="0"/>
              <a:t> using medical data (voice, gait, handwriting, and brain scans).</a:t>
            </a:r>
          </a:p>
          <a:p>
            <a:endParaRPr lang="en-US" dirty="0"/>
          </a:p>
        </p:txBody>
      </p:sp>
    </p:spTree>
    <p:extLst>
      <p:ext uri="{BB962C8B-B14F-4D97-AF65-F5344CB8AC3E}">
        <p14:creationId xmlns:p14="http://schemas.microsoft.com/office/powerpoint/2010/main" val="3209521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6146-A865-975A-47EA-DE06B3AAF032}"/>
              </a:ext>
            </a:extLst>
          </p:cNvPr>
          <p:cNvSpPr>
            <a:spLocks noGrp="1"/>
          </p:cNvSpPr>
          <p:nvPr>
            <p:ph type="title"/>
          </p:nvPr>
        </p:nvSpPr>
        <p:spPr>
          <a:xfrm>
            <a:off x="2059941" y="145492"/>
            <a:ext cx="8072119" cy="615553"/>
          </a:xfrm>
        </p:spPr>
        <p:txBody>
          <a:bodyPr>
            <a:normAutofit fontScale="90000"/>
          </a:bodyPr>
          <a:lstStyle/>
          <a:p>
            <a:r>
              <a:rPr lang="en-IN" dirty="0"/>
              <a:t>Why AI is Needed</a:t>
            </a:r>
            <a:endParaRPr lang="en-US" dirty="0"/>
          </a:p>
        </p:txBody>
      </p:sp>
      <p:sp>
        <p:nvSpPr>
          <p:cNvPr id="3" name="Text Placeholder 2">
            <a:extLst>
              <a:ext uri="{FF2B5EF4-FFF2-40B4-BE49-F238E27FC236}">
                <a16:creationId xmlns:a16="http://schemas.microsoft.com/office/drawing/2014/main" id="{18D2647A-802C-3739-BCBF-7CE8E18884FE}"/>
              </a:ext>
            </a:extLst>
          </p:cNvPr>
          <p:cNvSpPr>
            <a:spLocks noGrp="1"/>
          </p:cNvSpPr>
          <p:nvPr>
            <p:ph type="body" idx="1"/>
          </p:nvPr>
        </p:nvSpPr>
        <p:spPr>
          <a:xfrm>
            <a:off x="2059941" y="1616710"/>
            <a:ext cx="8074025" cy="1846659"/>
          </a:xfrm>
        </p:spPr>
        <p:txBody>
          <a:bodyPr>
            <a:normAutofit fontScale="62500" lnSpcReduction="20000"/>
          </a:bodyPr>
          <a:lstStyle/>
          <a:p>
            <a:pPr marL="342900" indent="-342900">
              <a:buFont typeface="Wingdings" pitchFamily="2" charset="2"/>
              <a:buChar char="Ø"/>
            </a:pPr>
            <a:r>
              <a:rPr lang="en-US" dirty="0"/>
              <a:t>Traditional diagnosis relies on clinical observation, which can be subjective.</a:t>
            </a:r>
          </a:p>
          <a:p>
            <a:pPr marL="342900" indent="-342900">
              <a:buFont typeface="Wingdings" pitchFamily="2" charset="2"/>
              <a:buChar char="Ø"/>
            </a:pPr>
            <a:endParaRPr lang="en-US" dirty="0"/>
          </a:p>
          <a:p>
            <a:pPr marL="342900" indent="-342900">
              <a:buFont typeface="Wingdings" pitchFamily="2" charset="2"/>
              <a:buChar char="Ø"/>
            </a:pPr>
            <a:r>
              <a:rPr lang="en-US" dirty="0"/>
              <a:t>AI can identify subtle patterns in data not visible to human experts.</a:t>
            </a:r>
          </a:p>
          <a:p>
            <a:pPr marL="342900" indent="-342900">
              <a:buFont typeface="Wingdings" pitchFamily="2" charset="2"/>
              <a:buChar char="Ø"/>
            </a:pPr>
            <a:endParaRPr lang="en-US" dirty="0"/>
          </a:p>
          <a:p>
            <a:pPr marL="342900" indent="-342900">
              <a:buFont typeface="Wingdings" pitchFamily="2" charset="2"/>
              <a:buChar char="Ø"/>
            </a:pPr>
            <a:r>
              <a:rPr lang="en-US" dirty="0"/>
              <a:t>Enables non-invasive, faster, and more accurate screening.</a:t>
            </a:r>
          </a:p>
        </p:txBody>
      </p:sp>
    </p:spTree>
    <p:extLst>
      <p:ext uri="{BB962C8B-B14F-4D97-AF65-F5344CB8AC3E}">
        <p14:creationId xmlns:p14="http://schemas.microsoft.com/office/powerpoint/2010/main" val="2748084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6C49-251E-204A-27D4-537805C2CB04}"/>
              </a:ext>
            </a:extLst>
          </p:cNvPr>
          <p:cNvSpPr>
            <a:spLocks noGrp="1"/>
          </p:cNvSpPr>
          <p:nvPr>
            <p:ph type="title"/>
          </p:nvPr>
        </p:nvSpPr>
        <p:spPr>
          <a:xfrm>
            <a:off x="2059941" y="145492"/>
            <a:ext cx="8072119" cy="615553"/>
          </a:xfrm>
        </p:spPr>
        <p:txBody>
          <a:bodyPr>
            <a:normAutofit fontScale="90000"/>
          </a:bodyPr>
          <a:lstStyle/>
          <a:p>
            <a:r>
              <a:rPr lang="en-IN" dirty="0"/>
              <a:t>Data Sources Used</a:t>
            </a:r>
            <a:endParaRPr lang="en-US" dirty="0"/>
          </a:p>
        </p:txBody>
      </p:sp>
      <p:sp>
        <p:nvSpPr>
          <p:cNvPr id="3" name="Text Placeholder 2">
            <a:extLst>
              <a:ext uri="{FF2B5EF4-FFF2-40B4-BE49-F238E27FC236}">
                <a16:creationId xmlns:a16="http://schemas.microsoft.com/office/drawing/2014/main" id="{6C90AC17-1D77-3017-412C-374CD90D07CB}"/>
              </a:ext>
            </a:extLst>
          </p:cNvPr>
          <p:cNvSpPr>
            <a:spLocks noGrp="1"/>
          </p:cNvSpPr>
          <p:nvPr>
            <p:ph type="body" idx="1"/>
          </p:nvPr>
        </p:nvSpPr>
        <p:spPr>
          <a:xfrm>
            <a:off x="2059941" y="1616709"/>
            <a:ext cx="8074025" cy="3077766"/>
          </a:xfrm>
        </p:spPr>
        <p:txBody>
          <a:bodyPr>
            <a:normAutofit fontScale="70000" lnSpcReduction="20000"/>
          </a:bodyPr>
          <a:lstStyle/>
          <a:p>
            <a:r>
              <a:rPr lang="en-IN" dirty="0"/>
              <a:t>AI systems use multimodal data such as:</a:t>
            </a:r>
          </a:p>
          <a:p>
            <a:endParaRPr lang="en-IN" dirty="0"/>
          </a:p>
          <a:p>
            <a:pPr marL="342900" indent="-342900"/>
            <a:r>
              <a:rPr lang="en-IN" b="1" dirty="0"/>
              <a:t>Voice recordings:</a:t>
            </a:r>
            <a:r>
              <a:rPr lang="en-IN" dirty="0"/>
              <a:t> PD affects speech — AI detects tremors or tone changes.</a:t>
            </a:r>
          </a:p>
          <a:p>
            <a:pPr marL="342900" indent="-342900"/>
            <a:r>
              <a:rPr lang="en-IN" b="1" dirty="0"/>
              <a:t>Handwriting samples:</a:t>
            </a:r>
            <a:r>
              <a:rPr lang="en-IN" dirty="0"/>
              <a:t> </a:t>
            </a:r>
            <a:r>
              <a:rPr lang="en-IN" dirty="0" err="1"/>
              <a:t>Analyzes</a:t>
            </a:r>
            <a:r>
              <a:rPr lang="en-IN" dirty="0"/>
              <a:t> </a:t>
            </a:r>
            <a:r>
              <a:rPr lang="en-IN" dirty="0" err="1"/>
              <a:t>micrographia</a:t>
            </a:r>
            <a:r>
              <a:rPr lang="en-IN" dirty="0"/>
              <a:t> (small handwriting).</a:t>
            </a:r>
          </a:p>
          <a:p>
            <a:pPr marL="342900" indent="-342900"/>
            <a:r>
              <a:rPr lang="en-IN" b="1" dirty="0"/>
              <a:t>Gait data:</a:t>
            </a:r>
            <a:r>
              <a:rPr lang="en-IN" dirty="0"/>
              <a:t> Sensors track walking patterns and tremors.</a:t>
            </a:r>
          </a:p>
          <a:p>
            <a:pPr marL="342900" indent="-342900"/>
            <a:r>
              <a:rPr lang="en-IN" b="1" dirty="0"/>
              <a:t>MRI or </a:t>
            </a:r>
            <a:r>
              <a:rPr lang="en-IN" b="1" dirty="0" err="1"/>
              <a:t>DaTscan</a:t>
            </a:r>
            <a:r>
              <a:rPr lang="en-IN" b="1" dirty="0"/>
              <a:t> images:</a:t>
            </a:r>
            <a:r>
              <a:rPr lang="en-IN" dirty="0"/>
              <a:t> Deep learning identifies brain abnormalities.</a:t>
            </a:r>
          </a:p>
          <a:p>
            <a:pPr marL="342900" indent="-342900"/>
            <a:r>
              <a:rPr lang="en-IN" b="1" dirty="0"/>
              <a:t>Clinical and genetic data:</a:t>
            </a:r>
            <a:r>
              <a:rPr lang="en-IN" dirty="0"/>
              <a:t> Patient history and biomarkers.</a:t>
            </a:r>
          </a:p>
          <a:p>
            <a:endParaRPr lang="en-US" dirty="0"/>
          </a:p>
        </p:txBody>
      </p:sp>
    </p:spTree>
    <p:extLst>
      <p:ext uri="{BB962C8B-B14F-4D97-AF65-F5344CB8AC3E}">
        <p14:creationId xmlns:p14="http://schemas.microsoft.com/office/powerpoint/2010/main" val="301604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D7CA-81C7-4CF2-6625-5A12E3FD4CC8}"/>
              </a:ext>
            </a:extLst>
          </p:cNvPr>
          <p:cNvSpPr>
            <a:spLocks noGrp="1"/>
          </p:cNvSpPr>
          <p:nvPr>
            <p:ph type="title"/>
          </p:nvPr>
        </p:nvSpPr>
        <p:spPr>
          <a:xfrm>
            <a:off x="2059941" y="145492"/>
            <a:ext cx="8072119" cy="615553"/>
          </a:xfrm>
        </p:spPr>
        <p:txBody>
          <a:bodyPr>
            <a:normAutofit fontScale="90000"/>
          </a:bodyPr>
          <a:lstStyle/>
          <a:p>
            <a:r>
              <a:rPr lang="en-IN" dirty="0"/>
              <a:t>AI Techniques Used</a:t>
            </a:r>
            <a:endParaRPr lang="en-US" dirty="0"/>
          </a:p>
        </p:txBody>
      </p:sp>
      <p:graphicFrame>
        <p:nvGraphicFramePr>
          <p:cNvPr id="4" name="Table 3">
            <a:extLst>
              <a:ext uri="{FF2B5EF4-FFF2-40B4-BE49-F238E27FC236}">
                <a16:creationId xmlns:a16="http://schemas.microsoft.com/office/drawing/2014/main" id="{2281C7D5-A7E6-7264-BB01-10C5F015A2E9}"/>
              </a:ext>
            </a:extLst>
          </p:cNvPr>
          <p:cNvGraphicFramePr>
            <a:graphicFrameLocks noGrp="1"/>
          </p:cNvGraphicFramePr>
          <p:nvPr/>
        </p:nvGraphicFramePr>
        <p:xfrm>
          <a:off x="2058035" y="1295400"/>
          <a:ext cx="8074024" cy="3840480"/>
        </p:xfrm>
        <a:graphic>
          <a:graphicData uri="http://schemas.openxmlformats.org/drawingml/2006/table">
            <a:tbl>
              <a:tblPr/>
              <a:tblGrid>
                <a:gridCol w="4037012">
                  <a:extLst>
                    <a:ext uri="{9D8B030D-6E8A-4147-A177-3AD203B41FA5}">
                      <a16:colId xmlns:a16="http://schemas.microsoft.com/office/drawing/2014/main" val="3110392160"/>
                    </a:ext>
                  </a:extLst>
                </a:gridCol>
                <a:gridCol w="4037012">
                  <a:extLst>
                    <a:ext uri="{9D8B030D-6E8A-4147-A177-3AD203B41FA5}">
                      <a16:colId xmlns:a16="http://schemas.microsoft.com/office/drawing/2014/main" val="4202827313"/>
                    </a:ext>
                  </a:extLst>
                </a:gridCol>
              </a:tblGrid>
              <a:tr h="365760">
                <a:tc>
                  <a:txBody>
                    <a:bodyPr/>
                    <a:lstStyle/>
                    <a:p>
                      <a:pPr>
                        <a:buNone/>
                      </a:pPr>
                      <a:r>
                        <a:rPr lang="en-IN" sz="1800"/>
                        <a:t>Technique</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2797327971"/>
                  </a:ext>
                </a:extLst>
              </a:tr>
              <a:tr h="640080">
                <a:tc>
                  <a:txBody>
                    <a:bodyPr/>
                    <a:lstStyle/>
                    <a:p>
                      <a:pPr>
                        <a:buNone/>
                      </a:pPr>
                      <a:r>
                        <a:rPr lang="en-IN" sz="1800" b="1" dirty="0"/>
                        <a:t>Machine Learning (ML)</a:t>
                      </a:r>
                      <a:endParaRPr lang="en-IN" sz="1800" dirty="0"/>
                    </a:p>
                  </a:txBody>
                  <a:tcPr anchor="ctr">
                    <a:lnL>
                      <a:noFill/>
                    </a:lnL>
                    <a:lnR>
                      <a:noFill/>
                    </a:lnR>
                    <a:lnT>
                      <a:noFill/>
                    </a:lnT>
                    <a:lnB>
                      <a:noFill/>
                    </a:lnB>
                    <a:noFill/>
                  </a:tcPr>
                </a:tc>
                <a:tc>
                  <a:txBody>
                    <a:bodyPr/>
                    <a:lstStyle/>
                    <a:p>
                      <a:pPr>
                        <a:buNone/>
                      </a:pPr>
                      <a:r>
                        <a:rPr lang="en-IN" sz="1800"/>
                        <a:t>Uses classifiers like SVM, Random Forest, Decision Tree for prediction.</a:t>
                      </a:r>
                    </a:p>
                  </a:txBody>
                  <a:tcPr anchor="ctr">
                    <a:lnL>
                      <a:noFill/>
                    </a:lnL>
                    <a:lnR>
                      <a:noFill/>
                    </a:lnR>
                    <a:lnT>
                      <a:noFill/>
                    </a:lnT>
                    <a:lnB>
                      <a:noFill/>
                    </a:lnB>
                    <a:noFill/>
                  </a:tcPr>
                </a:tc>
                <a:extLst>
                  <a:ext uri="{0D108BD9-81ED-4DB2-BD59-A6C34878D82A}">
                    <a16:rowId xmlns:a16="http://schemas.microsoft.com/office/drawing/2014/main" val="895845879"/>
                  </a:ext>
                </a:extLst>
              </a:tr>
              <a:tr h="640080">
                <a:tc>
                  <a:txBody>
                    <a:bodyPr/>
                    <a:lstStyle/>
                    <a:p>
                      <a:pPr>
                        <a:buNone/>
                      </a:pPr>
                      <a:r>
                        <a:rPr lang="en-IN" sz="1800" b="1"/>
                        <a:t>Deep Learning (DL)</a:t>
                      </a:r>
                      <a:endParaRPr lang="en-IN" sz="1800"/>
                    </a:p>
                  </a:txBody>
                  <a:tcPr anchor="ctr">
                    <a:lnL>
                      <a:noFill/>
                    </a:lnL>
                    <a:lnR>
                      <a:noFill/>
                    </a:lnR>
                    <a:lnT>
                      <a:noFill/>
                    </a:lnT>
                    <a:lnB>
                      <a:noFill/>
                    </a:lnB>
                    <a:noFill/>
                  </a:tcPr>
                </a:tc>
                <a:tc>
                  <a:txBody>
                    <a:bodyPr/>
                    <a:lstStyle/>
                    <a:p>
                      <a:pPr>
                        <a:buNone/>
                      </a:pPr>
                      <a:r>
                        <a:rPr lang="en-IN" sz="1800"/>
                        <a:t>CNNs and RNNs analyze MRI scans and temporal gait data.</a:t>
                      </a:r>
                    </a:p>
                  </a:txBody>
                  <a:tcPr anchor="ctr">
                    <a:lnL>
                      <a:noFill/>
                    </a:lnL>
                    <a:lnR>
                      <a:noFill/>
                    </a:lnR>
                    <a:lnT>
                      <a:noFill/>
                    </a:lnT>
                    <a:lnB>
                      <a:noFill/>
                    </a:lnB>
                    <a:noFill/>
                  </a:tcPr>
                </a:tc>
                <a:extLst>
                  <a:ext uri="{0D108BD9-81ED-4DB2-BD59-A6C34878D82A}">
                    <a16:rowId xmlns:a16="http://schemas.microsoft.com/office/drawing/2014/main" val="2367479444"/>
                  </a:ext>
                </a:extLst>
              </a:tr>
              <a:tr h="914400">
                <a:tc>
                  <a:txBody>
                    <a:bodyPr/>
                    <a:lstStyle/>
                    <a:p>
                      <a:pPr>
                        <a:buNone/>
                      </a:pPr>
                      <a:r>
                        <a:rPr lang="en-IN" sz="1800" b="1"/>
                        <a:t>Speech Analysis Models</a:t>
                      </a:r>
                      <a:endParaRPr lang="en-IN" sz="1800"/>
                    </a:p>
                  </a:txBody>
                  <a:tcPr anchor="ctr">
                    <a:lnL>
                      <a:noFill/>
                    </a:lnL>
                    <a:lnR>
                      <a:noFill/>
                    </a:lnR>
                    <a:lnT>
                      <a:noFill/>
                    </a:lnT>
                    <a:lnB>
                      <a:noFill/>
                    </a:lnB>
                    <a:noFill/>
                  </a:tcPr>
                </a:tc>
                <a:tc>
                  <a:txBody>
                    <a:bodyPr/>
                    <a:lstStyle/>
                    <a:p>
                      <a:pPr>
                        <a:buNone/>
                      </a:pPr>
                      <a:r>
                        <a:rPr lang="en-IN" sz="1800"/>
                        <a:t>Extract Mel-Frequency Cepstral Coefficients (MFCCs) for voice pattern recognition.</a:t>
                      </a:r>
                    </a:p>
                  </a:txBody>
                  <a:tcPr anchor="ctr">
                    <a:lnL>
                      <a:noFill/>
                    </a:lnL>
                    <a:lnR>
                      <a:noFill/>
                    </a:lnR>
                    <a:lnT>
                      <a:noFill/>
                    </a:lnT>
                    <a:lnB>
                      <a:noFill/>
                    </a:lnB>
                    <a:noFill/>
                  </a:tcPr>
                </a:tc>
                <a:extLst>
                  <a:ext uri="{0D108BD9-81ED-4DB2-BD59-A6C34878D82A}">
                    <a16:rowId xmlns:a16="http://schemas.microsoft.com/office/drawing/2014/main" val="3095560859"/>
                  </a:ext>
                </a:extLst>
              </a:tr>
              <a:tr h="640080">
                <a:tc>
                  <a:txBody>
                    <a:bodyPr/>
                    <a:lstStyle/>
                    <a:p>
                      <a:pPr>
                        <a:buNone/>
                      </a:pPr>
                      <a:r>
                        <a:rPr lang="en-IN" sz="1800" b="1"/>
                        <a:t>Feature Engineering</a:t>
                      </a:r>
                      <a:endParaRPr lang="en-IN" sz="1800"/>
                    </a:p>
                  </a:txBody>
                  <a:tcPr anchor="ctr">
                    <a:lnL>
                      <a:noFill/>
                    </a:lnL>
                    <a:lnR>
                      <a:noFill/>
                    </a:lnR>
                    <a:lnT>
                      <a:noFill/>
                    </a:lnT>
                    <a:lnB>
                      <a:noFill/>
                    </a:lnB>
                    <a:noFill/>
                  </a:tcPr>
                </a:tc>
                <a:tc>
                  <a:txBody>
                    <a:bodyPr/>
                    <a:lstStyle/>
                    <a:p>
                      <a:pPr>
                        <a:buNone/>
                      </a:pPr>
                      <a:r>
                        <a:rPr lang="en-IN" sz="1800"/>
                        <a:t>Selects important biomarkers using PCA or statistical ranking.</a:t>
                      </a:r>
                    </a:p>
                  </a:txBody>
                  <a:tcPr anchor="ctr">
                    <a:lnL>
                      <a:noFill/>
                    </a:lnL>
                    <a:lnR>
                      <a:noFill/>
                    </a:lnR>
                    <a:lnT>
                      <a:noFill/>
                    </a:lnT>
                    <a:lnB>
                      <a:noFill/>
                    </a:lnB>
                    <a:noFill/>
                  </a:tcPr>
                </a:tc>
                <a:extLst>
                  <a:ext uri="{0D108BD9-81ED-4DB2-BD59-A6C34878D82A}">
                    <a16:rowId xmlns:a16="http://schemas.microsoft.com/office/drawing/2014/main" val="1549934877"/>
                  </a:ext>
                </a:extLst>
              </a:tr>
              <a:tr h="640080">
                <a:tc>
                  <a:txBody>
                    <a:bodyPr/>
                    <a:lstStyle/>
                    <a:p>
                      <a:pPr>
                        <a:buNone/>
                      </a:pPr>
                      <a:r>
                        <a:rPr lang="en-IN" sz="1800" b="1"/>
                        <a:t>Ensemble Learning</a:t>
                      </a:r>
                      <a:endParaRPr lang="en-IN" sz="1800"/>
                    </a:p>
                  </a:txBody>
                  <a:tcPr anchor="ctr">
                    <a:lnL>
                      <a:noFill/>
                    </a:lnL>
                    <a:lnR>
                      <a:noFill/>
                    </a:lnR>
                    <a:lnT>
                      <a:noFill/>
                    </a:lnT>
                    <a:lnB>
                      <a:noFill/>
                    </a:lnB>
                    <a:noFill/>
                  </a:tcPr>
                </a:tc>
                <a:tc>
                  <a:txBody>
                    <a:bodyPr/>
                    <a:lstStyle/>
                    <a:p>
                      <a:pPr>
                        <a:buNone/>
                      </a:pPr>
                      <a:r>
                        <a:rPr lang="en-IN" sz="1800" dirty="0"/>
                        <a:t>Combines multiple models for improved accuracy.</a:t>
                      </a:r>
                    </a:p>
                  </a:txBody>
                  <a:tcPr anchor="ctr">
                    <a:lnL>
                      <a:noFill/>
                    </a:lnL>
                    <a:lnR>
                      <a:noFill/>
                    </a:lnR>
                    <a:lnT>
                      <a:noFill/>
                    </a:lnT>
                    <a:lnB>
                      <a:noFill/>
                    </a:lnB>
                    <a:noFill/>
                  </a:tcPr>
                </a:tc>
                <a:extLst>
                  <a:ext uri="{0D108BD9-81ED-4DB2-BD59-A6C34878D82A}">
                    <a16:rowId xmlns:a16="http://schemas.microsoft.com/office/drawing/2014/main" val="3012979284"/>
                  </a:ext>
                </a:extLst>
              </a:tr>
            </a:tbl>
          </a:graphicData>
        </a:graphic>
      </p:graphicFrame>
    </p:spTree>
    <p:extLst>
      <p:ext uri="{BB962C8B-B14F-4D97-AF65-F5344CB8AC3E}">
        <p14:creationId xmlns:p14="http://schemas.microsoft.com/office/powerpoint/2010/main" val="1999499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7225-A2C9-1BBD-1A8F-9EAC1215AA51}"/>
              </a:ext>
            </a:extLst>
          </p:cNvPr>
          <p:cNvSpPr>
            <a:spLocks noGrp="1"/>
          </p:cNvSpPr>
          <p:nvPr>
            <p:ph type="title"/>
          </p:nvPr>
        </p:nvSpPr>
        <p:spPr>
          <a:xfrm>
            <a:off x="2059941" y="145492"/>
            <a:ext cx="8072119" cy="615553"/>
          </a:xfrm>
        </p:spPr>
        <p:txBody>
          <a:bodyPr>
            <a:normAutofit fontScale="90000"/>
          </a:bodyPr>
          <a:lstStyle/>
          <a:p>
            <a:r>
              <a:rPr lang="en-IN" dirty="0"/>
              <a:t>Typical Workflow</a:t>
            </a:r>
            <a:endParaRPr lang="en-US" dirty="0"/>
          </a:p>
        </p:txBody>
      </p:sp>
      <p:sp>
        <p:nvSpPr>
          <p:cNvPr id="3" name="Text Placeholder 2">
            <a:extLst>
              <a:ext uri="{FF2B5EF4-FFF2-40B4-BE49-F238E27FC236}">
                <a16:creationId xmlns:a16="http://schemas.microsoft.com/office/drawing/2014/main" id="{623B0740-B902-2E3C-BFA1-8ADBDE907584}"/>
              </a:ext>
            </a:extLst>
          </p:cNvPr>
          <p:cNvSpPr>
            <a:spLocks noGrp="1"/>
          </p:cNvSpPr>
          <p:nvPr>
            <p:ph type="body" idx="1"/>
          </p:nvPr>
        </p:nvSpPr>
        <p:spPr>
          <a:xfrm>
            <a:off x="2059941" y="1616710"/>
            <a:ext cx="8074025" cy="2769989"/>
          </a:xfrm>
        </p:spPr>
        <p:txBody>
          <a:bodyPr>
            <a:normAutofit fontScale="70000" lnSpcReduction="20000"/>
          </a:bodyPr>
          <a:lstStyle/>
          <a:p>
            <a:pPr marL="457200" indent="-457200">
              <a:buFont typeface="+mj-lt"/>
              <a:buAutoNum type="arabicPeriod"/>
            </a:pPr>
            <a:r>
              <a:rPr lang="en-IN" b="1" dirty="0"/>
              <a:t>Data Collection</a:t>
            </a:r>
            <a:r>
              <a:rPr lang="en-IN" dirty="0"/>
              <a:t> – Acquire patient voice, image, or motion data.</a:t>
            </a:r>
          </a:p>
          <a:p>
            <a:pPr marL="457200" indent="-457200">
              <a:buFont typeface="+mj-lt"/>
              <a:buAutoNum type="arabicPeriod"/>
            </a:pPr>
            <a:r>
              <a:rPr lang="en-IN" b="1" dirty="0"/>
              <a:t>Preprocessing</a:t>
            </a:r>
            <a:r>
              <a:rPr lang="en-IN" dirty="0"/>
              <a:t> – Noise removal, normalization, segmentation.</a:t>
            </a:r>
          </a:p>
          <a:p>
            <a:pPr marL="457200" indent="-457200">
              <a:buFont typeface="+mj-lt"/>
              <a:buAutoNum type="arabicPeriod"/>
            </a:pPr>
            <a:r>
              <a:rPr lang="en-IN" b="1" dirty="0"/>
              <a:t>Feature Extraction</a:t>
            </a:r>
            <a:r>
              <a:rPr lang="en-IN" dirty="0"/>
              <a:t> – Identify relevant features (MFCC, gait speed, handwriting pressure).</a:t>
            </a:r>
          </a:p>
          <a:p>
            <a:pPr marL="457200" indent="-457200">
              <a:buFont typeface="+mj-lt"/>
              <a:buAutoNum type="arabicPeriod"/>
            </a:pPr>
            <a:r>
              <a:rPr lang="en-IN" b="1" dirty="0"/>
              <a:t>Model Training</a:t>
            </a:r>
            <a:r>
              <a:rPr lang="en-IN" dirty="0"/>
              <a:t> – Train ML/DL models (SVM, CNN, etc.) using </a:t>
            </a:r>
            <a:r>
              <a:rPr lang="en-IN" dirty="0" err="1"/>
              <a:t>labeled</a:t>
            </a:r>
            <a:r>
              <a:rPr lang="en-IN" dirty="0"/>
              <a:t> data.</a:t>
            </a:r>
          </a:p>
          <a:p>
            <a:pPr marL="457200" indent="-457200">
              <a:buFont typeface="+mj-lt"/>
              <a:buAutoNum type="arabicPeriod"/>
            </a:pPr>
            <a:r>
              <a:rPr lang="en-IN" b="1" dirty="0"/>
              <a:t>Prediction</a:t>
            </a:r>
            <a:r>
              <a:rPr lang="en-IN" dirty="0"/>
              <a:t> – Model classifies subjects as PD or healthy.</a:t>
            </a:r>
          </a:p>
          <a:p>
            <a:pPr marL="457200" indent="-457200">
              <a:buFont typeface="+mj-lt"/>
              <a:buAutoNum type="arabicPeriod"/>
            </a:pPr>
            <a:r>
              <a:rPr lang="en-IN" b="1" dirty="0"/>
              <a:t>Evaluation</a:t>
            </a:r>
            <a:r>
              <a:rPr lang="en-IN" dirty="0"/>
              <a:t> – Accuracy, sensitivity, specificity, and ROC curve.</a:t>
            </a:r>
          </a:p>
          <a:p>
            <a:endParaRPr lang="en-US" dirty="0"/>
          </a:p>
        </p:txBody>
      </p:sp>
    </p:spTree>
    <p:extLst>
      <p:ext uri="{BB962C8B-B14F-4D97-AF65-F5344CB8AC3E}">
        <p14:creationId xmlns:p14="http://schemas.microsoft.com/office/powerpoint/2010/main" val="914154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83F01-C6C3-0914-93B6-894F5B32ED9B}"/>
              </a:ext>
            </a:extLst>
          </p:cNvPr>
          <p:cNvSpPr>
            <a:spLocks noGrp="1"/>
          </p:cNvSpPr>
          <p:nvPr>
            <p:ph type="title"/>
          </p:nvPr>
        </p:nvSpPr>
        <p:spPr>
          <a:xfrm>
            <a:off x="2059941" y="145492"/>
            <a:ext cx="8072119" cy="615553"/>
          </a:xfrm>
        </p:spPr>
        <p:txBody>
          <a:bodyPr>
            <a:normAutofit fontScale="90000"/>
          </a:bodyPr>
          <a:lstStyle/>
          <a:p>
            <a:r>
              <a:rPr lang="en-IN" dirty="0"/>
              <a:t>Common Algorithms</a:t>
            </a:r>
            <a:endParaRPr lang="en-US" dirty="0"/>
          </a:p>
        </p:txBody>
      </p:sp>
      <p:sp>
        <p:nvSpPr>
          <p:cNvPr id="3" name="Text Placeholder 2">
            <a:extLst>
              <a:ext uri="{FF2B5EF4-FFF2-40B4-BE49-F238E27FC236}">
                <a16:creationId xmlns:a16="http://schemas.microsoft.com/office/drawing/2014/main" id="{816C6ACD-B8D3-8270-FAF9-F938FFCA5909}"/>
              </a:ext>
            </a:extLst>
          </p:cNvPr>
          <p:cNvSpPr>
            <a:spLocks noGrp="1"/>
          </p:cNvSpPr>
          <p:nvPr>
            <p:ph type="body" idx="1"/>
          </p:nvPr>
        </p:nvSpPr>
        <p:spPr>
          <a:xfrm>
            <a:off x="2059941" y="1616710"/>
            <a:ext cx="8074025" cy="2769989"/>
          </a:xfrm>
        </p:spPr>
        <p:txBody>
          <a:bodyPr>
            <a:normAutofit fontScale="70000" lnSpcReduction="20000"/>
          </a:bodyPr>
          <a:lstStyle/>
          <a:p>
            <a:pPr marL="342900" indent="-342900">
              <a:buFont typeface="Wingdings" pitchFamily="2" charset="2"/>
              <a:buChar char="Ø"/>
            </a:pPr>
            <a:r>
              <a:rPr lang="en-IN" b="1" dirty="0"/>
              <a:t>Support Vector Machine (SVM)</a:t>
            </a:r>
            <a:r>
              <a:rPr lang="en-IN" dirty="0"/>
              <a:t> – popular for voice-based PD detection.</a:t>
            </a:r>
          </a:p>
          <a:p>
            <a:pPr marL="342900" indent="-342900">
              <a:buFont typeface="Wingdings" pitchFamily="2" charset="2"/>
              <a:buChar char="Ø"/>
            </a:pPr>
            <a:r>
              <a:rPr lang="en-IN" b="1" dirty="0"/>
              <a:t>Random Forest (RF)</a:t>
            </a:r>
            <a:r>
              <a:rPr lang="en-IN" dirty="0"/>
              <a:t> – handles diverse medical datasets effectively.</a:t>
            </a:r>
          </a:p>
          <a:p>
            <a:pPr marL="342900" indent="-342900">
              <a:buFont typeface="Wingdings" pitchFamily="2" charset="2"/>
              <a:buChar char="Ø"/>
            </a:pPr>
            <a:r>
              <a:rPr lang="en-IN" b="1" dirty="0"/>
              <a:t>Convolutional Neural Networks (CNNs)</a:t>
            </a:r>
            <a:r>
              <a:rPr lang="en-IN" dirty="0"/>
              <a:t> – used for MRI image-based diagnosis.</a:t>
            </a:r>
          </a:p>
          <a:p>
            <a:pPr marL="342900" indent="-342900">
              <a:buFont typeface="Wingdings" pitchFamily="2" charset="2"/>
              <a:buChar char="Ø"/>
            </a:pPr>
            <a:r>
              <a:rPr lang="en-IN" b="1" dirty="0"/>
              <a:t>Recurrent Neural Networks (RNNs)</a:t>
            </a:r>
            <a:r>
              <a:rPr lang="en-IN" dirty="0"/>
              <a:t> – model sequential gait or speech data.</a:t>
            </a:r>
          </a:p>
          <a:p>
            <a:pPr marL="342900" indent="-342900">
              <a:buFont typeface="Wingdings" pitchFamily="2" charset="2"/>
              <a:buChar char="Ø"/>
            </a:pPr>
            <a:r>
              <a:rPr lang="en-IN" b="1" dirty="0" err="1"/>
              <a:t>XGBoost</a:t>
            </a:r>
            <a:r>
              <a:rPr lang="en-IN" b="1" dirty="0"/>
              <a:t> / Gradient Boosting</a:t>
            </a:r>
            <a:r>
              <a:rPr lang="en-IN" dirty="0"/>
              <a:t> – improves classification accuracy.</a:t>
            </a:r>
          </a:p>
          <a:p>
            <a:endParaRPr lang="en-US" dirty="0"/>
          </a:p>
        </p:txBody>
      </p:sp>
    </p:spTree>
    <p:extLst>
      <p:ext uri="{BB962C8B-B14F-4D97-AF65-F5344CB8AC3E}">
        <p14:creationId xmlns:p14="http://schemas.microsoft.com/office/powerpoint/2010/main" val="1376931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C20C-2C0F-B8AF-E2AC-5FBC456B928A}"/>
              </a:ext>
            </a:extLst>
          </p:cNvPr>
          <p:cNvSpPr>
            <a:spLocks noGrp="1"/>
          </p:cNvSpPr>
          <p:nvPr>
            <p:ph type="title"/>
          </p:nvPr>
        </p:nvSpPr>
        <p:spPr/>
        <p:txBody>
          <a:bodyPr/>
          <a:lstStyle/>
          <a:p>
            <a:r>
              <a:rPr lang="en-IN" dirty="0"/>
              <a:t>Example Datasets</a:t>
            </a:r>
            <a:br>
              <a:rPr lang="en-IN" dirty="0"/>
            </a:br>
            <a:endParaRPr lang="en-US" dirty="0"/>
          </a:p>
        </p:txBody>
      </p:sp>
      <p:sp>
        <p:nvSpPr>
          <p:cNvPr id="3" name="Text Placeholder 2">
            <a:extLst>
              <a:ext uri="{FF2B5EF4-FFF2-40B4-BE49-F238E27FC236}">
                <a16:creationId xmlns:a16="http://schemas.microsoft.com/office/drawing/2014/main" id="{FB8D070E-0B69-1F9B-9337-0748CE49A119}"/>
              </a:ext>
            </a:extLst>
          </p:cNvPr>
          <p:cNvSpPr>
            <a:spLocks noGrp="1"/>
          </p:cNvSpPr>
          <p:nvPr>
            <p:ph type="body" idx="1"/>
          </p:nvPr>
        </p:nvSpPr>
        <p:spPr>
          <a:xfrm>
            <a:off x="2059941" y="1616710"/>
            <a:ext cx="8074025" cy="2462213"/>
          </a:xfrm>
        </p:spPr>
        <p:txBody>
          <a:bodyPr>
            <a:normAutofit fontScale="77500" lnSpcReduction="20000"/>
          </a:bodyPr>
          <a:lstStyle/>
          <a:p>
            <a:pPr marL="342900" indent="-342900">
              <a:buFont typeface="Wingdings" pitchFamily="2" charset="2"/>
              <a:buChar char="Ø"/>
            </a:pPr>
            <a:r>
              <a:rPr lang="en-IN" b="1" dirty="0"/>
              <a:t>UCI Parkinson’s Dataset:</a:t>
            </a:r>
            <a:r>
              <a:rPr lang="en-IN" dirty="0"/>
              <a:t> Voice recordings from 31 patients.</a:t>
            </a:r>
          </a:p>
          <a:p>
            <a:pPr marL="342900" indent="-342900">
              <a:buFont typeface="Wingdings" pitchFamily="2" charset="2"/>
              <a:buChar char="Ø"/>
            </a:pPr>
            <a:endParaRPr lang="en-IN" dirty="0"/>
          </a:p>
          <a:p>
            <a:pPr marL="342900" indent="-342900">
              <a:buFont typeface="Wingdings" pitchFamily="2" charset="2"/>
              <a:buChar char="Ø"/>
            </a:pPr>
            <a:r>
              <a:rPr lang="en-IN" b="1" dirty="0"/>
              <a:t>mPower Dataset (Sage Bionetworks):</a:t>
            </a:r>
            <a:r>
              <a:rPr lang="en-IN" dirty="0"/>
              <a:t> Smartphone-based movement and voice data.</a:t>
            </a:r>
          </a:p>
          <a:p>
            <a:pPr marL="342900" indent="-342900">
              <a:buFont typeface="Wingdings" pitchFamily="2" charset="2"/>
              <a:buChar char="Ø"/>
            </a:pPr>
            <a:endParaRPr lang="en-IN" dirty="0"/>
          </a:p>
          <a:p>
            <a:pPr marL="342900" indent="-342900">
              <a:buFont typeface="Wingdings" pitchFamily="2" charset="2"/>
              <a:buChar char="Ø"/>
            </a:pPr>
            <a:r>
              <a:rPr lang="en-IN" b="1" dirty="0"/>
              <a:t>PPMI (Parkinson’s Progression Markers Initiative):</a:t>
            </a:r>
            <a:r>
              <a:rPr lang="en-IN" dirty="0"/>
              <a:t> Clinical and imaging biomarkers.</a:t>
            </a:r>
          </a:p>
          <a:p>
            <a:endParaRPr lang="en-US" dirty="0"/>
          </a:p>
        </p:txBody>
      </p:sp>
    </p:spTree>
    <p:extLst>
      <p:ext uri="{BB962C8B-B14F-4D97-AF65-F5344CB8AC3E}">
        <p14:creationId xmlns:p14="http://schemas.microsoft.com/office/powerpoint/2010/main" val="4250856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F1928-E758-A6AA-B62B-C57A3CE328EE}"/>
              </a:ext>
            </a:extLst>
          </p:cNvPr>
          <p:cNvSpPr>
            <a:spLocks noGrp="1"/>
          </p:cNvSpPr>
          <p:nvPr>
            <p:ph type="title"/>
          </p:nvPr>
        </p:nvSpPr>
        <p:spPr>
          <a:xfrm>
            <a:off x="2059941" y="145492"/>
            <a:ext cx="8072119" cy="615553"/>
          </a:xfrm>
        </p:spPr>
        <p:txBody>
          <a:bodyPr>
            <a:normAutofit fontScale="90000"/>
          </a:bodyPr>
          <a:lstStyle/>
          <a:p>
            <a:r>
              <a:rPr lang="en-IN" dirty="0"/>
              <a:t>Performance Metrics</a:t>
            </a:r>
            <a:endParaRPr lang="en-US" dirty="0"/>
          </a:p>
        </p:txBody>
      </p:sp>
      <p:graphicFrame>
        <p:nvGraphicFramePr>
          <p:cNvPr id="4" name="Table 3">
            <a:extLst>
              <a:ext uri="{FF2B5EF4-FFF2-40B4-BE49-F238E27FC236}">
                <a16:creationId xmlns:a16="http://schemas.microsoft.com/office/drawing/2014/main" id="{803A24CA-201D-E1EC-BBC5-59FB7EF8E566}"/>
              </a:ext>
            </a:extLst>
          </p:cNvPr>
          <p:cNvGraphicFramePr>
            <a:graphicFrameLocks noGrp="1"/>
          </p:cNvGraphicFramePr>
          <p:nvPr/>
        </p:nvGraphicFramePr>
        <p:xfrm>
          <a:off x="2059940" y="1600200"/>
          <a:ext cx="8074024" cy="2194560"/>
        </p:xfrm>
        <a:graphic>
          <a:graphicData uri="http://schemas.openxmlformats.org/drawingml/2006/table">
            <a:tbl>
              <a:tblPr/>
              <a:tblGrid>
                <a:gridCol w="4037012">
                  <a:extLst>
                    <a:ext uri="{9D8B030D-6E8A-4147-A177-3AD203B41FA5}">
                      <a16:colId xmlns:a16="http://schemas.microsoft.com/office/drawing/2014/main" val="1834004864"/>
                    </a:ext>
                  </a:extLst>
                </a:gridCol>
                <a:gridCol w="4037012">
                  <a:extLst>
                    <a:ext uri="{9D8B030D-6E8A-4147-A177-3AD203B41FA5}">
                      <a16:colId xmlns:a16="http://schemas.microsoft.com/office/drawing/2014/main" val="3101665416"/>
                    </a:ext>
                  </a:extLst>
                </a:gridCol>
              </a:tblGrid>
              <a:tr h="365760">
                <a:tc>
                  <a:txBody>
                    <a:bodyPr/>
                    <a:lstStyle/>
                    <a:p>
                      <a:pPr>
                        <a:buNone/>
                      </a:pPr>
                      <a:r>
                        <a:rPr lang="en-IN" sz="1800"/>
                        <a:t>Metric</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2507982440"/>
                  </a:ext>
                </a:extLst>
              </a:tr>
              <a:tr h="365760">
                <a:tc>
                  <a:txBody>
                    <a:bodyPr/>
                    <a:lstStyle/>
                    <a:p>
                      <a:pPr>
                        <a:buNone/>
                      </a:pPr>
                      <a:r>
                        <a:rPr lang="en-IN" sz="1800" b="1"/>
                        <a:t>Accuracy</a:t>
                      </a:r>
                      <a:endParaRPr lang="en-IN" sz="1800"/>
                    </a:p>
                  </a:txBody>
                  <a:tcPr anchor="ctr">
                    <a:lnL>
                      <a:noFill/>
                    </a:lnL>
                    <a:lnR>
                      <a:noFill/>
                    </a:lnR>
                    <a:lnT>
                      <a:noFill/>
                    </a:lnT>
                    <a:lnB>
                      <a:noFill/>
                    </a:lnB>
                    <a:noFill/>
                  </a:tcPr>
                </a:tc>
                <a:tc>
                  <a:txBody>
                    <a:bodyPr/>
                    <a:lstStyle/>
                    <a:p>
                      <a:pPr>
                        <a:buNone/>
                      </a:pPr>
                      <a:r>
                        <a:rPr lang="en-IN" sz="1800"/>
                        <a:t>Overall correctness of the model</a:t>
                      </a:r>
                    </a:p>
                  </a:txBody>
                  <a:tcPr anchor="ctr">
                    <a:lnL>
                      <a:noFill/>
                    </a:lnL>
                    <a:lnR>
                      <a:noFill/>
                    </a:lnR>
                    <a:lnT>
                      <a:noFill/>
                    </a:lnT>
                    <a:lnB>
                      <a:noFill/>
                    </a:lnB>
                    <a:noFill/>
                  </a:tcPr>
                </a:tc>
                <a:extLst>
                  <a:ext uri="{0D108BD9-81ED-4DB2-BD59-A6C34878D82A}">
                    <a16:rowId xmlns:a16="http://schemas.microsoft.com/office/drawing/2014/main" val="521251246"/>
                  </a:ext>
                </a:extLst>
              </a:tr>
              <a:tr h="365760">
                <a:tc>
                  <a:txBody>
                    <a:bodyPr/>
                    <a:lstStyle/>
                    <a:p>
                      <a:pPr>
                        <a:buNone/>
                      </a:pPr>
                      <a:r>
                        <a:rPr lang="en-IN" sz="1800" b="1"/>
                        <a:t>Precision</a:t>
                      </a:r>
                      <a:endParaRPr lang="en-IN" sz="1800"/>
                    </a:p>
                  </a:txBody>
                  <a:tcPr anchor="ctr">
                    <a:lnL>
                      <a:noFill/>
                    </a:lnL>
                    <a:lnR>
                      <a:noFill/>
                    </a:lnR>
                    <a:lnT>
                      <a:noFill/>
                    </a:lnT>
                    <a:lnB>
                      <a:noFill/>
                    </a:lnB>
                    <a:noFill/>
                  </a:tcPr>
                </a:tc>
                <a:tc>
                  <a:txBody>
                    <a:bodyPr/>
                    <a:lstStyle/>
                    <a:p>
                      <a:pPr>
                        <a:buNone/>
                      </a:pPr>
                      <a:r>
                        <a:rPr lang="en-IN" sz="1800"/>
                        <a:t>Proportion of true PD predictions</a:t>
                      </a:r>
                    </a:p>
                  </a:txBody>
                  <a:tcPr anchor="ctr">
                    <a:lnL>
                      <a:noFill/>
                    </a:lnL>
                    <a:lnR>
                      <a:noFill/>
                    </a:lnR>
                    <a:lnT>
                      <a:noFill/>
                    </a:lnT>
                    <a:lnB>
                      <a:noFill/>
                    </a:lnB>
                    <a:noFill/>
                  </a:tcPr>
                </a:tc>
                <a:extLst>
                  <a:ext uri="{0D108BD9-81ED-4DB2-BD59-A6C34878D82A}">
                    <a16:rowId xmlns:a16="http://schemas.microsoft.com/office/drawing/2014/main" val="731593512"/>
                  </a:ext>
                </a:extLst>
              </a:tr>
              <a:tr h="365760">
                <a:tc>
                  <a:txBody>
                    <a:bodyPr/>
                    <a:lstStyle/>
                    <a:p>
                      <a:pPr>
                        <a:buNone/>
                      </a:pPr>
                      <a:r>
                        <a:rPr lang="en-IN" sz="1800" b="1"/>
                        <a:t>Recall (Sensitivity)</a:t>
                      </a:r>
                      <a:endParaRPr lang="en-IN" sz="1800"/>
                    </a:p>
                  </a:txBody>
                  <a:tcPr anchor="ctr">
                    <a:lnL>
                      <a:noFill/>
                    </a:lnL>
                    <a:lnR>
                      <a:noFill/>
                    </a:lnR>
                    <a:lnT>
                      <a:noFill/>
                    </a:lnT>
                    <a:lnB>
                      <a:noFill/>
                    </a:lnB>
                    <a:noFill/>
                  </a:tcPr>
                </a:tc>
                <a:tc>
                  <a:txBody>
                    <a:bodyPr/>
                    <a:lstStyle/>
                    <a:p>
                      <a:pPr>
                        <a:buNone/>
                      </a:pPr>
                      <a:r>
                        <a:rPr lang="en-IN" sz="1800"/>
                        <a:t>Ability to detect actual PD cases</a:t>
                      </a:r>
                    </a:p>
                  </a:txBody>
                  <a:tcPr anchor="ctr">
                    <a:lnL>
                      <a:noFill/>
                    </a:lnL>
                    <a:lnR>
                      <a:noFill/>
                    </a:lnR>
                    <a:lnT>
                      <a:noFill/>
                    </a:lnT>
                    <a:lnB>
                      <a:noFill/>
                    </a:lnB>
                    <a:noFill/>
                  </a:tcPr>
                </a:tc>
                <a:extLst>
                  <a:ext uri="{0D108BD9-81ED-4DB2-BD59-A6C34878D82A}">
                    <a16:rowId xmlns:a16="http://schemas.microsoft.com/office/drawing/2014/main" val="1319913039"/>
                  </a:ext>
                </a:extLst>
              </a:tr>
              <a:tr h="365760">
                <a:tc>
                  <a:txBody>
                    <a:bodyPr/>
                    <a:lstStyle/>
                    <a:p>
                      <a:pPr>
                        <a:buNone/>
                      </a:pPr>
                      <a:r>
                        <a:rPr lang="en-IN" sz="1800" b="1"/>
                        <a:t>F1-Score</a:t>
                      </a:r>
                      <a:endParaRPr lang="en-IN" sz="1800"/>
                    </a:p>
                  </a:txBody>
                  <a:tcPr anchor="ctr">
                    <a:lnL>
                      <a:noFill/>
                    </a:lnL>
                    <a:lnR>
                      <a:noFill/>
                    </a:lnR>
                    <a:lnT>
                      <a:noFill/>
                    </a:lnT>
                    <a:lnB>
                      <a:noFill/>
                    </a:lnB>
                    <a:noFill/>
                  </a:tcPr>
                </a:tc>
                <a:tc>
                  <a:txBody>
                    <a:bodyPr/>
                    <a:lstStyle/>
                    <a:p>
                      <a:pPr>
                        <a:buNone/>
                      </a:pPr>
                      <a:r>
                        <a:rPr lang="en-IN" sz="1800"/>
                        <a:t>Balance of precision and recall</a:t>
                      </a:r>
                    </a:p>
                  </a:txBody>
                  <a:tcPr anchor="ctr">
                    <a:lnL>
                      <a:noFill/>
                    </a:lnL>
                    <a:lnR>
                      <a:noFill/>
                    </a:lnR>
                    <a:lnT>
                      <a:noFill/>
                    </a:lnT>
                    <a:lnB>
                      <a:noFill/>
                    </a:lnB>
                    <a:noFill/>
                  </a:tcPr>
                </a:tc>
                <a:extLst>
                  <a:ext uri="{0D108BD9-81ED-4DB2-BD59-A6C34878D82A}">
                    <a16:rowId xmlns:a16="http://schemas.microsoft.com/office/drawing/2014/main" val="1850060996"/>
                  </a:ext>
                </a:extLst>
              </a:tr>
              <a:tr h="365760">
                <a:tc>
                  <a:txBody>
                    <a:bodyPr/>
                    <a:lstStyle/>
                    <a:p>
                      <a:pPr>
                        <a:buNone/>
                      </a:pPr>
                      <a:r>
                        <a:rPr lang="en-IN" sz="1800" b="1"/>
                        <a:t>AUC-ROC</a:t>
                      </a:r>
                      <a:endParaRPr lang="en-IN" sz="1800"/>
                    </a:p>
                  </a:txBody>
                  <a:tcPr anchor="ctr">
                    <a:lnL>
                      <a:noFill/>
                    </a:lnL>
                    <a:lnR>
                      <a:noFill/>
                    </a:lnR>
                    <a:lnT>
                      <a:noFill/>
                    </a:lnT>
                    <a:lnB>
                      <a:noFill/>
                    </a:lnB>
                    <a:noFill/>
                  </a:tcPr>
                </a:tc>
                <a:tc>
                  <a:txBody>
                    <a:bodyPr/>
                    <a:lstStyle/>
                    <a:p>
                      <a:pPr>
                        <a:buNone/>
                      </a:pPr>
                      <a:r>
                        <a:rPr lang="en-IN" sz="1800" dirty="0"/>
                        <a:t>Measures classification quality</a:t>
                      </a:r>
                    </a:p>
                  </a:txBody>
                  <a:tcPr anchor="ctr">
                    <a:lnL>
                      <a:noFill/>
                    </a:lnL>
                    <a:lnR>
                      <a:noFill/>
                    </a:lnR>
                    <a:lnT>
                      <a:noFill/>
                    </a:lnT>
                    <a:lnB>
                      <a:noFill/>
                    </a:lnB>
                    <a:noFill/>
                  </a:tcPr>
                </a:tc>
                <a:extLst>
                  <a:ext uri="{0D108BD9-81ED-4DB2-BD59-A6C34878D82A}">
                    <a16:rowId xmlns:a16="http://schemas.microsoft.com/office/drawing/2014/main" val="2637303988"/>
                  </a:ext>
                </a:extLst>
              </a:tr>
            </a:tbl>
          </a:graphicData>
        </a:graphic>
      </p:graphicFrame>
    </p:spTree>
    <p:extLst>
      <p:ext uri="{BB962C8B-B14F-4D97-AF65-F5344CB8AC3E}">
        <p14:creationId xmlns:p14="http://schemas.microsoft.com/office/powerpoint/2010/main" val="2569100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A1549-5A32-9168-E582-CF7BA1F58E29}"/>
              </a:ext>
            </a:extLst>
          </p:cNvPr>
          <p:cNvSpPr>
            <a:spLocks noGrp="1"/>
          </p:cNvSpPr>
          <p:nvPr>
            <p:ph type="title"/>
          </p:nvPr>
        </p:nvSpPr>
        <p:spPr>
          <a:xfrm>
            <a:off x="2059941" y="145492"/>
            <a:ext cx="8072119" cy="615553"/>
          </a:xfrm>
        </p:spPr>
        <p:txBody>
          <a:bodyPr>
            <a:normAutofit fontScale="90000"/>
          </a:bodyPr>
          <a:lstStyle/>
          <a:p>
            <a:r>
              <a:rPr lang="en-US" dirty="0"/>
              <a:t>Tesla Autopilot</a:t>
            </a:r>
          </a:p>
        </p:txBody>
      </p:sp>
      <p:sp>
        <p:nvSpPr>
          <p:cNvPr id="3" name="Text Placeholder 2">
            <a:extLst>
              <a:ext uri="{FF2B5EF4-FFF2-40B4-BE49-F238E27FC236}">
                <a16:creationId xmlns:a16="http://schemas.microsoft.com/office/drawing/2014/main" id="{AC2563FA-C1A1-27DB-F4A9-2E6F12BD471B}"/>
              </a:ext>
            </a:extLst>
          </p:cNvPr>
          <p:cNvSpPr>
            <a:spLocks noGrp="1"/>
          </p:cNvSpPr>
          <p:nvPr>
            <p:ph type="body" idx="1"/>
          </p:nvPr>
        </p:nvSpPr>
        <p:spPr>
          <a:xfrm>
            <a:off x="2058035" y="990601"/>
            <a:ext cx="8074025" cy="3693319"/>
          </a:xfrm>
        </p:spPr>
        <p:txBody>
          <a:bodyPr>
            <a:normAutofit fontScale="85000" lnSpcReduction="20000"/>
          </a:bodyPr>
          <a:lstStyle/>
          <a:p>
            <a:r>
              <a:rPr lang="en-IN" b="1" dirty="0"/>
              <a:t>Tesla Autopilot</a:t>
            </a:r>
            <a:r>
              <a:rPr lang="en-IN" dirty="0"/>
              <a:t> is an advanced driver-assistance system (ADAS) developed by </a:t>
            </a:r>
            <a:r>
              <a:rPr lang="en-IN" b="1" dirty="0"/>
              <a:t>Tesla, Inc.</a:t>
            </a:r>
            <a:r>
              <a:rPr lang="en-IN" dirty="0"/>
              <a:t> It uses </a:t>
            </a:r>
            <a:r>
              <a:rPr lang="en-IN" b="1" dirty="0"/>
              <a:t>artificial intelligence (AI)</a:t>
            </a:r>
            <a:r>
              <a:rPr lang="en-IN" dirty="0"/>
              <a:t>, </a:t>
            </a:r>
            <a:r>
              <a:rPr lang="en-IN" b="1" dirty="0"/>
              <a:t>deep learning</a:t>
            </a:r>
            <a:r>
              <a:rPr lang="en-IN" dirty="0"/>
              <a:t>, and </a:t>
            </a:r>
            <a:r>
              <a:rPr lang="en-IN" b="1" dirty="0"/>
              <a:t>sensor fusion</a:t>
            </a:r>
            <a:r>
              <a:rPr lang="en-IN" dirty="0"/>
              <a:t> technologies to provide semi-autonomous driving capabilities.</a:t>
            </a:r>
          </a:p>
          <a:p>
            <a:endParaRPr lang="en-IN" dirty="0"/>
          </a:p>
          <a:p>
            <a:r>
              <a:rPr lang="en-IN" b="1" dirty="0"/>
              <a:t>Overview</a:t>
            </a:r>
          </a:p>
          <a:p>
            <a:endParaRPr lang="en-IN" b="1" dirty="0"/>
          </a:p>
          <a:p>
            <a:r>
              <a:rPr lang="en-IN" dirty="0"/>
              <a:t>Tesla Autopilot is designed to assist drivers by automating various aspects of driving such as steering, acceleration, and braking within its lane. While not fully autonomous, it significantly reduces the driver’s workload.</a:t>
            </a:r>
          </a:p>
          <a:p>
            <a:endParaRPr lang="en-US" dirty="0"/>
          </a:p>
        </p:txBody>
      </p:sp>
    </p:spTree>
    <p:extLst>
      <p:ext uri="{BB962C8B-B14F-4D97-AF65-F5344CB8AC3E}">
        <p14:creationId xmlns:p14="http://schemas.microsoft.com/office/powerpoint/2010/main" val="4224980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B0DF-3480-A71F-3101-3C7C02577F7E}"/>
              </a:ext>
            </a:extLst>
          </p:cNvPr>
          <p:cNvSpPr>
            <a:spLocks noGrp="1"/>
          </p:cNvSpPr>
          <p:nvPr>
            <p:ph type="title"/>
          </p:nvPr>
        </p:nvSpPr>
        <p:spPr/>
        <p:txBody>
          <a:bodyPr/>
          <a:lstStyle/>
          <a:p>
            <a:r>
              <a:rPr lang="en-IN" dirty="0"/>
              <a:t>Key Technologies Used</a:t>
            </a:r>
            <a:br>
              <a:rPr lang="en-IN" dirty="0"/>
            </a:br>
            <a:endParaRPr lang="en-US" dirty="0"/>
          </a:p>
        </p:txBody>
      </p:sp>
      <p:sp>
        <p:nvSpPr>
          <p:cNvPr id="3" name="Text Placeholder 2">
            <a:extLst>
              <a:ext uri="{FF2B5EF4-FFF2-40B4-BE49-F238E27FC236}">
                <a16:creationId xmlns:a16="http://schemas.microsoft.com/office/drawing/2014/main" id="{0C4EB128-32E9-46D7-A409-869D45E9A181}"/>
              </a:ext>
            </a:extLst>
          </p:cNvPr>
          <p:cNvSpPr>
            <a:spLocks noGrp="1"/>
          </p:cNvSpPr>
          <p:nvPr>
            <p:ph type="body" idx="1"/>
          </p:nvPr>
        </p:nvSpPr>
        <p:spPr>
          <a:xfrm>
            <a:off x="2058035" y="1018643"/>
            <a:ext cx="8074025" cy="5693866"/>
          </a:xfrm>
        </p:spPr>
        <p:txBody>
          <a:bodyPr>
            <a:normAutofit fontScale="77500" lnSpcReduction="20000"/>
          </a:bodyPr>
          <a:lstStyle/>
          <a:p>
            <a:pPr marL="457200" indent="-457200">
              <a:buFont typeface="+mj-lt"/>
              <a:buAutoNum type="arabicPeriod"/>
            </a:pPr>
            <a:r>
              <a:rPr lang="en-IN" b="1" dirty="0"/>
              <a:t>Computer Vision</a:t>
            </a:r>
            <a:r>
              <a:rPr lang="en-IN" dirty="0"/>
              <a:t> – Tesla vehicles use </a:t>
            </a:r>
            <a:r>
              <a:rPr lang="en-IN" b="1" dirty="0"/>
              <a:t>8 cameras</a:t>
            </a:r>
            <a:r>
              <a:rPr lang="en-IN" dirty="0"/>
              <a:t>, </a:t>
            </a:r>
            <a:r>
              <a:rPr lang="en-IN" b="1" dirty="0"/>
              <a:t>ultrasonic sensors</a:t>
            </a:r>
            <a:r>
              <a:rPr lang="en-IN" dirty="0"/>
              <a:t>, and </a:t>
            </a:r>
            <a:r>
              <a:rPr lang="en-IN" b="1" dirty="0"/>
              <a:t>radar (in older versions)</a:t>
            </a:r>
            <a:r>
              <a:rPr lang="en-IN" dirty="0"/>
              <a:t> to perceive the environment.</a:t>
            </a:r>
          </a:p>
          <a:p>
            <a:pPr marL="457200" indent="-457200">
              <a:buFont typeface="+mj-lt"/>
              <a:buAutoNum type="arabicPeriod"/>
            </a:pPr>
            <a:endParaRPr lang="en-IN" dirty="0"/>
          </a:p>
          <a:p>
            <a:pPr marL="457200" indent="-457200">
              <a:buFont typeface="+mj-lt"/>
              <a:buAutoNum type="arabicPeriod"/>
            </a:pPr>
            <a:r>
              <a:rPr lang="en-IN" b="1" dirty="0"/>
              <a:t>Neural Networks</a:t>
            </a:r>
            <a:r>
              <a:rPr lang="en-IN" dirty="0"/>
              <a:t> – Deep learning models process video data to detect:</a:t>
            </a:r>
          </a:p>
          <a:p>
            <a:pPr marL="800100" lvl="1" indent="-342900"/>
            <a:r>
              <a:rPr lang="en-IN" dirty="0"/>
              <a:t>Vehicles</a:t>
            </a:r>
          </a:p>
          <a:p>
            <a:pPr marL="800100" lvl="1" indent="-342900"/>
            <a:r>
              <a:rPr lang="en-IN" dirty="0"/>
              <a:t>Pedestrians</a:t>
            </a:r>
          </a:p>
          <a:p>
            <a:pPr marL="800100" lvl="1" indent="-342900"/>
            <a:r>
              <a:rPr lang="en-IN" dirty="0"/>
              <a:t>Road signs and lane markings</a:t>
            </a:r>
          </a:p>
          <a:p>
            <a:pPr marL="800100" lvl="1" indent="-342900"/>
            <a:r>
              <a:rPr lang="en-IN" dirty="0"/>
              <a:t>Traffic lights and obstacles</a:t>
            </a:r>
          </a:p>
          <a:p>
            <a:pPr marL="800100" lvl="1" indent="-342900">
              <a:buFont typeface="+mj-lt"/>
              <a:buAutoNum type="arabicPeriod"/>
            </a:pPr>
            <a:endParaRPr lang="en-IN" dirty="0"/>
          </a:p>
          <a:p>
            <a:pPr marL="457200" indent="-457200">
              <a:buFont typeface="+mj-lt"/>
              <a:buAutoNum type="arabicPeriod"/>
            </a:pPr>
            <a:r>
              <a:rPr lang="en-IN" b="1" dirty="0"/>
              <a:t>Sensor Fusion</a:t>
            </a:r>
            <a:r>
              <a:rPr lang="en-IN" dirty="0"/>
              <a:t> – Combines data from multiple sensors to create a 360° real-time map of the vehicle’s surroundings.</a:t>
            </a:r>
          </a:p>
          <a:p>
            <a:pPr marL="457200" indent="-457200">
              <a:buFont typeface="+mj-lt"/>
              <a:buAutoNum type="arabicPeriod"/>
            </a:pPr>
            <a:endParaRPr lang="en-IN" dirty="0"/>
          </a:p>
          <a:p>
            <a:pPr marL="457200" indent="-457200">
              <a:buFont typeface="+mj-lt"/>
              <a:buAutoNum type="arabicPeriod"/>
            </a:pPr>
            <a:r>
              <a:rPr lang="en-IN" b="1" dirty="0"/>
              <a:t>AI Chip (Tesla FSD Chip)</a:t>
            </a:r>
            <a:r>
              <a:rPr lang="en-IN" dirty="0"/>
              <a:t> – Custom-designed hardware that enables on-board neural network processing.</a:t>
            </a:r>
          </a:p>
          <a:p>
            <a:pPr marL="457200" indent="-457200">
              <a:buFont typeface="+mj-lt"/>
              <a:buAutoNum type="arabicPeriod"/>
            </a:pPr>
            <a:endParaRPr lang="en-IN" dirty="0"/>
          </a:p>
          <a:p>
            <a:pPr marL="457200" indent="-457200">
              <a:buFont typeface="+mj-lt"/>
              <a:buAutoNum type="arabicPeriod"/>
            </a:pPr>
            <a:r>
              <a:rPr lang="en-IN" b="1" dirty="0"/>
              <a:t>Over-the-Air (OTA) Updates</a:t>
            </a:r>
            <a:r>
              <a:rPr lang="en-IN" dirty="0"/>
              <a:t> – Tesla continuously improves Autopilot capabilities using OTA software updates.</a:t>
            </a:r>
          </a:p>
          <a:p>
            <a:endParaRPr lang="en-US" dirty="0"/>
          </a:p>
        </p:txBody>
      </p:sp>
    </p:spTree>
    <p:extLst>
      <p:ext uri="{BB962C8B-B14F-4D97-AF65-F5344CB8AC3E}">
        <p14:creationId xmlns:p14="http://schemas.microsoft.com/office/powerpoint/2010/main" val="2456076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6E9BD-ABCD-FF54-9D35-F72460015CC9}"/>
              </a:ext>
            </a:extLst>
          </p:cNvPr>
          <p:cNvSpPr>
            <a:spLocks noGrp="1"/>
          </p:cNvSpPr>
          <p:nvPr>
            <p:ph type="title"/>
          </p:nvPr>
        </p:nvSpPr>
        <p:spPr>
          <a:xfrm>
            <a:off x="2059941" y="145492"/>
            <a:ext cx="8072119" cy="1846659"/>
          </a:xfrm>
        </p:spPr>
        <p:txBody>
          <a:bodyPr>
            <a:normAutofit fontScale="90000"/>
          </a:bodyPr>
          <a:lstStyle/>
          <a:p>
            <a:r>
              <a:rPr lang="en-US" dirty="0"/>
              <a:t>Main Features</a:t>
            </a:r>
            <a:br>
              <a:rPr lang="en-US" dirty="0"/>
            </a:br>
            <a:br>
              <a:rPr lang="en-US" dirty="0"/>
            </a:br>
            <a:endParaRPr lang="en-US" dirty="0"/>
          </a:p>
        </p:txBody>
      </p:sp>
      <p:sp>
        <p:nvSpPr>
          <p:cNvPr id="3" name="Text Placeholder 2">
            <a:extLst>
              <a:ext uri="{FF2B5EF4-FFF2-40B4-BE49-F238E27FC236}">
                <a16:creationId xmlns:a16="http://schemas.microsoft.com/office/drawing/2014/main" id="{179E31E5-9C5A-B801-86C8-207B87C34DDF}"/>
              </a:ext>
            </a:extLst>
          </p:cNvPr>
          <p:cNvSpPr>
            <a:spLocks noGrp="1"/>
          </p:cNvSpPr>
          <p:nvPr>
            <p:ph type="body" idx="1"/>
          </p:nvPr>
        </p:nvSpPr>
        <p:spPr>
          <a:xfrm>
            <a:off x="1905001" y="1062958"/>
            <a:ext cx="8074025" cy="5539978"/>
          </a:xfrm>
        </p:spPr>
        <p:txBody>
          <a:bodyPr>
            <a:normAutofit fontScale="70000" lnSpcReduction="20000"/>
          </a:bodyPr>
          <a:lstStyle/>
          <a:p>
            <a:pPr marL="457200" indent="-457200">
              <a:buFont typeface="+mj-lt"/>
              <a:buAutoNum type="arabicPeriod"/>
            </a:pPr>
            <a:r>
              <a:rPr lang="en-IN" b="1" dirty="0"/>
              <a:t>Traffic-Aware Cruise Control (TACC):</a:t>
            </a:r>
            <a:r>
              <a:rPr lang="en-IN" dirty="0"/>
              <a:t> Adjusts speed according to surrounding traffic.</a:t>
            </a:r>
          </a:p>
          <a:p>
            <a:pPr marL="457200" indent="-457200">
              <a:buFont typeface="+mj-lt"/>
              <a:buAutoNum type="arabicPeriod"/>
            </a:pPr>
            <a:endParaRPr lang="en-IN" dirty="0"/>
          </a:p>
          <a:p>
            <a:pPr marL="457200" indent="-457200">
              <a:buFont typeface="+mj-lt"/>
              <a:buAutoNum type="arabicPeriod"/>
            </a:pPr>
            <a:r>
              <a:rPr lang="en-IN" b="1" dirty="0"/>
              <a:t>Autosteer:</a:t>
            </a:r>
            <a:r>
              <a:rPr lang="en-IN" dirty="0"/>
              <a:t> Keeps the car </a:t>
            </a:r>
            <a:r>
              <a:rPr lang="en-IN" dirty="0" err="1"/>
              <a:t>centered</a:t>
            </a:r>
            <a:r>
              <a:rPr lang="en-IN" dirty="0"/>
              <a:t> in its lane.</a:t>
            </a:r>
          </a:p>
          <a:p>
            <a:pPr marL="457200" indent="-457200">
              <a:buFont typeface="+mj-lt"/>
              <a:buAutoNum type="arabicPeriod"/>
            </a:pPr>
            <a:endParaRPr lang="en-IN" dirty="0"/>
          </a:p>
          <a:p>
            <a:pPr marL="457200" indent="-457200">
              <a:buFont typeface="+mj-lt"/>
              <a:buAutoNum type="arabicPeriod"/>
            </a:pPr>
            <a:r>
              <a:rPr lang="en-IN" b="1" dirty="0"/>
              <a:t>Auto Lane Change:</a:t>
            </a:r>
            <a:r>
              <a:rPr lang="en-IN" dirty="0"/>
              <a:t> Allows the vehicle to switch lanes automatically with driver confirmation.</a:t>
            </a:r>
          </a:p>
          <a:p>
            <a:pPr marL="457200" indent="-457200">
              <a:buFont typeface="+mj-lt"/>
              <a:buAutoNum type="arabicPeriod"/>
            </a:pPr>
            <a:endParaRPr lang="en-IN" dirty="0"/>
          </a:p>
          <a:p>
            <a:pPr marL="457200" indent="-457200">
              <a:buFont typeface="+mj-lt"/>
              <a:buAutoNum type="arabicPeriod"/>
            </a:pPr>
            <a:r>
              <a:rPr lang="en-IN" b="1" dirty="0"/>
              <a:t>Navigate on Autopilot:</a:t>
            </a:r>
            <a:r>
              <a:rPr lang="en-IN" dirty="0"/>
              <a:t> Suggests and performs lane changes, highway exits, and merges.</a:t>
            </a:r>
          </a:p>
          <a:p>
            <a:pPr marL="457200" indent="-457200">
              <a:buFont typeface="+mj-lt"/>
              <a:buAutoNum type="arabicPeriod"/>
            </a:pPr>
            <a:endParaRPr lang="en-IN" dirty="0"/>
          </a:p>
          <a:p>
            <a:pPr marL="457200" indent="-457200">
              <a:buFont typeface="+mj-lt"/>
              <a:buAutoNum type="arabicPeriod"/>
            </a:pPr>
            <a:r>
              <a:rPr lang="en-IN" b="1" dirty="0" err="1"/>
              <a:t>Autopark</a:t>
            </a:r>
            <a:r>
              <a:rPr lang="en-IN" b="1" dirty="0"/>
              <a:t>:</a:t>
            </a:r>
            <a:r>
              <a:rPr lang="en-IN" dirty="0"/>
              <a:t> Assists in parallel and perpendicular parking.</a:t>
            </a:r>
          </a:p>
          <a:p>
            <a:pPr marL="457200" indent="-457200">
              <a:buFont typeface="+mj-lt"/>
              <a:buAutoNum type="arabicPeriod"/>
            </a:pPr>
            <a:endParaRPr lang="en-IN" dirty="0"/>
          </a:p>
          <a:p>
            <a:pPr marL="457200" indent="-457200">
              <a:buFont typeface="+mj-lt"/>
              <a:buAutoNum type="arabicPeriod"/>
            </a:pPr>
            <a:r>
              <a:rPr lang="en-IN" b="1" dirty="0"/>
              <a:t>Summon:</a:t>
            </a:r>
            <a:r>
              <a:rPr lang="en-IN" dirty="0"/>
              <a:t> Moves the car in and out of parking spaces remotely.</a:t>
            </a:r>
          </a:p>
          <a:p>
            <a:pPr marL="457200" indent="-457200">
              <a:buFont typeface="+mj-lt"/>
              <a:buAutoNum type="arabicPeriod"/>
            </a:pPr>
            <a:endParaRPr lang="en-IN" dirty="0"/>
          </a:p>
          <a:p>
            <a:pPr marL="457200" indent="-457200">
              <a:buFont typeface="+mj-lt"/>
              <a:buAutoNum type="arabicPeriod"/>
            </a:pPr>
            <a:r>
              <a:rPr lang="en-IN" b="1" dirty="0"/>
              <a:t>Full Self-Driving (FSD) Beta:</a:t>
            </a:r>
            <a:r>
              <a:rPr lang="en-IN" dirty="0"/>
              <a:t> Currently in testing—aims to enable full urban and highway autonomy.</a:t>
            </a:r>
          </a:p>
          <a:p>
            <a:pPr marL="457200" indent="-457200">
              <a:buFont typeface="+mj-lt"/>
              <a:buAutoNum type="arabicPeriod"/>
            </a:pPr>
            <a:endParaRPr lang="en-US" dirty="0"/>
          </a:p>
        </p:txBody>
      </p:sp>
    </p:spTree>
    <p:extLst>
      <p:ext uri="{BB962C8B-B14F-4D97-AF65-F5344CB8AC3E}">
        <p14:creationId xmlns:p14="http://schemas.microsoft.com/office/powerpoint/2010/main" val="292327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E69E0-C774-0A35-069E-9B1F3E51E42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FC818ACF-54F6-CAA4-893E-54A799F14B7A}"/>
              </a:ext>
            </a:extLst>
          </p:cNvPr>
          <p:cNvSpPr>
            <a:spLocks noGrp="1"/>
          </p:cNvSpPr>
          <p:nvPr>
            <p:ph type="body" idx="1"/>
          </p:nvPr>
        </p:nvSpPr>
        <p:spPr>
          <a:xfrm>
            <a:off x="2058987" y="1260673"/>
            <a:ext cx="8074025" cy="5232202"/>
          </a:xfrm>
        </p:spPr>
        <p:txBody>
          <a:bodyPr>
            <a:normAutofit fontScale="77500" lnSpcReduction="20000"/>
          </a:bodyPr>
          <a:lstStyle/>
          <a:p>
            <a:r>
              <a:rPr lang="en-IN" b="1" dirty="0"/>
              <a:t>Advantages</a:t>
            </a:r>
          </a:p>
          <a:p>
            <a:endParaRPr lang="en-IN" b="1" dirty="0"/>
          </a:p>
          <a:p>
            <a:pPr marL="342900" indent="-342900">
              <a:buFont typeface="Wingdings" pitchFamily="2" charset="2"/>
              <a:buChar char="Ø"/>
            </a:pPr>
            <a:r>
              <a:rPr lang="en-IN" dirty="0"/>
              <a:t>Reduced driver fatigue on highways</a:t>
            </a:r>
          </a:p>
          <a:p>
            <a:pPr marL="342900" indent="-342900">
              <a:buFont typeface="Wingdings" pitchFamily="2" charset="2"/>
              <a:buChar char="Ø"/>
            </a:pPr>
            <a:r>
              <a:rPr lang="en-IN" dirty="0"/>
              <a:t>Improved safety through collision avoidance</a:t>
            </a:r>
          </a:p>
          <a:p>
            <a:pPr marL="342900" indent="-342900">
              <a:buFont typeface="Wingdings" pitchFamily="2" charset="2"/>
              <a:buChar char="Ø"/>
            </a:pPr>
            <a:r>
              <a:rPr lang="en-IN" dirty="0"/>
              <a:t>Constant software improvements</a:t>
            </a:r>
          </a:p>
          <a:p>
            <a:pPr marL="342900" indent="-342900">
              <a:buFont typeface="Wingdings" pitchFamily="2" charset="2"/>
              <a:buChar char="Ø"/>
            </a:pPr>
            <a:r>
              <a:rPr lang="en-IN" dirty="0"/>
              <a:t>Data-driven learning from Tesla’s global fleet</a:t>
            </a:r>
          </a:p>
          <a:p>
            <a:pPr marL="342900" indent="-342900">
              <a:buFont typeface="Wingdings" pitchFamily="2" charset="2"/>
              <a:buChar char="Ø"/>
            </a:pPr>
            <a:endParaRPr lang="en-IN" dirty="0"/>
          </a:p>
          <a:p>
            <a:r>
              <a:rPr lang="en-IN" b="1" dirty="0"/>
              <a:t>Challenges &amp; Ethical Concerns</a:t>
            </a:r>
          </a:p>
          <a:p>
            <a:endParaRPr lang="en-IN" b="1" dirty="0"/>
          </a:p>
          <a:p>
            <a:pPr marL="342900" indent="-342900">
              <a:buFont typeface="Wingdings" pitchFamily="2" charset="2"/>
              <a:buChar char="Ø"/>
            </a:pPr>
            <a:r>
              <a:rPr lang="en-IN" b="1" dirty="0"/>
              <a:t>Driver complacency</a:t>
            </a:r>
            <a:r>
              <a:rPr lang="en-IN" dirty="0"/>
              <a:t> due to overreliance</a:t>
            </a:r>
          </a:p>
          <a:p>
            <a:pPr marL="342900" indent="-342900">
              <a:buFont typeface="Wingdings" pitchFamily="2" charset="2"/>
              <a:buChar char="Ø"/>
            </a:pPr>
            <a:r>
              <a:rPr lang="en-IN" b="1" dirty="0"/>
              <a:t>Accidents and liability</a:t>
            </a:r>
            <a:r>
              <a:rPr lang="en-IN" dirty="0"/>
              <a:t> during Autopilot use</a:t>
            </a:r>
          </a:p>
          <a:p>
            <a:pPr marL="342900" indent="-342900">
              <a:buFont typeface="Wingdings" pitchFamily="2" charset="2"/>
              <a:buChar char="Ø"/>
            </a:pPr>
            <a:r>
              <a:rPr lang="en-IN" b="1" dirty="0"/>
              <a:t>Regulatory and legal issues</a:t>
            </a:r>
            <a:endParaRPr lang="en-IN" dirty="0"/>
          </a:p>
          <a:p>
            <a:pPr marL="342900" indent="-342900">
              <a:buFont typeface="Wingdings" pitchFamily="2" charset="2"/>
              <a:buChar char="Ø"/>
            </a:pPr>
            <a:r>
              <a:rPr lang="en-IN" b="1" dirty="0"/>
              <a:t>Ethical decision-making</a:t>
            </a:r>
            <a:r>
              <a:rPr lang="en-IN" dirty="0"/>
              <a:t> in unavoidable crash scenarios</a:t>
            </a:r>
          </a:p>
          <a:p>
            <a:pPr marL="342900" indent="-342900">
              <a:buFont typeface="Wingdings" pitchFamily="2" charset="2"/>
              <a:buChar char="Ø"/>
            </a:pPr>
            <a:r>
              <a:rPr lang="en-IN" b="1" dirty="0"/>
              <a:t>Data privacy</a:t>
            </a:r>
            <a:r>
              <a:rPr lang="en-IN" dirty="0"/>
              <a:t> and constant video capture</a:t>
            </a:r>
          </a:p>
          <a:p>
            <a:pPr marL="342900" indent="-342900">
              <a:buFont typeface="Wingdings" pitchFamily="2" charset="2"/>
              <a:buChar char="Ø"/>
            </a:pPr>
            <a:endParaRPr lang="en-IN" dirty="0"/>
          </a:p>
          <a:p>
            <a:pPr marL="342900" indent="-342900">
              <a:buFont typeface="Wingdings" pitchFamily="2" charset="2"/>
              <a:buChar char="Ø"/>
            </a:pPr>
            <a:endParaRPr lang="en-IN" dirty="0"/>
          </a:p>
          <a:p>
            <a:endParaRPr lang="en-US" dirty="0"/>
          </a:p>
        </p:txBody>
      </p:sp>
    </p:spTree>
    <p:extLst>
      <p:ext uri="{BB962C8B-B14F-4D97-AF65-F5344CB8AC3E}">
        <p14:creationId xmlns:p14="http://schemas.microsoft.com/office/powerpoint/2010/main" val="753368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8D99-EB8C-6CD7-CFE8-890502533EE4}"/>
              </a:ext>
            </a:extLst>
          </p:cNvPr>
          <p:cNvSpPr>
            <a:spLocks noGrp="1"/>
          </p:cNvSpPr>
          <p:nvPr>
            <p:ph type="title"/>
          </p:nvPr>
        </p:nvSpPr>
        <p:spPr>
          <a:xfrm>
            <a:off x="2059941" y="145492"/>
            <a:ext cx="8072119" cy="1846659"/>
          </a:xfrm>
        </p:spPr>
        <p:txBody>
          <a:bodyPr>
            <a:normAutofit fontScale="90000"/>
          </a:bodyPr>
          <a:lstStyle/>
          <a:p>
            <a:r>
              <a:rPr lang="en-US" dirty="0"/>
              <a:t>AI Algorithms Involved</a:t>
            </a:r>
            <a:br>
              <a:rPr lang="en-US" dirty="0"/>
            </a:br>
            <a:br>
              <a:rPr lang="en-US" dirty="0"/>
            </a:br>
            <a:endParaRPr lang="en-US" dirty="0"/>
          </a:p>
        </p:txBody>
      </p:sp>
      <p:sp>
        <p:nvSpPr>
          <p:cNvPr id="3" name="Text Placeholder 2">
            <a:extLst>
              <a:ext uri="{FF2B5EF4-FFF2-40B4-BE49-F238E27FC236}">
                <a16:creationId xmlns:a16="http://schemas.microsoft.com/office/drawing/2014/main" id="{A35C9386-AE22-F26E-B123-3FF212623057}"/>
              </a:ext>
            </a:extLst>
          </p:cNvPr>
          <p:cNvSpPr>
            <a:spLocks noGrp="1"/>
          </p:cNvSpPr>
          <p:nvPr>
            <p:ph type="body" idx="1"/>
          </p:nvPr>
        </p:nvSpPr>
        <p:spPr>
          <a:xfrm>
            <a:off x="2059941" y="2009736"/>
            <a:ext cx="8074025" cy="1846659"/>
          </a:xfrm>
        </p:spPr>
        <p:txBody>
          <a:bodyPr>
            <a:normAutofit fontScale="77500" lnSpcReduction="20000"/>
          </a:bodyPr>
          <a:lstStyle/>
          <a:p>
            <a:pPr marL="342900" indent="-342900">
              <a:buFont typeface="Wingdings" pitchFamily="2" charset="2"/>
              <a:buChar char="Ø"/>
            </a:pPr>
            <a:r>
              <a:rPr lang="en-IN" b="1" dirty="0"/>
              <a:t>Convolutional Neural Networks (CNNs)</a:t>
            </a:r>
            <a:r>
              <a:rPr lang="en-IN" dirty="0"/>
              <a:t> for visual perception</a:t>
            </a:r>
          </a:p>
          <a:p>
            <a:pPr marL="342900" indent="-342900">
              <a:buFont typeface="Wingdings" pitchFamily="2" charset="2"/>
              <a:buChar char="Ø"/>
            </a:pPr>
            <a:endParaRPr lang="en-IN" dirty="0"/>
          </a:p>
          <a:p>
            <a:pPr marL="342900" indent="-342900">
              <a:buFont typeface="Wingdings" pitchFamily="2" charset="2"/>
              <a:buChar char="Ø"/>
            </a:pPr>
            <a:r>
              <a:rPr lang="en-IN" b="1" dirty="0"/>
              <a:t>Reinforcement Learning</a:t>
            </a:r>
            <a:r>
              <a:rPr lang="en-IN" dirty="0"/>
              <a:t> for decision-making and planning</a:t>
            </a:r>
          </a:p>
          <a:p>
            <a:pPr marL="342900" indent="-342900">
              <a:buFont typeface="Wingdings" pitchFamily="2" charset="2"/>
              <a:buChar char="Ø"/>
            </a:pPr>
            <a:endParaRPr lang="en-IN" dirty="0"/>
          </a:p>
          <a:p>
            <a:pPr marL="342900" indent="-342900">
              <a:buFont typeface="Wingdings" pitchFamily="2" charset="2"/>
              <a:buChar char="Ø"/>
            </a:pPr>
            <a:r>
              <a:rPr lang="en-IN" b="1" dirty="0"/>
              <a:t>Sensor fusion and path planning algorithms</a:t>
            </a:r>
            <a:r>
              <a:rPr lang="en-IN" dirty="0"/>
              <a:t> for navigation</a:t>
            </a:r>
          </a:p>
          <a:p>
            <a:endParaRPr lang="en-US" dirty="0"/>
          </a:p>
        </p:txBody>
      </p:sp>
    </p:spTree>
    <p:extLst>
      <p:ext uri="{BB962C8B-B14F-4D97-AF65-F5344CB8AC3E}">
        <p14:creationId xmlns:p14="http://schemas.microsoft.com/office/powerpoint/2010/main" val="2924508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93AA3-2779-D183-F1DA-ADBEED147DC8}"/>
              </a:ext>
            </a:extLst>
          </p:cNvPr>
          <p:cNvSpPr>
            <a:spLocks noGrp="1"/>
          </p:cNvSpPr>
          <p:nvPr>
            <p:ph type="title"/>
          </p:nvPr>
        </p:nvSpPr>
        <p:spPr>
          <a:xfrm>
            <a:off x="2059940" y="145491"/>
            <a:ext cx="8303260" cy="1244600"/>
          </a:xfrm>
        </p:spPr>
        <p:txBody>
          <a:bodyPr>
            <a:normAutofit fontScale="90000"/>
          </a:bodyPr>
          <a:lstStyle/>
          <a:p>
            <a:r>
              <a:rPr lang="en-US" dirty="0"/>
              <a:t>Robinhood’s AI-Driven Fraud Detection</a:t>
            </a:r>
          </a:p>
        </p:txBody>
      </p:sp>
      <p:sp>
        <p:nvSpPr>
          <p:cNvPr id="3" name="Text Placeholder 2">
            <a:extLst>
              <a:ext uri="{FF2B5EF4-FFF2-40B4-BE49-F238E27FC236}">
                <a16:creationId xmlns:a16="http://schemas.microsoft.com/office/drawing/2014/main" id="{D3C324D8-8827-882E-B62C-5A55C864F68C}"/>
              </a:ext>
            </a:extLst>
          </p:cNvPr>
          <p:cNvSpPr>
            <a:spLocks noGrp="1"/>
          </p:cNvSpPr>
          <p:nvPr>
            <p:ph type="body" idx="1"/>
          </p:nvPr>
        </p:nvSpPr>
        <p:spPr>
          <a:xfrm>
            <a:off x="2059941" y="1616709"/>
            <a:ext cx="8074025" cy="4308872"/>
          </a:xfrm>
        </p:spPr>
        <p:txBody>
          <a:bodyPr>
            <a:normAutofit fontScale="77500" lnSpcReduction="20000"/>
          </a:bodyPr>
          <a:lstStyle/>
          <a:p>
            <a:r>
              <a:rPr lang="en-IN" b="1" dirty="0"/>
              <a:t>Robinhood</a:t>
            </a:r>
            <a:r>
              <a:rPr lang="en-IN" dirty="0"/>
              <a:t>, a popular U.S.-based stock trading and investment platform, uses </a:t>
            </a:r>
            <a:r>
              <a:rPr lang="en-IN" b="1" dirty="0"/>
              <a:t>Artificial Intelligence (AI)</a:t>
            </a:r>
            <a:r>
              <a:rPr lang="en-IN" dirty="0"/>
              <a:t> and </a:t>
            </a:r>
            <a:r>
              <a:rPr lang="en-IN" b="1" dirty="0"/>
              <a:t>Machine Learning (ML)</a:t>
            </a:r>
            <a:r>
              <a:rPr lang="en-IN" dirty="0"/>
              <a:t> to </a:t>
            </a:r>
            <a:r>
              <a:rPr lang="en-IN" b="1" dirty="0"/>
              <a:t>detect and prevent fraudulent activities</a:t>
            </a:r>
            <a:r>
              <a:rPr lang="en-IN" dirty="0"/>
              <a:t> in real time. Its AI-driven system safeguards millions of users from scams, identity theft, and financial fraud.</a:t>
            </a:r>
          </a:p>
          <a:p>
            <a:endParaRPr lang="en-IN" dirty="0"/>
          </a:p>
          <a:p>
            <a:r>
              <a:rPr lang="en-IN" b="1" dirty="0"/>
              <a:t>Overview</a:t>
            </a:r>
          </a:p>
          <a:p>
            <a:endParaRPr lang="en-IN" b="1" dirty="0"/>
          </a:p>
          <a:p>
            <a:r>
              <a:rPr lang="en-IN" dirty="0"/>
              <a:t>Robinhood processes millions of transactions daily. To maintain security, it employs </a:t>
            </a:r>
            <a:r>
              <a:rPr lang="en-IN" b="1" dirty="0"/>
              <a:t>AI-powered fraud detection models</a:t>
            </a:r>
            <a:r>
              <a:rPr lang="en-IN" dirty="0"/>
              <a:t> that automatically identify suspicious user </a:t>
            </a:r>
            <a:r>
              <a:rPr lang="en-IN" dirty="0" err="1"/>
              <a:t>behavior</a:t>
            </a:r>
            <a:r>
              <a:rPr lang="en-IN" dirty="0"/>
              <a:t> and prevent potential misuse—such as unauthorized account access, money laundering, and fake identity creation.</a:t>
            </a:r>
          </a:p>
          <a:p>
            <a:endParaRPr lang="en-US" dirty="0"/>
          </a:p>
        </p:txBody>
      </p:sp>
    </p:spTree>
    <p:extLst>
      <p:ext uri="{BB962C8B-B14F-4D97-AF65-F5344CB8AC3E}">
        <p14:creationId xmlns:p14="http://schemas.microsoft.com/office/powerpoint/2010/main" val="3250391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D017-CBCC-4FE9-D954-CB93FE53BFFA}"/>
              </a:ext>
            </a:extLst>
          </p:cNvPr>
          <p:cNvSpPr>
            <a:spLocks noGrp="1"/>
          </p:cNvSpPr>
          <p:nvPr>
            <p:ph type="title"/>
          </p:nvPr>
        </p:nvSpPr>
        <p:spPr/>
        <p:txBody>
          <a:bodyPr/>
          <a:lstStyle/>
          <a:p>
            <a:r>
              <a:rPr lang="en-IN" dirty="0"/>
              <a:t>Key Technologies Used</a:t>
            </a:r>
            <a:br>
              <a:rPr lang="en-IN" dirty="0"/>
            </a:br>
            <a:endParaRPr lang="en-US" dirty="0"/>
          </a:p>
        </p:txBody>
      </p:sp>
      <p:sp>
        <p:nvSpPr>
          <p:cNvPr id="3" name="Text Placeholder 2">
            <a:extLst>
              <a:ext uri="{FF2B5EF4-FFF2-40B4-BE49-F238E27FC236}">
                <a16:creationId xmlns:a16="http://schemas.microsoft.com/office/drawing/2014/main" id="{09640F1C-C37D-A6C4-0FAD-714CAAFDC03E}"/>
              </a:ext>
            </a:extLst>
          </p:cNvPr>
          <p:cNvSpPr>
            <a:spLocks noGrp="1"/>
          </p:cNvSpPr>
          <p:nvPr>
            <p:ph type="body" idx="1"/>
          </p:nvPr>
        </p:nvSpPr>
        <p:spPr>
          <a:xfrm>
            <a:off x="1150523" y="1027906"/>
            <a:ext cx="8074025" cy="6001643"/>
          </a:xfrm>
        </p:spPr>
        <p:txBody>
          <a:bodyPr>
            <a:normAutofit fontScale="77500" lnSpcReduction="20000"/>
          </a:bodyPr>
          <a:lstStyle/>
          <a:p>
            <a:r>
              <a:rPr lang="en-IN" b="1" dirty="0"/>
              <a:t>Machine Learning Algorithms</a:t>
            </a:r>
            <a:endParaRPr lang="en-IN" dirty="0"/>
          </a:p>
          <a:p>
            <a:pPr lvl="1"/>
            <a:r>
              <a:rPr lang="en-IN" dirty="0"/>
              <a:t>Detect unusual trading patterns, login </a:t>
            </a:r>
            <a:r>
              <a:rPr lang="en-IN" dirty="0" err="1"/>
              <a:t>behavior</a:t>
            </a:r>
            <a:r>
              <a:rPr lang="en-IN" dirty="0"/>
              <a:t>, and transaction anomalies.</a:t>
            </a:r>
          </a:p>
          <a:p>
            <a:pPr lvl="1"/>
            <a:r>
              <a:rPr lang="en-IN" dirty="0"/>
              <a:t>Models are trained on historical fraud data and user activity patterns.</a:t>
            </a:r>
          </a:p>
          <a:p>
            <a:pPr lvl="1"/>
            <a:endParaRPr lang="en-IN" dirty="0"/>
          </a:p>
          <a:p>
            <a:r>
              <a:rPr lang="en-IN" b="1" dirty="0"/>
              <a:t>Natural Language Processing (NLP)</a:t>
            </a:r>
            <a:endParaRPr lang="en-IN" dirty="0"/>
          </a:p>
          <a:p>
            <a:pPr lvl="1"/>
            <a:r>
              <a:rPr lang="en-IN" dirty="0" err="1"/>
              <a:t>Analyzes</a:t>
            </a:r>
            <a:r>
              <a:rPr lang="en-IN" dirty="0"/>
              <a:t> communication patterns (like customer support chats or emails) to detect phishing or social engineering attempts.</a:t>
            </a:r>
          </a:p>
          <a:p>
            <a:pPr lvl="1"/>
            <a:endParaRPr lang="en-IN" dirty="0"/>
          </a:p>
          <a:p>
            <a:r>
              <a:rPr lang="en-IN" b="1" dirty="0"/>
              <a:t>Graph Neural Networks (GNNs)</a:t>
            </a:r>
            <a:r>
              <a:rPr lang="en-IN" dirty="0"/>
              <a:t> </a:t>
            </a:r>
            <a:r>
              <a:rPr lang="en-IN" i="1" dirty="0"/>
              <a:t>(recently emerging)</a:t>
            </a:r>
            <a:endParaRPr lang="en-IN" dirty="0"/>
          </a:p>
          <a:p>
            <a:pPr lvl="1"/>
            <a:r>
              <a:rPr lang="en-IN" dirty="0"/>
              <a:t>Identify relationships between accounts (shared devices, IPs, or payment methods).</a:t>
            </a:r>
          </a:p>
          <a:p>
            <a:pPr lvl="1"/>
            <a:r>
              <a:rPr lang="en-IN" dirty="0"/>
              <a:t>Detect </a:t>
            </a:r>
            <a:r>
              <a:rPr lang="en-IN" b="1" dirty="0"/>
              <a:t>fraud rings</a:t>
            </a:r>
            <a:r>
              <a:rPr lang="en-IN" dirty="0"/>
              <a:t> or </a:t>
            </a:r>
            <a:r>
              <a:rPr lang="en-IN" b="1" dirty="0"/>
              <a:t>coordinated attacks</a:t>
            </a:r>
            <a:r>
              <a:rPr lang="en-IN" dirty="0"/>
              <a:t>.</a:t>
            </a:r>
          </a:p>
          <a:p>
            <a:pPr lvl="1"/>
            <a:endParaRPr lang="en-IN" dirty="0"/>
          </a:p>
          <a:p>
            <a:r>
              <a:rPr lang="en-IN" b="1" dirty="0" err="1"/>
              <a:t>Behavioral</a:t>
            </a:r>
            <a:r>
              <a:rPr lang="en-IN" b="1" dirty="0"/>
              <a:t> Biometrics</a:t>
            </a:r>
            <a:endParaRPr lang="en-IN" dirty="0"/>
          </a:p>
          <a:p>
            <a:pPr lvl="1"/>
            <a:r>
              <a:rPr lang="en-IN" dirty="0"/>
              <a:t>Tracks typing speed, mouse movement, and mobile gestures to verify legitimate users.</a:t>
            </a:r>
          </a:p>
          <a:p>
            <a:pPr lvl="1"/>
            <a:endParaRPr lang="en-IN" dirty="0"/>
          </a:p>
          <a:p>
            <a:r>
              <a:rPr lang="en-IN" b="1" dirty="0"/>
              <a:t>Anomaly Detection Models</a:t>
            </a:r>
            <a:endParaRPr lang="en-IN" dirty="0"/>
          </a:p>
          <a:p>
            <a:pPr lvl="1"/>
            <a:r>
              <a:rPr lang="en-IN" dirty="0"/>
              <a:t>Unsupervised learning algorithms (e.g., Isolation Forest, Autoencoders) identify patterns that deviate from normal activity.</a:t>
            </a:r>
          </a:p>
          <a:p>
            <a:endParaRPr lang="en-US" dirty="0"/>
          </a:p>
        </p:txBody>
      </p:sp>
    </p:spTree>
    <p:extLst>
      <p:ext uri="{BB962C8B-B14F-4D97-AF65-F5344CB8AC3E}">
        <p14:creationId xmlns:p14="http://schemas.microsoft.com/office/powerpoint/2010/main" val="2550183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7CA2-F6F5-2EB5-697C-6F5863E3AFF4}"/>
              </a:ext>
            </a:extLst>
          </p:cNvPr>
          <p:cNvSpPr>
            <a:spLocks noGrp="1"/>
          </p:cNvSpPr>
          <p:nvPr>
            <p:ph type="title"/>
          </p:nvPr>
        </p:nvSpPr>
        <p:spPr>
          <a:xfrm>
            <a:off x="1316991" y="556913"/>
            <a:ext cx="8072119" cy="845109"/>
          </a:xfrm>
        </p:spPr>
        <p:txBody>
          <a:bodyPr>
            <a:normAutofit fontScale="90000"/>
          </a:bodyPr>
          <a:lstStyle/>
          <a:p>
            <a:r>
              <a:rPr lang="en-US" dirty="0"/>
              <a:t>AI Workflow</a:t>
            </a:r>
            <a:br>
              <a:rPr lang="en-US" dirty="0"/>
            </a:br>
            <a:br>
              <a:rPr lang="en-US" dirty="0"/>
            </a:br>
            <a:endParaRPr lang="en-US" dirty="0"/>
          </a:p>
        </p:txBody>
      </p:sp>
      <p:sp>
        <p:nvSpPr>
          <p:cNvPr id="3" name="Text Placeholder 2">
            <a:extLst>
              <a:ext uri="{FF2B5EF4-FFF2-40B4-BE49-F238E27FC236}">
                <a16:creationId xmlns:a16="http://schemas.microsoft.com/office/drawing/2014/main" id="{0228037F-C2A9-02EB-A5D5-178BC38F7B57}"/>
              </a:ext>
            </a:extLst>
          </p:cNvPr>
          <p:cNvSpPr>
            <a:spLocks noGrp="1"/>
          </p:cNvSpPr>
          <p:nvPr>
            <p:ph type="body" idx="1"/>
          </p:nvPr>
        </p:nvSpPr>
        <p:spPr>
          <a:xfrm>
            <a:off x="1132205" y="979468"/>
            <a:ext cx="8074025" cy="5878532"/>
          </a:xfrm>
        </p:spPr>
        <p:txBody>
          <a:bodyPr>
            <a:normAutofit fontScale="92500" lnSpcReduction="20000"/>
          </a:bodyPr>
          <a:lstStyle/>
          <a:p>
            <a:r>
              <a:rPr lang="en-IN" b="1" dirty="0"/>
              <a:t>1. </a:t>
            </a:r>
            <a:r>
              <a:rPr lang="en-IN" sz="1800" b="1" dirty="0"/>
              <a:t>Data Collection</a:t>
            </a:r>
          </a:p>
          <a:p>
            <a:r>
              <a:rPr lang="en-IN" sz="1800" dirty="0"/>
              <a:t>User account data, device fingerprints, IP address, login history, transaction logs, and </a:t>
            </a:r>
            <a:r>
              <a:rPr lang="en-IN" sz="1800" dirty="0" err="1"/>
              <a:t>behavioral</a:t>
            </a:r>
            <a:r>
              <a:rPr lang="en-IN" sz="1800" dirty="0"/>
              <a:t> data are collected.</a:t>
            </a:r>
          </a:p>
          <a:p>
            <a:endParaRPr lang="en-IN" sz="1800" dirty="0"/>
          </a:p>
          <a:p>
            <a:r>
              <a:rPr lang="en-IN" sz="1800" b="1" dirty="0"/>
              <a:t>2. Feature Engineering</a:t>
            </a:r>
          </a:p>
          <a:p>
            <a:r>
              <a:rPr lang="en-IN" sz="1800" dirty="0"/>
              <a:t>Convert user actions (e.g., trade frequency, transaction size, login time) into measurable numerical features.</a:t>
            </a:r>
          </a:p>
          <a:p>
            <a:endParaRPr lang="en-IN" sz="1800" dirty="0"/>
          </a:p>
          <a:p>
            <a:r>
              <a:rPr lang="en-IN" sz="1800" b="1" dirty="0"/>
              <a:t>3. Model Training</a:t>
            </a:r>
          </a:p>
          <a:p>
            <a:r>
              <a:rPr lang="en-IN" sz="1800" dirty="0"/>
              <a:t>ML algorithms like </a:t>
            </a:r>
            <a:r>
              <a:rPr lang="en-IN" sz="1800" b="1" dirty="0"/>
              <a:t>Random Forest</a:t>
            </a:r>
            <a:r>
              <a:rPr lang="en-IN" sz="1800" dirty="0"/>
              <a:t>, </a:t>
            </a:r>
            <a:r>
              <a:rPr lang="en-IN" sz="1800" b="1" dirty="0"/>
              <a:t>Gradient Boosted Trees</a:t>
            </a:r>
            <a:r>
              <a:rPr lang="en-IN" sz="1800" dirty="0"/>
              <a:t>, or </a:t>
            </a:r>
            <a:r>
              <a:rPr lang="en-IN" sz="1800" b="1" dirty="0"/>
              <a:t>Neural Networks</a:t>
            </a:r>
            <a:r>
              <a:rPr lang="en-IN" sz="1800" dirty="0"/>
              <a:t> are trained using </a:t>
            </a:r>
            <a:r>
              <a:rPr lang="en-IN" sz="1800" dirty="0" err="1"/>
              <a:t>labeled</a:t>
            </a:r>
            <a:r>
              <a:rPr lang="en-IN" sz="1800" dirty="0"/>
              <a:t> datasets of legitimate and fraudulent activity.</a:t>
            </a:r>
          </a:p>
          <a:p>
            <a:endParaRPr lang="en-IN" sz="1800" dirty="0"/>
          </a:p>
          <a:p>
            <a:r>
              <a:rPr lang="en-IN" sz="1800" b="1" dirty="0"/>
              <a:t>4. Real-Time Detection</a:t>
            </a:r>
          </a:p>
          <a:p>
            <a:r>
              <a:rPr lang="en-IN" sz="1800" dirty="0"/>
              <a:t>Each new action (login, trade, withdrawal) is scored by the AI model for fraud probability.</a:t>
            </a:r>
          </a:p>
          <a:p>
            <a:endParaRPr lang="en-IN" sz="1800" dirty="0"/>
          </a:p>
          <a:p>
            <a:r>
              <a:rPr lang="en-IN" sz="1800" b="1" dirty="0"/>
              <a:t>5. Risk Scoring and Action</a:t>
            </a:r>
          </a:p>
          <a:p>
            <a:r>
              <a:rPr lang="en-IN" sz="1800" dirty="0"/>
              <a:t>Low-risk: Proceed</a:t>
            </a:r>
          </a:p>
          <a:p>
            <a:r>
              <a:rPr lang="en-IN" sz="1800" dirty="0"/>
              <a:t>Medium-risk: Request additional verification (OTP, ID check)</a:t>
            </a:r>
          </a:p>
          <a:p>
            <a:r>
              <a:rPr lang="en-IN" sz="1800" dirty="0"/>
              <a:t>High-risk: Temporarily block or report the transaction</a:t>
            </a:r>
          </a:p>
          <a:p>
            <a:endParaRPr lang="en-US" dirty="0"/>
          </a:p>
        </p:txBody>
      </p:sp>
    </p:spTree>
    <p:extLst>
      <p:ext uri="{BB962C8B-B14F-4D97-AF65-F5344CB8AC3E}">
        <p14:creationId xmlns:p14="http://schemas.microsoft.com/office/powerpoint/2010/main" val="587647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CE8D-D29D-1C86-EE6E-1B947013B61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13A602E-C2B3-5F7E-68F1-F043106BD17D}"/>
              </a:ext>
            </a:extLst>
          </p:cNvPr>
          <p:cNvSpPr>
            <a:spLocks noGrp="1"/>
          </p:cNvSpPr>
          <p:nvPr>
            <p:ph type="body" idx="1"/>
          </p:nvPr>
        </p:nvSpPr>
        <p:spPr>
          <a:xfrm>
            <a:off x="2059941" y="1616709"/>
            <a:ext cx="8074025" cy="4616648"/>
          </a:xfrm>
        </p:spPr>
        <p:txBody>
          <a:bodyPr>
            <a:normAutofit fontScale="70000" lnSpcReduction="20000"/>
          </a:bodyPr>
          <a:lstStyle/>
          <a:p>
            <a:r>
              <a:rPr lang="en-IN" b="1" dirty="0"/>
              <a:t>Advantages</a:t>
            </a:r>
          </a:p>
          <a:p>
            <a:endParaRPr lang="en-IN" b="1" dirty="0"/>
          </a:p>
          <a:p>
            <a:pPr marL="342900" indent="-342900">
              <a:buFont typeface="Wingdings" pitchFamily="2" charset="2"/>
              <a:buChar char="Ø"/>
            </a:pPr>
            <a:r>
              <a:rPr lang="en-IN" dirty="0"/>
              <a:t>Real-time fraud detection and prevention</a:t>
            </a:r>
          </a:p>
          <a:p>
            <a:pPr marL="342900" indent="-342900">
              <a:buFont typeface="Wingdings" pitchFamily="2" charset="2"/>
              <a:buChar char="Ø"/>
            </a:pPr>
            <a:r>
              <a:rPr lang="en-IN" dirty="0"/>
              <a:t>Reduced manual review workload</a:t>
            </a:r>
          </a:p>
          <a:p>
            <a:pPr marL="342900" indent="-342900">
              <a:buFont typeface="Wingdings" pitchFamily="2" charset="2"/>
              <a:buChar char="Ø"/>
            </a:pPr>
            <a:r>
              <a:rPr lang="en-IN" dirty="0"/>
              <a:t>Continuous learning from new fraud patterns</a:t>
            </a:r>
          </a:p>
          <a:p>
            <a:pPr marL="342900" indent="-342900">
              <a:buFont typeface="Wingdings" pitchFamily="2" charset="2"/>
              <a:buChar char="Ø"/>
            </a:pPr>
            <a:r>
              <a:rPr lang="en-IN" dirty="0"/>
              <a:t>Protects users and improves trust</a:t>
            </a:r>
          </a:p>
          <a:p>
            <a:br>
              <a:rPr lang="en-IN" dirty="0"/>
            </a:br>
            <a:endParaRPr lang="en-IN" dirty="0"/>
          </a:p>
          <a:p>
            <a:r>
              <a:rPr lang="en-IN" b="1" dirty="0"/>
              <a:t>Challenges</a:t>
            </a:r>
          </a:p>
          <a:p>
            <a:endParaRPr lang="en-IN" b="1" dirty="0"/>
          </a:p>
          <a:p>
            <a:pPr marL="342900" indent="-342900">
              <a:buFont typeface="Wingdings" pitchFamily="2" charset="2"/>
              <a:buChar char="Ø"/>
            </a:pPr>
            <a:r>
              <a:rPr lang="en-IN" b="1" dirty="0"/>
              <a:t>Evolving fraud tactics</a:t>
            </a:r>
            <a:r>
              <a:rPr lang="en-IN" dirty="0"/>
              <a:t> require frequent model retraining</a:t>
            </a:r>
          </a:p>
          <a:p>
            <a:pPr marL="342900" indent="-342900">
              <a:buFont typeface="Wingdings" pitchFamily="2" charset="2"/>
              <a:buChar char="Ø"/>
            </a:pPr>
            <a:r>
              <a:rPr lang="en-IN" b="1" dirty="0"/>
              <a:t>Data privacy and ethical AI</a:t>
            </a:r>
            <a:r>
              <a:rPr lang="en-IN" dirty="0"/>
              <a:t> concerns</a:t>
            </a:r>
          </a:p>
          <a:p>
            <a:pPr marL="342900" indent="-342900">
              <a:buFont typeface="Wingdings" pitchFamily="2" charset="2"/>
              <a:buChar char="Ø"/>
            </a:pPr>
            <a:r>
              <a:rPr lang="en-IN" b="1" dirty="0"/>
              <a:t>False positives</a:t>
            </a:r>
            <a:r>
              <a:rPr lang="en-IN" dirty="0"/>
              <a:t> may block legitimate users</a:t>
            </a:r>
          </a:p>
          <a:p>
            <a:pPr marL="342900" indent="-342900">
              <a:buFont typeface="Wingdings" pitchFamily="2" charset="2"/>
              <a:buChar char="Ø"/>
            </a:pPr>
            <a:r>
              <a:rPr lang="en-IN" b="1" dirty="0"/>
              <a:t>Scalability</a:t>
            </a:r>
            <a:r>
              <a:rPr lang="en-IN" dirty="0"/>
              <a:t> as transaction volume grows</a:t>
            </a:r>
          </a:p>
          <a:p>
            <a:endParaRPr lang="en-US" dirty="0"/>
          </a:p>
        </p:txBody>
      </p:sp>
    </p:spTree>
    <p:extLst>
      <p:ext uri="{BB962C8B-B14F-4D97-AF65-F5344CB8AC3E}">
        <p14:creationId xmlns:p14="http://schemas.microsoft.com/office/powerpoint/2010/main" val="3827314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0BFC-63A0-DBC8-15F4-534D7AFFCD49}"/>
              </a:ext>
            </a:extLst>
          </p:cNvPr>
          <p:cNvSpPr>
            <a:spLocks noGrp="1"/>
          </p:cNvSpPr>
          <p:nvPr>
            <p:ph type="title"/>
          </p:nvPr>
        </p:nvSpPr>
        <p:spPr>
          <a:xfrm>
            <a:off x="2059941" y="145492"/>
            <a:ext cx="8072119" cy="615553"/>
          </a:xfrm>
        </p:spPr>
        <p:txBody>
          <a:bodyPr>
            <a:normAutofit fontScale="90000"/>
          </a:bodyPr>
          <a:lstStyle/>
          <a:p>
            <a:r>
              <a:rPr lang="en-US" dirty="0"/>
              <a:t>IBM Watson</a:t>
            </a:r>
          </a:p>
        </p:txBody>
      </p:sp>
      <p:sp>
        <p:nvSpPr>
          <p:cNvPr id="3" name="Text Placeholder 2">
            <a:extLst>
              <a:ext uri="{FF2B5EF4-FFF2-40B4-BE49-F238E27FC236}">
                <a16:creationId xmlns:a16="http://schemas.microsoft.com/office/drawing/2014/main" id="{4013AE50-8ADD-47FD-29F4-481766C2224F}"/>
              </a:ext>
            </a:extLst>
          </p:cNvPr>
          <p:cNvSpPr>
            <a:spLocks noGrp="1"/>
          </p:cNvSpPr>
          <p:nvPr>
            <p:ph type="body" idx="1"/>
          </p:nvPr>
        </p:nvSpPr>
        <p:spPr>
          <a:xfrm>
            <a:off x="1981201" y="990601"/>
            <a:ext cx="8074025" cy="4924425"/>
          </a:xfrm>
        </p:spPr>
        <p:txBody>
          <a:bodyPr>
            <a:normAutofit fontScale="77500" lnSpcReduction="20000"/>
          </a:bodyPr>
          <a:lstStyle/>
          <a:p>
            <a:r>
              <a:rPr lang="en-IN" b="1" dirty="0"/>
              <a:t>IBM Watson</a:t>
            </a:r>
            <a:r>
              <a:rPr lang="en-IN" dirty="0"/>
              <a:t> is a powerful </a:t>
            </a:r>
            <a:r>
              <a:rPr lang="en-IN" b="1" dirty="0"/>
              <a:t>AI platform</a:t>
            </a:r>
            <a:r>
              <a:rPr lang="en-IN" dirty="0"/>
              <a:t> developed by </a:t>
            </a:r>
            <a:r>
              <a:rPr lang="en-IN" b="1" dirty="0"/>
              <a:t>IBM</a:t>
            </a:r>
            <a:r>
              <a:rPr lang="en-IN" dirty="0"/>
              <a:t> that uses </a:t>
            </a:r>
            <a:r>
              <a:rPr lang="en-IN" b="1" dirty="0"/>
              <a:t>Natural Language Processing (NLP)</a:t>
            </a:r>
            <a:r>
              <a:rPr lang="en-IN" dirty="0"/>
              <a:t>, </a:t>
            </a:r>
            <a:r>
              <a:rPr lang="en-IN" b="1" dirty="0"/>
              <a:t>Machine Learning (ML)</a:t>
            </a:r>
            <a:r>
              <a:rPr lang="en-IN" dirty="0"/>
              <a:t>, and </a:t>
            </a:r>
            <a:r>
              <a:rPr lang="en-IN" b="1" dirty="0"/>
              <a:t>Data Analytics</a:t>
            </a:r>
            <a:r>
              <a:rPr lang="en-IN" dirty="0"/>
              <a:t> to understand, reason, and learn from large volumes of structured and unstructured data.</a:t>
            </a:r>
          </a:p>
          <a:p>
            <a:endParaRPr lang="en-IN" dirty="0"/>
          </a:p>
          <a:p>
            <a:r>
              <a:rPr lang="en-IN" dirty="0"/>
              <a:t>It became widely known after defeating human champions on the quiz show </a:t>
            </a:r>
            <a:r>
              <a:rPr lang="en-IN" b="1" dirty="0"/>
              <a:t>Jeopardy!</a:t>
            </a:r>
            <a:r>
              <a:rPr lang="en-IN" dirty="0"/>
              <a:t> in 2011 — showcasing its advanced language understanding and reasoning capabilities.</a:t>
            </a:r>
          </a:p>
          <a:p>
            <a:endParaRPr lang="en-IN" dirty="0"/>
          </a:p>
          <a:p>
            <a:r>
              <a:rPr lang="en-IN" b="1" dirty="0"/>
              <a:t>Overview</a:t>
            </a:r>
          </a:p>
          <a:p>
            <a:endParaRPr lang="en-IN" b="1" dirty="0"/>
          </a:p>
          <a:p>
            <a:r>
              <a:rPr lang="en-IN" dirty="0"/>
              <a:t>IBM Watson is designed to </a:t>
            </a:r>
            <a:r>
              <a:rPr lang="en-IN" b="1" dirty="0" err="1"/>
              <a:t>analyze</a:t>
            </a:r>
            <a:r>
              <a:rPr lang="en-IN" b="1" dirty="0"/>
              <a:t> data, extract insights, answer questions</a:t>
            </a:r>
            <a:r>
              <a:rPr lang="en-IN" dirty="0"/>
              <a:t>, and </a:t>
            </a:r>
            <a:r>
              <a:rPr lang="en-IN" b="1" dirty="0"/>
              <a:t>assist in decision-making</a:t>
            </a:r>
            <a:r>
              <a:rPr lang="en-IN" dirty="0"/>
              <a:t> across various domains such as </a:t>
            </a:r>
            <a:r>
              <a:rPr lang="en-IN" b="1" dirty="0"/>
              <a:t>healthcare, finance, education, and customer service</a:t>
            </a:r>
            <a:r>
              <a:rPr lang="en-IN" dirty="0"/>
              <a:t>.</a:t>
            </a:r>
          </a:p>
          <a:p>
            <a:endParaRPr lang="en-IN" dirty="0"/>
          </a:p>
          <a:p>
            <a:endParaRPr lang="en-US" dirty="0"/>
          </a:p>
        </p:txBody>
      </p:sp>
    </p:spTree>
    <p:extLst>
      <p:ext uri="{BB962C8B-B14F-4D97-AF65-F5344CB8AC3E}">
        <p14:creationId xmlns:p14="http://schemas.microsoft.com/office/powerpoint/2010/main" val="1726982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2A4FF-2ED5-5442-E9A2-296378C43F50}"/>
              </a:ext>
            </a:extLst>
          </p:cNvPr>
          <p:cNvSpPr>
            <a:spLocks noGrp="1"/>
          </p:cNvSpPr>
          <p:nvPr>
            <p:ph type="title"/>
          </p:nvPr>
        </p:nvSpPr>
        <p:spPr>
          <a:xfrm>
            <a:off x="2059941" y="145492"/>
            <a:ext cx="8072119" cy="1846659"/>
          </a:xfrm>
        </p:spPr>
        <p:txBody>
          <a:bodyPr>
            <a:normAutofit fontScale="90000"/>
          </a:bodyPr>
          <a:lstStyle/>
          <a:p>
            <a:r>
              <a:rPr lang="en-US" dirty="0"/>
              <a:t>Core Technologies Used</a:t>
            </a:r>
            <a:br>
              <a:rPr lang="en-US" dirty="0"/>
            </a:br>
            <a:br>
              <a:rPr lang="en-US" dirty="0"/>
            </a:br>
            <a:endParaRPr lang="en-US" dirty="0"/>
          </a:p>
        </p:txBody>
      </p:sp>
      <p:sp>
        <p:nvSpPr>
          <p:cNvPr id="3" name="Text Placeholder 2">
            <a:extLst>
              <a:ext uri="{FF2B5EF4-FFF2-40B4-BE49-F238E27FC236}">
                <a16:creationId xmlns:a16="http://schemas.microsoft.com/office/drawing/2014/main" id="{9ED1C58C-542F-03F8-C4E3-401BFE97D18C}"/>
              </a:ext>
            </a:extLst>
          </p:cNvPr>
          <p:cNvSpPr>
            <a:spLocks noGrp="1"/>
          </p:cNvSpPr>
          <p:nvPr>
            <p:ph type="body" idx="1"/>
          </p:nvPr>
        </p:nvSpPr>
        <p:spPr>
          <a:xfrm>
            <a:off x="2052173" y="1259176"/>
            <a:ext cx="8074025" cy="5447645"/>
          </a:xfrm>
        </p:spPr>
        <p:txBody>
          <a:bodyPr>
            <a:normAutofit fontScale="77500" lnSpcReduction="20000"/>
          </a:bodyPr>
          <a:lstStyle/>
          <a:p>
            <a:r>
              <a:rPr lang="en-IN" b="1" dirty="0"/>
              <a:t>Natural Language Processing (NLP)</a:t>
            </a:r>
            <a:endParaRPr lang="en-IN" dirty="0"/>
          </a:p>
          <a:p>
            <a:pPr lvl="1"/>
            <a:r>
              <a:rPr lang="en-IN" dirty="0"/>
              <a:t>Understands and interprets human language — questions, documents, and conversations.</a:t>
            </a:r>
          </a:p>
          <a:p>
            <a:pPr lvl="1"/>
            <a:r>
              <a:rPr lang="en-IN" dirty="0"/>
              <a:t>Performs entity recognition, sentiment analysis, and question answering.</a:t>
            </a:r>
          </a:p>
          <a:p>
            <a:pPr lvl="1"/>
            <a:endParaRPr lang="en-IN" dirty="0"/>
          </a:p>
          <a:p>
            <a:r>
              <a:rPr lang="en-IN" b="1" dirty="0"/>
              <a:t>Machine Learning (ML)</a:t>
            </a:r>
            <a:endParaRPr lang="en-IN" dirty="0"/>
          </a:p>
          <a:p>
            <a:pPr lvl="1"/>
            <a:r>
              <a:rPr lang="en-IN" dirty="0"/>
              <a:t>Learns from data patterns to make predictions or recommendations.</a:t>
            </a:r>
          </a:p>
          <a:p>
            <a:pPr lvl="1"/>
            <a:r>
              <a:rPr lang="en-IN" dirty="0"/>
              <a:t>Continuously improves through feedback.</a:t>
            </a:r>
          </a:p>
          <a:p>
            <a:pPr lvl="1"/>
            <a:endParaRPr lang="en-IN" dirty="0"/>
          </a:p>
          <a:p>
            <a:r>
              <a:rPr lang="en-IN" b="1" dirty="0"/>
              <a:t>Deep Learning</a:t>
            </a:r>
            <a:endParaRPr lang="en-IN" dirty="0"/>
          </a:p>
          <a:p>
            <a:pPr lvl="1"/>
            <a:r>
              <a:rPr lang="en-IN" dirty="0"/>
              <a:t>Uses neural networks for advanced text, speech, and image analysis.</a:t>
            </a:r>
          </a:p>
          <a:p>
            <a:pPr lvl="1"/>
            <a:endParaRPr lang="en-IN" dirty="0"/>
          </a:p>
          <a:p>
            <a:r>
              <a:rPr lang="en-IN" b="1" dirty="0"/>
              <a:t>Cognitive Computing</a:t>
            </a:r>
            <a:endParaRPr lang="en-IN" dirty="0"/>
          </a:p>
          <a:p>
            <a:pPr lvl="1"/>
            <a:r>
              <a:rPr lang="en-IN" dirty="0"/>
              <a:t>Mimics human thought processes — understanding context, ambiguity, and intent.</a:t>
            </a:r>
          </a:p>
          <a:p>
            <a:pPr lvl="1"/>
            <a:endParaRPr lang="en-IN" dirty="0"/>
          </a:p>
          <a:p>
            <a:r>
              <a:rPr lang="en-IN" b="1" dirty="0"/>
              <a:t>Big Data Analytics</a:t>
            </a:r>
            <a:endParaRPr lang="en-IN" dirty="0"/>
          </a:p>
          <a:p>
            <a:pPr lvl="1"/>
            <a:r>
              <a:rPr lang="en-IN" dirty="0"/>
              <a:t>Processes massive data volumes to extract meaningful insights.</a:t>
            </a:r>
          </a:p>
          <a:p>
            <a:endParaRPr lang="en-US" dirty="0"/>
          </a:p>
        </p:txBody>
      </p:sp>
    </p:spTree>
    <p:extLst>
      <p:ext uri="{BB962C8B-B14F-4D97-AF65-F5344CB8AC3E}">
        <p14:creationId xmlns:p14="http://schemas.microsoft.com/office/powerpoint/2010/main" val="1969776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B58D-0425-C604-A776-E8521A6A369C}"/>
              </a:ext>
            </a:extLst>
          </p:cNvPr>
          <p:cNvSpPr>
            <a:spLocks noGrp="1"/>
          </p:cNvSpPr>
          <p:nvPr>
            <p:ph type="title"/>
          </p:nvPr>
        </p:nvSpPr>
        <p:spPr>
          <a:xfrm>
            <a:off x="2059941" y="145492"/>
            <a:ext cx="8072119" cy="615553"/>
          </a:xfrm>
        </p:spPr>
        <p:txBody>
          <a:bodyPr>
            <a:normAutofit fontScale="90000"/>
          </a:bodyPr>
          <a:lstStyle/>
          <a:p>
            <a:r>
              <a:rPr lang="en-US" dirty="0"/>
              <a:t>Major Components / Services</a:t>
            </a:r>
          </a:p>
        </p:txBody>
      </p:sp>
      <p:graphicFrame>
        <p:nvGraphicFramePr>
          <p:cNvPr id="4" name="Table 3">
            <a:extLst>
              <a:ext uri="{FF2B5EF4-FFF2-40B4-BE49-F238E27FC236}">
                <a16:creationId xmlns:a16="http://schemas.microsoft.com/office/drawing/2014/main" id="{DF851E7B-40D1-DB02-7BFD-E91728F48D2E}"/>
              </a:ext>
            </a:extLst>
          </p:cNvPr>
          <p:cNvGraphicFramePr>
            <a:graphicFrameLocks noGrp="1"/>
          </p:cNvGraphicFramePr>
          <p:nvPr/>
        </p:nvGraphicFramePr>
        <p:xfrm>
          <a:off x="2040450" y="1371600"/>
          <a:ext cx="8074024" cy="4846320"/>
        </p:xfrm>
        <a:graphic>
          <a:graphicData uri="http://schemas.openxmlformats.org/drawingml/2006/table">
            <a:tbl>
              <a:tblPr/>
              <a:tblGrid>
                <a:gridCol w="4037012">
                  <a:extLst>
                    <a:ext uri="{9D8B030D-6E8A-4147-A177-3AD203B41FA5}">
                      <a16:colId xmlns:a16="http://schemas.microsoft.com/office/drawing/2014/main" val="1363181644"/>
                    </a:ext>
                  </a:extLst>
                </a:gridCol>
                <a:gridCol w="4037012">
                  <a:extLst>
                    <a:ext uri="{9D8B030D-6E8A-4147-A177-3AD203B41FA5}">
                      <a16:colId xmlns:a16="http://schemas.microsoft.com/office/drawing/2014/main" val="2732306575"/>
                    </a:ext>
                  </a:extLst>
                </a:gridCol>
              </a:tblGrid>
              <a:tr h="365760">
                <a:tc>
                  <a:txBody>
                    <a:bodyPr/>
                    <a:lstStyle/>
                    <a:p>
                      <a:pPr>
                        <a:buNone/>
                      </a:pPr>
                      <a:r>
                        <a:rPr lang="en-IN" sz="1800"/>
                        <a:t>Component</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1627438905"/>
                  </a:ext>
                </a:extLst>
              </a:tr>
              <a:tr h="640080">
                <a:tc>
                  <a:txBody>
                    <a:bodyPr/>
                    <a:lstStyle/>
                    <a:p>
                      <a:pPr>
                        <a:buNone/>
                      </a:pPr>
                      <a:r>
                        <a:rPr lang="en-IN" sz="1800" b="1" dirty="0"/>
                        <a:t>Watson Assistant</a:t>
                      </a:r>
                      <a:endParaRPr lang="en-IN" sz="1800" dirty="0"/>
                    </a:p>
                  </a:txBody>
                  <a:tcPr anchor="ctr">
                    <a:lnL>
                      <a:noFill/>
                    </a:lnL>
                    <a:lnR>
                      <a:noFill/>
                    </a:lnR>
                    <a:lnT>
                      <a:noFill/>
                    </a:lnT>
                    <a:lnB>
                      <a:noFill/>
                    </a:lnB>
                    <a:noFill/>
                  </a:tcPr>
                </a:tc>
                <a:tc>
                  <a:txBody>
                    <a:bodyPr/>
                    <a:lstStyle/>
                    <a:p>
                      <a:pPr>
                        <a:buNone/>
                      </a:pPr>
                      <a:r>
                        <a:rPr lang="en-IN" sz="1800"/>
                        <a:t>AI-powered chatbot for conversational interfaces.</a:t>
                      </a:r>
                    </a:p>
                  </a:txBody>
                  <a:tcPr anchor="ctr">
                    <a:lnL>
                      <a:noFill/>
                    </a:lnL>
                    <a:lnR>
                      <a:noFill/>
                    </a:lnR>
                    <a:lnT>
                      <a:noFill/>
                    </a:lnT>
                    <a:lnB>
                      <a:noFill/>
                    </a:lnB>
                    <a:noFill/>
                  </a:tcPr>
                </a:tc>
                <a:extLst>
                  <a:ext uri="{0D108BD9-81ED-4DB2-BD59-A6C34878D82A}">
                    <a16:rowId xmlns:a16="http://schemas.microsoft.com/office/drawing/2014/main" val="1021678564"/>
                  </a:ext>
                </a:extLst>
              </a:tr>
              <a:tr h="640080">
                <a:tc>
                  <a:txBody>
                    <a:bodyPr/>
                    <a:lstStyle/>
                    <a:p>
                      <a:pPr>
                        <a:buNone/>
                      </a:pPr>
                      <a:r>
                        <a:rPr lang="en-IN" sz="1800" b="1"/>
                        <a:t>Watson Discovery</a:t>
                      </a:r>
                      <a:endParaRPr lang="en-IN" sz="1800"/>
                    </a:p>
                  </a:txBody>
                  <a:tcPr anchor="ctr">
                    <a:lnL>
                      <a:noFill/>
                    </a:lnL>
                    <a:lnR>
                      <a:noFill/>
                    </a:lnR>
                    <a:lnT>
                      <a:noFill/>
                    </a:lnT>
                    <a:lnB>
                      <a:noFill/>
                    </a:lnB>
                    <a:noFill/>
                  </a:tcPr>
                </a:tc>
                <a:tc>
                  <a:txBody>
                    <a:bodyPr/>
                    <a:lstStyle/>
                    <a:p>
                      <a:pPr>
                        <a:buNone/>
                      </a:pPr>
                      <a:r>
                        <a:rPr lang="en-IN" sz="1800"/>
                        <a:t>Intelligent document search and knowledge mining.</a:t>
                      </a:r>
                    </a:p>
                  </a:txBody>
                  <a:tcPr anchor="ctr">
                    <a:lnL>
                      <a:noFill/>
                    </a:lnL>
                    <a:lnR>
                      <a:noFill/>
                    </a:lnR>
                    <a:lnT>
                      <a:noFill/>
                    </a:lnT>
                    <a:lnB>
                      <a:noFill/>
                    </a:lnB>
                    <a:noFill/>
                  </a:tcPr>
                </a:tc>
                <a:extLst>
                  <a:ext uri="{0D108BD9-81ED-4DB2-BD59-A6C34878D82A}">
                    <a16:rowId xmlns:a16="http://schemas.microsoft.com/office/drawing/2014/main" val="1743085750"/>
                  </a:ext>
                </a:extLst>
              </a:tr>
              <a:tr h="640080">
                <a:tc>
                  <a:txBody>
                    <a:bodyPr/>
                    <a:lstStyle/>
                    <a:p>
                      <a:pPr>
                        <a:buNone/>
                      </a:pPr>
                      <a:r>
                        <a:rPr lang="en-IN" sz="1800" b="1"/>
                        <a:t>Watson Studio</a:t>
                      </a:r>
                      <a:endParaRPr lang="en-IN" sz="1800"/>
                    </a:p>
                  </a:txBody>
                  <a:tcPr anchor="ctr">
                    <a:lnL>
                      <a:noFill/>
                    </a:lnL>
                    <a:lnR>
                      <a:noFill/>
                    </a:lnR>
                    <a:lnT>
                      <a:noFill/>
                    </a:lnT>
                    <a:lnB>
                      <a:noFill/>
                    </a:lnB>
                    <a:noFill/>
                  </a:tcPr>
                </a:tc>
                <a:tc>
                  <a:txBody>
                    <a:bodyPr/>
                    <a:lstStyle/>
                    <a:p>
                      <a:pPr>
                        <a:buNone/>
                      </a:pPr>
                      <a:r>
                        <a:rPr lang="en-IN" sz="1800"/>
                        <a:t>Platform for building, training, and deploying ML models.</a:t>
                      </a:r>
                    </a:p>
                  </a:txBody>
                  <a:tcPr anchor="ctr">
                    <a:lnL>
                      <a:noFill/>
                    </a:lnL>
                    <a:lnR>
                      <a:noFill/>
                    </a:lnR>
                    <a:lnT>
                      <a:noFill/>
                    </a:lnT>
                    <a:lnB>
                      <a:noFill/>
                    </a:lnB>
                    <a:noFill/>
                  </a:tcPr>
                </a:tc>
                <a:extLst>
                  <a:ext uri="{0D108BD9-81ED-4DB2-BD59-A6C34878D82A}">
                    <a16:rowId xmlns:a16="http://schemas.microsoft.com/office/drawing/2014/main" val="814577394"/>
                  </a:ext>
                </a:extLst>
              </a:tr>
              <a:tr h="640080">
                <a:tc>
                  <a:txBody>
                    <a:bodyPr/>
                    <a:lstStyle/>
                    <a:p>
                      <a:pPr>
                        <a:buNone/>
                      </a:pPr>
                      <a:r>
                        <a:rPr lang="en-IN" sz="1800" b="1"/>
                        <a:t>Watson Natural Language Understanding (NLU)</a:t>
                      </a:r>
                      <a:endParaRPr lang="en-IN" sz="1800"/>
                    </a:p>
                  </a:txBody>
                  <a:tcPr anchor="ctr">
                    <a:lnL>
                      <a:noFill/>
                    </a:lnL>
                    <a:lnR>
                      <a:noFill/>
                    </a:lnR>
                    <a:lnT>
                      <a:noFill/>
                    </a:lnT>
                    <a:lnB>
                      <a:noFill/>
                    </a:lnB>
                    <a:noFill/>
                  </a:tcPr>
                </a:tc>
                <a:tc>
                  <a:txBody>
                    <a:bodyPr/>
                    <a:lstStyle/>
                    <a:p>
                      <a:pPr>
                        <a:buNone/>
                      </a:pPr>
                      <a:r>
                        <a:rPr lang="en-IN" sz="1800"/>
                        <a:t>Text analysis — sentiment, emotion, and entity detection.</a:t>
                      </a:r>
                    </a:p>
                  </a:txBody>
                  <a:tcPr anchor="ctr">
                    <a:lnL>
                      <a:noFill/>
                    </a:lnL>
                    <a:lnR>
                      <a:noFill/>
                    </a:lnR>
                    <a:lnT>
                      <a:noFill/>
                    </a:lnT>
                    <a:lnB>
                      <a:noFill/>
                    </a:lnB>
                    <a:noFill/>
                  </a:tcPr>
                </a:tc>
                <a:extLst>
                  <a:ext uri="{0D108BD9-81ED-4DB2-BD59-A6C34878D82A}">
                    <a16:rowId xmlns:a16="http://schemas.microsoft.com/office/drawing/2014/main" val="1868241674"/>
                  </a:ext>
                </a:extLst>
              </a:tr>
              <a:tr h="365760">
                <a:tc>
                  <a:txBody>
                    <a:bodyPr/>
                    <a:lstStyle/>
                    <a:p>
                      <a:pPr>
                        <a:buNone/>
                      </a:pPr>
                      <a:r>
                        <a:rPr lang="en-IN" sz="1800" b="1"/>
                        <a:t>Watson Speech to Text / Text to Speech</a:t>
                      </a:r>
                      <a:endParaRPr lang="en-IN" sz="1800"/>
                    </a:p>
                  </a:txBody>
                  <a:tcPr anchor="ctr">
                    <a:lnL>
                      <a:noFill/>
                    </a:lnL>
                    <a:lnR>
                      <a:noFill/>
                    </a:lnR>
                    <a:lnT>
                      <a:noFill/>
                    </a:lnT>
                    <a:lnB>
                      <a:noFill/>
                    </a:lnB>
                    <a:noFill/>
                  </a:tcPr>
                </a:tc>
                <a:tc>
                  <a:txBody>
                    <a:bodyPr/>
                    <a:lstStyle/>
                    <a:p>
                      <a:pPr>
                        <a:buNone/>
                      </a:pPr>
                      <a:r>
                        <a:rPr lang="en-IN" sz="1800"/>
                        <a:t>Converts voice to text and vice versa.</a:t>
                      </a:r>
                    </a:p>
                  </a:txBody>
                  <a:tcPr anchor="ctr">
                    <a:lnL>
                      <a:noFill/>
                    </a:lnL>
                    <a:lnR>
                      <a:noFill/>
                    </a:lnR>
                    <a:lnT>
                      <a:noFill/>
                    </a:lnT>
                    <a:lnB>
                      <a:noFill/>
                    </a:lnB>
                    <a:noFill/>
                  </a:tcPr>
                </a:tc>
                <a:extLst>
                  <a:ext uri="{0D108BD9-81ED-4DB2-BD59-A6C34878D82A}">
                    <a16:rowId xmlns:a16="http://schemas.microsoft.com/office/drawing/2014/main" val="2340749260"/>
                  </a:ext>
                </a:extLst>
              </a:tr>
              <a:tr h="640080">
                <a:tc>
                  <a:txBody>
                    <a:bodyPr/>
                    <a:lstStyle/>
                    <a:p>
                      <a:pPr>
                        <a:buNone/>
                      </a:pPr>
                      <a:r>
                        <a:rPr lang="en-IN" sz="1800" b="1"/>
                        <a:t>Watson Machine Learning (WML)</a:t>
                      </a:r>
                      <a:endParaRPr lang="en-IN" sz="1800"/>
                    </a:p>
                  </a:txBody>
                  <a:tcPr anchor="ctr">
                    <a:lnL>
                      <a:noFill/>
                    </a:lnL>
                    <a:lnR>
                      <a:noFill/>
                    </a:lnR>
                    <a:lnT>
                      <a:noFill/>
                    </a:lnT>
                    <a:lnB>
                      <a:noFill/>
                    </a:lnB>
                    <a:noFill/>
                  </a:tcPr>
                </a:tc>
                <a:tc>
                  <a:txBody>
                    <a:bodyPr/>
                    <a:lstStyle/>
                    <a:p>
                      <a:pPr>
                        <a:buNone/>
                      </a:pPr>
                      <a:r>
                        <a:rPr lang="en-IN" sz="1800"/>
                        <a:t>Model management and deployment in the cloud.</a:t>
                      </a:r>
                    </a:p>
                  </a:txBody>
                  <a:tcPr anchor="ctr">
                    <a:lnL>
                      <a:noFill/>
                    </a:lnL>
                    <a:lnR>
                      <a:noFill/>
                    </a:lnR>
                    <a:lnT>
                      <a:noFill/>
                    </a:lnT>
                    <a:lnB>
                      <a:noFill/>
                    </a:lnB>
                    <a:noFill/>
                  </a:tcPr>
                </a:tc>
                <a:extLst>
                  <a:ext uri="{0D108BD9-81ED-4DB2-BD59-A6C34878D82A}">
                    <a16:rowId xmlns:a16="http://schemas.microsoft.com/office/drawing/2014/main" val="4093457553"/>
                  </a:ext>
                </a:extLst>
              </a:tr>
              <a:tr h="640080">
                <a:tc>
                  <a:txBody>
                    <a:bodyPr/>
                    <a:lstStyle/>
                    <a:p>
                      <a:pPr>
                        <a:buNone/>
                      </a:pPr>
                      <a:r>
                        <a:rPr lang="en-IN" sz="1800" b="1"/>
                        <a:t>Watson Knowledge Catalog</a:t>
                      </a:r>
                      <a:endParaRPr lang="en-IN" sz="1800"/>
                    </a:p>
                  </a:txBody>
                  <a:tcPr anchor="ctr">
                    <a:lnL>
                      <a:noFill/>
                    </a:lnL>
                    <a:lnR>
                      <a:noFill/>
                    </a:lnR>
                    <a:lnT>
                      <a:noFill/>
                    </a:lnT>
                    <a:lnB>
                      <a:noFill/>
                    </a:lnB>
                    <a:noFill/>
                  </a:tcPr>
                </a:tc>
                <a:tc>
                  <a:txBody>
                    <a:bodyPr/>
                    <a:lstStyle/>
                    <a:p>
                      <a:pPr>
                        <a:buNone/>
                      </a:pPr>
                      <a:r>
                        <a:rPr lang="en-IN" sz="1800" dirty="0"/>
                        <a:t>Data governance and metadata management.</a:t>
                      </a:r>
                    </a:p>
                  </a:txBody>
                  <a:tcPr anchor="ctr">
                    <a:lnL>
                      <a:noFill/>
                    </a:lnL>
                    <a:lnR>
                      <a:noFill/>
                    </a:lnR>
                    <a:lnT>
                      <a:noFill/>
                    </a:lnT>
                    <a:lnB>
                      <a:noFill/>
                    </a:lnB>
                    <a:noFill/>
                  </a:tcPr>
                </a:tc>
                <a:extLst>
                  <a:ext uri="{0D108BD9-81ED-4DB2-BD59-A6C34878D82A}">
                    <a16:rowId xmlns:a16="http://schemas.microsoft.com/office/drawing/2014/main" val="3078703676"/>
                  </a:ext>
                </a:extLst>
              </a:tr>
            </a:tbl>
          </a:graphicData>
        </a:graphic>
      </p:graphicFrame>
    </p:spTree>
    <p:extLst>
      <p:ext uri="{BB962C8B-B14F-4D97-AF65-F5344CB8AC3E}">
        <p14:creationId xmlns:p14="http://schemas.microsoft.com/office/powerpoint/2010/main" val="1527704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F420-3B28-225D-10BD-A8DEFCAFCAB7}"/>
              </a:ext>
            </a:extLst>
          </p:cNvPr>
          <p:cNvSpPr>
            <a:spLocks noGrp="1"/>
          </p:cNvSpPr>
          <p:nvPr>
            <p:ph type="title"/>
          </p:nvPr>
        </p:nvSpPr>
        <p:spPr>
          <a:xfrm>
            <a:off x="2059941" y="145492"/>
            <a:ext cx="8072119" cy="1846659"/>
          </a:xfrm>
        </p:spPr>
        <p:txBody>
          <a:bodyPr>
            <a:normAutofit fontScale="90000"/>
          </a:bodyPr>
          <a:lstStyle/>
          <a:p>
            <a:r>
              <a:rPr lang="en-US" dirty="0"/>
              <a:t>Applications</a:t>
            </a:r>
            <a:br>
              <a:rPr lang="en-US" dirty="0"/>
            </a:br>
            <a:br>
              <a:rPr lang="en-US" dirty="0"/>
            </a:br>
            <a:endParaRPr lang="en-US" dirty="0"/>
          </a:p>
        </p:txBody>
      </p:sp>
      <p:sp>
        <p:nvSpPr>
          <p:cNvPr id="3" name="Text Placeholder 2">
            <a:extLst>
              <a:ext uri="{FF2B5EF4-FFF2-40B4-BE49-F238E27FC236}">
                <a16:creationId xmlns:a16="http://schemas.microsoft.com/office/drawing/2014/main" id="{24176D9D-A7AA-DA26-9433-92CD98659925}"/>
              </a:ext>
            </a:extLst>
          </p:cNvPr>
          <p:cNvSpPr>
            <a:spLocks noGrp="1"/>
          </p:cNvSpPr>
          <p:nvPr>
            <p:ph type="body" idx="1"/>
          </p:nvPr>
        </p:nvSpPr>
        <p:spPr>
          <a:xfrm>
            <a:off x="2059941" y="1616710"/>
            <a:ext cx="8074025" cy="3693319"/>
          </a:xfrm>
        </p:spPr>
        <p:txBody>
          <a:bodyPr>
            <a:normAutofit fontScale="77500" lnSpcReduction="20000"/>
          </a:bodyPr>
          <a:lstStyle/>
          <a:p>
            <a:endParaRPr lang="en-IN" b="1" dirty="0"/>
          </a:p>
          <a:p>
            <a:pPr marL="457200" indent="-457200">
              <a:buFont typeface="+mj-lt"/>
              <a:buAutoNum type="arabicPeriod"/>
            </a:pPr>
            <a:r>
              <a:rPr lang="en-IN" b="1" dirty="0"/>
              <a:t>Healthcare</a:t>
            </a:r>
            <a:r>
              <a:rPr lang="en-IN" dirty="0"/>
              <a:t> – Diagnosing diseases, recommending treatments, </a:t>
            </a:r>
            <a:r>
              <a:rPr lang="en-IN" dirty="0" err="1"/>
              <a:t>analyzing</a:t>
            </a:r>
            <a:r>
              <a:rPr lang="en-IN" dirty="0"/>
              <a:t> medical literature.</a:t>
            </a:r>
            <a:br>
              <a:rPr lang="en-IN" dirty="0"/>
            </a:br>
            <a:r>
              <a:rPr lang="en-IN" i="1" dirty="0"/>
              <a:t>Example:</a:t>
            </a:r>
            <a:r>
              <a:rPr lang="en-IN" dirty="0"/>
              <a:t> Watson for Oncology suggests cancer treatment options.</a:t>
            </a:r>
          </a:p>
          <a:p>
            <a:pPr marL="457200" indent="-457200">
              <a:buFont typeface="+mj-lt"/>
              <a:buAutoNum type="arabicPeriod"/>
            </a:pPr>
            <a:r>
              <a:rPr lang="en-IN" b="1" dirty="0"/>
              <a:t>Finance</a:t>
            </a:r>
            <a:r>
              <a:rPr lang="en-IN" dirty="0"/>
              <a:t> – Fraud detection, risk analysis, and customer engagement.</a:t>
            </a:r>
          </a:p>
          <a:p>
            <a:pPr marL="457200" indent="-457200">
              <a:buFont typeface="+mj-lt"/>
              <a:buAutoNum type="arabicPeriod"/>
            </a:pPr>
            <a:r>
              <a:rPr lang="en-IN" b="1" dirty="0"/>
              <a:t>Customer Support</a:t>
            </a:r>
            <a:r>
              <a:rPr lang="en-IN" dirty="0"/>
              <a:t> – AI chatbots and virtual agents for 24/7 assistance.</a:t>
            </a:r>
          </a:p>
          <a:p>
            <a:pPr marL="457200" indent="-457200">
              <a:buFont typeface="+mj-lt"/>
              <a:buAutoNum type="arabicPeriod"/>
            </a:pPr>
            <a:r>
              <a:rPr lang="en-IN" b="1" dirty="0"/>
              <a:t>Education</a:t>
            </a:r>
            <a:r>
              <a:rPr lang="en-IN" dirty="0"/>
              <a:t> – Personalized learning experiences.</a:t>
            </a:r>
          </a:p>
          <a:p>
            <a:pPr marL="457200" indent="-457200">
              <a:buFont typeface="+mj-lt"/>
              <a:buAutoNum type="arabicPeriod"/>
            </a:pPr>
            <a:r>
              <a:rPr lang="en-IN" b="1" dirty="0"/>
              <a:t>Business Intelligence</a:t>
            </a:r>
            <a:r>
              <a:rPr lang="en-IN" dirty="0"/>
              <a:t> – Data-driven insights and automated reporting.</a:t>
            </a:r>
          </a:p>
          <a:p>
            <a:endParaRPr lang="en-US" dirty="0"/>
          </a:p>
        </p:txBody>
      </p:sp>
    </p:spTree>
    <p:extLst>
      <p:ext uri="{BB962C8B-B14F-4D97-AF65-F5344CB8AC3E}">
        <p14:creationId xmlns:p14="http://schemas.microsoft.com/office/powerpoint/2010/main" val="3863616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CA6E0-D1CE-14D3-5C3B-400062B8D1D6}"/>
              </a:ext>
            </a:extLst>
          </p:cNvPr>
          <p:cNvSpPr>
            <a:spLocks noGrp="1"/>
          </p:cNvSpPr>
          <p:nvPr>
            <p:ph type="title"/>
          </p:nvPr>
        </p:nvSpPr>
        <p:spPr>
          <a:xfrm>
            <a:off x="2059941" y="145492"/>
            <a:ext cx="8072119" cy="1846659"/>
          </a:xfrm>
        </p:spPr>
        <p:txBody>
          <a:bodyPr>
            <a:normAutofit fontScale="90000"/>
          </a:bodyPr>
          <a:lstStyle/>
          <a:p>
            <a:r>
              <a:rPr lang="en-US" dirty="0"/>
              <a:t>Example: Watson in Healthcare</a:t>
            </a:r>
            <a:br>
              <a:rPr lang="en-US" dirty="0"/>
            </a:br>
            <a:br>
              <a:rPr lang="en-US" dirty="0"/>
            </a:br>
            <a:endParaRPr lang="en-US" dirty="0"/>
          </a:p>
        </p:txBody>
      </p:sp>
      <p:sp>
        <p:nvSpPr>
          <p:cNvPr id="3" name="Text Placeholder 2">
            <a:extLst>
              <a:ext uri="{FF2B5EF4-FFF2-40B4-BE49-F238E27FC236}">
                <a16:creationId xmlns:a16="http://schemas.microsoft.com/office/drawing/2014/main" id="{40E8EA03-DD0B-266A-02A0-36C100D540C7}"/>
              </a:ext>
            </a:extLst>
          </p:cNvPr>
          <p:cNvSpPr>
            <a:spLocks noGrp="1"/>
          </p:cNvSpPr>
          <p:nvPr>
            <p:ph type="body" idx="1"/>
          </p:nvPr>
        </p:nvSpPr>
        <p:spPr>
          <a:xfrm>
            <a:off x="2059941" y="1616710"/>
            <a:ext cx="8074025" cy="2769989"/>
          </a:xfrm>
        </p:spPr>
        <p:txBody>
          <a:bodyPr>
            <a:normAutofit fontScale="77500" lnSpcReduction="20000"/>
          </a:bodyPr>
          <a:lstStyle/>
          <a:p>
            <a:r>
              <a:rPr lang="en-IN" b="1" dirty="0"/>
              <a:t>Watson for Oncology (in partnership with Memorial Sloan Kettering Cancer </a:t>
            </a:r>
            <a:r>
              <a:rPr lang="en-IN" b="1" dirty="0" err="1"/>
              <a:t>Center</a:t>
            </a:r>
            <a:r>
              <a:rPr lang="en-IN" b="1" dirty="0"/>
              <a:t>):</a:t>
            </a:r>
          </a:p>
          <a:p>
            <a:endParaRPr lang="en-IN" dirty="0"/>
          </a:p>
          <a:p>
            <a:r>
              <a:rPr lang="en-IN" dirty="0" err="1"/>
              <a:t>Analyzes</a:t>
            </a:r>
            <a:r>
              <a:rPr lang="en-IN" dirty="0"/>
              <a:t> patient health records and medical literature.</a:t>
            </a:r>
          </a:p>
          <a:p>
            <a:endParaRPr lang="en-IN" dirty="0"/>
          </a:p>
          <a:p>
            <a:r>
              <a:rPr lang="en-IN" dirty="0"/>
              <a:t>Suggests personalized cancer treatment options.</a:t>
            </a:r>
          </a:p>
          <a:p>
            <a:endParaRPr lang="en-IN" dirty="0"/>
          </a:p>
          <a:p>
            <a:r>
              <a:rPr lang="en-IN" dirty="0"/>
              <a:t>Helps doctors make evidence-based decisions faster.</a:t>
            </a:r>
          </a:p>
          <a:p>
            <a:endParaRPr lang="en-US" dirty="0"/>
          </a:p>
        </p:txBody>
      </p:sp>
    </p:spTree>
    <p:extLst>
      <p:ext uri="{BB962C8B-B14F-4D97-AF65-F5344CB8AC3E}">
        <p14:creationId xmlns:p14="http://schemas.microsoft.com/office/powerpoint/2010/main" val="3798901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366C-BAF6-A781-4121-844B414B4B9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CDD556A-7FD7-1C9A-9AD0-B47DBDB15896}"/>
              </a:ext>
            </a:extLst>
          </p:cNvPr>
          <p:cNvSpPr>
            <a:spLocks noGrp="1"/>
          </p:cNvSpPr>
          <p:nvPr>
            <p:ph type="body" idx="1"/>
          </p:nvPr>
        </p:nvSpPr>
        <p:spPr>
          <a:xfrm>
            <a:off x="2059941" y="1616710"/>
            <a:ext cx="8074025" cy="4924425"/>
          </a:xfrm>
        </p:spPr>
        <p:txBody>
          <a:bodyPr>
            <a:normAutofit fontScale="62500" lnSpcReduction="20000"/>
          </a:bodyPr>
          <a:lstStyle/>
          <a:p>
            <a:r>
              <a:rPr lang="en-IN" b="1" dirty="0"/>
              <a:t>Advantages</a:t>
            </a:r>
          </a:p>
          <a:p>
            <a:endParaRPr lang="en-IN" b="1" dirty="0"/>
          </a:p>
          <a:p>
            <a:pPr marL="457200" indent="-457200">
              <a:buFont typeface="Wingdings" pitchFamily="2" charset="2"/>
              <a:buChar char="Ø"/>
            </a:pPr>
            <a:r>
              <a:rPr lang="en-IN" dirty="0"/>
              <a:t>Understands natural human language</a:t>
            </a:r>
          </a:p>
          <a:p>
            <a:pPr marL="457200" indent="-457200">
              <a:buFont typeface="Wingdings" pitchFamily="2" charset="2"/>
              <a:buChar char="Ø"/>
            </a:pPr>
            <a:r>
              <a:rPr lang="en-IN" dirty="0"/>
              <a:t>Provides explainable AI insights</a:t>
            </a:r>
          </a:p>
          <a:p>
            <a:pPr marL="457200" indent="-457200">
              <a:buFont typeface="Wingdings" pitchFamily="2" charset="2"/>
              <a:buChar char="Ø"/>
            </a:pPr>
            <a:r>
              <a:rPr lang="en-IN" dirty="0"/>
              <a:t>Processes vast amounts of unstructured data</a:t>
            </a:r>
          </a:p>
          <a:p>
            <a:pPr marL="457200" indent="-457200">
              <a:buFont typeface="Wingdings" pitchFamily="2" charset="2"/>
              <a:buChar char="Ø"/>
            </a:pPr>
            <a:r>
              <a:rPr lang="en-IN" dirty="0"/>
              <a:t>Integrates easily with cloud-based services (IBM Cloud)</a:t>
            </a:r>
          </a:p>
          <a:p>
            <a:pPr marL="457200" indent="-457200">
              <a:buFont typeface="Wingdings" pitchFamily="2" charset="2"/>
              <a:buChar char="Ø"/>
            </a:pPr>
            <a:r>
              <a:rPr lang="en-IN" dirty="0"/>
              <a:t>Supports multiple industries and use cases</a:t>
            </a:r>
          </a:p>
          <a:p>
            <a:br>
              <a:rPr lang="en-IN" dirty="0"/>
            </a:br>
            <a:endParaRPr lang="en-IN" dirty="0"/>
          </a:p>
          <a:p>
            <a:r>
              <a:rPr lang="en-IN" b="1" dirty="0"/>
              <a:t>Limitations</a:t>
            </a:r>
          </a:p>
          <a:p>
            <a:endParaRPr lang="en-IN" b="1" dirty="0"/>
          </a:p>
          <a:p>
            <a:pPr marL="342900" indent="-342900">
              <a:buFont typeface="Wingdings" pitchFamily="2" charset="2"/>
              <a:buChar char="Ø"/>
            </a:pPr>
            <a:r>
              <a:rPr lang="en-IN" dirty="0"/>
              <a:t>High implementation and training costs</a:t>
            </a:r>
          </a:p>
          <a:p>
            <a:pPr marL="342900" indent="-342900">
              <a:buFont typeface="Wingdings" pitchFamily="2" charset="2"/>
              <a:buChar char="Ø"/>
            </a:pPr>
            <a:r>
              <a:rPr lang="en-IN" dirty="0"/>
              <a:t>Requires domain-specific data for accuracy</a:t>
            </a:r>
          </a:p>
          <a:p>
            <a:pPr marL="342900" indent="-342900">
              <a:buFont typeface="Wingdings" pitchFamily="2" charset="2"/>
              <a:buChar char="Ø"/>
            </a:pPr>
            <a:r>
              <a:rPr lang="en-IN" dirty="0"/>
              <a:t>Some models underperformed in real-world clinical applications</a:t>
            </a:r>
          </a:p>
          <a:p>
            <a:pPr marL="342900" indent="-342900">
              <a:buFont typeface="Wingdings" pitchFamily="2" charset="2"/>
              <a:buChar char="Ø"/>
            </a:pPr>
            <a:r>
              <a:rPr lang="en-IN" dirty="0"/>
              <a:t>Complex setup for small organizations</a:t>
            </a:r>
          </a:p>
          <a:p>
            <a:endParaRPr lang="en-US" dirty="0"/>
          </a:p>
        </p:txBody>
      </p:sp>
    </p:spTree>
    <p:extLst>
      <p:ext uri="{BB962C8B-B14F-4D97-AF65-F5344CB8AC3E}">
        <p14:creationId xmlns:p14="http://schemas.microsoft.com/office/powerpoint/2010/main" val="34325937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BBFE-82CC-2974-FB36-E4486061A2C6}"/>
              </a:ext>
            </a:extLst>
          </p:cNvPr>
          <p:cNvSpPr>
            <a:spLocks noGrp="1"/>
          </p:cNvSpPr>
          <p:nvPr>
            <p:ph type="title"/>
          </p:nvPr>
        </p:nvSpPr>
        <p:spPr>
          <a:xfrm>
            <a:off x="2059941" y="145492"/>
            <a:ext cx="8072119" cy="615553"/>
          </a:xfrm>
        </p:spPr>
        <p:txBody>
          <a:bodyPr>
            <a:normAutofit fontScale="90000"/>
          </a:bodyPr>
          <a:lstStyle/>
          <a:p>
            <a:r>
              <a:rPr lang="en-US" dirty="0"/>
              <a:t>Alexa</a:t>
            </a:r>
          </a:p>
        </p:txBody>
      </p:sp>
      <p:sp>
        <p:nvSpPr>
          <p:cNvPr id="3" name="Text Placeholder 2">
            <a:extLst>
              <a:ext uri="{FF2B5EF4-FFF2-40B4-BE49-F238E27FC236}">
                <a16:creationId xmlns:a16="http://schemas.microsoft.com/office/drawing/2014/main" id="{B7424146-D6F9-7088-C213-6C5636117987}"/>
              </a:ext>
            </a:extLst>
          </p:cNvPr>
          <p:cNvSpPr>
            <a:spLocks noGrp="1"/>
          </p:cNvSpPr>
          <p:nvPr>
            <p:ph type="body" idx="1"/>
          </p:nvPr>
        </p:nvSpPr>
        <p:spPr>
          <a:xfrm>
            <a:off x="2058035" y="1066800"/>
            <a:ext cx="8074025" cy="5232202"/>
          </a:xfrm>
        </p:spPr>
        <p:txBody>
          <a:bodyPr>
            <a:normAutofit fontScale="85000" lnSpcReduction="20000"/>
          </a:bodyPr>
          <a:lstStyle/>
          <a:p>
            <a:r>
              <a:rPr lang="en-IN" b="1" dirty="0"/>
              <a:t>Amazon Alexa</a:t>
            </a:r>
            <a:r>
              <a:rPr lang="en-IN" dirty="0"/>
              <a:t> is an </a:t>
            </a:r>
            <a:r>
              <a:rPr lang="en-IN" b="1" dirty="0"/>
              <a:t>AI-powered virtual assistant</a:t>
            </a:r>
            <a:r>
              <a:rPr lang="en-IN" dirty="0"/>
              <a:t> developed by </a:t>
            </a:r>
            <a:r>
              <a:rPr lang="en-IN" b="1" dirty="0"/>
              <a:t>Amazon</a:t>
            </a:r>
            <a:r>
              <a:rPr lang="en-IN" dirty="0"/>
              <a:t> that uses </a:t>
            </a:r>
            <a:r>
              <a:rPr lang="en-IN" b="1" dirty="0"/>
              <a:t>Natural Language Processing (NLP)</a:t>
            </a:r>
            <a:r>
              <a:rPr lang="en-IN" dirty="0"/>
              <a:t>, </a:t>
            </a:r>
            <a:r>
              <a:rPr lang="en-IN" b="1" dirty="0"/>
              <a:t>Machine Learning (ML)</a:t>
            </a:r>
            <a:r>
              <a:rPr lang="en-IN" dirty="0"/>
              <a:t>, and </a:t>
            </a:r>
            <a:r>
              <a:rPr lang="en-IN" b="1" dirty="0"/>
              <a:t>Speech Recognition</a:t>
            </a:r>
            <a:r>
              <a:rPr lang="en-IN" dirty="0"/>
              <a:t> to understand and respond to user voice commands.</a:t>
            </a:r>
          </a:p>
          <a:p>
            <a:endParaRPr lang="en-IN" dirty="0"/>
          </a:p>
          <a:p>
            <a:r>
              <a:rPr lang="en-IN" dirty="0"/>
              <a:t>It powers devices like </a:t>
            </a:r>
            <a:r>
              <a:rPr lang="en-IN" b="1" dirty="0"/>
              <a:t>Amazon Echo</a:t>
            </a:r>
            <a:r>
              <a:rPr lang="en-IN" dirty="0"/>
              <a:t>, </a:t>
            </a:r>
            <a:r>
              <a:rPr lang="en-IN" b="1" dirty="0"/>
              <a:t>Echo Dot</a:t>
            </a:r>
            <a:r>
              <a:rPr lang="en-IN" dirty="0"/>
              <a:t>, </a:t>
            </a:r>
            <a:r>
              <a:rPr lang="en-IN" b="1" dirty="0"/>
              <a:t>Fire TV</a:t>
            </a:r>
            <a:r>
              <a:rPr lang="en-IN" dirty="0"/>
              <a:t>, and many </a:t>
            </a:r>
            <a:r>
              <a:rPr lang="en-IN" b="1" dirty="0"/>
              <a:t>smart home systems</a:t>
            </a:r>
            <a:r>
              <a:rPr lang="en-IN" dirty="0"/>
              <a:t>, making everyday tasks easier through voice interaction.</a:t>
            </a:r>
          </a:p>
          <a:p>
            <a:endParaRPr lang="en-IN" dirty="0"/>
          </a:p>
          <a:p>
            <a:r>
              <a:rPr lang="en-IN" b="1" dirty="0"/>
              <a:t>Overview</a:t>
            </a:r>
          </a:p>
          <a:p>
            <a:endParaRPr lang="en-IN" b="1" dirty="0"/>
          </a:p>
          <a:p>
            <a:r>
              <a:rPr lang="en-IN" dirty="0"/>
              <a:t>Alexa acts as a </a:t>
            </a:r>
            <a:r>
              <a:rPr lang="en-IN" b="1" dirty="0"/>
              <a:t>voice-controlled intelligent assistant</a:t>
            </a:r>
            <a:r>
              <a:rPr lang="en-IN" dirty="0"/>
              <a:t> that can answer questions, play music, control smart devices, make calls, set reminders, and more. It continuously learns from user interactions to improve responses and personalize experiences.</a:t>
            </a:r>
          </a:p>
          <a:p>
            <a:endParaRPr lang="en-IN" dirty="0"/>
          </a:p>
          <a:p>
            <a:endParaRPr lang="en-US" dirty="0"/>
          </a:p>
        </p:txBody>
      </p:sp>
    </p:spTree>
    <p:extLst>
      <p:ext uri="{BB962C8B-B14F-4D97-AF65-F5344CB8AC3E}">
        <p14:creationId xmlns:p14="http://schemas.microsoft.com/office/powerpoint/2010/main" val="735979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3A673-4E8C-4547-8983-2CE889A39A14}"/>
              </a:ext>
            </a:extLst>
          </p:cNvPr>
          <p:cNvSpPr>
            <a:spLocks noGrp="1"/>
          </p:cNvSpPr>
          <p:nvPr>
            <p:ph type="title"/>
          </p:nvPr>
        </p:nvSpPr>
        <p:spPr>
          <a:xfrm>
            <a:off x="837247" y="87425"/>
            <a:ext cx="10515600" cy="1325563"/>
          </a:xfrm>
        </p:spPr>
        <p:txBody>
          <a:bodyPr/>
          <a:lstStyle/>
          <a:p>
            <a:r>
              <a:rPr lang="en-IN" dirty="0"/>
              <a:t>Core Technologies Used</a:t>
            </a:r>
            <a:br>
              <a:rPr lang="en-IN" dirty="0"/>
            </a:br>
            <a:endParaRPr lang="en-US" dirty="0"/>
          </a:p>
        </p:txBody>
      </p:sp>
      <p:sp>
        <p:nvSpPr>
          <p:cNvPr id="3" name="Text Placeholder 2">
            <a:extLst>
              <a:ext uri="{FF2B5EF4-FFF2-40B4-BE49-F238E27FC236}">
                <a16:creationId xmlns:a16="http://schemas.microsoft.com/office/drawing/2014/main" id="{15100DBB-A5AD-0528-705A-2A3EE1218311}"/>
              </a:ext>
            </a:extLst>
          </p:cNvPr>
          <p:cNvSpPr>
            <a:spLocks noGrp="1"/>
          </p:cNvSpPr>
          <p:nvPr>
            <p:ph type="body" idx="1"/>
          </p:nvPr>
        </p:nvSpPr>
        <p:spPr>
          <a:xfrm>
            <a:off x="2058035" y="750207"/>
            <a:ext cx="8074025" cy="6032421"/>
          </a:xfrm>
        </p:spPr>
        <p:txBody>
          <a:bodyPr>
            <a:normAutofit fontScale="77500" lnSpcReduction="20000"/>
          </a:bodyPr>
          <a:lstStyle/>
          <a:p>
            <a:r>
              <a:rPr lang="en-IN" b="1" dirty="0"/>
              <a:t>Automatic Speech Recognition (ASR)</a:t>
            </a:r>
            <a:endParaRPr lang="en-IN" dirty="0"/>
          </a:p>
          <a:p>
            <a:pPr lvl="1"/>
            <a:r>
              <a:rPr lang="en-IN" dirty="0"/>
              <a:t>Converts the user’s </a:t>
            </a:r>
            <a:r>
              <a:rPr lang="en-IN" b="1" dirty="0"/>
              <a:t>spoken words</a:t>
            </a:r>
            <a:r>
              <a:rPr lang="en-IN" dirty="0"/>
              <a:t> into text.</a:t>
            </a:r>
          </a:p>
          <a:p>
            <a:pPr lvl="1"/>
            <a:endParaRPr lang="en-IN" dirty="0"/>
          </a:p>
          <a:p>
            <a:r>
              <a:rPr lang="en-IN" b="1" dirty="0"/>
              <a:t>Natural Language Understanding (NLU)</a:t>
            </a:r>
            <a:endParaRPr lang="en-IN" dirty="0"/>
          </a:p>
          <a:p>
            <a:pPr lvl="1"/>
            <a:r>
              <a:rPr lang="en-IN" dirty="0"/>
              <a:t>Interprets the meaning, </a:t>
            </a:r>
            <a:r>
              <a:rPr lang="en-IN" b="1" dirty="0"/>
              <a:t>intent</a:t>
            </a:r>
            <a:r>
              <a:rPr lang="en-IN" dirty="0"/>
              <a:t>, and </a:t>
            </a:r>
            <a:r>
              <a:rPr lang="en-IN" b="1" dirty="0"/>
              <a:t>context</a:t>
            </a:r>
            <a:r>
              <a:rPr lang="en-IN" dirty="0"/>
              <a:t> behind user commands.</a:t>
            </a:r>
            <a:br>
              <a:rPr lang="en-IN" dirty="0"/>
            </a:br>
            <a:r>
              <a:rPr lang="en-IN" i="1" dirty="0"/>
              <a:t>(e.g., “Turn on the lights” → intent = smart home control)</a:t>
            </a:r>
          </a:p>
          <a:p>
            <a:pPr lvl="1"/>
            <a:endParaRPr lang="en-IN" dirty="0"/>
          </a:p>
          <a:p>
            <a:r>
              <a:rPr lang="en-IN" b="1" dirty="0"/>
              <a:t>Text-to-Speech (TTS)</a:t>
            </a:r>
            <a:endParaRPr lang="en-IN" dirty="0"/>
          </a:p>
          <a:p>
            <a:pPr lvl="1"/>
            <a:r>
              <a:rPr lang="en-IN" dirty="0"/>
              <a:t>Converts Alexa’s textual responses into </a:t>
            </a:r>
            <a:r>
              <a:rPr lang="en-IN" b="1" dirty="0"/>
              <a:t>spoken voice output</a:t>
            </a:r>
            <a:r>
              <a:rPr lang="en-IN" dirty="0"/>
              <a:t>.</a:t>
            </a:r>
          </a:p>
          <a:p>
            <a:pPr lvl="1"/>
            <a:endParaRPr lang="en-IN" dirty="0"/>
          </a:p>
          <a:p>
            <a:r>
              <a:rPr lang="en-IN" b="1" dirty="0"/>
              <a:t>Machine Learning (ML)</a:t>
            </a:r>
            <a:endParaRPr lang="en-IN" dirty="0"/>
          </a:p>
          <a:p>
            <a:pPr lvl="1"/>
            <a:r>
              <a:rPr lang="en-IN" dirty="0"/>
              <a:t>Continuously improves Alexa’s understanding of language, accents, and user preferences.</a:t>
            </a:r>
          </a:p>
          <a:p>
            <a:pPr lvl="1"/>
            <a:endParaRPr lang="en-IN" dirty="0"/>
          </a:p>
          <a:p>
            <a:r>
              <a:rPr lang="en-IN" b="1" dirty="0"/>
              <a:t>Cloud Computing (AWS)</a:t>
            </a:r>
            <a:endParaRPr lang="en-IN" dirty="0"/>
          </a:p>
          <a:p>
            <a:pPr lvl="1"/>
            <a:r>
              <a:rPr lang="en-IN" dirty="0"/>
              <a:t>Alexa’s brain resides in the </a:t>
            </a:r>
            <a:r>
              <a:rPr lang="en-IN" b="1" dirty="0"/>
              <a:t>Amazon Web Services (AWS)</a:t>
            </a:r>
            <a:r>
              <a:rPr lang="en-IN" dirty="0"/>
              <a:t> cloud, which processes requests and returns results.</a:t>
            </a:r>
          </a:p>
          <a:p>
            <a:pPr lvl="1"/>
            <a:endParaRPr lang="en-IN" dirty="0"/>
          </a:p>
          <a:p>
            <a:r>
              <a:rPr lang="en-IN" b="1" dirty="0"/>
              <a:t>Skill Kit (ASK)</a:t>
            </a:r>
            <a:endParaRPr lang="en-IN" dirty="0"/>
          </a:p>
          <a:p>
            <a:pPr lvl="1"/>
            <a:r>
              <a:rPr lang="en-IN" dirty="0"/>
              <a:t>Developers can create custom “</a:t>
            </a:r>
            <a:r>
              <a:rPr lang="en-IN" b="1" dirty="0"/>
              <a:t>skills</a:t>
            </a:r>
            <a:r>
              <a:rPr lang="en-IN" dirty="0"/>
              <a:t>” (apps) that add new capabilities to Alexa.</a:t>
            </a:r>
          </a:p>
          <a:p>
            <a:endParaRPr lang="en-US" dirty="0"/>
          </a:p>
        </p:txBody>
      </p:sp>
    </p:spTree>
    <p:extLst>
      <p:ext uri="{BB962C8B-B14F-4D97-AF65-F5344CB8AC3E}">
        <p14:creationId xmlns:p14="http://schemas.microsoft.com/office/powerpoint/2010/main" val="4236222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9791B-3C3E-83D4-F8A0-ECC1E74CFFB2}"/>
              </a:ext>
            </a:extLst>
          </p:cNvPr>
          <p:cNvSpPr>
            <a:spLocks noGrp="1"/>
          </p:cNvSpPr>
          <p:nvPr>
            <p:ph type="title"/>
          </p:nvPr>
        </p:nvSpPr>
        <p:spPr>
          <a:xfrm>
            <a:off x="2059941" y="145492"/>
            <a:ext cx="8072119" cy="615553"/>
          </a:xfrm>
        </p:spPr>
        <p:txBody>
          <a:bodyPr>
            <a:normAutofit fontScale="90000"/>
          </a:bodyPr>
          <a:lstStyle/>
          <a:p>
            <a:r>
              <a:rPr lang="en-US" dirty="0"/>
              <a:t>Applications</a:t>
            </a:r>
          </a:p>
        </p:txBody>
      </p:sp>
      <p:graphicFrame>
        <p:nvGraphicFramePr>
          <p:cNvPr id="4" name="Table 3">
            <a:extLst>
              <a:ext uri="{FF2B5EF4-FFF2-40B4-BE49-F238E27FC236}">
                <a16:creationId xmlns:a16="http://schemas.microsoft.com/office/drawing/2014/main" id="{E40E36B7-8AC2-76F1-E671-0216C68F3764}"/>
              </a:ext>
            </a:extLst>
          </p:cNvPr>
          <p:cNvGraphicFramePr>
            <a:graphicFrameLocks noGrp="1"/>
          </p:cNvGraphicFramePr>
          <p:nvPr/>
        </p:nvGraphicFramePr>
        <p:xfrm>
          <a:off x="1905000" y="1219200"/>
          <a:ext cx="8074024" cy="3657600"/>
        </p:xfrm>
        <a:graphic>
          <a:graphicData uri="http://schemas.openxmlformats.org/drawingml/2006/table">
            <a:tbl>
              <a:tblPr/>
              <a:tblGrid>
                <a:gridCol w="4037012">
                  <a:extLst>
                    <a:ext uri="{9D8B030D-6E8A-4147-A177-3AD203B41FA5}">
                      <a16:colId xmlns:a16="http://schemas.microsoft.com/office/drawing/2014/main" val="2052910851"/>
                    </a:ext>
                  </a:extLst>
                </a:gridCol>
                <a:gridCol w="4037012">
                  <a:extLst>
                    <a:ext uri="{9D8B030D-6E8A-4147-A177-3AD203B41FA5}">
                      <a16:colId xmlns:a16="http://schemas.microsoft.com/office/drawing/2014/main" val="3592853861"/>
                    </a:ext>
                  </a:extLst>
                </a:gridCol>
              </a:tblGrid>
              <a:tr h="365760">
                <a:tc>
                  <a:txBody>
                    <a:bodyPr/>
                    <a:lstStyle/>
                    <a:p>
                      <a:pPr>
                        <a:buNone/>
                      </a:pPr>
                      <a:r>
                        <a:rPr lang="en-IN" sz="1800"/>
                        <a:t>Category</a:t>
                      </a:r>
                    </a:p>
                  </a:txBody>
                  <a:tcPr anchor="ctr">
                    <a:lnL>
                      <a:noFill/>
                    </a:lnL>
                    <a:lnR>
                      <a:noFill/>
                    </a:lnR>
                    <a:lnT>
                      <a:noFill/>
                    </a:lnT>
                    <a:lnB>
                      <a:noFill/>
                    </a:lnB>
                    <a:noFill/>
                  </a:tcPr>
                </a:tc>
                <a:tc>
                  <a:txBody>
                    <a:bodyPr/>
                    <a:lstStyle/>
                    <a:p>
                      <a:pPr>
                        <a:buNone/>
                      </a:pPr>
                      <a:r>
                        <a:rPr lang="en-IN" sz="1800"/>
                        <a:t>Examples</a:t>
                      </a:r>
                    </a:p>
                  </a:txBody>
                  <a:tcPr anchor="ctr">
                    <a:lnL>
                      <a:noFill/>
                    </a:lnL>
                    <a:lnR>
                      <a:noFill/>
                    </a:lnR>
                    <a:lnT>
                      <a:noFill/>
                    </a:lnT>
                    <a:lnB>
                      <a:noFill/>
                    </a:lnB>
                    <a:noFill/>
                  </a:tcPr>
                </a:tc>
                <a:extLst>
                  <a:ext uri="{0D108BD9-81ED-4DB2-BD59-A6C34878D82A}">
                    <a16:rowId xmlns:a16="http://schemas.microsoft.com/office/drawing/2014/main" val="2955925838"/>
                  </a:ext>
                </a:extLst>
              </a:tr>
              <a:tr h="640080">
                <a:tc>
                  <a:txBody>
                    <a:bodyPr/>
                    <a:lstStyle/>
                    <a:p>
                      <a:pPr>
                        <a:buNone/>
                      </a:pPr>
                      <a:r>
                        <a:rPr lang="en-IN" sz="1800" b="1"/>
                        <a:t>Smart Home</a:t>
                      </a:r>
                      <a:endParaRPr lang="en-IN" sz="1800"/>
                    </a:p>
                  </a:txBody>
                  <a:tcPr anchor="ctr">
                    <a:lnL>
                      <a:noFill/>
                    </a:lnL>
                    <a:lnR>
                      <a:noFill/>
                    </a:lnR>
                    <a:lnT>
                      <a:noFill/>
                    </a:lnT>
                    <a:lnB>
                      <a:noFill/>
                    </a:lnB>
                    <a:noFill/>
                  </a:tcPr>
                </a:tc>
                <a:tc>
                  <a:txBody>
                    <a:bodyPr/>
                    <a:lstStyle/>
                    <a:p>
                      <a:pPr>
                        <a:buNone/>
                      </a:pPr>
                      <a:r>
                        <a:rPr lang="en-IN" sz="1800"/>
                        <a:t>Control lights, fans, thermostats, and security cameras</a:t>
                      </a:r>
                    </a:p>
                  </a:txBody>
                  <a:tcPr anchor="ctr">
                    <a:lnL>
                      <a:noFill/>
                    </a:lnL>
                    <a:lnR>
                      <a:noFill/>
                    </a:lnR>
                    <a:lnT>
                      <a:noFill/>
                    </a:lnT>
                    <a:lnB>
                      <a:noFill/>
                    </a:lnB>
                    <a:noFill/>
                  </a:tcPr>
                </a:tc>
                <a:extLst>
                  <a:ext uri="{0D108BD9-81ED-4DB2-BD59-A6C34878D82A}">
                    <a16:rowId xmlns:a16="http://schemas.microsoft.com/office/drawing/2014/main" val="117731889"/>
                  </a:ext>
                </a:extLst>
              </a:tr>
              <a:tr h="365760">
                <a:tc>
                  <a:txBody>
                    <a:bodyPr/>
                    <a:lstStyle/>
                    <a:p>
                      <a:pPr>
                        <a:buNone/>
                      </a:pPr>
                      <a:r>
                        <a:rPr lang="en-IN" sz="1800" b="1"/>
                        <a:t>Entertainment</a:t>
                      </a:r>
                      <a:endParaRPr lang="en-IN" sz="1800"/>
                    </a:p>
                  </a:txBody>
                  <a:tcPr anchor="ctr">
                    <a:lnL>
                      <a:noFill/>
                    </a:lnL>
                    <a:lnR>
                      <a:noFill/>
                    </a:lnR>
                    <a:lnT>
                      <a:noFill/>
                    </a:lnT>
                    <a:lnB>
                      <a:noFill/>
                    </a:lnB>
                    <a:noFill/>
                  </a:tcPr>
                </a:tc>
                <a:tc>
                  <a:txBody>
                    <a:bodyPr/>
                    <a:lstStyle/>
                    <a:p>
                      <a:pPr>
                        <a:buNone/>
                      </a:pPr>
                      <a:r>
                        <a:rPr lang="en-IN" sz="1800"/>
                        <a:t>Play songs, audiobooks, podcasts</a:t>
                      </a:r>
                    </a:p>
                  </a:txBody>
                  <a:tcPr anchor="ctr">
                    <a:lnL>
                      <a:noFill/>
                    </a:lnL>
                    <a:lnR>
                      <a:noFill/>
                    </a:lnR>
                    <a:lnT>
                      <a:noFill/>
                    </a:lnT>
                    <a:lnB>
                      <a:noFill/>
                    </a:lnB>
                    <a:noFill/>
                  </a:tcPr>
                </a:tc>
                <a:extLst>
                  <a:ext uri="{0D108BD9-81ED-4DB2-BD59-A6C34878D82A}">
                    <a16:rowId xmlns:a16="http://schemas.microsoft.com/office/drawing/2014/main" val="2129740496"/>
                  </a:ext>
                </a:extLst>
              </a:tr>
              <a:tr h="640080">
                <a:tc>
                  <a:txBody>
                    <a:bodyPr/>
                    <a:lstStyle/>
                    <a:p>
                      <a:pPr>
                        <a:buNone/>
                      </a:pPr>
                      <a:r>
                        <a:rPr lang="en-IN" sz="1800" b="1"/>
                        <a:t>Communication</a:t>
                      </a:r>
                      <a:endParaRPr lang="en-IN" sz="1800"/>
                    </a:p>
                  </a:txBody>
                  <a:tcPr anchor="ctr">
                    <a:lnL>
                      <a:noFill/>
                    </a:lnL>
                    <a:lnR>
                      <a:noFill/>
                    </a:lnR>
                    <a:lnT>
                      <a:noFill/>
                    </a:lnT>
                    <a:lnB>
                      <a:noFill/>
                    </a:lnB>
                    <a:noFill/>
                  </a:tcPr>
                </a:tc>
                <a:tc>
                  <a:txBody>
                    <a:bodyPr/>
                    <a:lstStyle/>
                    <a:p>
                      <a:pPr>
                        <a:buNone/>
                      </a:pPr>
                      <a:r>
                        <a:rPr lang="en-IN" sz="1800"/>
                        <a:t>Make voice calls, send messages, drop-in feature</a:t>
                      </a:r>
                    </a:p>
                  </a:txBody>
                  <a:tcPr anchor="ctr">
                    <a:lnL>
                      <a:noFill/>
                    </a:lnL>
                    <a:lnR>
                      <a:noFill/>
                    </a:lnR>
                    <a:lnT>
                      <a:noFill/>
                    </a:lnT>
                    <a:lnB>
                      <a:noFill/>
                    </a:lnB>
                    <a:noFill/>
                  </a:tcPr>
                </a:tc>
                <a:extLst>
                  <a:ext uri="{0D108BD9-81ED-4DB2-BD59-A6C34878D82A}">
                    <a16:rowId xmlns:a16="http://schemas.microsoft.com/office/drawing/2014/main" val="3730854957"/>
                  </a:ext>
                </a:extLst>
              </a:tr>
              <a:tr h="365760">
                <a:tc>
                  <a:txBody>
                    <a:bodyPr/>
                    <a:lstStyle/>
                    <a:p>
                      <a:pPr>
                        <a:buNone/>
                      </a:pPr>
                      <a:r>
                        <a:rPr lang="en-IN" sz="1800" b="1"/>
                        <a:t>Productivity</a:t>
                      </a:r>
                      <a:endParaRPr lang="en-IN" sz="1800"/>
                    </a:p>
                  </a:txBody>
                  <a:tcPr anchor="ctr">
                    <a:lnL>
                      <a:noFill/>
                    </a:lnL>
                    <a:lnR>
                      <a:noFill/>
                    </a:lnR>
                    <a:lnT>
                      <a:noFill/>
                    </a:lnT>
                    <a:lnB>
                      <a:noFill/>
                    </a:lnB>
                    <a:noFill/>
                  </a:tcPr>
                </a:tc>
                <a:tc>
                  <a:txBody>
                    <a:bodyPr/>
                    <a:lstStyle/>
                    <a:p>
                      <a:pPr>
                        <a:buNone/>
                      </a:pPr>
                      <a:r>
                        <a:rPr lang="en-IN" sz="1800"/>
                        <a:t>Set alarms, reminders, manage calendar</a:t>
                      </a:r>
                    </a:p>
                  </a:txBody>
                  <a:tcPr anchor="ctr">
                    <a:lnL>
                      <a:noFill/>
                    </a:lnL>
                    <a:lnR>
                      <a:noFill/>
                    </a:lnR>
                    <a:lnT>
                      <a:noFill/>
                    </a:lnT>
                    <a:lnB>
                      <a:noFill/>
                    </a:lnB>
                    <a:noFill/>
                  </a:tcPr>
                </a:tc>
                <a:extLst>
                  <a:ext uri="{0D108BD9-81ED-4DB2-BD59-A6C34878D82A}">
                    <a16:rowId xmlns:a16="http://schemas.microsoft.com/office/drawing/2014/main" val="1291652645"/>
                  </a:ext>
                </a:extLst>
              </a:tr>
              <a:tr h="365760">
                <a:tc>
                  <a:txBody>
                    <a:bodyPr/>
                    <a:lstStyle/>
                    <a:p>
                      <a:pPr>
                        <a:buNone/>
                      </a:pPr>
                      <a:r>
                        <a:rPr lang="en-IN" sz="1800" b="1"/>
                        <a:t>Shopping</a:t>
                      </a:r>
                      <a:endParaRPr lang="en-IN" sz="1800"/>
                    </a:p>
                  </a:txBody>
                  <a:tcPr anchor="ctr">
                    <a:lnL>
                      <a:noFill/>
                    </a:lnL>
                    <a:lnR>
                      <a:noFill/>
                    </a:lnR>
                    <a:lnT>
                      <a:noFill/>
                    </a:lnT>
                    <a:lnB>
                      <a:noFill/>
                    </a:lnB>
                    <a:noFill/>
                  </a:tcPr>
                </a:tc>
                <a:tc>
                  <a:txBody>
                    <a:bodyPr/>
                    <a:lstStyle/>
                    <a:p>
                      <a:pPr>
                        <a:buNone/>
                      </a:pPr>
                      <a:r>
                        <a:rPr lang="en-IN" sz="1800"/>
                        <a:t>Order products directly from Amazon</a:t>
                      </a:r>
                    </a:p>
                  </a:txBody>
                  <a:tcPr anchor="ctr">
                    <a:lnL>
                      <a:noFill/>
                    </a:lnL>
                    <a:lnR>
                      <a:noFill/>
                    </a:lnR>
                    <a:lnT>
                      <a:noFill/>
                    </a:lnT>
                    <a:lnB>
                      <a:noFill/>
                    </a:lnB>
                    <a:noFill/>
                  </a:tcPr>
                </a:tc>
                <a:extLst>
                  <a:ext uri="{0D108BD9-81ED-4DB2-BD59-A6C34878D82A}">
                    <a16:rowId xmlns:a16="http://schemas.microsoft.com/office/drawing/2014/main" val="1139870379"/>
                  </a:ext>
                </a:extLst>
              </a:tr>
              <a:tr h="640080">
                <a:tc>
                  <a:txBody>
                    <a:bodyPr/>
                    <a:lstStyle/>
                    <a:p>
                      <a:pPr>
                        <a:buNone/>
                      </a:pPr>
                      <a:r>
                        <a:rPr lang="en-IN" sz="1800" b="1"/>
                        <a:t>Education</a:t>
                      </a:r>
                      <a:endParaRPr lang="en-IN" sz="1800"/>
                    </a:p>
                  </a:txBody>
                  <a:tcPr anchor="ctr">
                    <a:lnL>
                      <a:noFill/>
                    </a:lnL>
                    <a:lnR>
                      <a:noFill/>
                    </a:lnR>
                    <a:lnT>
                      <a:noFill/>
                    </a:lnT>
                    <a:lnB>
                      <a:noFill/>
                    </a:lnB>
                    <a:noFill/>
                  </a:tcPr>
                </a:tc>
                <a:tc>
                  <a:txBody>
                    <a:bodyPr/>
                    <a:lstStyle/>
                    <a:p>
                      <a:pPr>
                        <a:buNone/>
                      </a:pPr>
                      <a:r>
                        <a:rPr lang="en-IN" sz="1800" dirty="0"/>
                        <a:t>Answer factual questions, define words, assist in learning</a:t>
                      </a:r>
                    </a:p>
                  </a:txBody>
                  <a:tcPr anchor="ctr">
                    <a:lnL>
                      <a:noFill/>
                    </a:lnL>
                    <a:lnR>
                      <a:noFill/>
                    </a:lnR>
                    <a:lnT>
                      <a:noFill/>
                    </a:lnT>
                    <a:lnB>
                      <a:noFill/>
                    </a:lnB>
                    <a:noFill/>
                  </a:tcPr>
                </a:tc>
                <a:extLst>
                  <a:ext uri="{0D108BD9-81ED-4DB2-BD59-A6C34878D82A}">
                    <a16:rowId xmlns:a16="http://schemas.microsoft.com/office/drawing/2014/main" val="2513391580"/>
                  </a:ext>
                </a:extLst>
              </a:tr>
            </a:tbl>
          </a:graphicData>
        </a:graphic>
      </p:graphicFrame>
    </p:spTree>
    <p:extLst>
      <p:ext uri="{BB962C8B-B14F-4D97-AF65-F5344CB8AC3E}">
        <p14:creationId xmlns:p14="http://schemas.microsoft.com/office/powerpoint/2010/main" val="37808881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E1AD-7676-7F66-37E5-DD7FC4E4D6D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4BCBF22-9C43-59D0-1429-882AAA985FD6}"/>
              </a:ext>
            </a:extLst>
          </p:cNvPr>
          <p:cNvSpPr>
            <a:spLocks noGrp="1"/>
          </p:cNvSpPr>
          <p:nvPr>
            <p:ph type="body" idx="1"/>
          </p:nvPr>
        </p:nvSpPr>
        <p:spPr>
          <a:xfrm>
            <a:off x="2059941" y="1616710"/>
            <a:ext cx="8074025" cy="4924425"/>
          </a:xfrm>
        </p:spPr>
        <p:txBody>
          <a:bodyPr>
            <a:normAutofit fontScale="62500" lnSpcReduction="20000"/>
          </a:bodyPr>
          <a:lstStyle/>
          <a:p>
            <a:r>
              <a:rPr lang="en-IN" b="1" dirty="0"/>
              <a:t>Advantages</a:t>
            </a:r>
          </a:p>
          <a:p>
            <a:endParaRPr lang="en-IN" b="1" dirty="0"/>
          </a:p>
          <a:p>
            <a:pPr marL="342900" indent="-342900">
              <a:buFont typeface="Wingdings" pitchFamily="2" charset="2"/>
              <a:buChar char="Ø"/>
            </a:pPr>
            <a:r>
              <a:rPr lang="en-IN" dirty="0"/>
              <a:t>Hands-free operation and convenience</a:t>
            </a:r>
          </a:p>
          <a:p>
            <a:pPr marL="342900" indent="-342900">
              <a:buFont typeface="Wingdings" pitchFamily="2" charset="2"/>
              <a:buChar char="Ø"/>
            </a:pPr>
            <a:r>
              <a:rPr lang="en-IN" dirty="0"/>
              <a:t>Expands functionality with thousands of third-party “skills”</a:t>
            </a:r>
          </a:p>
          <a:p>
            <a:pPr marL="342900" indent="-342900">
              <a:buFont typeface="Wingdings" pitchFamily="2" charset="2"/>
              <a:buChar char="Ø"/>
            </a:pPr>
            <a:r>
              <a:rPr lang="en-IN" dirty="0"/>
              <a:t>Continuous learning and personalization</a:t>
            </a:r>
          </a:p>
          <a:p>
            <a:pPr marL="342900" indent="-342900">
              <a:buFont typeface="Wingdings" pitchFamily="2" charset="2"/>
              <a:buChar char="Ø"/>
            </a:pPr>
            <a:r>
              <a:rPr lang="en-IN" dirty="0"/>
              <a:t>Integrates with IoT and smart home ecosystems</a:t>
            </a:r>
          </a:p>
          <a:p>
            <a:pPr marL="342900" indent="-342900">
              <a:buFont typeface="Wingdings" pitchFamily="2" charset="2"/>
              <a:buChar char="Ø"/>
            </a:pPr>
            <a:r>
              <a:rPr lang="en-IN" dirty="0"/>
              <a:t>Multilingual support</a:t>
            </a:r>
          </a:p>
          <a:p>
            <a:br>
              <a:rPr lang="en-IN" dirty="0"/>
            </a:br>
            <a:endParaRPr lang="en-IN" dirty="0"/>
          </a:p>
          <a:p>
            <a:r>
              <a:rPr lang="en-IN" b="1" dirty="0"/>
              <a:t>Challenges &amp; Concerns</a:t>
            </a:r>
          </a:p>
          <a:p>
            <a:endParaRPr lang="en-IN" b="1" dirty="0"/>
          </a:p>
          <a:p>
            <a:pPr marL="342900" indent="-342900">
              <a:buFont typeface="Wingdings" pitchFamily="2" charset="2"/>
              <a:buChar char="Ø"/>
            </a:pPr>
            <a:r>
              <a:rPr lang="en-IN" b="1" dirty="0"/>
              <a:t>Privacy issues</a:t>
            </a:r>
            <a:r>
              <a:rPr lang="en-IN" dirty="0"/>
              <a:t> (voice data stored on cloud)</a:t>
            </a:r>
          </a:p>
          <a:p>
            <a:pPr marL="342900" indent="-342900">
              <a:buFont typeface="Wingdings" pitchFamily="2" charset="2"/>
              <a:buChar char="Ø"/>
            </a:pPr>
            <a:r>
              <a:rPr lang="en-IN" b="1" dirty="0"/>
              <a:t>Accidental activations</a:t>
            </a:r>
            <a:r>
              <a:rPr lang="en-IN" dirty="0"/>
              <a:t> (“false wake words”)</a:t>
            </a:r>
          </a:p>
          <a:p>
            <a:pPr marL="342900" indent="-342900">
              <a:buFont typeface="Wingdings" pitchFamily="2" charset="2"/>
              <a:buChar char="Ø"/>
            </a:pPr>
            <a:r>
              <a:rPr lang="en-IN" b="1" dirty="0"/>
              <a:t>Dependence on internet connectivity</a:t>
            </a:r>
            <a:endParaRPr lang="en-IN" dirty="0"/>
          </a:p>
          <a:p>
            <a:pPr marL="342900" indent="-342900">
              <a:buFont typeface="Wingdings" pitchFamily="2" charset="2"/>
              <a:buChar char="Ø"/>
            </a:pPr>
            <a:r>
              <a:rPr lang="en-IN" b="1" dirty="0"/>
              <a:t>Security risks</a:t>
            </a:r>
            <a:r>
              <a:rPr lang="en-IN" dirty="0"/>
              <a:t> from third-party skill misuse</a:t>
            </a:r>
          </a:p>
          <a:p>
            <a:endParaRPr lang="en-US" dirty="0"/>
          </a:p>
        </p:txBody>
      </p:sp>
    </p:spTree>
    <p:extLst>
      <p:ext uri="{BB962C8B-B14F-4D97-AF65-F5344CB8AC3E}">
        <p14:creationId xmlns:p14="http://schemas.microsoft.com/office/powerpoint/2010/main" val="3471387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15185-CBFD-3E08-0A02-83EBC4CD2D2D}"/>
              </a:ext>
            </a:extLst>
          </p:cNvPr>
          <p:cNvSpPr>
            <a:spLocks noGrp="1"/>
          </p:cNvSpPr>
          <p:nvPr>
            <p:ph type="title"/>
          </p:nvPr>
        </p:nvSpPr>
        <p:spPr>
          <a:xfrm>
            <a:off x="2059941" y="145492"/>
            <a:ext cx="8072119" cy="615553"/>
          </a:xfrm>
        </p:spPr>
        <p:txBody>
          <a:bodyPr>
            <a:normAutofit fontScale="90000"/>
          </a:bodyPr>
          <a:lstStyle/>
          <a:p>
            <a:r>
              <a:rPr lang="en-US" dirty="0"/>
              <a:t>Siri</a:t>
            </a:r>
          </a:p>
        </p:txBody>
      </p:sp>
      <p:sp>
        <p:nvSpPr>
          <p:cNvPr id="3" name="Text Placeholder 2">
            <a:extLst>
              <a:ext uri="{FF2B5EF4-FFF2-40B4-BE49-F238E27FC236}">
                <a16:creationId xmlns:a16="http://schemas.microsoft.com/office/drawing/2014/main" id="{2F77A2D8-F621-1DB1-B395-B454DB015AD1}"/>
              </a:ext>
            </a:extLst>
          </p:cNvPr>
          <p:cNvSpPr>
            <a:spLocks noGrp="1"/>
          </p:cNvSpPr>
          <p:nvPr>
            <p:ph type="body" idx="1"/>
          </p:nvPr>
        </p:nvSpPr>
        <p:spPr>
          <a:xfrm>
            <a:off x="2046312" y="990600"/>
            <a:ext cx="8074025" cy="5539978"/>
          </a:xfrm>
        </p:spPr>
        <p:txBody>
          <a:bodyPr>
            <a:normAutofit fontScale="77500" lnSpcReduction="20000"/>
          </a:bodyPr>
          <a:lstStyle/>
          <a:p>
            <a:r>
              <a:rPr lang="en-IN" b="1" dirty="0"/>
              <a:t>Siri</a:t>
            </a:r>
            <a:r>
              <a:rPr lang="en-IN" dirty="0"/>
              <a:t> is Apple’s </a:t>
            </a:r>
            <a:r>
              <a:rPr lang="en-IN" b="1" dirty="0"/>
              <a:t>AI-powered virtual assistant</a:t>
            </a:r>
            <a:r>
              <a:rPr lang="en-IN" dirty="0"/>
              <a:t>, integrated into </a:t>
            </a:r>
            <a:r>
              <a:rPr lang="en-IN" b="1" dirty="0"/>
              <a:t>iPhones, iPads, Macs, Apple Watches, and HomePods</a:t>
            </a:r>
            <a:r>
              <a:rPr lang="en-IN" dirty="0"/>
              <a:t>.</a:t>
            </a:r>
          </a:p>
          <a:p>
            <a:br>
              <a:rPr lang="en-IN" dirty="0"/>
            </a:br>
            <a:r>
              <a:rPr lang="en-IN" dirty="0"/>
              <a:t>It uses </a:t>
            </a:r>
            <a:r>
              <a:rPr lang="en-IN" b="1" dirty="0"/>
              <a:t>speech recognition</a:t>
            </a:r>
            <a:r>
              <a:rPr lang="en-IN" dirty="0"/>
              <a:t>, </a:t>
            </a:r>
            <a:r>
              <a:rPr lang="en-IN" b="1" dirty="0"/>
              <a:t>natural language processing (NLP)</a:t>
            </a:r>
            <a:r>
              <a:rPr lang="en-IN" dirty="0"/>
              <a:t>, and </a:t>
            </a:r>
            <a:r>
              <a:rPr lang="en-IN" b="1" dirty="0"/>
              <a:t>machine learning (ML)</a:t>
            </a:r>
            <a:r>
              <a:rPr lang="en-IN" dirty="0"/>
              <a:t> to understand spoken commands, answer questions, and perform tasks for users — all with a focus on </a:t>
            </a:r>
            <a:r>
              <a:rPr lang="en-IN" b="1" dirty="0"/>
              <a:t>privacy and personalization</a:t>
            </a:r>
            <a:r>
              <a:rPr lang="en-IN" dirty="0"/>
              <a:t>.</a:t>
            </a:r>
          </a:p>
          <a:p>
            <a:endParaRPr lang="en-IN" dirty="0"/>
          </a:p>
          <a:p>
            <a:r>
              <a:rPr lang="en-IN" b="1" dirty="0"/>
              <a:t>Overview</a:t>
            </a:r>
          </a:p>
          <a:p>
            <a:endParaRPr lang="en-IN" b="1" dirty="0"/>
          </a:p>
          <a:p>
            <a:r>
              <a:rPr lang="en-IN" dirty="0"/>
              <a:t>Launched in </a:t>
            </a:r>
            <a:r>
              <a:rPr lang="en-IN" b="1" dirty="0"/>
              <a:t>2011</a:t>
            </a:r>
            <a:r>
              <a:rPr lang="en-IN" dirty="0"/>
              <a:t>, Siri was one of the first mainstream voice assistants.</a:t>
            </a:r>
            <a:br>
              <a:rPr lang="en-IN" dirty="0"/>
            </a:br>
            <a:r>
              <a:rPr lang="en-IN" dirty="0"/>
              <a:t>It helps users perform hands-free actions like sending messages, setting reminders, playing music, navigating routes, or answering queries using voice commands such as:</a:t>
            </a:r>
          </a:p>
          <a:p>
            <a:endParaRPr lang="en-IN" dirty="0"/>
          </a:p>
          <a:p>
            <a:r>
              <a:rPr lang="en-IN" dirty="0"/>
              <a:t>“Hey Siri, what’s the weather today?”</a:t>
            </a:r>
          </a:p>
          <a:p>
            <a:endParaRPr lang="en-IN" dirty="0"/>
          </a:p>
          <a:p>
            <a:endParaRPr lang="en-US" dirty="0"/>
          </a:p>
        </p:txBody>
      </p:sp>
    </p:spTree>
    <p:extLst>
      <p:ext uri="{BB962C8B-B14F-4D97-AF65-F5344CB8AC3E}">
        <p14:creationId xmlns:p14="http://schemas.microsoft.com/office/powerpoint/2010/main" val="1724667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ACF64-4CED-DA91-3D37-69386AB5A490}"/>
              </a:ext>
            </a:extLst>
          </p:cNvPr>
          <p:cNvSpPr>
            <a:spLocks noGrp="1"/>
          </p:cNvSpPr>
          <p:nvPr>
            <p:ph type="title"/>
          </p:nvPr>
        </p:nvSpPr>
        <p:spPr>
          <a:xfrm>
            <a:off x="2059941" y="145492"/>
            <a:ext cx="8072119" cy="1846659"/>
          </a:xfrm>
        </p:spPr>
        <p:txBody>
          <a:bodyPr>
            <a:normAutofit fontScale="90000"/>
          </a:bodyPr>
          <a:lstStyle/>
          <a:p>
            <a:r>
              <a:rPr lang="en-US" dirty="0"/>
              <a:t>Core Technologies Behind Siri</a:t>
            </a:r>
            <a:br>
              <a:rPr lang="en-US" dirty="0"/>
            </a:br>
            <a:br>
              <a:rPr lang="en-US" dirty="0"/>
            </a:br>
            <a:endParaRPr lang="en-US" dirty="0"/>
          </a:p>
        </p:txBody>
      </p:sp>
      <p:sp>
        <p:nvSpPr>
          <p:cNvPr id="3" name="Text Placeholder 2">
            <a:extLst>
              <a:ext uri="{FF2B5EF4-FFF2-40B4-BE49-F238E27FC236}">
                <a16:creationId xmlns:a16="http://schemas.microsoft.com/office/drawing/2014/main" id="{95A2DB8B-49E0-8E12-EB70-C4A5DD678061}"/>
              </a:ext>
            </a:extLst>
          </p:cNvPr>
          <p:cNvSpPr>
            <a:spLocks noGrp="1"/>
          </p:cNvSpPr>
          <p:nvPr>
            <p:ph type="body" idx="1"/>
          </p:nvPr>
        </p:nvSpPr>
        <p:spPr>
          <a:xfrm>
            <a:off x="2058035" y="914400"/>
            <a:ext cx="8074025" cy="5724644"/>
          </a:xfrm>
        </p:spPr>
        <p:txBody>
          <a:bodyPr>
            <a:normAutofit fontScale="92500" lnSpcReduction="20000"/>
          </a:bodyPr>
          <a:lstStyle/>
          <a:p>
            <a:r>
              <a:rPr lang="en-IN" sz="1600" b="1" dirty="0"/>
              <a:t>Automatic Speech Recognition (ASR)</a:t>
            </a:r>
            <a:endParaRPr lang="en-IN" sz="1600" dirty="0"/>
          </a:p>
          <a:p>
            <a:pPr lvl="1"/>
            <a:r>
              <a:rPr lang="en-IN" sz="1600" dirty="0"/>
              <a:t>Converts user speech into text.</a:t>
            </a:r>
          </a:p>
          <a:p>
            <a:pPr lvl="1"/>
            <a:r>
              <a:rPr lang="en-IN" sz="1600" dirty="0"/>
              <a:t>Handles different accents, pronunciations, and noise environments.</a:t>
            </a:r>
          </a:p>
          <a:p>
            <a:pPr lvl="1"/>
            <a:endParaRPr lang="en-IN" sz="1600" dirty="0"/>
          </a:p>
          <a:p>
            <a:r>
              <a:rPr lang="en-IN" sz="1600" b="1" dirty="0"/>
              <a:t>Natural Language Understanding (NLU)</a:t>
            </a:r>
            <a:endParaRPr lang="en-IN" sz="1600" dirty="0"/>
          </a:p>
          <a:p>
            <a:pPr lvl="1"/>
            <a:r>
              <a:rPr lang="en-IN" sz="1600" dirty="0"/>
              <a:t>Interprets user intent and extracts key information (like contact names, places, or actions).</a:t>
            </a:r>
          </a:p>
          <a:p>
            <a:pPr lvl="1"/>
            <a:r>
              <a:rPr lang="en-IN" sz="1600" dirty="0"/>
              <a:t>Example: “Call Mom” → Action = Call, Target = Mom.</a:t>
            </a:r>
          </a:p>
          <a:p>
            <a:pPr lvl="1"/>
            <a:endParaRPr lang="en-IN" sz="1600" dirty="0"/>
          </a:p>
          <a:p>
            <a:r>
              <a:rPr lang="en-IN" sz="1600" b="1" dirty="0"/>
              <a:t>Machine Learning (ML)</a:t>
            </a:r>
            <a:endParaRPr lang="en-IN" sz="1600" dirty="0"/>
          </a:p>
          <a:p>
            <a:pPr lvl="1"/>
            <a:r>
              <a:rPr lang="en-IN" sz="1600" dirty="0"/>
              <a:t>Learns from user </a:t>
            </a:r>
            <a:r>
              <a:rPr lang="en-IN" sz="1600" dirty="0" err="1"/>
              <a:t>behavior</a:t>
            </a:r>
            <a:r>
              <a:rPr lang="en-IN" sz="1600" dirty="0"/>
              <a:t> to personalize responses.</a:t>
            </a:r>
          </a:p>
          <a:p>
            <a:pPr lvl="1"/>
            <a:r>
              <a:rPr lang="en-IN" sz="1600" dirty="0"/>
              <a:t>Improves accuracy with usage patterns.</a:t>
            </a:r>
          </a:p>
          <a:p>
            <a:pPr lvl="1"/>
            <a:endParaRPr lang="en-IN" sz="1600" dirty="0"/>
          </a:p>
          <a:p>
            <a:r>
              <a:rPr lang="en-IN" sz="1600" b="1" dirty="0"/>
              <a:t>Knowledge Graph + Search Integration</a:t>
            </a:r>
            <a:endParaRPr lang="en-IN" sz="1600" dirty="0"/>
          </a:p>
          <a:p>
            <a:pPr lvl="1"/>
            <a:r>
              <a:rPr lang="en-IN" sz="1600" dirty="0"/>
              <a:t>Uses Apple’s and third-party knowledge bases (like </a:t>
            </a:r>
            <a:r>
              <a:rPr lang="en-IN" sz="1600" dirty="0" err="1"/>
              <a:t>WolframAlpha</a:t>
            </a:r>
            <a:r>
              <a:rPr lang="en-IN" sz="1600" dirty="0"/>
              <a:t>, Maps, Wikipedia) to answer factual questions.</a:t>
            </a:r>
          </a:p>
          <a:p>
            <a:pPr lvl="1"/>
            <a:endParaRPr lang="en-IN" sz="1600" dirty="0"/>
          </a:p>
          <a:p>
            <a:r>
              <a:rPr lang="en-IN" sz="1600" b="1" dirty="0"/>
              <a:t>Text-to-Speech (TTS)</a:t>
            </a:r>
            <a:endParaRPr lang="en-IN" sz="1600" dirty="0"/>
          </a:p>
          <a:p>
            <a:pPr lvl="1"/>
            <a:r>
              <a:rPr lang="en-IN" sz="1600" dirty="0"/>
              <a:t>Converts Siri’s text responses into natural-sounding speech.</a:t>
            </a:r>
          </a:p>
          <a:p>
            <a:pPr lvl="1"/>
            <a:endParaRPr lang="en-IN" sz="1600" dirty="0"/>
          </a:p>
          <a:p>
            <a:r>
              <a:rPr lang="en-IN" sz="1600" b="1" dirty="0"/>
              <a:t>On-Device and Cloud AI</a:t>
            </a:r>
            <a:endParaRPr lang="en-IN" sz="1600" dirty="0"/>
          </a:p>
          <a:p>
            <a:pPr lvl="1"/>
            <a:r>
              <a:rPr lang="en-IN" sz="1600" dirty="0"/>
              <a:t>Simple tasks (like opening apps) are processed </a:t>
            </a:r>
            <a:r>
              <a:rPr lang="en-IN" sz="1600" b="1" dirty="0"/>
              <a:t>on-device</a:t>
            </a:r>
            <a:r>
              <a:rPr lang="en-IN" sz="1600" dirty="0"/>
              <a:t> for speed and privacy.</a:t>
            </a:r>
          </a:p>
          <a:p>
            <a:pPr lvl="1"/>
            <a:r>
              <a:rPr lang="en-IN" sz="1600" dirty="0"/>
              <a:t>Complex queries (like web searches) are sent securely to Apple’s servers.</a:t>
            </a:r>
          </a:p>
          <a:p>
            <a:endParaRPr lang="en-US" dirty="0"/>
          </a:p>
        </p:txBody>
      </p:sp>
    </p:spTree>
    <p:extLst>
      <p:ext uri="{BB962C8B-B14F-4D97-AF65-F5344CB8AC3E}">
        <p14:creationId xmlns:p14="http://schemas.microsoft.com/office/powerpoint/2010/main" val="9874409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3E5B-19C6-8012-9198-1C8C14C91F1B}"/>
              </a:ext>
            </a:extLst>
          </p:cNvPr>
          <p:cNvSpPr>
            <a:spLocks noGrp="1"/>
          </p:cNvSpPr>
          <p:nvPr>
            <p:ph type="title"/>
          </p:nvPr>
        </p:nvSpPr>
        <p:spPr>
          <a:xfrm>
            <a:off x="2059941" y="145492"/>
            <a:ext cx="8072119" cy="615553"/>
          </a:xfrm>
        </p:spPr>
        <p:txBody>
          <a:bodyPr>
            <a:normAutofit fontScale="90000"/>
          </a:bodyPr>
          <a:lstStyle/>
          <a:p>
            <a:r>
              <a:rPr lang="en-US" dirty="0"/>
              <a:t>Applications of Siri</a:t>
            </a:r>
          </a:p>
        </p:txBody>
      </p:sp>
      <p:graphicFrame>
        <p:nvGraphicFramePr>
          <p:cNvPr id="4" name="Table 3">
            <a:extLst>
              <a:ext uri="{FF2B5EF4-FFF2-40B4-BE49-F238E27FC236}">
                <a16:creationId xmlns:a16="http://schemas.microsoft.com/office/drawing/2014/main" id="{196B6A62-F25A-B33C-4C72-28761988F360}"/>
              </a:ext>
            </a:extLst>
          </p:cNvPr>
          <p:cNvGraphicFramePr>
            <a:graphicFrameLocks noGrp="1"/>
          </p:cNvGraphicFramePr>
          <p:nvPr/>
        </p:nvGraphicFramePr>
        <p:xfrm>
          <a:off x="2059940" y="1371600"/>
          <a:ext cx="8074024" cy="3657600"/>
        </p:xfrm>
        <a:graphic>
          <a:graphicData uri="http://schemas.openxmlformats.org/drawingml/2006/table">
            <a:tbl>
              <a:tblPr/>
              <a:tblGrid>
                <a:gridCol w="4037012">
                  <a:extLst>
                    <a:ext uri="{9D8B030D-6E8A-4147-A177-3AD203B41FA5}">
                      <a16:colId xmlns:a16="http://schemas.microsoft.com/office/drawing/2014/main" val="3101584598"/>
                    </a:ext>
                  </a:extLst>
                </a:gridCol>
                <a:gridCol w="4037012">
                  <a:extLst>
                    <a:ext uri="{9D8B030D-6E8A-4147-A177-3AD203B41FA5}">
                      <a16:colId xmlns:a16="http://schemas.microsoft.com/office/drawing/2014/main" val="2223400124"/>
                    </a:ext>
                  </a:extLst>
                </a:gridCol>
              </a:tblGrid>
              <a:tr h="365760">
                <a:tc>
                  <a:txBody>
                    <a:bodyPr/>
                    <a:lstStyle/>
                    <a:p>
                      <a:pPr>
                        <a:buNone/>
                      </a:pPr>
                      <a:r>
                        <a:rPr lang="en-IN" sz="1800"/>
                        <a:t>Category</a:t>
                      </a:r>
                    </a:p>
                  </a:txBody>
                  <a:tcPr anchor="ctr">
                    <a:lnL>
                      <a:noFill/>
                    </a:lnL>
                    <a:lnR>
                      <a:noFill/>
                    </a:lnR>
                    <a:lnT>
                      <a:noFill/>
                    </a:lnT>
                    <a:lnB>
                      <a:noFill/>
                    </a:lnB>
                    <a:noFill/>
                  </a:tcPr>
                </a:tc>
                <a:tc>
                  <a:txBody>
                    <a:bodyPr/>
                    <a:lstStyle/>
                    <a:p>
                      <a:pPr>
                        <a:buNone/>
                      </a:pPr>
                      <a:r>
                        <a:rPr lang="en-IN" sz="1800"/>
                        <a:t>Examples</a:t>
                      </a:r>
                    </a:p>
                  </a:txBody>
                  <a:tcPr anchor="ctr">
                    <a:lnL>
                      <a:noFill/>
                    </a:lnL>
                    <a:lnR>
                      <a:noFill/>
                    </a:lnR>
                    <a:lnT>
                      <a:noFill/>
                    </a:lnT>
                    <a:lnB>
                      <a:noFill/>
                    </a:lnB>
                    <a:noFill/>
                  </a:tcPr>
                </a:tc>
                <a:extLst>
                  <a:ext uri="{0D108BD9-81ED-4DB2-BD59-A6C34878D82A}">
                    <a16:rowId xmlns:a16="http://schemas.microsoft.com/office/drawing/2014/main" val="4067031681"/>
                  </a:ext>
                </a:extLst>
              </a:tr>
              <a:tr h="640080">
                <a:tc>
                  <a:txBody>
                    <a:bodyPr/>
                    <a:lstStyle/>
                    <a:p>
                      <a:pPr>
                        <a:buNone/>
                      </a:pPr>
                      <a:r>
                        <a:rPr lang="en-IN" sz="1800" b="1" dirty="0"/>
                        <a:t>Communication</a:t>
                      </a:r>
                      <a:endParaRPr lang="en-IN" sz="1800" dirty="0"/>
                    </a:p>
                  </a:txBody>
                  <a:tcPr anchor="ctr">
                    <a:lnL>
                      <a:noFill/>
                    </a:lnL>
                    <a:lnR>
                      <a:noFill/>
                    </a:lnR>
                    <a:lnT>
                      <a:noFill/>
                    </a:lnT>
                    <a:lnB>
                      <a:noFill/>
                    </a:lnB>
                    <a:noFill/>
                  </a:tcPr>
                </a:tc>
                <a:tc>
                  <a:txBody>
                    <a:bodyPr/>
                    <a:lstStyle/>
                    <a:p>
                      <a:pPr>
                        <a:buNone/>
                      </a:pPr>
                      <a:r>
                        <a:rPr lang="en-IN" sz="1800"/>
                        <a:t>Make calls, send messages, read notifications</a:t>
                      </a:r>
                    </a:p>
                  </a:txBody>
                  <a:tcPr anchor="ctr">
                    <a:lnL>
                      <a:noFill/>
                    </a:lnL>
                    <a:lnR>
                      <a:noFill/>
                    </a:lnR>
                    <a:lnT>
                      <a:noFill/>
                    </a:lnT>
                    <a:lnB>
                      <a:noFill/>
                    </a:lnB>
                    <a:noFill/>
                  </a:tcPr>
                </a:tc>
                <a:extLst>
                  <a:ext uri="{0D108BD9-81ED-4DB2-BD59-A6C34878D82A}">
                    <a16:rowId xmlns:a16="http://schemas.microsoft.com/office/drawing/2014/main" val="897074890"/>
                  </a:ext>
                </a:extLst>
              </a:tr>
              <a:tr h="640080">
                <a:tc>
                  <a:txBody>
                    <a:bodyPr/>
                    <a:lstStyle/>
                    <a:p>
                      <a:pPr>
                        <a:buNone/>
                      </a:pPr>
                      <a:r>
                        <a:rPr lang="en-IN" sz="1800" b="1"/>
                        <a:t>Productivity</a:t>
                      </a:r>
                      <a:endParaRPr lang="en-IN" sz="1800"/>
                    </a:p>
                  </a:txBody>
                  <a:tcPr anchor="ctr">
                    <a:lnL>
                      <a:noFill/>
                    </a:lnL>
                    <a:lnR>
                      <a:noFill/>
                    </a:lnR>
                    <a:lnT>
                      <a:noFill/>
                    </a:lnT>
                    <a:lnB>
                      <a:noFill/>
                    </a:lnB>
                    <a:noFill/>
                  </a:tcPr>
                </a:tc>
                <a:tc>
                  <a:txBody>
                    <a:bodyPr/>
                    <a:lstStyle/>
                    <a:p>
                      <a:pPr>
                        <a:buNone/>
                      </a:pPr>
                      <a:r>
                        <a:rPr lang="en-IN" sz="1800"/>
                        <a:t>Set reminders, schedule meetings, manage calendar</a:t>
                      </a:r>
                    </a:p>
                  </a:txBody>
                  <a:tcPr anchor="ctr">
                    <a:lnL>
                      <a:noFill/>
                    </a:lnL>
                    <a:lnR>
                      <a:noFill/>
                    </a:lnR>
                    <a:lnT>
                      <a:noFill/>
                    </a:lnT>
                    <a:lnB>
                      <a:noFill/>
                    </a:lnB>
                    <a:noFill/>
                  </a:tcPr>
                </a:tc>
                <a:extLst>
                  <a:ext uri="{0D108BD9-81ED-4DB2-BD59-A6C34878D82A}">
                    <a16:rowId xmlns:a16="http://schemas.microsoft.com/office/drawing/2014/main" val="744336539"/>
                  </a:ext>
                </a:extLst>
              </a:tr>
              <a:tr h="365760">
                <a:tc>
                  <a:txBody>
                    <a:bodyPr/>
                    <a:lstStyle/>
                    <a:p>
                      <a:pPr>
                        <a:buNone/>
                      </a:pPr>
                      <a:r>
                        <a:rPr lang="en-IN" sz="1800" b="1"/>
                        <a:t>Entertainment</a:t>
                      </a:r>
                      <a:endParaRPr lang="en-IN" sz="1800"/>
                    </a:p>
                  </a:txBody>
                  <a:tcPr anchor="ctr">
                    <a:lnL>
                      <a:noFill/>
                    </a:lnL>
                    <a:lnR>
                      <a:noFill/>
                    </a:lnR>
                    <a:lnT>
                      <a:noFill/>
                    </a:lnT>
                    <a:lnB>
                      <a:noFill/>
                    </a:lnB>
                    <a:noFill/>
                  </a:tcPr>
                </a:tc>
                <a:tc>
                  <a:txBody>
                    <a:bodyPr/>
                    <a:lstStyle/>
                    <a:p>
                      <a:pPr>
                        <a:buNone/>
                      </a:pPr>
                      <a:r>
                        <a:rPr lang="en-IN" sz="1800"/>
                        <a:t>Play music, podcasts, or control Apple TV</a:t>
                      </a:r>
                    </a:p>
                  </a:txBody>
                  <a:tcPr anchor="ctr">
                    <a:lnL>
                      <a:noFill/>
                    </a:lnL>
                    <a:lnR>
                      <a:noFill/>
                    </a:lnR>
                    <a:lnT>
                      <a:noFill/>
                    </a:lnT>
                    <a:lnB>
                      <a:noFill/>
                    </a:lnB>
                    <a:noFill/>
                  </a:tcPr>
                </a:tc>
                <a:extLst>
                  <a:ext uri="{0D108BD9-81ED-4DB2-BD59-A6C34878D82A}">
                    <a16:rowId xmlns:a16="http://schemas.microsoft.com/office/drawing/2014/main" val="429582693"/>
                  </a:ext>
                </a:extLst>
              </a:tr>
              <a:tr h="365760">
                <a:tc>
                  <a:txBody>
                    <a:bodyPr/>
                    <a:lstStyle/>
                    <a:p>
                      <a:pPr>
                        <a:buNone/>
                      </a:pPr>
                      <a:r>
                        <a:rPr lang="en-IN" sz="1800" b="1"/>
                        <a:t>Navigation</a:t>
                      </a:r>
                      <a:endParaRPr lang="en-IN" sz="1800"/>
                    </a:p>
                  </a:txBody>
                  <a:tcPr anchor="ctr">
                    <a:lnL>
                      <a:noFill/>
                    </a:lnL>
                    <a:lnR>
                      <a:noFill/>
                    </a:lnR>
                    <a:lnT>
                      <a:noFill/>
                    </a:lnT>
                    <a:lnB>
                      <a:noFill/>
                    </a:lnB>
                    <a:noFill/>
                  </a:tcPr>
                </a:tc>
                <a:tc>
                  <a:txBody>
                    <a:bodyPr/>
                    <a:lstStyle/>
                    <a:p>
                      <a:pPr>
                        <a:buNone/>
                      </a:pPr>
                      <a:r>
                        <a:rPr lang="en-IN" sz="1800"/>
                        <a:t>Provide directions via Apple Maps</a:t>
                      </a:r>
                    </a:p>
                  </a:txBody>
                  <a:tcPr anchor="ctr">
                    <a:lnL>
                      <a:noFill/>
                    </a:lnL>
                    <a:lnR>
                      <a:noFill/>
                    </a:lnR>
                    <a:lnT>
                      <a:noFill/>
                    </a:lnT>
                    <a:lnB>
                      <a:noFill/>
                    </a:lnB>
                    <a:noFill/>
                  </a:tcPr>
                </a:tc>
                <a:extLst>
                  <a:ext uri="{0D108BD9-81ED-4DB2-BD59-A6C34878D82A}">
                    <a16:rowId xmlns:a16="http://schemas.microsoft.com/office/drawing/2014/main" val="2982157494"/>
                  </a:ext>
                </a:extLst>
              </a:tr>
              <a:tr h="365760">
                <a:tc>
                  <a:txBody>
                    <a:bodyPr/>
                    <a:lstStyle/>
                    <a:p>
                      <a:pPr>
                        <a:buNone/>
                      </a:pPr>
                      <a:r>
                        <a:rPr lang="en-IN" sz="1800" b="1"/>
                        <a:t>Smart Home (HomeKit)</a:t>
                      </a:r>
                      <a:endParaRPr lang="en-IN" sz="1800"/>
                    </a:p>
                  </a:txBody>
                  <a:tcPr anchor="ctr">
                    <a:lnL>
                      <a:noFill/>
                    </a:lnL>
                    <a:lnR>
                      <a:noFill/>
                    </a:lnR>
                    <a:lnT>
                      <a:noFill/>
                    </a:lnT>
                    <a:lnB>
                      <a:noFill/>
                    </a:lnB>
                    <a:noFill/>
                  </a:tcPr>
                </a:tc>
                <a:tc>
                  <a:txBody>
                    <a:bodyPr/>
                    <a:lstStyle/>
                    <a:p>
                      <a:pPr>
                        <a:buNone/>
                      </a:pPr>
                      <a:r>
                        <a:rPr lang="en-IN" sz="1800"/>
                        <a:t>Control lights, locks, and thermostats</a:t>
                      </a:r>
                    </a:p>
                  </a:txBody>
                  <a:tcPr anchor="ctr">
                    <a:lnL>
                      <a:noFill/>
                    </a:lnL>
                    <a:lnR>
                      <a:noFill/>
                    </a:lnR>
                    <a:lnT>
                      <a:noFill/>
                    </a:lnT>
                    <a:lnB>
                      <a:noFill/>
                    </a:lnB>
                    <a:noFill/>
                  </a:tcPr>
                </a:tc>
                <a:extLst>
                  <a:ext uri="{0D108BD9-81ED-4DB2-BD59-A6C34878D82A}">
                    <a16:rowId xmlns:a16="http://schemas.microsoft.com/office/drawing/2014/main" val="2395519436"/>
                  </a:ext>
                </a:extLst>
              </a:tr>
              <a:tr h="640080">
                <a:tc>
                  <a:txBody>
                    <a:bodyPr/>
                    <a:lstStyle/>
                    <a:p>
                      <a:pPr>
                        <a:buNone/>
                      </a:pPr>
                      <a:r>
                        <a:rPr lang="en-IN" sz="1800" b="1"/>
                        <a:t>Information Retrieval</a:t>
                      </a:r>
                      <a:endParaRPr lang="en-IN" sz="1800"/>
                    </a:p>
                  </a:txBody>
                  <a:tcPr anchor="ctr">
                    <a:lnL>
                      <a:noFill/>
                    </a:lnL>
                    <a:lnR>
                      <a:noFill/>
                    </a:lnR>
                    <a:lnT>
                      <a:noFill/>
                    </a:lnT>
                    <a:lnB>
                      <a:noFill/>
                    </a:lnB>
                    <a:noFill/>
                  </a:tcPr>
                </a:tc>
                <a:tc>
                  <a:txBody>
                    <a:bodyPr/>
                    <a:lstStyle/>
                    <a:p>
                      <a:pPr>
                        <a:buNone/>
                      </a:pPr>
                      <a:r>
                        <a:rPr lang="en-IN" sz="1800" dirty="0"/>
                        <a:t>Weather, sports scores, general knowledge</a:t>
                      </a:r>
                    </a:p>
                  </a:txBody>
                  <a:tcPr anchor="ctr">
                    <a:lnL>
                      <a:noFill/>
                    </a:lnL>
                    <a:lnR>
                      <a:noFill/>
                    </a:lnR>
                    <a:lnT>
                      <a:noFill/>
                    </a:lnT>
                    <a:lnB>
                      <a:noFill/>
                    </a:lnB>
                    <a:noFill/>
                  </a:tcPr>
                </a:tc>
                <a:extLst>
                  <a:ext uri="{0D108BD9-81ED-4DB2-BD59-A6C34878D82A}">
                    <a16:rowId xmlns:a16="http://schemas.microsoft.com/office/drawing/2014/main" val="2706032371"/>
                  </a:ext>
                </a:extLst>
              </a:tr>
            </a:tbl>
          </a:graphicData>
        </a:graphic>
      </p:graphicFrame>
    </p:spTree>
    <p:extLst>
      <p:ext uri="{BB962C8B-B14F-4D97-AF65-F5344CB8AC3E}">
        <p14:creationId xmlns:p14="http://schemas.microsoft.com/office/powerpoint/2010/main" val="569846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29EA-B154-F515-DB7B-ED27F6FA7FB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974C45B-6AB6-284E-DD34-F3ED19FCC978}"/>
              </a:ext>
            </a:extLst>
          </p:cNvPr>
          <p:cNvSpPr>
            <a:spLocks noGrp="1"/>
          </p:cNvSpPr>
          <p:nvPr>
            <p:ph type="body" idx="1"/>
          </p:nvPr>
        </p:nvSpPr>
        <p:spPr>
          <a:xfrm>
            <a:off x="2059941" y="1480307"/>
            <a:ext cx="8074025" cy="5232202"/>
          </a:xfrm>
        </p:spPr>
        <p:txBody>
          <a:bodyPr>
            <a:normAutofit fontScale="70000" lnSpcReduction="20000"/>
          </a:bodyPr>
          <a:lstStyle/>
          <a:p>
            <a:r>
              <a:rPr lang="en-IN" b="1" dirty="0"/>
              <a:t>Advantages</a:t>
            </a:r>
          </a:p>
          <a:p>
            <a:endParaRPr lang="en-IN" b="1" dirty="0"/>
          </a:p>
          <a:p>
            <a:pPr marL="342900" indent="-342900">
              <a:buFont typeface="Wingdings" pitchFamily="2" charset="2"/>
              <a:buChar char="Ø"/>
            </a:pPr>
            <a:r>
              <a:rPr lang="en-IN" dirty="0"/>
              <a:t>Hands-free convenience</a:t>
            </a:r>
          </a:p>
          <a:p>
            <a:pPr marL="342900" indent="-342900">
              <a:buFont typeface="Wingdings" pitchFamily="2" charset="2"/>
              <a:buChar char="Ø"/>
            </a:pPr>
            <a:r>
              <a:rPr lang="en-IN" dirty="0"/>
              <a:t>Deep integration with Apple ecosystem</a:t>
            </a:r>
          </a:p>
          <a:p>
            <a:pPr marL="342900" indent="-342900">
              <a:buFont typeface="Wingdings" pitchFamily="2" charset="2"/>
              <a:buChar char="Ø"/>
            </a:pPr>
            <a:r>
              <a:rPr lang="en-IN" dirty="0"/>
              <a:t>High privacy — minimal data stored in the cloud</a:t>
            </a:r>
          </a:p>
          <a:p>
            <a:pPr marL="342900" indent="-342900">
              <a:buFont typeface="Wingdings" pitchFamily="2" charset="2"/>
              <a:buChar char="Ø"/>
            </a:pPr>
            <a:r>
              <a:rPr lang="en-IN" dirty="0"/>
              <a:t>Personalized responses based on user habits</a:t>
            </a:r>
          </a:p>
          <a:p>
            <a:pPr marL="342900" indent="-342900">
              <a:buFont typeface="Wingdings" pitchFamily="2" charset="2"/>
              <a:buChar char="Ø"/>
            </a:pPr>
            <a:r>
              <a:rPr lang="en-IN" dirty="0"/>
              <a:t>Continuous learning and updates</a:t>
            </a:r>
          </a:p>
          <a:p>
            <a:br>
              <a:rPr lang="en-IN" dirty="0"/>
            </a:br>
            <a:endParaRPr lang="en-IN" dirty="0"/>
          </a:p>
          <a:p>
            <a:r>
              <a:rPr lang="en-IN" b="1" dirty="0"/>
              <a:t>Limitations</a:t>
            </a:r>
          </a:p>
          <a:p>
            <a:endParaRPr lang="en-IN" b="1" dirty="0"/>
          </a:p>
          <a:p>
            <a:pPr marL="342900" indent="-342900">
              <a:buFont typeface="Wingdings" pitchFamily="2" charset="2"/>
              <a:buChar char="Ø"/>
            </a:pPr>
            <a:r>
              <a:rPr lang="en-IN" dirty="0"/>
              <a:t>Limited integration with non-Apple apps and devices</a:t>
            </a:r>
          </a:p>
          <a:p>
            <a:pPr marL="342900" indent="-342900">
              <a:buFont typeface="Wingdings" pitchFamily="2" charset="2"/>
              <a:buChar char="Ø"/>
            </a:pPr>
            <a:r>
              <a:rPr lang="en-IN" dirty="0"/>
              <a:t>Context understanding still basic compared to newer LLMs (like ChatGPT)</a:t>
            </a:r>
          </a:p>
          <a:p>
            <a:pPr marL="342900" indent="-342900">
              <a:buFont typeface="Wingdings" pitchFamily="2" charset="2"/>
              <a:buChar char="Ø"/>
            </a:pPr>
            <a:r>
              <a:rPr lang="en-IN" dirty="0"/>
              <a:t>Requires internet for most functions</a:t>
            </a:r>
          </a:p>
          <a:p>
            <a:pPr marL="342900" indent="-342900">
              <a:buFont typeface="Wingdings" pitchFamily="2" charset="2"/>
              <a:buChar char="Ø"/>
            </a:pPr>
            <a:r>
              <a:rPr lang="en-IN" dirty="0"/>
              <a:t>Regional language support still growing</a:t>
            </a:r>
          </a:p>
          <a:p>
            <a:endParaRPr lang="en-US" dirty="0"/>
          </a:p>
        </p:txBody>
      </p:sp>
    </p:spTree>
    <p:extLst>
      <p:ext uri="{BB962C8B-B14F-4D97-AF65-F5344CB8AC3E}">
        <p14:creationId xmlns:p14="http://schemas.microsoft.com/office/powerpoint/2010/main" val="24653608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254E6-F43F-19D4-58FF-67A5A596FDA3}"/>
              </a:ext>
            </a:extLst>
          </p:cNvPr>
          <p:cNvSpPr>
            <a:spLocks noGrp="1"/>
          </p:cNvSpPr>
          <p:nvPr>
            <p:ph type="title"/>
          </p:nvPr>
        </p:nvSpPr>
        <p:spPr>
          <a:xfrm>
            <a:off x="2059941" y="145492"/>
            <a:ext cx="8072119" cy="615553"/>
          </a:xfrm>
        </p:spPr>
        <p:txBody>
          <a:bodyPr>
            <a:normAutofit fontScale="90000"/>
          </a:bodyPr>
          <a:lstStyle/>
          <a:p>
            <a:r>
              <a:rPr lang="en-US" dirty="0"/>
              <a:t>Eliza</a:t>
            </a:r>
          </a:p>
        </p:txBody>
      </p:sp>
      <p:sp>
        <p:nvSpPr>
          <p:cNvPr id="3" name="Text Placeholder 2">
            <a:extLst>
              <a:ext uri="{FF2B5EF4-FFF2-40B4-BE49-F238E27FC236}">
                <a16:creationId xmlns:a16="http://schemas.microsoft.com/office/drawing/2014/main" id="{95EDD12B-03F1-35DD-D794-E4CE246279A4}"/>
              </a:ext>
            </a:extLst>
          </p:cNvPr>
          <p:cNvSpPr>
            <a:spLocks noGrp="1"/>
          </p:cNvSpPr>
          <p:nvPr>
            <p:ph type="body" idx="1"/>
          </p:nvPr>
        </p:nvSpPr>
        <p:spPr>
          <a:xfrm>
            <a:off x="1981201" y="1120676"/>
            <a:ext cx="8074025" cy="5232202"/>
          </a:xfrm>
        </p:spPr>
        <p:txBody>
          <a:bodyPr>
            <a:normAutofit fontScale="77500" lnSpcReduction="20000"/>
          </a:bodyPr>
          <a:lstStyle/>
          <a:p>
            <a:r>
              <a:rPr lang="en-IN" b="1" dirty="0"/>
              <a:t>ELIZA</a:t>
            </a:r>
            <a:r>
              <a:rPr lang="en-IN" dirty="0"/>
              <a:t> is one of the earliest examples of </a:t>
            </a:r>
            <a:r>
              <a:rPr lang="en-IN" b="1" dirty="0"/>
              <a:t>Artificial Intelligence in natural language processing</a:t>
            </a:r>
            <a:r>
              <a:rPr lang="en-IN" dirty="0"/>
              <a:t>, developed in </a:t>
            </a:r>
            <a:r>
              <a:rPr lang="en-IN" b="1" dirty="0"/>
              <a:t>1966</a:t>
            </a:r>
            <a:r>
              <a:rPr lang="en-IN" dirty="0"/>
              <a:t> by </a:t>
            </a:r>
            <a:r>
              <a:rPr lang="en-IN" b="1" dirty="0"/>
              <a:t>Joseph </a:t>
            </a:r>
            <a:r>
              <a:rPr lang="en-IN" b="1" dirty="0" err="1"/>
              <a:t>Weizenbaum</a:t>
            </a:r>
            <a:r>
              <a:rPr lang="en-IN" dirty="0"/>
              <a:t> at the </a:t>
            </a:r>
            <a:r>
              <a:rPr lang="en-IN" b="1" dirty="0"/>
              <a:t>MIT Artificial Intelligence Laboratory</a:t>
            </a:r>
            <a:r>
              <a:rPr lang="en-IN" dirty="0"/>
              <a:t>.</a:t>
            </a:r>
          </a:p>
          <a:p>
            <a:br>
              <a:rPr lang="en-IN" dirty="0"/>
            </a:br>
            <a:r>
              <a:rPr lang="en-IN" dirty="0"/>
              <a:t>It is considered the </a:t>
            </a:r>
            <a:r>
              <a:rPr lang="en-IN" b="1" dirty="0"/>
              <a:t>first chatbot</a:t>
            </a:r>
            <a:r>
              <a:rPr lang="en-IN" dirty="0"/>
              <a:t> and an early demonstration of </a:t>
            </a:r>
            <a:r>
              <a:rPr lang="en-IN" b="1" dirty="0"/>
              <a:t>human-computer conversation</a:t>
            </a:r>
            <a:r>
              <a:rPr lang="en-IN" dirty="0"/>
              <a:t> through text.</a:t>
            </a:r>
          </a:p>
          <a:p>
            <a:br>
              <a:rPr lang="en-IN" dirty="0"/>
            </a:br>
            <a:endParaRPr lang="en-IN" dirty="0"/>
          </a:p>
          <a:p>
            <a:r>
              <a:rPr lang="en-IN" b="1" dirty="0"/>
              <a:t>Overview</a:t>
            </a:r>
          </a:p>
          <a:p>
            <a:endParaRPr lang="en-IN" b="1" dirty="0"/>
          </a:p>
          <a:p>
            <a:r>
              <a:rPr lang="en-IN" dirty="0"/>
              <a:t>ELIZA was designed to simulate conversation by using </a:t>
            </a:r>
            <a:r>
              <a:rPr lang="en-IN" b="1" dirty="0"/>
              <a:t>pattern matching</a:t>
            </a:r>
            <a:r>
              <a:rPr lang="en-IN" dirty="0"/>
              <a:t> and </a:t>
            </a:r>
            <a:r>
              <a:rPr lang="en-IN" b="1" dirty="0"/>
              <a:t>substitution rules</a:t>
            </a:r>
            <a:r>
              <a:rPr lang="en-IN" dirty="0"/>
              <a:t> to respond to user input.</a:t>
            </a:r>
          </a:p>
          <a:p>
            <a:br>
              <a:rPr lang="en-IN" dirty="0"/>
            </a:br>
            <a:r>
              <a:rPr lang="en-IN" dirty="0"/>
              <a:t>One of its most famous scripts was </a:t>
            </a:r>
            <a:r>
              <a:rPr lang="en-IN" b="1" dirty="0"/>
              <a:t>“DOCTOR”</a:t>
            </a:r>
            <a:r>
              <a:rPr lang="en-IN" dirty="0"/>
              <a:t>, which mimicked a </a:t>
            </a:r>
            <a:r>
              <a:rPr lang="en-IN" b="1" dirty="0"/>
              <a:t>Rogerian psychotherapist</a:t>
            </a:r>
            <a:r>
              <a:rPr lang="en-IN" dirty="0"/>
              <a:t> — responding with open-ended questions or reflective statements.</a:t>
            </a:r>
          </a:p>
          <a:p>
            <a:endParaRPr lang="en-US" dirty="0"/>
          </a:p>
        </p:txBody>
      </p:sp>
    </p:spTree>
    <p:extLst>
      <p:ext uri="{BB962C8B-B14F-4D97-AF65-F5344CB8AC3E}">
        <p14:creationId xmlns:p14="http://schemas.microsoft.com/office/powerpoint/2010/main" val="2204635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A5044-3C9A-66D0-680E-E2511C6358A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8B7AB9E-F1C5-386C-CCF1-20E48B1CBFFF}"/>
              </a:ext>
            </a:extLst>
          </p:cNvPr>
          <p:cNvSpPr>
            <a:spLocks noGrp="1"/>
          </p:cNvSpPr>
          <p:nvPr>
            <p:ph type="body" idx="1"/>
          </p:nvPr>
        </p:nvSpPr>
        <p:spPr>
          <a:xfrm>
            <a:off x="2059941" y="1616709"/>
            <a:ext cx="8074025" cy="3077766"/>
          </a:xfrm>
        </p:spPr>
        <p:txBody>
          <a:bodyPr>
            <a:normAutofit fontScale="70000" lnSpcReduction="20000"/>
          </a:bodyPr>
          <a:lstStyle/>
          <a:p>
            <a:r>
              <a:rPr lang="en-IN" dirty="0"/>
              <a:t>Example conversation:</a:t>
            </a:r>
          </a:p>
          <a:p>
            <a:endParaRPr lang="en-IN" dirty="0"/>
          </a:p>
          <a:p>
            <a:r>
              <a:rPr lang="en-US" dirty="0"/>
              <a:t>User: I'm feeling sad today.</a:t>
            </a:r>
          </a:p>
          <a:p>
            <a:endParaRPr lang="en-US" dirty="0"/>
          </a:p>
          <a:p>
            <a:r>
              <a:rPr lang="en-US" dirty="0"/>
              <a:t>ELIZA: Why do you think you are feeling sad?</a:t>
            </a:r>
          </a:p>
          <a:p>
            <a:endParaRPr lang="en-US" dirty="0"/>
          </a:p>
          <a:p>
            <a:r>
              <a:rPr lang="en-IN" dirty="0"/>
              <a:t>Even though ELIZA had </a:t>
            </a:r>
            <a:r>
              <a:rPr lang="en-IN" b="1" dirty="0"/>
              <a:t>no real understanding</a:t>
            </a:r>
            <a:r>
              <a:rPr lang="en-IN" dirty="0"/>
              <a:t> of language, many users felt like they were genuinely conversing with an empathetic listener — a powerful early example of AI’s psychological impact.</a:t>
            </a:r>
            <a:endParaRPr lang="en-US" dirty="0"/>
          </a:p>
          <a:p>
            <a:endParaRPr lang="en-US" dirty="0"/>
          </a:p>
        </p:txBody>
      </p:sp>
    </p:spTree>
    <p:extLst>
      <p:ext uri="{BB962C8B-B14F-4D97-AF65-F5344CB8AC3E}">
        <p14:creationId xmlns:p14="http://schemas.microsoft.com/office/powerpoint/2010/main" val="2608365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0919-D716-23DC-6A23-20DDB35C8D62}"/>
              </a:ext>
            </a:extLst>
          </p:cNvPr>
          <p:cNvSpPr>
            <a:spLocks noGrp="1"/>
          </p:cNvSpPr>
          <p:nvPr>
            <p:ph type="title"/>
          </p:nvPr>
        </p:nvSpPr>
        <p:spPr>
          <a:xfrm>
            <a:off x="2059941" y="145492"/>
            <a:ext cx="8072119" cy="1846659"/>
          </a:xfrm>
        </p:spPr>
        <p:txBody>
          <a:bodyPr>
            <a:normAutofit fontScale="90000"/>
          </a:bodyPr>
          <a:lstStyle/>
          <a:p>
            <a:r>
              <a:rPr lang="en-US" dirty="0"/>
              <a:t>Key Working Principles</a:t>
            </a:r>
            <a:br>
              <a:rPr lang="en-US" dirty="0"/>
            </a:br>
            <a:br>
              <a:rPr lang="en-US" dirty="0"/>
            </a:br>
            <a:endParaRPr lang="en-US" dirty="0"/>
          </a:p>
        </p:txBody>
      </p:sp>
      <p:sp>
        <p:nvSpPr>
          <p:cNvPr id="3" name="Text Placeholder 2">
            <a:extLst>
              <a:ext uri="{FF2B5EF4-FFF2-40B4-BE49-F238E27FC236}">
                <a16:creationId xmlns:a16="http://schemas.microsoft.com/office/drawing/2014/main" id="{CCB9CEC0-3FD8-10E9-D8EE-FD3A3A88B8BF}"/>
              </a:ext>
            </a:extLst>
          </p:cNvPr>
          <p:cNvSpPr>
            <a:spLocks noGrp="1"/>
          </p:cNvSpPr>
          <p:nvPr>
            <p:ph type="body" idx="1"/>
          </p:nvPr>
        </p:nvSpPr>
        <p:spPr>
          <a:xfrm>
            <a:off x="2059941" y="1616709"/>
            <a:ext cx="8074025" cy="4308872"/>
          </a:xfrm>
        </p:spPr>
        <p:txBody>
          <a:bodyPr>
            <a:normAutofit fontScale="77500" lnSpcReduction="20000"/>
          </a:bodyPr>
          <a:lstStyle/>
          <a:p>
            <a:r>
              <a:rPr lang="en-IN" b="1" dirty="0"/>
              <a:t>Pattern Matching</a:t>
            </a:r>
            <a:endParaRPr lang="en-IN" dirty="0"/>
          </a:p>
          <a:p>
            <a:pPr lvl="1"/>
            <a:r>
              <a:rPr lang="en-IN" dirty="0"/>
              <a:t>ELIZA scans the input for keywords (e.g., </a:t>
            </a:r>
            <a:r>
              <a:rPr lang="en-IN" i="1" dirty="0"/>
              <a:t>mother, father, happy, sad</a:t>
            </a:r>
            <a:r>
              <a:rPr lang="en-IN" dirty="0"/>
              <a:t>).</a:t>
            </a:r>
          </a:p>
          <a:p>
            <a:pPr lvl="1"/>
            <a:r>
              <a:rPr lang="en-IN" dirty="0"/>
              <a:t>It matches these patterns against a set of predefined rules.</a:t>
            </a:r>
          </a:p>
          <a:p>
            <a:pPr lvl="1"/>
            <a:endParaRPr lang="en-IN" dirty="0"/>
          </a:p>
          <a:p>
            <a:r>
              <a:rPr lang="en-IN" b="1" dirty="0"/>
              <a:t>Decomposition Rules</a:t>
            </a:r>
            <a:endParaRPr lang="en-IN" dirty="0"/>
          </a:p>
          <a:p>
            <a:pPr lvl="1"/>
            <a:r>
              <a:rPr lang="en-IN" dirty="0"/>
              <a:t>Breaks down user input into components.</a:t>
            </a:r>
          </a:p>
          <a:p>
            <a:pPr lvl="1"/>
            <a:r>
              <a:rPr lang="en-IN" dirty="0"/>
              <a:t>Example: “I am X” → “Why are you X?”</a:t>
            </a:r>
          </a:p>
          <a:p>
            <a:pPr lvl="1"/>
            <a:endParaRPr lang="en-IN" dirty="0"/>
          </a:p>
          <a:p>
            <a:r>
              <a:rPr lang="en-IN" b="1" dirty="0"/>
              <a:t>Reassembly Rules</a:t>
            </a:r>
            <a:endParaRPr lang="en-IN" dirty="0"/>
          </a:p>
          <a:p>
            <a:pPr lvl="1"/>
            <a:r>
              <a:rPr lang="en-IN" dirty="0"/>
              <a:t>Constructs a reply by rearranging the input text and adding canned phrases.</a:t>
            </a:r>
          </a:p>
          <a:p>
            <a:pPr lvl="1"/>
            <a:endParaRPr lang="en-IN" dirty="0"/>
          </a:p>
          <a:p>
            <a:r>
              <a:rPr lang="en-IN" b="1" dirty="0"/>
              <a:t>Script-Based Design</a:t>
            </a:r>
            <a:endParaRPr lang="en-IN" dirty="0"/>
          </a:p>
          <a:p>
            <a:pPr lvl="1"/>
            <a:r>
              <a:rPr lang="en-IN" dirty="0"/>
              <a:t>Each </a:t>
            </a:r>
            <a:r>
              <a:rPr lang="en-IN" dirty="0" err="1"/>
              <a:t>behavior</a:t>
            </a:r>
            <a:r>
              <a:rPr lang="en-IN" dirty="0"/>
              <a:t> or personality (like the “DOCTOR”) was defined by a </a:t>
            </a:r>
            <a:r>
              <a:rPr lang="en-IN" b="1" dirty="0"/>
              <a:t>script</a:t>
            </a:r>
            <a:r>
              <a:rPr lang="en-IN" dirty="0"/>
              <a:t> containing the rules.</a:t>
            </a:r>
          </a:p>
          <a:p>
            <a:endParaRPr lang="en-US" dirty="0"/>
          </a:p>
        </p:txBody>
      </p:sp>
    </p:spTree>
    <p:extLst>
      <p:ext uri="{BB962C8B-B14F-4D97-AF65-F5344CB8AC3E}">
        <p14:creationId xmlns:p14="http://schemas.microsoft.com/office/powerpoint/2010/main" val="36190763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DC2031-2702-1326-102C-E607D403614E}"/>
              </a:ext>
            </a:extLst>
          </p:cNvPr>
          <p:cNvSpPr>
            <a:spLocks noGrp="1"/>
          </p:cNvSpPr>
          <p:nvPr>
            <p:ph type="body" idx="1"/>
          </p:nvPr>
        </p:nvSpPr>
        <p:spPr>
          <a:xfrm>
            <a:off x="2058988" y="228600"/>
            <a:ext cx="8074025" cy="6771084"/>
          </a:xfrm>
        </p:spPr>
        <p:txBody>
          <a:bodyPr>
            <a:normAutofit fontScale="62500" lnSpcReduction="20000"/>
          </a:bodyPr>
          <a:lstStyle/>
          <a:p>
            <a:r>
              <a:rPr lang="en-IN" b="1" dirty="0"/>
              <a:t>Features</a:t>
            </a:r>
          </a:p>
          <a:p>
            <a:endParaRPr lang="en-IN" b="1" dirty="0"/>
          </a:p>
          <a:p>
            <a:pPr marL="342900" indent="-342900">
              <a:buFont typeface="Wingdings" pitchFamily="2" charset="2"/>
              <a:buChar char="Ø"/>
            </a:pPr>
            <a:r>
              <a:rPr lang="en-IN" dirty="0"/>
              <a:t>Text-based interaction</a:t>
            </a:r>
          </a:p>
          <a:p>
            <a:pPr marL="342900" indent="-342900">
              <a:buFont typeface="Wingdings" pitchFamily="2" charset="2"/>
              <a:buChar char="Ø"/>
            </a:pPr>
            <a:r>
              <a:rPr lang="en-IN" dirty="0"/>
              <a:t>No memory of previous conversations</a:t>
            </a:r>
          </a:p>
          <a:p>
            <a:pPr marL="342900" indent="-342900">
              <a:buFont typeface="Wingdings" pitchFamily="2" charset="2"/>
              <a:buChar char="Ø"/>
            </a:pPr>
            <a:r>
              <a:rPr lang="en-IN" dirty="0"/>
              <a:t>No true understanding — just syntactic manipulation</a:t>
            </a:r>
          </a:p>
          <a:p>
            <a:pPr marL="342900" indent="-342900">
              <a:buFont typeface="Wingdings" pitchFamily="2" charset="2"/>
              <a:buChar char="Ø"/>
            </a:pPr>
            <a:r>
              <a:rPr lang="en-IN" dirty="0"/>
              <a:t>Modular “scripts” allowed new personalities or topics</a:t>
            </a:r>
          </a:p>
          <a:p>
            <a:br>
              <a:rPr lang="en-IN" dirty="0"/>
            </a:br>
            <a:endParaRPr lang="en-IN" dirty="0"/>
          </a:p>
          <a:p>
            <a:r>
              <a:rPr lang="en-IN" b="1" dirty="0"/>
              <a:t>Advantages</a:t>
            </a:r>
          </a:p>
          <a:p>
            <a:endParaRPr lang="en-IN" b="1" dirty="0"/>
          </a:p>
          <a:p>
            <a:pPr marL="342900" indent="-342900">
              <a:buFont typeface="Wingdings" pitchFamily="2" charset="2"/>
              <a:buChar char="Ø"/>
            </a:pPr>
            <a:r>
              <a:rPr lang="en-IN" dirty="0"/>
              <a:t>First successful demonstration of natural language conversation</a:t>
            </a:r>
          </a:p>
          <a:p>
            <a:pPr marL="342900" indent="-342900">
              <a:buFont typeface="Wingdings" pitchFamily="2" charset="2"/>
              <a:buChar char="Ø"/>
            </a:pPr>
            <a:r>
              <a:rPr lang="en-IN" dirty="0"/>
              <a:t>Inspired later chatbot systems (e.g., PARRY, ALICE, Siri, ChatGPT)</a:t>
            </a:r>
          </a:p>
          <a:p>
            <a:pPr marL="342900" indent="-342900">
              <a:buFont typeface="Wingdings" pitchFamily="2" charset="2"/>
              <a:buChar char="Ø"/>
            </a:pPr>
            <a:r>
              <a:rPr lang="en-IN" dirty="0"/>
              <a:t>Showed human tendency to attribute understanding to machines</a:t>
            </a:r>
          </a:p>
          <a:p>
            <a:br>
              <a:rPr lang="en-IN" dirty="0"/>
            </a:br>
            <a:endParaRPr lang="en-IN" dirty="0"/>
          </a:p>
          <a:p>
            <a:r>
              <a:rPr lang="en-IN" b="1" dirty="0"/>
              <a:t>Limitations</a:t>
            </a:r>
          </a:p>
          <a:p>
            <a:endParaRPr lang="en-IN" b="1" dirty="0"/>
          </a:p>
          <a:p>
            <a:pPr marL="342900" indent="-342900">
              <a:buFont typeface="Wingdings" pitchFamily="2" charset="2"/>
              <a:buChar char="Ø"/>
            </a:pPr>
            <a:r>
              <a:rPr lang="en-IN" dirty="0"/>
              <a:t>No semantic understanding (didn’t actually “know” anything)</a:t>
            </a:r>
          </a:p>
          <a:p>
            <a:pPr marL="342900" indent="-342900">
              <a:buFont typeface="Wingdings" pitchFamily="2" charset="2"/>
              <a:buChar char="Ø"/>
            </a:pPr>
            <a:r>
              <a:rPr lang="en-IN" dirty="0"/>
              <a:t>Could not maintain conversation context</a:t>
            </a:r>
          </a:p>
          <a:p>
            <a:pPr marL="342900" indent="-342900">
              <a:buFont typeface="Wingdings" pitchFamily="2" charset="2"/>
              <a:buChar char="Ø"/>
            </a:pPr>
            <a:r>
              <a:rPr lang="en-IN" dirty="0"/>
              <a:t>Repetitive and predictable after a few exchanges</a:t>
            </a:r>
          </a:p>
          <a:p>
            <a:pPr marL="342900" indent="-342900">
              <a:buFont typeface="Wingdings" pitchFamily="2" charset="2"/>
              <a:buChar char="Ø"/>
            </a:pPr>
            <a:r>
              <a:rPr lang="en-IN" dirty="0"/>
              <a:t>Dependent on predefined scripts and keywords</a:t>
            </a:r>
          </a:p>
          <a:p>
            <a:endParaRPr lang="en-US" dirty="0"/>
          </a:p>
        </p:txBody>
      </p:sp>
    </p:spTree>
    <p:extLst>
      <p:ext uri="{BB962C8B-B14F-4D97-AF65-F5344CB8AC3E}">
        <p14:creationId xmlns:p14="http://schemas.microsoft.com/office/powerpoint/2010/main" val="3657522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B19C-1BC1-3277-33E2-279463EDAB4C}"/>
              </a:ext>
            </a:extLst>
          </p:cNvPr>
          <p:cNvSpPr>
            <a:spLocks noGrp="1"/>
          </p:cNvSpPr>
          <p:nvPr>
            <p:ph type="title"/>
          </p:nvPr>
        </p:nvSpPr>
        <p:spPr>
          <a:xfrm>
            <a:off x="2059941" y="145492"/>
            <a:ext cx="8072119" cy="1846659"/>
          </a:xfrm>
        </p:spPr>
        <p:txBody>
          <a:bodyPr>
            <a:normAutofit fontScale="90000"/>
          </a:bodyPr>
          <a:lstStyle/>
          <a:p>
            <a:r>
              <a:rPr lang="en-US" dirty="0"/>
              <a:t>Legacy &amp; Influence</a:t>
            </a:r>
            <a:br>
              <a:rPr lang="en-US" dirty="0"/>
            </a:br>
            <a:br>
              <a:rPr lang="en-US" dirty="0"/>
            </a:br>
            <a:endParaRPr lang="en-US" dirty="0"/>
          </a:p>
        </p:txBody>
      </p:sp>
      <p:sp>
        <p:nvSpPr>
          <p:cNvPr id="3" name="Text Placeholder 2">
            <a:extLst>
              <a:ext uri="{FF2B5EF4-FFF2-40B4-BE49-F238E27FC236}">
                <a16:creationId xmlns:a16="http://schemas.microsoft.com/office/drawing/2014/main" id="{E1E4964A-F149-22A5-0877-955D96ED67B4}"/>
              </a:ext>
            </a:extLst>
          </p:cNvPr>
          <p:cNvSpPr>
            <a:spLocks noGrp="1"/>
          </p:cNvSpPr>
          <p:nvPr>
            <p:ph type="body" idx="1"/>
          </p:nvPr>
        </p:nvSpPr>
        <p:spPr>
          <a:xfrm>
            <a:off x="2059941" y="1616709"/>
            <a:ext cx="8074025" cy="3077766"/>
          </a:xfrm>
        </p:spPr>
        <p:txBody>
          <a:bodyPr>
            <a:normAutofit fontScale="77500" lnSpcReduction="20000"/>
          </a:bodyPr>
          <a:lstStyle/>
          <a:p>
            <a:endParaRPr lang="en-IN" b="1" dirty="0"/>
          </a:p>
          <a:p>
            <a:pPr marL="342900" indent="-342900">
              <a:buFont typeface="Wingdings" pitchFamily="2" charset="2"/>
              <a:buChar char="Ø"/>
            </a:pPr>
            <a:r>
              <a:rPr lang="en-IN" b="1" dirty="0"/>
              <a:t>ELIZA Effect:</a:t>
            </a:r>
            <a:r>
              <a:rPr lang="en-IN" dirty="0"/>
              <a:t> The human tendency to assume intelligence or empathy in machines that simply simulate language.</a:t>
            </a:r>
          </a:p>
          <a:p>
            <a:pPr marL="342900" indent="-342900">
              <a:buFont typeface="Wingdings" pitchFamily="2" charset="2"/>
              <a:buChar char="Ø"/>
            </a:pPr>
            <a:endParaRPr lang="en-IN" dirty="0"/>
          </a:p>
          <a:p>
            <a:pPr marL="342900" indent="-342900">
              <a:buFont typeface="Wingdings" pitchFamily="2" charset="2"/>
              <a:buChar char="Ø"/>
            </a:pPr>
            <a:r>
              <a:rPr lang="en-IN" dirty="0"/>
              <a:t>Inspired decades of AI development in natural language understanding and conversational agents.</a:t>
            </a:r>
          </a:p>
          <a:p>
            <a:pPr marL="342900" indent="-342900">
              <a:buFont typeface="Wingdings" pitchFamily="2" charset="2"/>
              <a:buChar char="Ø"/>
            </a:pPr>
            <a:endParaRPr lang="en-IN" dirty="0"/>
          </a:p>
          <a:p>
            <a:pPr marL="342900" indent="-342900">
              <a:buFont typeface="Wingdings" pitchFamily="2" charset="2"/>
              <a:buChar char="Ø"/>
            </a:pPr>
            <a:r>
              <a:rPr lang="en-IN" dirty="0"/>
              <a:t>Forms the foundation for modern </a:t>
            </a:r>
            <a:r>
              <a:rPr lang="en-IN" b="1" dirty="0"/>
              <a:t>AI assistants</a:t>
            </a:r>
            <a:r>
              <a:rPr lang="en-IN" dirty="0"/>
              <a:t> like </a:t>
            </a:r>
            <a:r>
              <a:rPr lang="en-IN" b="1" dirty="0"/>
              <a:t>Alexa</a:t>
            </a:r>
            <a:r>
              <a:rPr lang="en-IN" dirty="0"/>
              <a:t>, </a:t>
            </a:r>
            <a:r>
              <a:rPr lang="en-IN" b="1" dirty="0"/>
              <a:t>Siri</a:t>
            </a:r>
            <a:r>
              <a:rPr lang="en-IN" dirty="0"/>
              <a:t>, and </a:t>
            </a:r>
            <a:r>
              <a:rPr lang="en-IN" b="1" dirty="0"/>
              <a:t>ChatGPT</a:t>
            </a:r>
            <a:r>
              <a:rPr lang="en-IN" dirty="0"/>
              <a:t>.</a:t>
            </a:r>
          </a:p>
          <a:p>
            <a:endParaRPr lang="en-US" dirty="0"/>
          </a:p>
        </p:txBody>
      </p:sp>
    </p:spTree>
    <p:extLst>
      <p:ext uri="{BB962C8B-B14F-4D97-AF65-F5344CB8AC3E}">
        <p14:creationId xmlns:p14="http://schemas.microsoft.com/office/powerpoint/2010/main" val="23587240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67FB-1A2A-8C9D-D3D2-1D159238B382}"/>
              </a:ext>
            </a:extLst>
          </p:cNvPr>
          <p:cNvSpPr>
            <a:spLocks noGrp="1"/>
          </p:cNvSpPr>
          <p:nvPr>
            <p:ph type="title"/>
          </p:nvPr>
        </p:nvSpPr>
        <p:spPr>
          <a:xfrm>
            <a:off x="2059941" y="145492"/>
            <a:ext cx="8072119" cy="615553"/>
          </a:xfrm>
        </p:spPr>
        <p:txBody>
          <a:bodyPr>
            <a:normAutofit fontScale="90000"/>
          </a:bodyPr>
          <a:lstStyle/>
          <a:p>
            <a:r>
              <a:rPr lang="en-US" dirty="0"/>
              <a:t>ELIZA’s Technological Evolution</a:t>
            </a:r>
          </a:p>
        </p:txBody>
      </p:sp>
      <p:graphicFrame>
        <p:nvGraphicFramePr>
          <p:cNvPr id="4" name="Table 3">
            <a:extLst>
              <a:ext uri="{FF2B5EF4-FFF2-40B4-BE49-F238E27FC236}">
                <a16:creationId xmlns:a16="http://schemas.microsoft.com/office/drawing/2014/main" id="{8B042EAE-B0C9-3862-02A5-67EEAE5C0FAC}"/>
              </a:ext>
            </a:extLst>
          </p:cNvPr>
          <p:cNvGraphicFramePr>
            <a:graphicFrameLocks noGrp="1"/>
          </p:cNvGraphicFramePr>
          <p:nvPr/>
        </p:nvGraphicFramePr>
        <p:xfrm>
          <a:off x="1981200" y="1524000"/>
          <a:ext cx="8074026" cy="2286000"/>
        </p:xfrm>
        <a:graphic>
          <a:graphicData uri="http://schemas.openxmlformats.org/drawingml/2006/table">
            <a:tbl>
              <a:tblPr/>
              <a:tblGrid>
                <a:gridCol w="2691342">
                  <a:extLst>
                    <a:ext uri="{9D8B030D-6E8A-4147-A177-3AD203B41FA5}">
                      <a16:colId xmlns:a16="http://schemas.microsoft.com/office/drawing/2014/main" val="3272731596"/>
                    </a:ext>
                  </a:extLst>
                </a:gridCol>
                <a:gridCol w="2691342">
                  <a:extLst>
                    <a:ext uri="{9D8B030D-6E8A-4147-A177-3AD203B41FA5}">
                      <a16:colId xmlns:a16="http://schemas.microsoft.com/office/drawing/2014/main" val="3688195511"/>
                    </a:ext>
                  </a:extLst>
                </a:gridCol>
                <a:gridCol w="2691342">
                  <a:extLst>
                    <a:ext uri="{9D8B030D-6E8A-4147-A177-3AD203B41FA5}">
                      <a16:colId xmlns:a16="http://schemas.microsoft.com/office/drawing/2014/main" val="2715816412"/>
                    </a:ext>
                  </a:extLst>
                </a:gridCol>
              </a:tblGrid>
              <a:tr h="365760">
                <a:tc>
                  <a:txBody>
                    <a:bodyPr/>
                    <a:lstStyle/>
                    <a:p>
                      <a:pPr>
                        <a:buNone/>
                      </a:pPr>
                      <a:r>
                        <a:rPr lang="en-IN" sz="1800"/>
                        <a:t>Generation</a:t>
                      </a:r>
                    </a:p>
                  </a:txBody>
                  <a:tcPr anchor="ctr">
                    <a:lnL>
                      <a:noFill/>
                    </a:lnL>
                    <a:lnR>
                      <a:noFill/>
                    </a:lnR>
                    <a:lnT>
                      <a:noFill/>
                    </a:lnT>
                    <a:lnB>
                      <a:noFill/>
                    </a:lnB>
                    <a:noFill/>
                  </a:tcPr>
                </a:tc>
                <a:tc>
                  <a:txBody>
                    <a:bodyPr/>
                    <a:lstStyle/>
                    <a:p>
                      <a:pPr>
                        <a:buNone/>
                      </a:pPr>
                      <a:r>
                        <a:rPr lang="en-IN" sz="1800"/>
                        <a:t>Example</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3942413529"/>
                  </a:ext>
                </a:extLst>
              </a:tr>
              <a:tr h="640080">
                <a:tc>
                  <a:txBody>
                    <a:bodyPr/>
                    <a:lstStyle/>
                    <a:p>
                      <a:pPr>
                        <a:buNone/>
                      </a:pPr>
                      <a:r>
                        <a:rPr lang="en-IN" sz="1800" b="1" dirty="0"/>
                        <a:t>1st Gen (1960s)</a:t>
                      </a:r>
                      <a:endParaRPr lang="en-IN" sz="1800" dirty="0"/>
                    </a:p>
                  </a:txBody>
                  <a:tcPr anchor="ctr">
                    <a:lnL>
                      <a:noFill/>
                    </a:lnL>
                    <a:lnR>
                      <a:noFill/>
                    </a:lnR>
                    <a:lnT>
                      <a:noFill/>
                    </a:lnT>
                    <a:lnB>
                      <a:noFill/>
                    </a:lnB>
                    <a:noFill/>
                  </a:tcPr>
                </a:tc>
                <a:tc>
                  <a:txBody>
                    <a:bodyPr/>
                    <a:lstStyle/>
                    <a:p>
                      <a:pPr>
                        <a:buNone/>
                      </a:pPr>
                      <a:r>
                        <a:rPr lang="en-IN" sz="1800" b="1"/>
                        <a:t>ELIZA</a:t>
                      </a:r>
                      <a:endParaRPr lang="en-IN" sz="1800"/>
                    </a:p>
                  </a:txBody>
                  <a:tcPr anchor="ctr">
                    <a:lnL>
                      <a:noFill/>
                    </a:lnL>
                    <a:lnR>
                      <a:noFill/>
                    </a:lnR>
                    <a:lnT>
                      <a:noFill/>
                    </a:lnT>
                    <a:lnB>
                      <a:noFill/>
                    </a:lnB>
                    <a:noFill/>
                  </a:tcPr>
                </a:tc>
                <a:tc>
                  <a:txBody>
                    <a:bodyPr/>
                    <a:lstStyle/>
                    <a:p>
                      <a:pPr>
                        <a:buNone/>
                      </a:pPr>
                      <a:r>
                        <a:rPr lang="en-IN" sz="1800"/>
                        <a:t>Rule-based pattern matching</a:t>
                      </a:r>
                    </a:p>
                  </a:txBody>
                  <a:tcPr anchor="ctr">
                    <a:lnL>
                      <a:noFill/>
                    </a:lnL>
                    <a:lnR>
                      <a:noFill/>
                    </a:lnR>
                    <a:lnT>
                      <a:noFill/>
                    </a:lnT>
                    <a:lnB>
                      <a:noFill/>
                    </a:lnB>
                    <a:noFill/>
                  </a:tcPr>
                </a:tc>
                <a:extLst>
                  <a:ext uri="{0D108BD9-81ED-4DB2-BD59-A6C34878D82A}">
                    <a16:rowId xmlns:a16="http://schemas.microsoft.com/office/drawing/2014/main" val="4239305926"/>
                  </a:ext>
                </a:extLst>
              </a:tr>
              <a:tr h="640080">
                <a:tc>
                  <a:txBody>
                    <a:bodyPr/>
                    <a:lstStyle/>
                    <a:p>
                      <a:pPr>
                        <a:buNone/>
                      </a:pPr>
                      <a:r>
                        <a:rPr lang="en-IN" sz="1800" b="1"/>
                        <a:t>2nd Gen (1970s–2000s)</a:t>
                      </a:r>
                      <a:endParaRPr lang="en-IN" sz="1800"/>
                    </a:p>
                  </a:txBody>
                  <a:tcPr anchor="ctr">
                    <a:lnL>
                      <a:noFill/>
                    </a:lnL>
                    <a:lnR>
                      <a:noFill/>
                    </a:lnR>
                    <a:lnT>
                      <a:noFill/>
                    </a:lnT>
                    <a:lnB>
                      <a:noFill/>
                    </a:lnB>
                    <a:noFill/>
                  </a:tcPr>
                </a:tc>
                <a:tc>
                  <a:txBody>
                    <a:bodyPr/>
                    <a:lstStyle/>
                    <a:p>
                      <a:pPr>
                        <a:buNone/>
                      </a:pPr>
                      <a:r>
                        <a:rPr lang="en-IN" sz="1800" b="1"/>
                        <a:t>PARRY, ALICE</a:t>
                      </a:r>
                      <a:endParaRPr lang="en-IN" sz="1800"/>
                    </a:p>
                  </a:txBody>
                  <a:tcPr anchor="ctr">
                    <a:lnL>
                      <a:noFill/>
                    </a:lnL>
                    <a:lnR>
                      <a:noFill/>
                    </a:lnR>
                    <a:lnT>
                      <a:noFill/>
                    </a:lnT>
                    <a:lnB>
                      <a:noFill/>
                    </a:lnB>
                    <a:noFill/>
                  </a:tcPr>
                </a:tc>
                <a:tc>
                  <a:txBody>
                    <a:bodyPr/>
                    <a:lstStyle/>
                    <a:p>
                      <a:pPr>
                        <a:buNone/>
                      </a:pPr>
                      <a:r>
                        <a:rPr lang="en-IN" sz="1800"/>
                        <a:t>More advanced rules and keyword logic</a:t>
                      </a:r>
                    </a:p>
                  </a:txBody>
                  <a:tcPr anchor="ctr">
                    <a:lnL>
                      <a:noFill/>
                    </a:lnL>
                    <a:lnR>
                      <a:noFill/>
                    </a:lnR>
                    <a:lnT>
                      <a:noFill/>
                    </a:lnT>
                    <a:lnB>
                      <a:noFill/>
                    </a:lnB>
                    <a:noFill/>
                  </a:tcPr>
                </a:tc>
                <a:extLst>
                  <a:ext uri="{0D108BD9-81ED-4DB2-BD59-A6C34878D82A}">
                    <a16:rowId xmlns:a16="http://schemas.microsoft.com/office/drawing/2014/main" val="1742100281"/>
                  </a:ext>
                </a:extLst>
              </a:tr>
              <a:tr h="640080">
                <a:tc>
                  <a:txBody>
                    <a:bodyPr/>
                    <a:lstStyle/>
                    <a:p>
                      <a:pPr>
                        <a:buNone/>
                      </a:pPr>
                      <a:r>
                        <a:rPr lang="en-IN" sz="1800" b="1"/>
                        <a:t>3rd Gen (2010s–Present)</a:t>
                      </a:r>
                      <a:endParaRPr lang="en-IN" sz="1800"/>
                    </a:p>
                  </a:txBody>
                  <a:tcPr anchor="ctr">
                    <a:lnL>
                      <a:noFill/>
                    </a:lnL>
                    <a:lnR>
                      <a:noFill/>
                    </a:lnR>
                    <a:lnT>
                      <a:noFill/>
                    </a:lnT>
                    <a:lnB>
                      <a:noFill/>
                    </a:lnB>
                    <a:noFill/>
                  </a:tcPr>
                </a:tc>
                <a:tc>
                  <a:txBody>
                    <a:bodyPr/>
                    <a:lstStyle/>
                    <a:p>
                      <a:pPr>
                        <a:buNone/>
                      </a:pPr>
                      <a:r>
                        <a:rPr lang="en-IN" sz="1800" b="1"/>
                        <a:t>Siri, Alexa, ChatGPT</a:t>
                      </a:r>
                      <a:endParaRPr lang="en-IN" sz="1800"/>
                    </a:p>
                  </a:txBody>
                  <a:tcPr anchor="ctr">
                    <a:lnL>
                      <a:noFill/>
                    </a:lnL>
                    <a:lnR>
                      <a:noFill/>
                    </a:lnR>
                    <a:lnT>
                      <a:noFill/>
                    </a:lnT>
                    <a:lnB>
                      <a:noFill/>
                    </a:lnB>
                    <a:noFill/>
                  </a:tcPr>
                </a:tc>
                <a:tc>
                  <a:txBody>
                    <a:bodyPr/>
                    <a:lstStyle/>
                    <a:p>
                      <a:pPr>
                        <a:buNone/>
                      </a:pPr>
                      <a:r>
                        <a:rPr lang="en-IN" sz="1800" dirty="0"/>
                        <a:t>Deep learning, NLP, context awareness</a:t>
                      </a:r>
                    </a:p>
                  </a:txBody>
                  <a:tcPr anchor="ctr">
                    <a:lnL>
                      <a:noFill/>
                    </a:lnL>
                    <a:lnR>
                      <a:noFill/>
                    </a:lnR>
                    <a:lnT>
                      <a:noFill/>
                    </a:lnT>
                    <a:lnB>
                      <a:noFill/>
                    </a:lnB>
                    <a:noFill/>
                  </a:tcPr>
                </a:tc>
                <a:extLst>
                  <a:ext uri="{0D108BD9-81ED-4DB2-BD59-A6C34878D82A}">
                    <a16:rowId xmlns:a16="http://schemas.microsoft.com/office/drawing/2014/main" val="2725158100"/>
                  </a:ext>
                </a:extLst>
              </a:tr>
            </a:tbl>
          </a:graphicData>
        </a:graphic>
      </p:graphicFrame>
    </p:spTree>
    <p:extLst>
      <p:ext uri="{BB962C8B-B14F-4D97-AF65-F5344CB8AC3E}">
        <p14:creationId xmlns:p14="http://schemas.microsoft.com/office/powerpoint/2010/main" val="14215687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79CE-9651-D8ED-D8C5-1B42C2016919}"/>
              </a:ext>
            </a:extLst>
          </p:cNvPr>
          <p:cNvSpPr>
            <a:spLocks noGrp="1"/>
          </p:cNvSpPr>
          <p:nvPr>
            <p:ph type="title"/>
          </p:nvPr>
        </p:nvSpPr>
        <p:spPr>
          <a:xfrm>
            <a:off x="2059941" y="145492"/>
            <a:ext cx="8072119" cy="615553"/>
          </a:xfrm>
        </p:spPr>
        <p:txBody>
          <a:bodyPr>
            <a:normAutofit fontScale="90000"/>
          </a:bodyPr>
          <a:lstStyle/>
          <a:p>
            <a:r>
              <a:rPr lang="en-US" dirty="0"/>
              <a:t>ChatGPT</a:t>
            </a:r>
          </a:p>
        </p:txBody>
      </p:sp>
      <p:sp>
        <p:nvSpPr>
          <p:cNvPr id="3" name="Text Placeholder 2">
            <a:extLst>
              <a:ext uri="{FF2B5EF4-FFF2-40B4-BE49-F238E27FC236}">
                <a16:creationId xmlns:a16="http://schemas.microsoft.com/office/drawing/2014/main" id="{748FCE7A-456D-3342-CC6D-CAC2CD393520}"/>
              </a:ext>
            </a:extLst>
          </p:cNvPr>
          <p:cNvSpPr>
            <a:spLocks noGrp="1"/>
          </p:cNvSpPr>
          <p:nvPr>
            <p:ph type="body" idx="1"/>
          </p:nvPr>
        </p:nvSpPr>
        <p:spPr>
          <a:xfrm>
            <a:off x="2059941" y="835447"/>
            <a:ext cx="8074025" cy="6155531"/>
          </a:xfrm>
        </p:spPr>
        <p:txBody>
          <a:bodyPr>
            <a:normAutofit fontScale="77500" lnSpcReduction="20000"/>
          </a:bodyPr>
          <a:lstStyle/>
          <a:p>
            <a:r>
              <a:rPr lang="en-IN" b="1" dirty="0"/>
              <a:t>ChatGPT</a:t>
            </a:r>
            <a:r>
              <a:rPr lang="en-IN" dirty="0"/>
              <a:t> (short for </a:t>
            </a:r>
            <a:r>
              <a:rPr lang="en-IN" i="1" dirty="0"/>
              <a:t>Chat Generative Pre-trained Transformer</a:t>
            </a:r>
            <a:r>
              <a:rPr lang="en-IN" dirty="0"/>
              <a:t>) is an </a:t>
            </a:r>
            <a:r>
              <a:rPr lang="en-IN" b="1" dirty="0"/>
              <a:t>AI-powered conversational agent</a:t>
            </a:r>
            <a:r>
              <a:rPr lang="en-IN" dirty="0"/>
              <a:t> developed by </a:t>
            </a:r>
            <a:r>
              <a:rPr lang="en-IN" b="1" dirty="0"/>
              <a:t>OpenAI</a:t>
            </a:r>
            <a:r>
              <a:rPr lang="en-IN" dirty="0"/>
              <a:t>.</a:t>
            </a:r>
          </a:p>
          <a:p>
            <a:br>
              <a:rPr lang="en-IN" dirty="0"/>
            </a:br>
            <a:r>
              <a:rPr lang="en-IN" dirty="0"/>
              <a:t>It uses advanced </a:t>
            </a:r>
            <a:r>
              <a:rPr lang="en-IN" b="1" dirty="0"/>
              <a:t>Natural Language Processing (NLP)</a:t>
            </a:r>
            <a:r>
              <a:rPr lang="en-IN" dirty="0"/>
              <a:t> and </a:t>
            </a:r>
            <a:r>
              <a:rPr lang="en-IN" b="1" dirty="0"/>
              <a:t>Deep Learning</a:t>
            </a:r>
            <a:r>
              <a:rPr lang="en-IN" dirty="0"/>
              <a:t> techniques to understand, generate, and interact in human-like language.</a:t>
            </a:r>
          </a:p>
          <a:p>
            <a:endParaRPr lang="en-IN" dirty="0"/>
          </a:p>
          <a:p>
            <a:r>
              <a:rPr lang="en-IN" dirty="0"/>
              <a:t>It represents one of the most sophisticated </a:t>
            </a:r>
            <a:r>
              <a:rPr lang="en-IN" b="1" dirty="0"/>
              <a:t>Large Language Models (LLMs)</a:t>
            </a:r>
            <a:r>
              <a:rPr lang="en-IN" dirty="0"/>
              <a:t> ever built.</a:t>
            </a:r>
          </a:p>
          <a:p>
            <a:endParaRPr lang="en-US" dirty="0"/>
          </a:p>
          <a:p>
            <a:r>
              <a:rPr lang="en-IN" b="1" dirty="0"/>
              <a:t>Overview</a:t>
            </a:r>
          </a:p>
          <a:p>
            <a:endParaRPr lang="en-IN" b="1" dirty="0"/>
          </a:p>
          <a:p>
            <a:r>
              <a:rPr lang="en-IN" dirty="0"/>
              <a:t>ChatGPT is based on the </a:t>
            </a:r>
            <a:r>
              <a:rPr lang="en-IN" b="1" dirty="0"/>
              <a:t>GPT (Generative Pre-trained Transformer)</a:t>
            </a:r>
            <a:r>
              <a:rPr lang="en-IN" dirty="0"/>
              <a:t> architecture — a type of neural network designed to process and generate natural language text.</a:t>
            </a:r>
          </a:p>
          <a:p>
            <a:br>
              <a:rPr lang="en-IN" dirty="0"/>
            </a:br>
            <a:r>
              <a:rPr lang="en-IN" dirty="0"/>
              <a:t>It can </a:t>
            </a:r>
            <a:r>
              <a:rPr lang="en-IN" b="1" dirty="0"/>
              <a:t>answer questions, summarize text, write essays, generate code, translate languages, and carry on conversations</a:t>
            </a:r>
            <a:r>
              <a:rPr lang="en-IN" dirty="0"/>
              <a:t> with remarkable fluency.</a:t>
            </a:r>
          </a:p>
          <a:p>
            <a:endParaRPr lang="en-US" dirty="0"/>
          </a:p>
        </p:txBody>
      </p:sp>
    </p:spTree>
    <p:extLst>
      <p:ext uri="{BB962C8B-B14F-4D97-AF65-F5344CB8AC3E}">
        <p14:creationId xmlns:p14="http://schemas.microsoft.com/office/powerpoint/2010/main" val="813175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58A15-EFA1-F193-BBFF-9FB86F0449C4}"/>
              </a:ext>
            </a:extLst>
          </p:cNvPr>
          <p:cNvSpPr>
            <a:spLocks noGrp="1"/>
          </p:cNvSpPr>
          <p:nvPr>
            <p:ph type="title"/>
          </p:nvPr>
        </p:nvSpPr>
        <p:spPr>
          <a:xfrm>
            <a:off x="2059941" y="145492"/>
            <a:ext cx="8072119" cy="1846659"/>
          </a:xfrm>
        </p:spPr>
        <p:txBody>
          <a:bodyPr>
            <a:normAutofit fontScale="90000"/>
          </a:bodyPr>
          <a:lstStyle/>
          <a:p>
            <a:r>
              <a:rPr lang="en-US" dirty="0"/>
              <a:t>Core Technologies Behind ChatGPT</a:t>
            </a:r>
            <a:br>
              <a:rPr lang="en-US" dirty="0"/>
            </a:br>
            <a:br>
              <a:rPr lang="en-US" dirty="0"/>
            </a:br>
            <a:endParaRPr lang="en-US" dirty="0"/>
          </a:p>
        </p:txBody>
      </p:sp>
      <p:sp>
        <p:nvSpPr>
          <p:cNvPr id="3" name="Text Placeholder 2">
            <a:extLst>
              <a:ext uri="{FF2B5EF4-FFF2-40B4-BE49-F238E27FC236}">
                <a16:creationId xmlns:a16="http://schemas.microsoft.com/office/drawing/2014/main" id="{F9040166-8A11-3A4C-C0A1-C9FEF40647AA}"/>
              </a:ext>
            </a:extLst>
          </p:cNvPr>
          <p:cNvSpPr>
            <a:spLocks noGrp="1"/>
          </p:cNvSpPr>
          <p:nvPr>
            <p:ph type="body" idx="1"/>
          </p:nvPr>
        </p:nvSpPr>
        <p:spPr>
          <a:xfrm>
            <a:off x="2059941" y="1068821"/>
            <a:ext cx="8074025" cy="4893647"/>
          </a:xfrm>
        </p:spPr>
        <p:txBody>
          <a:bodyPr>
            <a:normAutofit fontScale="77500" lnSpcReduction="20000"/>
          </a:bodyPr>
          <a:lstStyle/>
          <a:p>
            <a:r>
              <a:rPr lang="en-IN" b="1" dirty="0"/>
              <a:t>Transformer Architecture</a:t>
            </a:r>
            <a:endParaRPr lang="en-IN" dirty="0"/>
          </a:p>
          <a:p>
            <a:pPr lvl="1"/>
            <a:r>
              <a:rPr lang="en-IN" dirty="0"/>
              <a:t>The foundation of GPT models.</a:t>
            </a:r>
          </a:p>
          <a:p>
            <a:pPr lvl="1"/>
            <a:r>
              <a:rPr lang="en-IN" dirty="0"/>
              <a:t>Uses </a:t>
            </a:r>
            <a:r>
              <a:rPr lang="en-IN" b="1" dirty="0"/>
              <a:t>self-attention mechanisms</a:t>
            </a:r>
            <a:r>
              <a:rPr lang="en-IN" dirty="0"/>
              <a:t> to understand relationships between words across long contexts.</a:t>
            </a:r>
          </a:p>
          <a:p>
            <a:r>
              <a:rPr lang="en-IN" b="1" dirty="0"/>
              <a:t>Pre-training (Generative)</a:t>
            </a:r>
            <a:endParaRPr lang="en-IN" dirty="0"/>
          </a:p>
          <a:p>
            <a:pPr lvl="1"/>
            <a:r>
              <a:rPr lang="en-IN" dirty="0"/>
              <a:t>Trained on vast amounts of text from the internet to learn grammar, facts, reasoning, and language patterns.</a:t>
            </a:r>
          </a:p>
          <a:p>
            <a:r>
              <a:rPr lang="en-IN" b="1" dirty="0"/>
              <a:t>Fine-tuning</a:t>
            </a:r>
            <a:endParaRPr lang="en-IN" dirty="0"/>
          </a:p>
          <a:p>
            <a:pPr lvl="1"/>
            <a:r>
              <a:rPr lang="en-IN" dirty="0"/>
              <a:t>Refined on curated datasets with human feedback using </a:t>
            </a:r>
            <a:r>
              <a:rPr lang="en-IN" b="1" dirty="0"/>
              <a:t>Reinforcement Learning from Human Feedback (RLHF)</a:t>
            </a:r>
            <a:r>
              <a:rPr lang="en-IN" dirty="0"/>
              <a:t> to make responses helpful and safe.</a:t>
            </a:r>
          </a:p>
          <a:p>
            <a:r>
              <a:rPr lang="en-IN" b="1" dirty="0"/>
              <a:t>Tokenization</a:t>
            </a:r>
            <a:endParaRPr lang="en-IN" dirty="0"/>
          </a:p>
          <a:p>
            <a:pPr lvl="1"/>
            <a:r>
              <a:rPr lang="en-IN" dirty="0"/>
              <a:t>Text is broken into small pieces (</a:t>
            </a:r>
            <a:r>
              <a:rPr lang="en-IN" i="1" dirty="0"/>
              <a:t>tokens</a:t>
            </a:r>
            <a:r>
              <a:rPr lang="en-IN" dirty="0"/>
              <a:t>) before processing and reassembled into coherent output.</a:t>
            </a:r>
          </a:p>
          <a:p>
            <a:r>
              <a:rPr lang="en-IN" b="1" dirty="0"/>
              <a:t>Natural Language Understanding (NLU) + Generation (NLG)</a:t>
            </a:r>
            <a:endParaRPr lang="en-IN" dirty="0"/>
          </a:p>
          <a:p>
            <a:pPr lvl="1"/>
            <a:r>
              <a:rPr lang="en-IN" dirty="0"/>
              <a:t>Understands the intent of the user’s input (NLU) and generates context-aware responses (NLG).</a:t>
            </a:r>
          </a:p>
          <a:p>
            <a:endParaRPr lang="en-US" dirty="0"/>
          </a:p>
        </p:txBody>
      </p:sp>
    </p:spTree>
    <p:extLst>
      <p:ext uri="{BB962C8B-B14F-4D97-AF65-F5344CB8AC3E}">
        <p14:creationId xmlns:p14="http://schemas.microsoft.com/office/powerpoint/2010/main" val="25799231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3244C-4AC0-D5F6-51C2-9256E438B2E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63F3C29-167A-BE07-C45F-191562CB03F7}"/>
              </a:ext>
            </a:extLst>
          </p:cNvPr>
          <p:cNvSpPr>
            <a:spLocks noGrp="1"/>
          </p:cNvSpPr>
          <p:nvPr>
            <p:ph type="body" idx="1"/>
          </p:nvPr>
        </p:nvSpPr>
        <p:spPr>
          <a:xfrm>
            <a:off x="2059941" y="1616710"/>
            <a:ext cx="8074025" cy="2769989"/>
          </a:xfrm>
        </p:spPr>
        <p:txBody>
          <a:bodyPr>
            <a:normAutofit fontScale="70000" lnSpcReduction="20000"/>
          </a:bodyPr>
          <a:lstStyle/>
          <a:p>
            <a:r>
              <a:rPr lang="en-IN" b="1" dirty="0"/>
              <a:t>Training Process</a:t>
            </a:r>
          </a:p>
          <a:p>
            <a:endParaRPr lang="en-IN" b="1" dirty="0"/>
          </a:p>
          <a:p>
            <a:pPr marL="457200" indent="-457200">
              <a:buFont typeface="+mj-lt"/>
              <a:buAutoNum type="arabicPeriod"/>
            </a:pPr>
            <a:r>
              <a:rPr lang="en-IN" b="1" dirty="0"/>
              <a:t>Data Collection:</a:t>
            </a:r>
            <a:r>
              <a:rPr lang="en-IN" dirty="0"/>
              <a:t> Massive datasets of text (books, articles, web pages).</a:t>
            </a:r>
          </a:p>
          <a:p>
            <a:pPr marL="457200" indent="-457200">
              <a:buFont typeface="+mj-lt"/>
              <a:buAutoNum type="arabicPeriod"/>
            </a:pPr>
            <a:r>
              <a:rPr lang="en-IN" b="1" dirty="0"/>
              <a:t>Pre-training:</a:t>
            </a:r>
            <a:r>
              <a:rPr lang="en-IN" dirty="0"/>
              <a:t> Learns language structure and general knowledge.</a:t>
            </a:r>
          </a:p>
          <a:p>
            <a:pPr marL="457200" indent="-457200">
              <a:buFont typeface="+mj-lt"/>
              <a:buAutoNum type="arabicPeriod"/>
            </a:pPr>
            <a:r>
              <a:rPr lang="en-IN" b="1" dirty="0"/>
              <a:t>Fine-tuning:</a:t>
            </a:r>
            <a:r>
              <a:rPr lang="en-IN" dirty="0"/>
              <a:t> Adjusted for human-like conversation.</a:t>
            </a:r>
          </a:p>
          <a:p>
            <a:pPr marL="457200" indent="-457200">
              <a:buFont typeface="+mj-lt"/>
              <a:buAutoNum type="arabicPeriod"/>
            </a:pPr>
            <a:r>
              <a:rPr lang="en-IN" b="1" dirty="0"/>
              <a:t>Reinforcement Learning (RLHF):</a:t>
            </a:r>
            <a:r>
              <a:rPr lang="en-IN" dirty="0"/>
              <a:t> Trained using human feedback to refine tone, accuracy, and safety.</a:t>
            </a:r>
          </a:p>
          <a:p>
            <a:endParaRPr lang="en-US" dirty="0"/>
          </a:p>
        </p:txBody>
      </p:sp>
    </p:spTree>
    <p:extLst>
      <p:ext uri="{BB962C8B-B14F-4D97-AF65-F5344CB8AC3E}">
        <p14:creationId xmlns:p14="http://schemas.microsoft.com/office/powerpoint/2010/main" val="40657089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FF02-DD18-716F-2824-D2259915D95B}"/>
              </a:ext>
            </a:extLst>
          </p:cNvPr>
          <p:cNvSpPr>
            <a:spLocks noGrp="1"/>
          </p:cNvSpPr>
          <p:nvPr>
            <p:ph type="title"/>
          </p:nvPr>
        </p:nvSpPr>
        <p:spPr>
          <a:xfrm>
            <a:off x="2059941" y="145492"/>
            <a:ext cx="8072119" cy="615553"/>
          </a:xfrm>
        </p:spPr>
        <p:txBody>
          <a:bodyPr>
            <a:normAutofit fontScale="90000"/>
          </a:bodyPr>
          <a:lstStyle/>
          <a:p>
            <a:r>
              <a:rPr lang="en-US" dirty="0"/>
              <a:t>Capabilities</a:t>
            </a:r>
          </a:p>
        </p:txBody>
      </p:sp>
      <p:graphicFrame>
        <p:nvGraphicFramePr>
          <p:cNvPr id="4" name="Table 3">
            <a:extLst>
              <a:ext uri="{FF2B5EF4-FFF2-40B4-BE49-F238E27FC236}">
                <a16:creationId xmlns:a16="http://schemas.microsoft.com/office/drawing/2014/main" id="{23ADBC99-6B39-879B-3EEB-A55DAE17F664}"/>
              </a:ext>
            </a:extLst>
          </p:cNvPr>
          <p:cNvGraphicFramePr>
            <a:graphicFrameLocks noGrp="1"/>
          </p:cNvGraphicFramePr>
          <p:nvPr/>
        </p:nvGraphicFramePr>
        <p:xfrm>
          <a:off x="2028727" y="1600200"/>
          <a:ext cx="8074024" cy="3200400"/>
        </p:xfrm>
        <a:graphic>
          <a:graphicData uri="http://schemas.openxmlformats.org/drawingml/2006/table">
            <a:tbl>
              <a:tblPr/>
              <a:tblGrid>
                <a:gridCol w="4037012">
                  <a:extLst>
                    <a:ext uri="{9D8B030D-6E8A-4147-A177-3AD203B41FA5}">
                      <a16:colId xmlns:a16="http://schemas.microsoft.com/office/drawing/2014/main" val="209432302"/>
                    </a:ext>
                  </a:extLst>
                </a:gridCol>
                <a:gridCol w="4037012">
                  <a:extLst>
                    <a:ext uri="{9D8B030D-6E8A-4147-A177-3AD203B41FA5}">
                      <a16:colId xmlns:a16="http://schemas.microsoft.com/office/drawing/2014/main" val="541907357"/>
                    </a:ext>
                  </a:extLst>
                </a:gridCol>
              </a:tblGrid>
              <a:tr h="365760">
                <a:tc>
                  <a:txBody>
                    <a:bodyPr/>
                    <a:lstStyle/>
                    <a:p>
                      <a:pPr>
                        <a:buNone/>
                      </a:pPr>
                      <a:r>
                        <a:rPr lang="en-IN" sz="1800"/>
                        <a:t>Category</a:t>
                      </a:r>
                    </a:p>
                  </a:txBody>
                  <a:tcPr anchor="ctr">
                    <a:lnL>
                      <a:noFill/>
                    </a:lnL>
                    <a:lnR>
                      <a:noFill/>
                    </a:lnR>
                    <a:lnT>
                      <a:noFill/>
                    </a:lnT>
                    <a:lnB>
                      <a:noFill/>
                    </a:lnB>
                    <a:noFill/>
                  </a:tcPr>
                </a:tc>
                <a:tc>
                  <a:txBody>
                    <a:bodyPr/>
                    <a:lstStyle/>
                    <a:p>
                      <a:pPr>
                        <a:buNone/>
                      </a:pPr>
                      <a:r>
                        <a:rPr lang="en-IN" sz="1800"/>
                        <a:t>Examples</a:t>
                      </a:r>
                    </a:p>
                  </a:txBody>
                  <a:tcPr anchor="ctr">
                    <a:lnL>
                      <a:noFill/>
                    </a:lnL>
                    <a:lnR>
                      <a:noFill/>
                    </a:lnR>
                    <a:lnT>
                      <a:noFill/>
                    </a:lnT>
                    <a:lnB>
                      <a:noFill/>
                    </a:lnB>
                    <a:noFill/>
                  </a:tcPr>
                </a:tc>
                <a:extLst>
                  <a:ext uri="{0D108BD9-81ED-4DB2-BD59-A6C34878D82A}">
                    <a16:rowId xmlns:a16="http://schemas.microsoft.com/office/drawing/2014/main" val="1264673450"/>
                  </a:ext>
                </a:extLst>
              </a:tr>
              <a:tr h="365760">
                <a:tc>
                  <a:txBody>
                    <a:bodyPr/>
                    <a:lstStyle/>
                    <a:p>
                      <a:pPr>
                        <a:buNone/>
                      </a:pPr>
                      <a:r>
                        <a:rPr lang="en-IN" sz="1800" b="1"/>
                        <a:t>Conversational AI</a:t>
                      </a:r>
                      <a:endParaRPr lang="en-IN" sz="1800"/>
                    </a:p>
                  </a:txBody>
                  <a:tcPr anchor="ctr">
                    <a:lnL>
                      <a:noFill/>
                    </a:lnL>
                    <a:lnR>
                      <a:noFill/>
                    </a:lnR>
                    <a:lnT>
                      <a:noFill/>
                    </a:lnT>
                    <a:lnB>
                      <a:noFill/>
                    </a:lnB>
                    <a:noFill/>
                  </a:tcPr>
                </a:tc>
                <a:tc>
                  <a:txBody>
                    <a:bodyPr/>
                    <a:lstStyle/>
                    <a:p>
                      <a:pPr>
                        <a:buNone/>
                      </a:pPr>
                      <a:r>
                        <a:rPr lang="en-IN" sz="1800"/>
                        <a:t>Engage in natural conversations</a:t>
                      </a:r>
                    </a:p>
                  </a:txBody>
                  <a:tcPr anchor="ctr">
                    <a:lnL>
                      <a:noFill/>
                    </a:lnL>
                    <a:lnR>
                      <a:noFill/>
                    </a:lnR>
                    <a:lnT>
                      <a:noFill/>
                    </a:lnT>
                    <a:lnB>
                      <a:noFill/>
                    </a:lnB>
                    <a:noFill/>
                  </a:tcPr>
                </a:tc>
                <a:extLst>
                  <a:ext uri="{0D108BD9-81ED-4DB2-BD59-A6C34878D82A}">
                    <a16:rowId xmlns:a16="http://schemas.microsoft.com/office/drawing/2014/main" val="1511009409"/>
                  </a:ext>
                </a:extLst>
              </a:tr>
              <a:tr h="365760">
                <a:tc>
                  <a:txBody>
                    <a:bodyPr/>
                    <a:lstStyle/>
                    <a:p>
                      <a:pPr>
                        <a:buNone/>
                      </a:pPr>
                      <a:r>
                        <a:rPr lang="en-IN" sz="1800" b="1"/>
                        <a:t>Content Creation</a:t>
                      </a:r>
                      <a:endParaRPr lang="en-IN" sz="1800"/>
                    </a:p>
                  </a:txBody>
                  <a:tcPr anchor="ctr">
                    <a:lnL>
                      <a:noFill/>
                    </a:lnL>
                    <a:lnR>
                      <a:noFill/>
                    </a:lnR>
                    <a:lnT>
                      <a:noFill/>
                    </a:lnT>
                    <a:lnB>
                      <a:noFill/>
                    </a:lnB>
                    <a:noFill/>
                  </a:tcPr>
                </a:tc>
                <a:tc>
                  <a:txBody>
                    <a:bodyPr/>
                    <a:lstStyle/>
                    <a:p>
                      <a:pPr>
                        <a:buNone/>
                      </a:pPr>
                      <a:r>
                        <a:rPr lang="en-IN" sz="1800"/>
                        <a:t>Essays, reports, poetry, stories</a:t>
                      </a:r>
                    </a:p>
                  </a:txBody>
                  <a:tcPr anchor="ctr">
                    <a:lnL>
                      <a:noFill/>
                    </a:lnL>
                    <a:lnR>
                      <a:noFill/>
                    </a:lnR>
                    <a:lnT>
                      <a:noFill/>
                    </a:lnT>
                    <a:lnB>
                      <a:noFill/>
                    </a:lnB>
                    <a:noFill/>
                  </a:tcPr>
                </a:tc>
                <a:extLst>
                  <a:ext uri="{0D108BD9-81ED-4DB2-BD59-A6C34878D82A}">
                    <a16:rowId xmlns:a16="http://schemas.microsoft.com/office/drawing/2014/main" val="3796072048"/>
                  </a:ext>
                </a:extLst>
              </a:tr>
              <a:tr h="365760">
                <a:tc>
                  <a:txBody>
                    <a:bodyPr/>
                    <a:lstStyle/>
                    <a:p>
                      <a:pPr>
                        <a:buNone/>
                      </a:pPr>
                      <a:r>
                        <a:rPr lang="en-IN" sz="1800" b="1"/>
                        <a:t>Programming Help</a:t>
                      </a:r>
                      <a:endParaRPr lang="en-IN" sz="1800"/>
                    </a:p>
                  </a:txBody>
                  <a:tcPr anchor="ctr">
                    <a:lnL>
                      <a:noFill/>
                    </a:lnL>
                    <a:lnR>
                      <a:noFill/>
                    </a:lnR>
                    <a:lnT>
                      <a:noFill/>
                    </a:lnT>
                    <a:lnB>
                      <a:noFill/>
                    </a:lnB>
                    <a:noFill/>
                  </a:tcPr>
                </a:tc>
                <a:tc>
                  <a:txBody>
                    <a:bodyPr/>
                    <a:lstStyle/>
                    <a:p>
                      <a:pPr>
                        <a:buNone/>
                      </a:pPr>
                      <a:r>
                        <a:rPr lang="en-IN" sz="1800"/>
                        <a:t>Debug, explain, and generate code</a:t>
                      </a:r>
                    </a:p>
                  </a:txBody>
                  <a:tcPr anchor="ctr">
                    <a:lnL>
                      <a:noFill/>
                    </a:lnL>
                    <a:lnR>
                      <a:noFill/>
                    </a:lnR>
                    <a:lnT>
                      <a:noFill/>
                    </a:lnT>
                    <a:lnB>
                      <a:noFill/>
                    </a:lnB>
                    <a:noFill/>
                  </a:tcPr>
                </a:tc>
                <a:extLst>
                  <a:ext uri="{0D108BD9-81ED-4DB2-BD59-A6C34878D82A}">
                    <a16:rowId xmlns:a16="http://schemas.microsoft.com/office/drawing/2014/main" val="3500401882"/>
                  </a:ext>
                </a:extLst>
              </a:tr>
              <a:tr h="365760">
                <a:tc>
                  <a:txBody>
                    <a:bodyPr/>
                    <a:lstStyle/>
                    <a:p>
                      <a:pPr>
                        <a:buNone/>
                      </a:pPr>
                      <a:r>
                        <a:rPr lang="en-IN" sz="1800" b="1"/>
                        <a:t>Education</a:t>
                      </a:r>
                      <a:endParaRPr lang="en-IN" sz="1800"/>
                    </a:p>
                  </a:txBody>
                  <a:tcPr anchor="ctr">
                    <a:lnL>
                      <a:noFill/>
                    </a:lnL>
                    <a:lnR>
                      <a:noFill/>
                    </a:lnR>
                    <a:lnT>
                      <a:noFill/>
                    </a:lnT>
                    <a:lnB>
                      <a:noFill/>
                    </a:lnB>
                    <a:noFill/>
                  </a:tcPr>
                </a:tc>
                <a:tc>
                  <a:txBody>
                    <a:bodyPr/>
                    <a:lstStyle/>
                    <a:p>
                      <a:pPr>
                        <a:buNone/>
                      </a:pPr>
                      <a:r>
                        <a:rPr lang="en-IN" sz="1800"/>
                        <a:t>Explain complex topics, tutoring</a:t>
                      </a:r>
                    </a:p>
                  </a:txBody>
                  <a:tcPr anchor="ctr">
                    <a:lnL>
                      <a:noFill/>
                    </a:lnL>
                    <a:lnR>
                      <a:noFill/>
                    </a:lnR>
                    <a:lnT>
                      <a:noFill/>
                    </a:lnT>
                    <a:lnB>
                      <a:noFill/>
                    </a:lnB>
                    <a:noFill/>
                  </a:tcPr>
                </a:tc>
                <a:extLst>
                  <a:ext uri="{0D108BD9-81ED-4DB2-BD59-A6C34878D82A}">
                    <a16:rowId xmlns:a16="http://schemas.microsoft.com/office/drawing/2014/main" val="325934152"/>
                  </a:ext>
                </a:extLst>
              </a:tr>
              <a:tr h="365760">
                <a:tc>
                  <a:txBody>
                    <a:bodyPr/>
                    <a:lstStyle/>
                    <a:p>
                      <a:pPr>
                        <a:buNone/>
                      </a:pPr>
                      <a:r>
                        <a:rPr lang="en-IN" sz="1800" b="1"/>
                        <a:t>Research Assistance</a:t>
                      </a:r>
                      <a:endParaRPr lang="en-IN" sz="1800"/>
                    </a:p>
                  </a:txBody>
                  <a:tcPr anchor="ctr">
                    <a:lnL>
                      <a:noFill/>
                    </a:lnL>
                    <a:lnR>
                      <a:noFill/>
                    </a:lnR>
                    <a:lnT>
                      <a:noFill/>
                    </a:lnT>
                    <a:lnB>
                      <a:noFill/>
                    </a:lnB>
                    <a:noFill/>
                  </a:tcPr>
                </a:tc>
                <a:tc>
                  <a:txBody>
                    <a:bodyPr/>
                    <a:lstStyle/>
                    <a:p>
                      <a:pPr>
                        <a:buNone/>
                      </a:pPr>
                      <a:r>
                        <a:rPr lang="en-IN" sz="1800"/>
                        <a:t>Summarize papers, suggest literature</a:t>
                      </a:r>
                    </a:p>
                  </a:txBody>
                  <a:tcPr anchor="ctr">
                    <a:lnL>
                      <a:noFill/>
                    </a:lnL>
                    <a:lnR>
                      <a:noFill/>
                    </a:lnR>
                    <a:lnT>
                      <a:noFill/>
                    </a:lnT>
                    <a:lnB>
                      <a:noFill/>
                    </a:lnB>
                    <a:noFill/>
                  </a:tcPr>
                </a:tc>
                <a:extLst>
                  <a:ext uri="{0D108BD9-81ED-4DB2-BD59-A6C34878D82A}">
                    <a16:rowId xmlns:a16="http://schemas.microsoft.com/office/drawing/2014/main" val="1824664451"/>
                  </a:ext>
                </a:extLst>
              </a:tr>
              <a:tr h="365760">
                <a:tc>
                  <a:txBody>
                    <a:bodyPr/>
                    <a:lstStyle/>
                    <a:p>
                      <a:pPr>
                        <a:buNone/>
                      </a:pPr>
                      <a:r>
                        <a:rPr lang="en-IN" sz="1800" b="1"/>
                        <a:t>Translation</a:t>
                      </a:r>
                      <a:endParaRPr lang="en-IN" sz="1800"/>
                    </a:p>
                  </a:txBody>
                  <a:tcPr anchor="ctr">
                    <a:lnL>
                      <a:noFill/>
                    </a:lnL>
                    <a:lnR>
                      <a:noFill/>
                    </a:lnR>
                    <a:lnT>
                      <a:noFill/>
                    </a:lnT>
                    <a:lnB>
                      <a:noFill/>
                    </a:lnB>
                    <a:noFill/>
                  </a:tcPr>
                </a:tc>
                <a:tc>
                  <a:txBody>
                    <a:bodyPr/>
                    <a:lstStyle/>
                    <a:p>
                      <a:pPr>
                        <a:buNone/>
                      </a:pPr>
                      <a:r>
                        <a:rPr lang="en-IN" sz="1800"/>
                        <a:t>Convert text between multiple languages</a:t>
                      </a:r>
                    </a:p>
                  </a:txBody>
                  <a:tcPr anchor="ctr">
                    <a:lnL>
                      <a:noFill/>
                    </a:lnL>
                    <a:lnR>
                      <a:noFill/>
                    </a:lnR>
                    <a:lnT>
                      <a:noFill/>
                    </a:lnT>
                    <a:lnB>
                      <a:noFill/>
                    </a:lnB>
                    <a:noFill/>
                  </a:tcPr>
                </a:tc>
                <a:extLst>
                  <a:ext uri="{0D108BD9-81ED-4DB2-BD59-A6C34878D82A}">
                    <a16:rowId xmlns:a16="http://schemas.microsoft.com/office/drawing/2014/main" val="258285813"/>
                  </a:ext>
                </a:extLst>
              </a:tr>
              <a:tr h="365760">
                <a:tc>
                  <a:txBody>
                    <a:bodyPr/>
                    <a:lstStyle/>
                    <a:p>
                      <a:pPr>
                        <a:buNone/>
                      </a:pPr>
                      <a:r>
                        <a:rPr lang="en-IN" sz="1800" b="1"/>
                        <a:t>Creative Work</a:t>
                      </a:r>
                      <a:endParaRPr lang="en-IN" sz="1800"/>
                    </a:p>
                  </a:txBody>
                  <a:tcPr anchor="ctr">
                    <a:lnL>
                      <a:noFill/>
                    </a:lnL>
                    <a:lnR>
                      <a:noFill/>
                    </a:lnR>
                    <a:lnT>
                      <a:noFill/>
                    </a:lnT>
                    <a:lnB>
                      <a:noFill/>
                    </a:lnB>
                    <a:noFill/>
                  </a:tcPr>
                </a:tc>
                <a:tc>
                  <a:txBody>
                    <a:bodyPr/>
                    <a:lstStyle/>
                    <a:p>
                      <a:pPr>
                        <a:buNone/>
                      </a:pPr>
                      <a:r>
                        <a:rPr lang="en-IN" sz="1800" dirty="0"/>
                        <a:t>Idea generation, design concepts</a:t>
                      </a:r>
                    </a:p>
                  </a:txBody>
                  <a:tcPr anchor="ctr">
                    <a:lnL>
                      <a:noFill/>
                    </a:lnL>
                    <a:lnR>
                      <a:noFill/>
                    </a:lnR>
                    <a:lnT>
                      <a:noFill/>
                    </a:lnT>
                    <a:lnB>
                      <a:noFill/>
                    </a:lnB>
                    <a:noFill/>
                  </a:tcPr>
                </a:tc>
                <a:extLst>
                  <a:ext uri="{0D108BD9-81ED-4DB2-BD59-A6C34878D82A}">
                    <a16:rowId xmlns:a16="http://schemas.microsoft.com/office/drawing/2014/main" val="3389337756"/>
                  </a:ext>
                </a:extLst>
              </a:tr>
            </a:tbl>
          </a:graphicData>
        </a:graphic>
      </p:graphicFrame>
    </p:spTree>
    <p:extLst>
      <p:ext uri="{BB962C8B-B14F-4D97-AF65-F5344CB8AC3E}">
        <p14:creationId xmlns:p14="http://schemas.microsoft.com/office/powerpoint/2010/main" val="42934916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23C4-4140-4763-3B86-70C9925C86F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A7C694A-D14B-2194-F920-5493F54EAF08}"/>
              </a:ext>
            </a:extLst>
          </p:cNvPr>
          <p:cNvSpPr>
            <a:spLocks noGrp="1"/>
          </p:cNvSpPr>
          <p:nvPr>
            <p:ph type="body" idx="1"/>
          </p:nvPr>
        </p:nvSpPr>
        <p:spPr>
          <a:xfrm>
            <a:off x="2059941" y="1616709"/>
            <a:ext cx="8074025" cy="5232202"/>
          </a:xfrm>
        </p:spPr>
        <p:txBody>
          <a:bodyPr>
            <a:normAutofit fontScale="70000" lnSpcReduction="20000"/>
          </a:bodyPr>
          <a:lstStyle/>
          <a:p>
            <a:r>
              <a:rPr lang="en-IN" b="1" dirty="0"/>
              <a:t>Advantages</a:t>
            </a:r>
          </a:p>
          <a:p>
            <a:endParaRPr lang="en-IN" b="1" dirty="0"/>
          </a:p>
          <a:p>
            <a:pPr marL="342900" indent="-342900">
              <a:buFont typeface="Wingdings" pitchFamily="2" charset="2"/>
              <a:buChar char="Ø"/>
            </a:pPr>
            <a:r>
              <a:rPr lang="en-IN" dirty="0"/>
              <a:t>Understands and generates human-like text</a:t>
            </a:r>
          </a:p>
          <a:p>
            <a:pPr marL="342900" indent="-342900">
              <a:buFont typeface="Wingdings" pitchFamily="2" charset="2"/>
              <a:buChar char="Ø"/>
            </a:pPr>
            <a:r>
              <a:rPr lang="en-IN" dirty="0"/>
              <a:t>Learns context from conversation history</a:t>
            </a:r>
          </a:p>
          <a:p>
            <a:pPr marL="342900" indent="-342900">
              <a:buFont typeface="Wingdings" pitchFamily="2" charset="2"/>
              <a:buChar char="Ø"/>
            </a:pPr>
            <a:r>
              <a:rPr lang="en-IN" dirty="0"/>
              <a:t>Supports multiple domains and languages</a:t>
            </a:r>
          </a:p>
          <a:p>
            <a:pPr marL="342900" indent="-342900">
              <a:buFont typeface="Wingdings" pitchFamily="2" charset="2"/>
              <a:buChar char="Ø"/>
            </a:pPr>
            <a:r>
              <a:rPr lang="en-IN" dirty="0"/>
              <a:t>Enhances productivity and creativity</a:t>
            </a:r>
          </a:p>
          <a:p>
            <a:pPr marL="342900" indent="-342900">
              <a:buFont typeface="Wingdings" pitchFamily="2" charset="2"/>
              <a:buChar char="Ø"/>
            </a:pPr>
            <a:r>
              <a:rPr lang="en-IN" dirty="0"/>
              <a:t>Continuously improved with newer versions (GPT-3 → GPT-4 → GPT-5)</a:t>
            </a:r>
          </a:p>
          <a:p>
            <a:br>
              <a:rPr lang="en-IN" dirty="0"/>
            </a:br>
            <a:endParaRPr lang="en-IN" dirty="0"/>
          </a:p>
          <a:p>
            <a:r>
              <a:rPr lang="en-IN" b="1" dirty="0"/>
              <a:t>Limitations</a:t>
            </a:r>
          </a:p>
          <a:p>
            <a:endParaRPr lang="en-IN" b="1" dirty="0"/>
          </a:p>
          <a:p>
            <a:pPr marL="342900" indent="-342900">
              <a:buFont typeface="Wingdings" pitchFamily="2" charset="2"/>
              <a:buChar char="Ø"/>
            </a:pPr>
            <a:r>
              <a:rPr lang="en-IN" dirty="0"/>
              <a:t>May produce </a:t>
            </a:r>
            <a:r>
              <a:rPr lang="en-IN" b="1" dirty="0"/>
              <a:t>incorrect or biased information</a:t>
            </a:r>
            <a:endParaRPr lang="en-IN" dirty="0"/>
          </a:p>
          <a:p>
            <a:pPr marL="342900" indent="-342900">
              <a:buFont typeface="Wingdings" pitchFamily="2" charset="2"/>
              <a:buChar char="Ø"/>
            </a:pPr>
            <a:r>
              <a:rPr lang="en-IN" dirty="0"/>
              <a:t>Lacks </a:t>
            </a:r>
            <a:r>
              <a:rPr lang="en-IN" b="1" dirty="0"/>
              <a:t>real understanding</a:t>
            </a:r>
            <a:r>
              <a:rPr lang="en-IN" dirty="0"/>
              <a:t> (patterns, not consciousness)</a:t>
            </a:r>
          </a:p>
          <a:p>
            <a:pPr marL="342900" indent="-342900">
              <a:buFont typeface="Wingdings" pitchFamily="2" charset="2"/>
              <a:buChar char="Ø"/>
            </a:pPr>
            <a:r>
              <a:rPr lang="en-IN" dirty="0"/>
              <a:t>Cannot access </a:t>
            </a:r>
            <a:r>
              <a:rPr lang="en-IN" b="1" dirty="0"/>
              <a:t>real-time data</a:t>
            </a:r>
            <a:r>
              <a:rPr lang="en-IN" dirty="0"/>
              <a:t> (unless connected to the web)</a:t>
            </a:r>
          </a:p>
          <a:p>
            <a:pPr marL="342900" indent="-342900">
              <a:buFont typeface="Wingdings" pitchFamily="2" charset="2"/>
              <a:buChar char="Ø"/>
            </a:pPr>
            <a:r>
              <a:rPr lang="en-IN" dirty="0"/>
              <a:t>May generate </a:t>
            </a:r>
            <a:r>
              <a:rPr lang="en-IN" b="1" dirty="0"/>
              <a:t>plausible but false</a:t>
            </a:r>
            <a:r>
              <a:rPr lang="en-IN" dirty="0"/>
              <a:t> or </a:t>
            </a:r>
            <a:r>
              <a:rPr lang="en-IN" b="1" dirty="0"/>
              <a:t>nonsensical</a:t>
            </a:r>
            <a:r>
              <a:rPr lang="en-IN" dirty="0"/>
              <a:t> answers</a:t>
            </a:r>
          </a:p>
          <a:p>
            <a:endParaRPr lang="en-US" dirty="0"/>
          </a:p>
        </p:txBody>
      </p:sp>
    </p:spTree>
    <p:extLst>
      <p:ext uri="{BB962C8B-B14F-4D97-AF65-F5344CB8AC3E}">
        <p14:creationId xmlns:p14="http://schemas.microsoft.com/office/powerpoint/2010/main" val="19811851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5FBC-430F-FBFF-2BC6-53A7ED69DD3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A52EAA3-EC8C-0B0F-076B-B389B94F70EE}"/>
              </a:ext>
            </a:extLst>
          </p:cNvPr>
          <p:cNvSpPr>
            <a:spLocks noGrp="1"/>
          </p:cNvSpPr>
          <p:nvPr>
            <p:ph type="body" idx="1"/>
          </p:nvPr>
        </p:nvSpPr>
        <p:spPr>
          <a:xfrm>
            <a:off x="2059941" y="1600200"/>
            <a:ext cx="8074025" cy="4308872"/>
          </a:xfrm>
        </p:spPr>
        <p:txBody>
          <a:bodyPr>
            <a:normAutofit fontScale="70000" lnSpcReduction="20000"/>
          </a:bodyPr>
          <a:lstStyle/>
          <a:p>
            <a:r>
              <a:rPr lang="en-IN" b="1" dirty="0"/>
              <a:t>Ethical &amp; Safety Considerations</a:t>
            </a:r>
          </a:p>
          <a:p>
            <a:endParaRPr lang="en-IN" b="1" dirty="0"/>
          </a:p>
          <a:p>
            <a:pPr marL="342900" indent="-342900">
              <a:buFont typeface="Wingdings" pitchFamily="2" charset="2"/>
              <a:buChar char="Ø"/>
            </a:pPr>
            <a:r>
              <a:rPr lang="en-IN" dirty="0"/>
              <a:t>Ensures </a:t>
            </a:r>
            <a:r>
              <a:rPr lang="en-IN" b="1" dirty="0"/>
              <a:t>responsible AI use</a:t>
            </a:r>
            <a:r>
              <a:rPr lang="en-IN" dirty="0"/>
              <a:t> through content moderation</a:t>
            </a:r>
          </a:p>
          <a:p>
            <a:pPr marL="342900" indent="-342900">
              <a:buFont typeface="Wingdings" pitchFamily="2" charset="2"/>
              <a:buChar char="Ø"/>
            </a:pPr>
            <a:r>
              <a:rPr lang="en-IN" dirty="0"/>
              <a:t>Uses </a:t>
            </a:r>
            <a:r>
              <a:rPr lang="en-IN" b="1" dirty="0"/>
              <a:t>alignment techniques</a:t>
            </a:r>
            <a:r>
              <a:rPr lang="en-IN" dirty="0"/>
              <a:t> to avoid harmful outputs</a:t>
            </a:r>
          </a:p>
          <a:p>
            <a:pPr marL="342900" indent="-342900">
              <a:buFont typeface="Wingdings" pitchFamily="2" charset="2"/>
              <a:buChar char="Ø"/>
            </a:pPr>
            <a:r>
              <a:rPr lang="en-IN" dirty="0"/>
              <a:t>Strives for </a:t>
            </a:r>
            <a:r>
              <a:rPr lang="en-IN" b="1" dirty="0"/>
              <a:t>transparency, privacy, and fairness</a:t>
            </a:r>
            <a:endParaRPr lang="en-IN" dirty="0"/>
          </a:p>
          <a:p>
            <a:br>
              <a:rPr lang="en-IN" dirty="0"/>
            </a:br>
            <a:endParaRPr lang="en-IN" dirty="0"/>
          </a:p>
          <a:p>
            <a:r>
              <a:rPr lang="en-IN" b="1" dirty="0"/>
              <a:t>Future Directions</a:t>
            </a:r>
          </a:p>
          <a:p>
            <a:endParaRPr lang="en-IN" b="1" dirty="0"/>
          </a:p>
          <a:p>
            <a:pPr marL="342900" indent="-342900">
              <a:buFont typeface="Wingdings" pitchFamily="2" charset="2"/>
              <a:buChar char="Ø"/>
            </a:pPr>
            <a:r>
              <a:rPr lang="en-IN" dirty="0"/>
              <a:t>Integration with </a:t>
            </a:r>
            <a:r>
              <a:rPr lang="en-IN" b="1" dirty="0"/>
              <a:t>real-time web access and databases</a:t>
            </a:r>
            <a:endParaRPr lang="en-IN" dirty="0"/>
          </a:p>
          <a:p>
            <a:pPr marL="342900" indent="-342900">
              <a:buFont typeface="Wingdings" pitchFamily="2" charset="2"/>
              <a:buChar char="Ø"/>
            </a:pPr>
            <a:r>
              <a:rPr lang="en-IN" b="1" dirty="0"/>
              <a:t>Multimodal AI</a:t>
            </a:r>
            <a:r>
              <a:rPr lang="en-IN" dirty="0"/>
              <a:t> – understanding </a:t>
            </a:r>
            <a:r>
              <a:rPr lang="en-IN" b="1" dirty="0"/>
              <a:t>text, images, audio, and video</a:t>
            </a:r>
            <a:endParaRPr lang="en-IN" dirty="0"/>
          </a:p>
          <a:p>
            <a:pPr marL="342900" indent="-342900">
              <a:buFont typeface="Wingdings" pitchFamily="2" charset="2"/>
              <a:buChar char="Ø"/>
            </a:pPr>
            <a:r>
              <a:rPr lang="en-IN" dirty="0"/>
              <a:t>Improved </a:t>
            </a:r>
            <a:r>
              <a:rPr lang="en-IN" b="1" dirty="0"/>
              <a:t>reasoning and explainability</a:t>
            </a:r>
            <a:endParaRPr lang="en-IN" dirty="0"/>
          </a:p>
          <a:p>
            <a:pPr marL="342900" indent="-342900">
              <a:buFont typeface="Wingdings" pitchFamily="2" charset="2"/>
              <a:buChar char="Ø"/>
            </a:pPr>
            <a:r>
              <a:rPr lang="en-IN" dirty="0"/>
              <a:t>Domain-specific and </a:t>
            </a:r>
            <a:r>
              <a:rPr lang="en-IN" b="1" dirty="0"/>
              <a:t>personalized AI assistants</a:t>
            </a:r>
            <a:endParaRPr lang="en-IN" dirty="0"/>
          </a:p>
          <a:p>
            <a:endParaRPr lang="en-US" dirty="0"/>
          </a:p>
        </p:txBody>
      </p:sp>
    </p:spTree>
    <p:extLst>
      <p:ext uri="{BB962C8B-B14F-4D97-AF65-F5344CB8AC3E}">
        <p14:creationId xmlns:p14="http://schemas.microsoft.com/office/powerpoint/2010/main" val="2677337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71D8B-813A-78B2-ED7C-7CD62AD8583C}"/>
              </a:ext>
            </a:extLst>
          </p:cNvPr>
          <p:cNvSpPr>
            <a:spLocks noGrp="1"/>
          </p:cNvSpPr>
          <p:nvPr>
            <p:ph type="title"/>
          </p:nvPr>
        </p:nvSpPr>
        <p:spPr>
          <a:xfrm>
            <a:off x="2059941" y="145492"/>
            <a:ext cx="8072119" cy="615553"/>
          </a:xfrm>
        </p:spPr>
        <p:txBody>
          <a:bodyPr>
            <a:normAutofit fontScale="90000"/>
          </a:bodyPr>
          <a:lstStyle/>
          <a:p>
            <a:r>
              <a:rPr lang="en-IN" dirty="0"/>
              <a:t>Key Versions</a:t>
            </a:r>
            <a:endParaRPr lang="en-US" dirty="0"/>
          </a:p>
        </p:txBody>
      </p:sp>
      <p:graphicFrame>
        <p:nvGraphicFramePr>
          <p:cNvPr id="4" name="Table 3">
            <a:extLst>
              <a:ext uri="{FF2B5EF4-FFF2-40B4-BE49-F238E27FC236}">
                <a16:creationId xmlns:a16="http://schemas.microsoft.com/office/drawing/2014/main" id="{6AA34FD8-4E26-EB41-4E9B-3E3EC5DDEB81}"/>
              </a:ext>
            </a:extLst>
          </p:cNvPr>
          <p:cNvGraphicFramePr>
            <a:graphicFrameLocks noGrp="1"/>
          </p:cNvGraphicFramePr>
          <p:nvPr/>
        </p:nvGraphicFramePr>
        <p:xfrm>
          <a:off x="1905000" y="1219200"/>
          <a:ext cx="8074026" cy="3840480"/>
        </p:xfrm>
        <a:graphic>
          <a:graphicData uri="http://schemas.openxmlformats.org/drawingml/2006/table">
            <a:tbl>
              <a:tblPr/>
              <a:tblGrid>
                <a:gridCol w="2691342">
                  <a:extLst>
                    <a:ext uri="{9D8B030D-6E8A-4147-A177-3AD203B41FA5}">
                      <a16:colId xmlns:a16="http://schemas.microsoft.com/office/drawing/2014/main" val="115789117"/>
                    </a:ext>
                  </a:extLst>
                </a:gridCol>
                <a:gridCol w="2691342">
                  <a:extLst>
                    <a:ext uri="{9D8B030D-6E8A-4147-A177-3AD203B41FA5}">
                      <a16:colId xmlns:a16="http://schemas.microsoft.com/office/drawing/2014/main" val="678028206"/>
                    </a:ext>
                  </a:extLst>
                </a:gridCol>
                <a:gridCol w="2691342">
                  <a:extLst>
                    <a:ext uri="{9D8B030D-6E8A-4147-A177-3AD203B41FA5}">
                      <a16:colId xmlns:a16="http://schemas.microsoft.com/office/drawing/2014/main" val="1248925159"/>
                    </a:ext>
                  </a:extLst>
                </a:gridCol>
              </a:tblGrid>
              <a:tr h="365760">
                <a:tc>
                  <a:txBody>
                    <a:bodyPr/>
                    <a:lstStyle/>
                    <a:p>
                      <a:pPr>
                        <a:buNone/>
                      </a:pPr>
                      <a:r>
                        <a:rPr lang="en-IN" sz="1800"/>
                        <a:t>Model</a:t>
                      </a:r>
                    </a:p>
                  </a:txBody>
                  <a:tcPr anchor="ctr">
                    <a:lnL>
                      <a:noFill/>
                    </a:lnL>
                    <a:lnR>
                      <a:noFill/>
                    </a:lnR>
                    <a:lnT>
                      <a:noFill/>
                    </a:lnT>
                    <a:lnB>
                      <a:noFill/>
                    </a:lnB>
                    <a:noFill/>
                  </a:tcPr>
                </a:tc>
                <a:tc>
                  <a:txBody>
                    <a:bodyPr/>
                    <a:lstStyle/>
                    <a:p>
                      <a:pPr>
                        <a:buNone/>
                      </a:pPr>
                      <a:r>
                        <a:rPr lang="en-IN" sz="1800"/>
                        <a:t>Year</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4272371074"/>
                  </a:ext>
                </a:extLst>
              </a:tr>
              <a:tr h="640080">
                <a:tc>
                  <a:txBody>
                    <a:bodyPr/>
                    <a:lstStyle/>
                    <a:p>
                      <a:pPr>
                        <a:buNone/>
                      </a:pPr>
                      <a:r>
                        <a:rPr lang="en-IN" sz="1800" b="1"/>
                        <a:t>GPT-1</a:t>
                      </a:r>
                      <a:endParaRPr lang="en-IN" sz="1800"/>
                    </a:p>
                  </a:txBody>
                  <a:tcPr anchor="ctr">
                    <a:lnL>
                      <a:noFill/>
                    </a:lnL>
                    <a:lnR>
                      <a:noFill/>
                    </a:lnR>
                    <a:lnT>
                      <a:noFill/>
                    </a:lnT>
                    <a:lnB>
                      <a:noFill/>
                    </a:lnB>
                    <a:noFill/>
                  </a:tcPr>
                </a:tc>
                <a:tc>
                  <a:txBody>
                    <a:bodyPr/>
                    <a:lstStyle/>
                    <a:p>
                      <a:pPr>
                        <a:buNone/>
                      </a:pPr>
                      <a:r>
                        <a:rPr lang="en-IN" sz="1800"/>
                        <a:t>2018</a:t>
                      </a:r>
                    </a:p>
                  </a:txBody>
                  <a:tcPr anchor="ctr">
                    <a:lnL>
                      <a:noFill/>
                    </a:lnL>
                    <a:lnR>
                      <a:noFill/>
                    </a:lnR>
                    <a:lnT>
                      <a:noFill/>
                    </a:lnT>
                    <a:lnB>
                      <a:noFill/>
                    </a:lnB>
                    <a:noFill/>
                  </a:tcPr>
                </a:tc>
                <a:tc>
                  <a:txBody>
                    <a:bodyPr/>
                    <a:lstStyle/>
                    <a:p>
                      <a:pPr>
                        <a:buNone/>
                      </a:pPr>
                      <a:r>
                        <a:rPr lang="en-IN" sz="1800"/>
                        <a:t>Proof of concept (117M parameters)</a:t>
                      </a:r>
                    </a:p>
                  </a:txBody>
                  <a:tcPr anchor="ctr">
                    <a:lnL>
                      <a:noFill/>
                    </a:lnL>
                    <a:lnR>
                      <a:noFill/>
                    </a:lnR>
                    <a:lnT>
                      <a:noFill/>
                    </a:lnT>
                    <a:lnB>
                      <a:noFill/>
                    </a:lnB>
                    <a:noFill/>
                  </a:tcPr>
                </a:tc>
                <a:extLst>
                  <a:ext uri="{0D108BD9-81ED-4DB2-BD59-A6C34878D82A}">
                    <a16:rowId xmlns:a16="http://schemas.microsoft.com/office/drawing/2014/main" val="2591044658"/>
                  </a:ext>
                </a:extLst>
              </a:tr>
              <a:tr h="640080">
                <a:tc>
                  <a:txBody>
                    <a:bodyPr/>
                    <a:lstStyle/>
                    <a:p>
                      <a:pPr>
                        <a:buNone/>
                      </a:pPr>
                      <a:r>
                        <a:rPr lang="en-IN" sz="1800" b="1"/>
                        <a:t>GPT-2</a:t>
                      </a:r>
                      <a:endParaRPr lang="en-IN" sz="1800"/>
                    </a:p>
                  </a:txBody>
                  <a:tcPr anchor="ctr">
                    <a:lnL>
                      <a:noFill/>
                    </a:lnL>
                    <a:lnR>
                      <a:noFill/>
                    </a:lnR>
                    <a:lnT>
                      <a:noFill/>
                    </a:lnT>
                    <a:lnB>
                      <a:noFill/>
                    </a:lnB>
                    <a:noFill/>
                  </a:tcPr>
                </a:tc>
                <a:tc>
                  <a:txBody>
                    <a:bodyPr/>
                    <a:lstStyle/>
                    <a:p>
                      <a:pPr>
                        <a:buNone/>
                      </a:pPr>
                      <a:r>
                        <a:rPr lang="en-IN" sz="1800"/>
                        <a:t>2019</a:t>
                      </a:r>
                    </a:p>
                  </a:txBody>
                  <a:tcPr anchor="ctr">
                    <a:lnL>
                      <a:noFill/>
                    </a:lnL>
                    <a:lnR>
                      <a:noFill/>
                    </a:lnR>
                    <a:lnT>
                      <a:noFill/>
                    </a:lnT>
                    <a:lnB>
                      <a:noFill/>
                    </a:lnB>
                    <a:noFill/>
                  </a:tcPr>
                </a:tc>
                <a:tc>
                  <a:txBody>
                    <a:bodyPr/>
                    <a:lstStyle/>
                    <a:p>
                      <a:pPr>
                        <a:buNone/>
                      </a:pPr>
                      <a:r>
                        <a:rPr lang="en-IN" sz="1800"/>
                        <a:t>Fluent text generation (1.5B parameters)</a:t>
                      </a:r>
                    </a:p>
                  </a:txBody>
                  <a:tcPr anchor="ctr">
                    <a:lnL>
                      <a:noFill/>
                    </a:lnL>
                    <a:lnR>
                      <a:noFill/>
                    </a:lnR>
                    <a:lnT>
                      <a:noFill/>
                    </a:lnT>
                    <a:lnB>
                      <a:noFill/>
                    </a:lnB>
                    <a:noFill/>
                  </a:tcPr>
                </a:tc>
                <a:extLst>
                  <a:ext uri="{0D108BD9-81ED-4DB2-BD59-A6C34878D82A}">
                    <a16:rowId xmlns:a16="http://schemas.microsoft.com/office/drawing/2014/main" val="3405130659"/>
                  </a:ext>
                </a:extLst>
              </a:tr>
              <a:tr h="640080">
                <a:tc>
                  <a:txBody>
                    <a:bodyPr/>
                    <a:lstStyle/>
                    <a:p>
                      <a:pPr>
                        <a:buNone/>
                      </a:pPr>
                      <a:r>
                        <a:rPr lang="en-IN" sz="1800" b="1"/>
                        <a:t>GPT-3</a:t>
                      </a:r>
                      <a:endParaRPr lang="en-IN" sz="1800"/>
                    </a:p>
                  </a:txBody>
                  <a:tcPr anchor="ctr">
                    <a:lnL>
                      <a:noFill/>
                    </a:lnL>
                    <a:lnR>
                      <a:noFill/>
                    </a:lnR>
                    <a:lnT>
                      <a:noFill/>
                    </a:lnT>
                    <a:lnB>
                      <a:noFill/>
                    </a:lnB>
                    <a:noFill/>
                  </a:tcPr>
                </a:tc>
                <a:tc>
                  <a:txBody>
                    <a:bodyPr/>
                    <a:lstStyle/>
                    <a:p>
                      <a:pPr>
                        <a:buNone/>
                      </a:pPr>
                      <a:r>
                        <a:rPr lang="en-IN" sz="1800"/>
                        <a:t>2020</a:t>
                      </a:r>
                    </a:p>
                  </a:txBody>
                  <a:tcPr anchor="ctr">
                    <a:lnL>
                      <a:noFill/>
                    </a:lnL>
                    <a:lnR>
                      <a:noFill/>
                    </a:lnR>
                    <a:lnT>
                      <a:noFill/>
                    </a:lnT>
                    <a:lnB>
                      <a:noFill/>
                    </a:lnB>
                    <a:noFill/>
                  </a:tcPr>
                </a:tc>
                <a:tc>
                  <a:txBody>
                    <a:bodyPr/>
                    <a:lstStyle/>
                    <a:p>
                      <a:pPr>
                        <a:buNone/>
                      </a:pPr>
                      <a:r>
                        <a:rPr lang="en-IN" sz="1800"/>
                        <a:t>Massive model (175B parameters)</a:t>
                      </a:r>
                    </a:p>
                  </a:txBody>
                  <a:tcPr anchor="ctr">
                    <a:lnL>
                      <a:noFill/>
                    </a:lnL>
                    <a:lnR>
                      <a:noFill/>
                    </a:lnR>
                    <a:lnT>
                      <a:noFill/>
                    </a:lnT>
                    <a:lnB>
                      <a:noFill/>
                    </a:lnB>
                    <a:noFill/>
                  </a:tcPr>
                </a:tc>
                <a:extLst>
                  <a:ext uri="{0D108BD9-81ED-4DB2-BD59-A6C34878D82A}">
                    <a16:rowId xmlns:a16="http://schemas.microsoft.com/office/drawing/2014/main" val="599999593"/>
                  </a:ext>
                </a:extLst>
              </a:tr>
              <a:tr h="640080">
                <a:tc>
                  <a:txBody>
                    <a:bodyPr/>
                    <a:lstStyle/>
                    <a:p>
                      <a:pPr>
                        <a:buNone/>
                      </a:pPr>
                      <a:r>
                        <a:rPr lang="en-IN" sz="1800" b="1"/>
                        <a:t>GPT-4</a:t>
                      </a:r>
                      <a:endParaRPr lang="en-IN" sz="1800"/>
                    </a:p>
                  </a:txBody>
                  <a:tcPr anchor="ctr">
                    <a:lnL>
                      <a:noFill/>
                    </a:lnL>
                    <a:lnR>
                      <a:noFill/>
                    </a:lnR>
                    <a:lnT>
                      <a:noFill/>
                    </a:lnT>
                    <a:lnB>
                      <a:noFill/>
                    </a:lnB>
                    <a:noFill/>
                  </a:tcPr>
                </a:tc>
                <a:tc>
                  <a:txBody>
                    <a:bodyPr/>
                    <a:lstStyle/>
                    <a:p>
                      <a:pPr>
                        <a:buNone/>
                      </a:pPr>
                      <a:r>
                        <a:rPr lang="en-IN" sz="1800"/>
                        <a:t>2023</a:t>
                      </a:r>
                    </a:p>
                  </a:txBody>
                  <a:tcPr anchor="ctr">
                    <a:lnL>
                      <a:noFill/>
                    </a:lnL>
                    <a:lnR>
                      <a:noFill/>
                    </a:lnR>
                    <a:lnT>
                      <a:noFill/>
                    </a:lnT>
                    <a:lnB>
                      <a:noFill/>
                    </a:lnB>
                    <a:noFill/>
                  </a:tcPr>
                </a:tc>
                <a:tc>
                  <a:txBody>
                    <a:bodyPr/>
                    <a:lstStyle/>
                    <a:p>
                      <a:pPr>
                        <a:buNone/>
                      </a:pPr>
                      <a:r>
                        <a:rPr lang="en-IN" sz="1800"/>
                        <a:t>Multimodal reasoning (text + images)</a:t>
                      </a:r>
                    </a:p>
                  </a:txBody>
                  <a:tcPr anchor="ctr">
                    <a:lnL>
                      <a:noFill/>
                    </a:lnL>
                    <a:lnR>
                      <a:noFill/>
                    </a:lnR>
                    <a:lnT>
                      <a:noFill/>
                    </a:lnT>
                    <a:lnB>
                      <a:noFill/>
                    </a:lnB>
                    <a:noFill/>
                  </a:tcPr>
                </a:tc>
                <a:extLst>
                  <a:ext uri="{0D108BD9-81ED-4DB2-BD59-A6C34878D82A}">
                    <a16:rowId xmlns:a16="http://schemas.microsoft.com/office/drawing/2014/main" val="1926738400"/>
                  </a:ext>
                </a:extLst>
              </a:tr>
              <a:tr h="914400">
                <a:tc>
                  <a:txBody>
                    <a:bodyPr/>
                    <a:lstStyle/>
                    <a:p>
                      <a:pPr>
                        <a:buNone/>
                      </a:pPr>
                      <a:r>
                        <a:rPr lang="en-IN" sz="1800" b="1"/>
                        <a:t>GPT-5</a:t>
                      </a:r>
                      <a:endParaRPr lang="en-IN" sz="1800"/>
                    </a:p>
                  </a:txBody>
                  <a:tcPr anchor="ctr">
                    <a:lnL>
                      <a:noFill/>
                    </a:lnL>
                    <a:lnR>
                      <a:noFill/>
                    </a:lnR>
                    <a:lnT>
                      <a:noFill/>
                    </a:lnT>
                    <a:lnB>
                      <a:noFill/>
                    </a:lnB>
                    <a:noFill/>
                  </a:tcPr>
                </a:tc>
                <a:tc>
                  <a:txBody>
                    <a:bodyPr/>
                    <a:lstStyle/>
                    <a:p>
                      <a:pPr>
                        <a:buNone/>
                      </a:pPr>
                      <a:r>
                        <a:rPr lang="en-IN" sz="1800"/>
                        <a:t>2025</a:t>
                      </a:r>
                    </a:p>
                  </a:txBody>
                  <a:tcPr anchor="ctr">
                    <a:lnL>
                      <a:noFill/>
                    </a:lnL>
                    <a:lnR>
                      <a:noFill/>
                    </a:lnR>
                    <a:lnT>
                      <a:noFill/>
                    </a:lnT>
                    <a:lnB>
                      <a:noFill/>
                    </a:lnB>
                    <a:noFill/>
                  </a:tcPr>
                </a:tc>
                <a:tc>
                  <a:txBody>
                    <a:bodyPr/>
                    <a:lstStyle/>
                    <a:p>
                      <a:pPr>
                        <a:buNone/>
                      </a:pPr>
                      <a:r>
                        <a:rPr lang="en-IN" sz="1800" dirty="0"/>
                        <a:t>Advanced reasoning, contextual memory, multimodal intelligence</a:t>
                      </a:r>
                    </a:p>
                  </a:txBody>
                  <a:tcPr anchor="ctr">
                    <a:lnL>
                      <a:noFill/>
                    </a:lnL>
                    <a:lnR>
                      <a:noFill/>
                    </a:lnR>
                    <a:lnT>
                      <a:noFill/>
                    </a:lnT>
                    <a:lnB>
                      <a:noFill/>
                    </a:lnB>
                    <a:noFill/>
                  </a:tcPr>
                </a:tc>
                <a:extLst>
                  <a:ext uri="{0D108BD9-81ED-4DB2-BD59-A6C34878D82A}">
                    <a16:rowId xmlns:a16="http://schemas.microsoft.com/office/drawing/2014/main" val="3474872224"/>
                  </a:ext>
                </a:extLst>
              </a:tr>
            </a:tbl>
          </a:graphicData>
        </a:graphic>
      </p:graphicFrame>
    </p:spTree>
    <p:extLst>
      <p:ext uri="{BB962C8B-B14F-4D97-AF65-F5344CB8AC3E}">
        <p14:creationId xmlns:p14="http://schemas.microsoft.com/office/powerpoint/2010/main" val="1341105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4196</Words>
  <Application>Microsoft Macintosh PowerPoint</Application>
  <PresentationFormat>Widescreen</PresentationFormat>
  <Paragraphs>682</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Aptos</vt:lpstr>
      <vt:lpstr>Aptos Display</vt:lpstr>
      <vt:lpstr>Arial</vt:lpstr>
      <vt:lpstr>Wingdings</vt:lpstr>
      <vt:lpstr>Office Theme</vt:lpstr>
      <vt:lpstr>Unit 5 Case Studies</vt:lpstr>
      <vt:lpstr>IBM Deep Blue</vt:lpstr>
      <vt:lpstr>System Architecture </vt:lpstr>
      <vt:lpstr>Working Principle </vt:lpstr>
      <vt:lpstr>AI Concepts Involved </vt:lpstr>
      <vt:lpstr>AI AlphaGo</vt:lpstr>
      <vt:lpstr>Why Go Was a Major Challenge for AI</vt:lpstr>
      <vt:lpstr>Development Background</vt:lpstr>
      <vt:lpstr>System Architecture</vt:lpstr>
      <vt:lpstr>Learning Process </vt:lpstr>
      <vt:lpstr>Key Algorithms Used </vt:lpstr>
      <vt:lpstr>Technical Overview</vt:lpstr>
      <vt:lpstr>Comparison: AlphaGo vs IBM Deep Blue</vt:lpstr>
      <vt:lpstr>Parkinson’s Disease Prediction</vt:lpstr>
      <vt:lpstr>Why AI is Needed</vt:lpstr>
      <vt:lpstr>Data Sources Used</vt:lpstr>
      <vt:lpstr>AI Techniques Used</vt:lpstr>
      <vt:lpstr>Typical Workflow</vt:lpstr>
      <vt:lpstr>Common Algorithms</vt:lpstr>
      <vt:lpstr>Example Datasets </vt:lpstr>
      <vt:lpstr>Performance Metrics</vt:lpstr>
      <vt:lpstr>Tesla Autopilot</vt:lpstr>
      <vt:lpstr>Key Technologies Used </vt:lpstr>
      <vt:lpstr>Main Features  </vt:lpstr>
      <vt:lpstr>PowerPoint Presentation</vt:lpstr>
      <vt:lpstr>AI Algorithms Involved  </vt:lpstr>
      <vt:lpstr>Robinhood’s AI-Driven Fraud Detection</vt:lpstr>
      <vt:lpstr>Key Technologies Used </vt:lpstr>
      <vt:lpstr>AI Workflow  </vt:lpstr>
      <vt:lpstr>PowerPoint Presentation</vt:lpstr>
      <vt:lpstr>IBM Watson</vt:lpstr>
      <vt:lpstr>Core Technologies Used  </vt:lpstr>
      <vt:lpstr>Major Components / Services</vt:lpstr>
      <vt:lpstr>Applications  </vt:lpstr>
      <vt:lpstr>Example: Watson in Healthcare  </vt:lpstr>
      <vt:lpstr>PowerPoint Presentation</vt:lpstr>
      <vt:lpstr>Alexa</vt:lpstr>
      <vt:lpstr>Core Technologies Used </vt:lpstr>
      <vt:lpstr>Applications</vt:lpstr>
      <vt:lpstr>PowerPoint Presentation</vt:lpstr>
      <vt:lpstr>Siri</vt:lpstr>
      <vt:lpstr>Core Technologies Behind Siri  </vt:lpstr>
      <vt:lpstr>Applications of Siri</vt:lpstr>
      <vt:lpstr>PowerPoint Presentation</vt:lpstr>
      <vt:lpstr>Eliza</vt:lpstr>
      <vt:lpstr>PowerPoint Presentation</vt:lpstr>
      <vt:lpstr>Key Working Principles  </vt:lpstr>
      <vt:lpstr>PowerPoint Presentation</vt:lpstr>
      <vt:lpstr>Legacy &amp; Influence  </vt:lpstr>
      <vt:lpstr>ELIZA’s Technological Evolution</vt:lpstr>
      <vt:lpstr>ChatGPT</vt:lpstr>
      <vt:lpstr>Core Technologies Behind ChatGPT  </vt:lpstr>
      <vt:lpstr>PowerPoint Presentation</vt:lpstr>
      <vt:lpstr>Capabilities</vt:lpstr>
      <vt:lpstr>PowerPoint Presentation</vt:lpstr>
      <vt:lpstr>PowerPoint Presentation</vt:lpstr>
      <vt:lpstr>Key Versions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Devendra Joshi</dc:creator>
  <cp:lastModifiedBy>Devendra Joshi</cp:lastModifiedBy>
  <cp:revision>1</cp:revision>
  <dcterms:created xsi:type="dcterms:W3CDTF">2025-10-31T09:40:20Z</dcterms:created>
  <dcterms:modified xsi:type="dcterms:W3CDTF">2025-10-31T09:43:03Z</dcterms:modified>
</cp:coreProperties>
</file>