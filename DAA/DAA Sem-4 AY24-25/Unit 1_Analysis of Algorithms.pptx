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1" r:id="rId1"/>
  </p:sldMasterIdLst>
  <p:notesMasterIdLst>
    <p:notesMasterId r:id="rId82"/>
  </p:notesMasterIdLst>
  <p:handoutMasterIdLst>
    <p:handoutMasterId r:id="rId83"/>
  </p:handoutMasterIdLst>
  <p:sldIdLst>
    <p:sldId id="298" r:id="rId2"/>
    <p:sldId id="594" r:id="rId3"/>
    <p:sldId id="490" r:id="rId4"/>
    <p:sldId id="494" r:id="rId5"/>
    <p:sldId id="495" r:id="rId6"/>
    <p:sldId id="496" r:id="rId7"/>
    <p:sldId id="507" r:id="rId8"/>
    <p:sldId id="509" r:id="rId9"/>
    <p:sldId id="571" r:id="rId10"/>
    <p:sldId id="511" r:id="rId11"/>
    <p:sldId id="497" r:id="rId12"/>
    <p:sldId id="512" r:id="rId13"/>
    <p:sldId id="513" r:id="rId14"/>
    <p:sldId id="516" r:id="rId15"/>
    <p:sldId id="518" r:id="rId16"/>
    <p:sldId id="519" r:id="rId17"/>
    <p:sldId id="520" r:id="rId18"/>
    <p:sldId id="521" r:id="rId19"/>
    <p:sldId id="536" r:id="rId20"/>
    <p:sldId id="591" r:id="rId21"/>
    <p:sldId id="539" r:id="rId22"/>
    <p:sldId id="540" r:id="rId23"/>
    <p:sldId id="543" r:id="rId24"/>
    <p:sldId id="544" r:id="rId25"/>
    <p:sldId id="545" r:id="rId26"/>
    <p:sldId id="572" r:id="rId27"/>
    <p:sldId id="573" r:id="rId28"/>
    <p:sldId id="574" r:id="rId29"/>
    <p:sldId id="547" r:id="rId30"/>
    <p:sldId id="575" r:id="rId31"/>
    <p:sldId id="577" r:id="rId32"/>
    <p:sldId id="578" r:id="rId33"/>
    <p:sldId id="579" r:id="rId34"/>
    <p:sldId id="580" r:id="rId35"/>
    <p:sldId id="548" r:id="rId36"/>
    <p:sldId id="550" r:id="rId37"/>
    <p:sldId id="537" r:id="rId38"/>
    <p:sldId id="581" r:id="rId39"/>
    <p:sldId id="590" r:id="rId40"/>
    <p:sldId id="582" r:id="rId41"/>
    <p:sldId id="585" r:id="rId42"/>
    <p:sldId id="586" r:id="rId43"/>
    <p:sldId id="592" r:id="rId44"/>
    <p:sldId id="593" r:id="rId45"/>
    <p:sldId id="588" r:id="rId46"/>
    <p:sldId id="322" r:id="rId47"/>
    <p:sldId id="595" r:id="rId48"/>
    <p:sldId id="596" r:id="rId49"/>
    <p:sldId id="597" r:id="rId50"/>
    <p:sldId id="598" r:id="rId51"/>
    <p:sldId id="599" r:id="rId52"/>
    <p:sldId id="600" r:id="rId53"/>
    <p:sldId id="601" r:id="rId54"/>
    <p:sldId id="602" r:id="rId55"/>
    <p:sldId id="603" r:id="rId56"/>
    <p:sldId id="604" r:id="rId57"/>
    <p:sldId id="605" r:id="rId58"/>
    <p:sldId id="606" r:id="rId59"/>
    <p:sldId id="607" r:id="rId60"/>
    <p:sldId id="608" r:id="rId61"/>
    <p:sldId id="609" r:id="rId62"/>
    <p:sldId id="610" r:id="rId63"/>
    <p:sldId id="611" r:id="rId64"/>
    <p:sldId id="612" r:id="rId65"/>
    <p:sldId id="613" r:id="rId66"/>
    <p:sldId id="614" r:id="rId67"/>
    <p:sldId id="615" r:id="rId68"/>
    <p:sldId id="616" r:id="rId69"/>
    <p:sldId id="617" r:id="rId70"/>
    <p:sldId id="618" r:id="rId71"/>
    <p:sldId id="619" r:id="rId72"/>
    <p:sldId id="620" r:id="rId73"/>
    <p:sldId id="621" r:id="rId74"/>
    <p:sldId id="622" r:id="rId75"/>
    <p:sldId id="623" r:id="rId76"/>
    <p:sldId id="624" r:id="rId77"/>
    <p:sldId id="625" r:id="rId78"/>
    <p:sldId id="626" r:id="rId79"/>
    <p:sldId id="627" r:id="rId80"/>
    <p:sldId id="628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02"/>
    </p:cViewPr>
  </p:sorterViewPr>
  <p:notesViewPr>
    <p:cSldViewPr snapToGrid="0">
      <p:cViewPr varScale="1">
        <p:scale>
          <a:sx n="83" d="100"/>
          <a:sy n="83" d="100"/>
        </p:scale>
        <p:origin x="201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Ref : Thomas H Cormen 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2406A-ED26-4576-A423-6507A2F1293C}" type="datetimeFigureOut">
              <a:rPr lang="en-US" smtClean="0"/>
              <a:t>06-Dec-24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B4DE6-BE1D-493F-AAB4-82AE32167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498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Ref : Thomas H Cormen 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1541E-EC0F-4D83-A883-6BA9C3352F82}" type="datetimeFigureOut">
              <a:rPr lang="en-US" smtClean="0"/>
              <a:t>06-Dec-24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189AB-5D8B-4EF4-814C-60D97C145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0431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Ref : Thomas H Cormen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0189AB-5D8B-4EF4-814C-60D97C145C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62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let me begin by justifying this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course's existence. And giving you some reasons why you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 be highly motivated to learn about algorithms.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E353D-A3C1-4830-9EA7-E818B18EA5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9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E353D-A3C1-4830-9EA7-E818B18EA5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26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Ref : Thomas H Cormen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0189AB-5D8B-4EF4-814C-60D97C145C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81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Ref : Thomas H Cormen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0189AB-5D8B-4EF4-814C-60D97C145C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13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C1 and c2 not depend on input size n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Ref : Thomas H Cormen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0189AB-5D8B-4EF4-814C-60D97C145C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58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Whatever can be measured that we want to analyze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E353D-A3C1-4830-9EA7-E818B18EA5D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46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33639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26585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64203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53844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Ref : Thomas H Cormen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0189AB-5D8B-4EF4-814C-60D97C145CC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60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189AB-5D8B-4EF4-814C-60D97C145CC3}" type="slidenum">
              <a:rPr lang="en-US" smtClean="0"/>
              <a:t>46</a:t>
            </a:fld>
            <a:endParaRPr lang="en-US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 smtClean="0"/>
              <a:t>Ref : Thomas H Cormen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181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4" name="Google Shape;5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0712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566" name="Google Shape;566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5153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576" name="Google Shape;5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890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592" name="Google Shape;5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2416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616" name="Google Shape;6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7" name="Google Shape;6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184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640" name="Google Shape;6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372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666" name="Google Shape;6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481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692" name="Google Shape;6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718" name="Google Shape;7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9" name="Google Shape;7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70408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744" name="Google Shape;7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5" name="Google Shape;7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1067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771" name="Google Shape;7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2" name="Google Shape;7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501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796" name="Google Shape;7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7" name="Google Shape;7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985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0" name="Google Shape;8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6474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1" name="Google Shape;8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6031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2" name="Google Shape;862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0416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8346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7437b1ddd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1" name="Google Shape;881;g27437b1dd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9672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7" name="Google Shape;8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53123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3" name="Google Shape;9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79443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2" name="Google Shape;91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3" name="Google Shape;91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914" name="Google Shape;914;p1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74588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5" name="Google Shape;9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6576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5" name="Google Shape;9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74168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8" name="Google Shape;100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19088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" name="Google Shape;104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934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1" name="Google Shape;10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77824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1" name="Google Shape;113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26410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4" name="Google Shape;117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08005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2" name="Google Shape;1212;p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44713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1" name="Google Shape;1251;p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71420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9" name="Google Shape;1289;p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27889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9" name="Google Shape;1299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1506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8" name="Google Shape;130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9" name="Google Shape;1309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1310" name="Google Shape;1310;p3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62351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1320" name="Google Shape;1320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1" name="Google Shape;1321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813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4" name="Google Shape;135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5" name="Google Shape;1355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1356" name="Google Shape;1356;p3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9624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E4C88-626B-42F4-8AFA-948282B3134A}" type="datetime1">
              <a:rPr lang="en-US" smtClean="0"/>
              <a:t>06-Dec-24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82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5C85D-1FA8-4AFE-A6B0-7C6BD6F7DD20}" type="datetime1">
              <a:rPr lang="en-US" smtClean="0"/>
              <a:t>06-Dec-24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683647" y="303383"/>
            <a:ext cx="2225008" cy="495651"/>
          </a:xfrm>
        </p:spPr>
        <p:txBody>
          <a:bodyPr/>
          <a:lstStyle>
            <a:lvl1pPr>
              <a:defRPr sz="11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8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6FF1-AA24-4F52-80AC-F280AADC30D1}" type="datetime1">
              <a:rPr lang="en-US" smtClean="0"/>
              <a:t>06-Dec-24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9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07DE-3BC1-4410-ADD0-53732C344115}" type="datetime1">
              <a:rPr lang="en-US" smtClean="0"/>
              <a:t>06-Dec-24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45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E4E0-C298-4109-A34C-54B628410A5C}" type="datetime1">
              <a:rPr lang="en-US" smtClean="0"/>
              <a:t>06-Dec-24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6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944-EA5D-403E-B5B3-7630A66A02AA}" type="datetime1">
              <a:rPr lang="en-US" smtClean="0"/>
              <a:t>06-Dec-24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9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5A5A8-36B1-47AD-A5B7-D97E51AA3E95}" type="datetime1">
              <a:rPr lang="en-US" smtClean="0"/>
              <a:t>06-Dec-24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55609-29EC-4856-B5A7-DEEB98A3F2A7}" type="datetime1">
              <a:rPr lang="en-US" smtClean="0"/>
              <a:t>06-Dec-24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2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D6315A8-F1F3-4159-A316-608A14D5ED68}" type="datetime1">
              <a:rPr lang="en-US" smtClean="0"/>
              <a:t>06-Dec-24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0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0679-281F-4001-B61A-1A53A07E07CE}" type="datetime1">
              <a:rPr lang="en-US" smtClean="0"/>
              <a:t>06-Dec-24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2683-0620-482D-B018-6DBB21131EBC}" type="datetime1">
              <a:rPr lang="en-US" smtClean="0"/>
              <a:t>06-Dec-24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95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13B7-D37B-4BDD-861A-DC34AFC4843B}" type="datetime1">
              <a:rPr lang="en-US" smtClean="0"/>
              <a:t>06-Dec-24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1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9052984" cy="1216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5651" y="1752600"/>
            <a:ext cx="10668000" cy="4267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59B14-F9A8-43B6-AA36-D2F94F3BBE27}" type="datetime1">
              <a:rPr lang="en-US" smtClean="0"/>
              <a:t>06-Dec-24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8B481B-8C61-4F70-B3C9-21A9675F4E2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0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B6E41A2-6188-4586-B952-42C74C092DFB}" type="datetime1">
              <a:rPr lang="en-US" smtClean="0"/>
              <a:t>06-Dec-24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777EDF-8266-4D24-8986-7AADE8C439A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20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3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4" r:id="rId13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1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yongdanielliang.github.io/animation/animation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yongdanielliang.github.io/animation/web/LinearSearchNew.html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yongdanielliang.github.io/animation/animation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cs.usfca.edu/~galles/visualization/Search.html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5143500"/>
            <a:ext cx="9144000" cy="48260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72" y="431800"/>
            <a:ext cx="10193528" cy="207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68720" y="2886840"/>
            <a:ext cx="110831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CSE2PM09A / AID2PM07A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Algorithm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79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00545"/>
            <a:ext cx="10058400" cy="83681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1: Analysis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377430"/>
          </a:xfrm>
        </p:spPr>
        <p:txBody>
          <a:bodyPr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notations – big O, theta and omega.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Non-recursive and recursive algorithms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Solving Recurrence Equations using Masters theorem 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 Techniques-Sequential Search/Linear Search, Binary Search.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045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710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Study this Course?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83" y="1645411"/>
            <a:ext cx="10058400" cy="4432236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6400" dirty="0" smtClean="0">
                <a:latin typeface="Times New Roman" pitchFamily="18" charset="0"/>
                <a:cs typeface="Times New Roman" pitchFamily="18" charset="0"/>
              </a:rPr>
              <a:t>Donald </a:t>
            </a: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E. Knuth stated “Computer Science is the study of algorithms”</a:t>
            </a:r>
          </a:p>
          <a:p>
            <a:pPr lvl="1" algn="just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Cornerstone of computer science. Programs will not exist without algorithms.</a:t>
            </a:r>
          </a:p>
          <a:p>
            <a:pPr algn="just">
              <a:lnSpc>
                <a:spcPct val="170000"/>
              </a:lnSpc>
            </a:pPr>
            <a:r>
              <a:rPr lang="en-US" sz="6400" dirty="0"/>
              <a:t>Algorithms are needed (most of which are novel) to solve the many problems listed here </a:t>
            </a:r>
            <a:r>
              <a:rPr lang="en-US" sz="6400" dirty="0" smtClean="0"/>
              <a:t> </a:t>
            </a:r>
          </a:p>
          <a:p>
            <a:pPr lvl="1" algn="just">
              <a:lnSpc>
                <a:spcPct val="170000"/>
              </a:lnSpc>
            </a:pPr>
            <a:r>
              <a:rPr lang="en-US" sz="6400" dirty="0" smtClean="0">
                <a:latin typeface="Times New Roman" pitchFamily="18" charset="0"/>
                <a:cs typeface="Times New Roman" pitchFamily="18" charset="0"/>
              </a:rPr>
              <a:t>Computational Primitives –CG –Geometric Algorithms</a:t>
            </a:r>
          </a:p>
          <a:p>
            <a:pPr lvl="1" algn="just">
              <a:lnSpc>
                <a:spcPct val="170000"/>
              </a:lnSpc>
            </a:pPr>
            <a:r>
              <a:rPr lang="en-US" sz="6400" dirty="0" smtClean="0">
                <a:latin typeface="Times New Roman" pitchFamily="18" charset="0"/>
                <a:cs typeface="Times New Roman" pitchFamily="18" charset="0"/>
              </a:rPr>
              <a:t>Communication </a:t>
            </a: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Network –Shortest path Algorithms</a:t>
            </a:r>
          </a:p>
          <a:p>
            <a:pPr lvl="1" algn="just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Genome Structure in Bioinformatics –Dynamic Programming</a:t>
            </a:r>
          </a:p>
          <a:p>
            <a:pPr lvl="1" algn="just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Search engines –Page Rank Algorithm by Google </a:t>
            </a:r>
          </a:p>
          <a:p>
            <a:pPr lvl="1" algn="just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Challenging (i.e. Good for brain !!!)</a:t>
            </a:r>
          </a:p>
          <a:p>
            <a:pPr algn="just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Real Blend of Creativity and Precision </a:t>
            </a:r>
          </a:p>
          <a:p>
            <a:pPr algn="just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Very interesting if you can concentrate on this course 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5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A brief History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786" y="1856096"/>
            <a:ext cx="7710984" cy="40670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algorithm comes from the name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Persian author, Abu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Ja’far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Mohammed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Musa 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Khowarizmi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(c. 825 A.D.)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who wrote a textbook on mathematics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book was translated into Latin 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12th century under the title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Indorum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title means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numbers of the Indians", where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was the translator's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Latinization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Al-Khwarizmi's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centuries later, decimal system was adopted in Europe, and the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Khwarizmi’s book were named after him as “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Algorithms”.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387686" y="2084696"/>
            <a:ext cx="291752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Internet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1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61197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Algorithm?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5343" y="1965278"/>
            <a:ext cx="6009337" cy="3739486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is a sequence of unambiguous instructions for solving a computational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i.e., for obtaining a required output for any legitimate input in a finite amount of time. 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any well defined computational procedure that takes some value or set of values as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produces some value, or set of values as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964680" y="1447800"/>
            <a:ext cx="4191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8854" y="286603"/>
            <a:ext cx="4822804" cy="365125"/>
          </a:xfrm>
          <a:noFill/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 Book: Thomas </a:t>
            </a:r>
            <a:r>
              <a:rPr lang="en-US" dirty="0" err="1" smtClean="0">
                <a:solidFill>
                  <a:srgbClr val="C00000"/>
                </a:solidFill>
              </a:rPr>
              <a:t>Cormen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8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its Properties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56095"/>
            <a:ext cx="9943759" cy="436728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precisely, </a:t>
            </a:r>
            <a:r>
              <a:rPr lang="en-US" altLang="zh-TW" dirty="0" smtClean="0"/>
              <a:t>An </a:t>
            </a:r>
            <a:r>
              <a:rPr lang="en-US" altLang="zh-TW" i="1" dirty="0">
                <a:solidFill>
                  <a:srgbClr val="CC3300"/>
                </a:solidFill>
              </a:rPr>
              <a:t>algorithm</a:t>
            </a:r>
            <a:r>
              <a:rPr lang="en-US" altLang="zh-TW" dirty="0"/>
              <a:t> is a finite set of instructions that accomplishes a particular task.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must satisfy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properties: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inputs must be clearly specified.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proved to produce the correct output given a valid input.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Finiteness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finite number of steps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Definiteness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instruction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 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unambiguously specified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instruction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sufficiently simple and basic.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Algorithms – Computing the Greatest Common Divisor of Two Integers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6899" y="1869743"/>
            <a:ext cx="8546910" cy="3398293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</a:pPr>
            <a:r>
              <a:rPr lang="en-US" b="1" dirty="0"/>
              <a:t>Problem: </a:t>
            </a:r>
            <a:r>
              <a:rPr lang="en-US" dirty="0"/>
              <a:t>Find </a:t>
            </a:r>
            <a:r>
              <a:rPr lang="en-US" dirty="0" err="1" smtClean="0"/>
              <a:t>gcd</a:t>
            </a:r>
            <a:r>
              <a:rPr lang="en-US" dirty="0" smtClean="0"/>
              <a:t> (</a:t>
            </a:r>
            <a:r>
              <a:rPr lang="en-US" i="1" dirty="0" err="1"/>
              <a:t>m,n</a:t>
            </a:r>
            <a:r>
              <a:rPr lang="en-US" dirty="0"/>
              <a:t>), the greatest common divisor of two nonnegative, not both zero integers </a:t>
            </a:r>
            <a:r>
              <a:rPr lang="en-US" i="1" dirty="0"/>
              <a:t>m </a:t>
            </a:r>
            <a:r>
              <a:rPr lang="en-US" dirty="0"/>
              <a:t>and </a:t>
            </a:r>
            <a:r>
              <a:rPr lang="en-US" i="1" dirty="0"/>
              <a:t>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//First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level algorithm: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m.( 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m1*m2*m3…)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n. (n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n1*n2*…)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common factors , multiply and return.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8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Euclid’s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809" y="1937982"/>
            <a:ext cx="9503391" cy="4767618"/>
          </a:xfrm>
        </p:spPr>
        <p:txBody>
          <a:bodyPr>
            <a:normAutofit fontScale="32500" lnSpcReduction="20000"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Euclid (m</a:t>
            </a:r>
            <a:r>
              <a:rPr lang="en-US" sz="5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n)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//Computes </a:t>
            </a:r>
            <a:r>
              <a:rPr lang="en-US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(m, n) by Euclid’s algorithm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//Input: Two non negative, not-both-zero integers m and n 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//Output: Greatest common divisor of m and n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(m, n) =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m mod n)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(m does not divide n)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</a:p>
          <a:p>
            <a:pPr lvl="1">
              <a:buNone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mod m</a:t>
            </a:r>
          </a:p>
          <a:p>
            <a:pPr marL="457200" lvl="1" indent="0">
              <a:buNone/>
            </a:pP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</a:t>
            </a: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pPr marL="914400" lvl="2" indent="0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 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m</a:t>
            </a:r>
          </a:p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Finiteness: how do we know that Euclid’s algorithm actually comes to a stop?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Definiteness: non-ambiguity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Effectiveness: effectively computable. </a:t>
            </a:r>
          </a:p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algorithm is faster, the Euclid’s or previous one?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0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Euclid’s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US" altLang="en-US" dirty="0" smtClean="0">
              <a:solidFill>
                <a:srgbClr val="7B9899"/>
              </a:solidFill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1097280" y="2080644"/>
            <a:ext cx="3432175" cy="3990148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dirty="0"/>
              <a:t>Simple Algorithm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m = 36, n = 48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m = </a:t>
            </a:r>
            <a:r>
              <a:rPr lang="en-US" altLang="en-US" dirty="0" smtClean="0">
                <a:solidFill>
                  <a:srgbClr val="FF0000"/>
                </a:solidFill>
              </a:rPr>
              <a:t>2 * 2 </a:t>
            </a:r>
            <a:r>
              <a:rPr lang="en-US" altLang="en-US" dirty="0" smtClean="0"/>
              <a:t>* 3 * </a:t>
            </a:r>
            <a:r>
              <a:rPr lang="en-US" altLang="en-US" dirty="0" smtClean="0">
                <a:solidFill>
                  <a:srgbClr val="FF0000"/>
                </a:solidFill>
              </a:rPr>
              <a:t>3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n = </a:t>
            </a:r>
            <a:r>
              <a:rPr lang="en-US" altLang="en-US" dirty="0" smtClean="0">
                <a:solidFill>
                  <a:srgbClr val="FF0000"/>
                </a:solidFill>
              </a:rPr>
              <a:t>2 * 2 </a:t>
            </a:r>
            <a:r>
              <a:rPr lang="en-US" altLang="en-US" dirty="0" smtClean="0"/>
              <a:t>* 2 * 2 * </a:t>
            </a:r>
            <a:r>
              <a:rPr lang="en-US" altLang="en-US" dirty="0" smtClean="0">
                <a:solidFill>
                  <a:srgbClr val="FF0000"/>
                </a:solidFill>
              </a:rPr>
              <a:t>3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Common factors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2, 2, 3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GCD = 12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	 </a:t>
            </a:r>
            <a:r>
              <a:rPr lang="en-US" altLang="en-US" sz="3600" dirty="0">
                <a:solidFill>
                  <a:srgbClr val="FF0000"/>
                </a:solidFill>
              </a:rPr>
              <a:t>9</a:t>
            </a:r>
            <a:r>
              <a:rPr lang="en-US" altLang="en-US" sz="3600" dirty="0" smtClean="0">
                <a:solidFill>
                  <a:srgbClr val="FF0000"/>
                </a:solidFill>
              </a:rPr>
              <a:t> </a:t>
            </a:r>
            <a:r>
              <a:rPr lang="en-US" altLang="en-US" sz="3600" dirty="0">
                <a:solidFill>
                  <a:srgbClr val="FF0000"/>
                </a:solidFill>
              </a:rPr>
              <a:t>divisions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  <p:sp>
        <p:nvSpPr>
          <p:cNvPr id="20486" name="TextBox 3"/>
          <p:cNvSpPr txBox="1">
            <a:spLocks noChangeArrowheads="1"/>
          </p:cNvSpPr>
          <p:nvPr/>
        </p:nvSpPr>
        <p:spPr bwMode="auto">
          <a:xfrm>
            <a:off x="4849824" y="2126353"/>
            <a:ext cx="3429000" cy="39807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dirty="0"/>
              <a:t>Euclid Algorithm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36 divides 48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r = 48 mod 36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n = 36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m = 12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Return 12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</a:t>
            </a:r>
            <a:r>
              <a:rPr lang="en-US" altLang="en-US" sz="3600" dirty="0">
                <a:solidFill>
                  <a:srgbClr val="FF0000"/>
                </a:solidFill>
              </a:rPr>
              <a:t>2 divisions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8657977" y="2126353"/>
            <a:ext cx="3429000" cy="13811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r>
              <a:rPr lang="en-US" altLang="en-US" dirty="0"/>
              <a:t>Another example:</a:t>
            </a:r>
          </a:p>
          <a:p>
            <a:pPr marL="457200" lvl="1" indent="0">
              <a:buNone/>
            </a:pPr>
            <a:r>
              <a:rPr lang="en-US" altLang="en-US" dirty="0"/>
              <a:t>m = 434 and n = 966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619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Algorithmic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questions, do a few examples by hand, think about special cases,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Deciding 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approximate problem solving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algorithm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Proving correctness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an algorithm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: how fast the algorithm runs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how much extra memory the algorithm needs.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an algorithm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668657" y="178229"/>
            <a:ext cx="2225008" cy="495651"/>
          </a:xfrm>
        </p:spPr>
        <p:txBody>
          <a:bodyPr/>
          <a:lstStyle/>
          <a:p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17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49445"/>
            <a:ext cx="9946943" cy="109250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 and Analysis Process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487" y="1600201"/>
            <a:ext cx="471902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2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as a Technology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if computers were infinitely fast and memory was plentiful and free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algorithms still important – still need to establish algorithm correctness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time and space resources are infinitely fast, any </a:t>
            </a:r>
            <a:r>
              <a:rPr lang="en-US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solving a problem would do.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computers may be fast but not infinitely fast. 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cheap but not free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 Computing time is bounded resource and so need space in memory.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should use resources wisely by efficient algorithm in terms of space and time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0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1119116"/>
          </a:xfrm>
        </p:spPr>
        <p:txBody>
          <a:bodyPr/>
          <a:lstStyle/>
          <a:p>
            <a:pPr algn="ctr" eaLnBrk="1" hangingPunct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Efficiency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142" y="1794983"/>
            <a:ext cx="6542921" cy="4414748"/>
          </a:xfrm>
        </p:spPr>
        <p:txBody>
          <a:bodyPr>
            <a:noAutofit/>
          </a:bodyPr>
          <a:lstStyle/>
          <a:p>
            <a:pPr eaLnBrk="1" hangingPunct="1"/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space efficiency are the goal</a:t>
            </a:r>
          </a:p>
          <a:p>
            <a:pPr eaLnBrk="1" hangingPunct="1"/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often differ dramatically in their efficiency</a:t>
            </a:r>
          </a:p>
          <a:p>
            <a:pPr lvl="1" eaLnBrk="1" hangingPunct="1"/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Two sorting algorithms</a:t>
            </a:r>
          </a:p>
          <a:p>
            <a:pPr lvl="2" eaLnBrk="1" hangingPunct="1"/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INSERTION-SORT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time efficiency is </a:t>
            </a:r>
            <a:r>
              <a:rPr lang="en-US" sz="2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300" baseline="4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lvl="2" eaLnBrk="1" hangingPunct="1"/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MERGE-SORT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time efficiency is </a:t>
            </a:r>
            <a:r>
              <a:rPr lang="en-US" sz="2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2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lvl="1" eaLnBrk="1" hangingPunct="1"/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which problem instances would one algorithm be preferable to the other?</a:t>
            </a:r>
          </a:p>
          <a:p>
            <a:pPr lvl="1"/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</a:p>
          <a:p>
            <a:pPr lvl="1"/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computer ‘A’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(10</a:t>
            </a:r>
            <a:r>
              <a:rPr lang="en-US" sz="23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instructions/sec) running insertion sort against a </a:t>
            </a:r>
            <a:r>
              <a:rPr lang="en-US" sz="2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slower computer ‘B’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</a:t>
            </a:r>
            <a:r>
              <a:rPr lang="en-US" sz="23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instructions/sec) running merge sort. Suppose that c1=2，c2=50 and n= 10</a:t>
            </a:r>
            <a:r>
              <a:rPr lang="en-US" sz="23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086" y="1992573"/>
            <a:ext cx="4869705" cy="391690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5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</p:txBody>
      </p:sp>
      <p:graphicFrame>
        <p:nvGraphicFramePr>
          <p:cNvPr id="71890" name="Group 2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264772"/>
              </p:ext>
            </p:extLst>
          </p:nvPr>
        </p:nvGraphicFramePr>
        <p:xfrm>
          <a:off x="3384645" y="2571750"/>
          <a:ext cx="5607431" cy="3292002"/>
        </p:xfrm>
        <a:graphic>
          <a:graphicData uri="http://schemas.openxmlformats.org/drawingml/2006/table">
            <a:tbl>
              <a:tblPr/>
              <a:tblGrid>
                <a:gridCol w="165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118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endParaRPr kumimoji="0" lang="en-US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4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/10</a:t>
                      </a:r>
                      <a:r>
                        <a:rPr kumimoji="0" lang="en-US" sz="2000" b="1" i="0" u="none" strike="noStrike" cap="none" normalizeH="0" baseline="4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9</a:t>
                      </a:r>
                      <a:endParaRPr kumimoji="0" lang="en-US" sz="2000" b="1" i="0" u="none" strike="noStrike" cap="none" normalizeH="0" baseline="4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50</a:t>
                      </a: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</a:t>
                      </a: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/10</a:t>
                      </a:r>
                      <a:r>
                        <a:rPr kumimoji="0" lang="en-US" sz="2000" b="1" i="0" u="none" strike="noStrike" cap="none" normalizeH="0" baseline="4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7</a:t>
                      </a:r>
                      <a:endParaRPr kumimoji="0" lang="en-US" sz="2000" b="1" i="0" u="none" strike="noStrike" cap="none" normalizeH="0" baseline="4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0.20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0.66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5.00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3.90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20.00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8.30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500,000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500.00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47.33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1,000,000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2,000.00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99.66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5,000,000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50,000.00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556.34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10,000,000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200,000.00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1,162.67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118"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50,000,000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5,000,000.00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6,393.86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501" name="Text Box 211"/>
          <p:cNvSpPr txBox="1">
            <a:spLocks noChangeArrowheads="1"/>
          </p:cNvSpPr>
          <p:nvPr/>
        </p:nvSpPr>
        <p:spPr bwMode="auto">
          <a:xfrm>
            <a:off x="3578226" y="1952626"/>
            <a:ext cx="13700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/>
              <a:t>Problem Size</a:t>
            </a:r>
          </a:p>
        </p:txBody>
      </p:sp>
      <p:sp>
        <p:nvSpPr>
          <p:cNvPr id="19502" name="Text Box 212"/>
          <p:cNvSpPr txBox="1">
            <a:spLocks noChangeArrowheads="1"/>
          </p:cNvSpPr>
          <p:nvPr/>
        </p:nvSpPr>
        <p:spPr bwMode="auto">
          <a:xfrm>
            <a:off x="5078414" y="1752600"/>
            <a:ext cx="16144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dirty="0"/>
              <a:t>Machine A</a:t>
            </a:r>
            <a:br>
              <a:rPr lang="en-US" sz="1600" b="1" dirty="0"/>
            </a:br>
            <a:r>
              <a:rPr lang="en-US" sz="1600" b="1" dirty="0"/>
              <a:t>Insertion- Sort</a:t>
            </a:r>
          </a:p>
        </p:txBody>
      </p:sp>
      <p:sp>
        <p:nvSpPr>
          <p:cNvPr id="19503" name="Text Box 213"/>
          <p:cNvSpPr txBox="1">
            <a:spLocks noChangeArrowheads="1"/>
          </p:cNvSpPr>
          <p:nvPr/>
        </p:nvSpPr>
        <p:spPr bwMode="auto">
          <a:xfrm>
            <a:off x="6945313" y="1746250"/>
            <a:ext cx="137001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/>
              <a:t>Machine B</a:t>
            </a:r>
            <a:br>
              <a:rPr lang="en-US" sz="1600" b="1"/>
            </a:br>
            <a:r>
              <a:rPr lang="en-US" sz="1600" b="1"/>
              <a:t>Merge- Sort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8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3276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Specifying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Ambiguous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“Mike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sandwich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bed.”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Graphic representations called flowcharts , only if the algorithm is small and simple.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mixture of a natural language and programming language-like structures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concise.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course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omits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declarations of variables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to show the scope of such statements as for, if, and while.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Pseudocode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Conventions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115204" cy="433670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// and continue until the end of line.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indicated with matching braces :{ and }. A compound statement (i.e., a collection of simple statements) can be represented as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block. The body of a procedure also forms a block. Statements are delimited by;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values to variables is done using the assignment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〈variable〉≔〈expression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〉;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two Boolean values </a:t>
            </a: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order to produce these values,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operators&lt;, ≤, =, ≠, ≥,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multidimensional arrays are accessed using [ and ].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  A[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</a:t>
            </a:r>
            <a:r>
              <a:rPr lang="en-US" dirty="0" err="1" smtClean="0"/>
              <a:t>Sahni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Pseudocode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Conventions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535533" cy="402336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Looping statement can be employed as follows : </a:t>
            </a:r>
          </a:p>
          <a:p>
            <a:pPr marL="0" indent="0"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while, for , repeat-until 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837527" y="1845735"/>
            <a:ext cx="4517409" cy="402336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 </a:t>
            </a:r>
            <a:r>
              <a:rPr lang="en-US" dirty="0"/>
              <a:t>conditional statement has the following forms:</a:t>
            </a:r>
          </a:p>
          <a:p>
            <a:pPr lvl="2"/>
            <a:r>
              <a:rPr lang="en-US" b="1" dirty="0"/>
              <a:t>If </a:t>
            </a:r>
            <a:r>
              <a:rPr lang="en-US" dirty="0"/>
              <a:t>〈condition〉 </a:t>
            </a:r>
            <a:r>
              <a:rPr lang="en-US" b="1" dirty="0"/>
              <a:t>then </a:t>
            </a:r>
            <a:r>
              <a:rPr lang="en-US" dirty="0"/>
              <a:t>〈statement〉</a:t>
            </a:r>
          </a:p>
          <a:p>
            <a:pPr lvl="2"/>
            <a:r>
              <a:rPr lang="en-US" b="1" dirty="0"/>
              <a:t>If </a:t>
            </a:r>
            <a:r>
              <a:rPr lang="en-US" dirty="0"/>
              <a:t>〈condition〉 </a:t>
            </a:r>
            <a:r>
              <a:rPr lang="en-US" b="1" dirty="0"/>
              <a:t>then </a:t>
            </a:r>
            <a:r>
              <a:rPr lang="en-US" dirty="0"/>
              <a:t>〈statement 1〉 </a:t>
            </a:r>
            <a:r>
              <a:rPr lang="en-US" b="1" dirty="0"/>
              <a:t>else </a:t>
            </a:r>
            <a:r>
              <a:rPr lang="en-US" dirty="0"/>
              <a:t>〈statement 2</a:t>
            </a:r>
            <a:r>
              <a:rPr lang="en-US" dirty="0" smtClean="0"/>
              <a:t>〉</a:t>
            </a:r>
          </a:p>
          <a:p>
            <a:r>
              <a:rPr lang="en-US" dirty="0" smtClean="0"/>
              <a:t>We </a:t>
            </a:r>
            <a:r>
              <a:rPr lang="en-US" dirty="0"/>
              <a:t>also employ the following case statement:</a:t>
            </a:r>
          </a:p>
          <a:p>
            <a:r>
              <a:rPr lang="en-US" b="1" dirty="0"/>
              <a:t>case</a:t>
            </a:r>
            <a:endParaRPr lang="en-US" dirty="0"/>
          </a:p>
          <a:p>
            <a:r>
              <a:rPr lang="en-US" b="1" dirty="0"/>
              <a:t>{</a:t>
            </a:r>
            <a:endParaRPr lang="en-US" dirty="0"/>
          </a:p>
          <a:p>
            <a:r>
              <a:rPr lang="en-US" dirty="0"/>
              <a:t>: 〈condition 1〉: 〈statement 1〉</a:t>
            </a:r>
          </a:p>
          <a:p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: 〈condition n〉: 〈statement n〉</a:t>
            </a:r>
          </a:p>
          <a:p>
            <a:r>
              <a:rPr lang="en-US" dirty="0"/>
              <a:t>: </a:t>
            </a:r>
            <a:r>
              <a:rPr lang="en-US" b="1" dirty="0"/>
              <a:t>else</a:t>
            </a:r>
            <a:r>
              <a:rPr lang="en-US" dirty="0"/>
              <a:t>: 〈statement n + 1〉</a:t>
            </a:r>
          </a:p>
          <a:p>
            <a:r>
              <a:rPr lang="en-US" b="1" dirty="0" smtClean="0"/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8" y="2943012"/>
            <a:ext cx="5535532" cy="322142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503764" y="478710"/>
            <a:ext cx="2348032" cy="510641"/>
          </a:xfrm>
        </p:spPr>
        <p:txBody>
          <a:bodyPr/>
          <a:lstStyle/>
          <a:p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 Book </a:t>
            </a:r>
            <a:r>
              <a:rPr lang="en-US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Sahni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0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Pseudocode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Conventions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Input </a:t>
            </a:r>
            <a:r>
              <a:rPr lang="en-US" dirty="0"/>
              <a:t>and output are done using the instructions </a:t>
            </a:r>
            <a:r>
              <a:rPr lang="en-US" b="1" i="1" dirty="0" smtClean="0"/>
              <a:t>read </a:t>
            </a:r>
            <a:r>
              <a:rPr lang="en-US" dirty="0" smtClean="0"/>
              <a:t>and </a:t>
            </a:r>
            <a:r>
              <a:rPr lang="en-US" b="1" i="1" dirty="0"/>
              <a:t>write</a:t>
            </a:r>
            <a:r>
              <a:rPr lang="en-US" dirty="0"/>
              <a:t>. No format is used to specify the size of input or output quantities.</a:t>
            </a:r>
          </a:p>
          <a:p>
            <a:r>
              <a:rPr lang="en-US" dirty="0" smtClean="0"/>
              <a:t>An </a:t>
            </a:r>
            <a:r>
              <a:rPr lang="en-US" dirty="0"/>
              <a:t>algorithm consists of a heading and a body. The heading takes the form</a:t>
            </a:r>
          </a:p>
          <a:p>
            <a:r>
              <a:rPr lang="en-US" b="1" dirty="0" smtClean="0"/>
              <a:t>Algorithm </a:t>
            </a:r>
            <a:r>
              <a:rPr lang="en-US" dirty="0" smtClean="0"/>
              <a:t>Name </a:t>
            </a:r>
            <a:r>
              <a:rPr lang="en-US" dirty="0"/>
              <a:t>(〈parameter list</a:t>
            </a:r>
            <a:r>
              <a:rPr lang="en-US" dirty="0" smtClean="0"/>
              <a:t>〉)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// body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 smtClean="0"/>
              <a:t>Example</a:t>
            </a:r>
            <a:r>
              <a:rPr lang="en-US" dirty="0" smtClean="0"/>
              <a:t> : Algorithm to find </a:t>
            </a:r>
            <a:r>
              <a:rPr lang="en-US" dirty="0"/>
              <a:t>and </a:t>
            </a:r>
            <a:r>
              <a:rPr lang="en-US" dirty="0" smtClean="0"/>
              <a:t>return </a:t>
            </a:r>
            <a:r>
              <a:rPr lang="en-US" dirty="0"/>
              <a:t>the maximum of n given numbers</a:t>
            </a:r>
            <a:r>
              <a:rPr lang="en-US" dirty="0" smtClean="0"/>
              <a:t>:</a:t>
            </a:r>
          </a:p>
          <a:p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Algorithm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Max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(A, n)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// A is an array of size n.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{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Result ≔A[1];</a:t>
            </a:r>
          </a:p>
          <a:p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For </a:t>
            </a:r>
            <a:r>
              <a:rPr lang="en-US" b="1" dirty="0" err="1" smtClean="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≔2 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to n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do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A[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] &gt; Result 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then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Result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≔A[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];</a:t>
            </a:r>
          </a:p>
          <a:p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Return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Result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;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9" name="Footer Placeholder 4"/>
          <p:cNvSpPr txBox="1">
            <a:spLocks/>
          </p:cNvSpPr>
          <p:nvPr/>
        </p:nvSpPr>
        <p:spPr>
          <a:xfrm>
            <a:off x="9503764" y="478710"/>
            <a:ext cx="2348032" cy="51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 Book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Sahni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77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issues related to algorithms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analyze algorithm efficiency </a:t>
            </a:r>
          </a:p>
          <a:p>
            <a:r>
              <a:rPr lang="en-US" b="1" dirty="0"/>
              <a:t>Analysis of Algorithms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How </a:t>
            </a:r>
            <a:r>
              <a:rPr lang="en-US" dirty="0"/>
              <a:t>good is the algorithm?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time efficiency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space efficiency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Does there exist a better algorithm?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lower bounds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optimality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77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Rates of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n be the size of input to an algorithm, and k some constant. The following are common rates of growth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k), for example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Θ(1)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: n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n) or 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n: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log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Quadratic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nalyse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59"/>
            <a:ext cx="10244010" cy="46088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reasons: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are scarce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 to do more with less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performance bugs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Issues: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performance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time does binary search take?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algorithms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quick is Quicksort?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guarantees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with standing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Red-Black tree inserts in O(log 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theoretical basis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by comparison cannot do better than (n log 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NPTEL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0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Issue: Cannot control what we cannot measure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complexity, 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T(n),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by a program P is the sum of the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times for each statement executed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</a:p>
          <a:p>
            <a:pPr marL="201168" lvl="1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program is the amount of memory that it needs to run to completion</a:t>
            </a:r>
          </a:p>
          <a:p>
            <a:pPr marL="201168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: Sum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Natural Numbers</a:t>
            </a:r>
          </a:p>
          <a:p>
            <a:pPr marL="85725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Natural Numbers</a:t>
            </a:r>
          </a:p>
          <a:p>
            <a:pPr marL="85725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sum (a,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:= 0 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:= 1 to n do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:=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+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s;</a:t>
            </a:r>
          </a:p>
          <a:p>
            <a:pPr marL="85725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T(n) = n (additions)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S(n) = 2 (n, s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9683647" y="303383"/>
            <a:ext cx="2225008" cy="495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Ref Book: NPTEL</a:t>
            </a:r>
            <a:endParaRPr lang="en-US" dirty="0"/>
          </a:p>
        </p:txBody>
      </p:sp>
      <p:sp>
        <p:nvSpPr>
          <p:cNvPr id="8" name="Footer Placeholder 3"/>
          <p:cNvSpPr txBox="1">
            <a:spLocks/>
          </p:cNvSpPr>
          <p:nvPr/>
        </p:nvSpPr>
        <p:spPr>
          <a:xfrm>
            <a:off x="9836047" y="455783"/>
            <a:ext cx="2225008" cy="495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 Book: NPTEL</a:t>
            </a:r>
            <a:endParaRPr lang="en-US" sz="105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42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Ref Book: Thomas Cormen</a:t>
            </a:r>
            <a:endParaRPr lang="en-US" altLang="zh-TW"/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854463"/>
              </p:ext>
            </p:extLst>
          </p:nvPr>
        </p:nvGraphicFramePr>
        <p:xfrm>
          <a:off x="336305" y="2031715"/>
          <a:ext cx="7508875" cy="421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" name="Document" r:id="rId3" imgW="7639436" imgH="4253345" progId="Word.Document.8">
                  <p:embed/>
                </p:oleObj>
              </mc:Choice>
              <mc:Fallback>
                <p:oleObj name="Document" r:id="rId3" imgW="7639436" imgH="425334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05" y="2031715"/>
                        <a:ext cx="7508875" cy="421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952759" y="1418510"/>
            <a:ext cx="62759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accent2"/>
                </a:solidFill>
              </a:rPr>
              <a:t>Iterative function to sum a list of </a:t>
            </a:r>
            <a:r>
              <a:rPr lang="en-US" altLang="zh-TW" dirty="0" smtClean="0">
                <a:solidFill>
                  <a:schemeClr val="accent2"/>
                </a:solidFill>
              </a:rPr>
              <a:t>numbers (</a:t>
            </a:r>
            <a:r>
              <a:rPr lang="en-US" altLang="zh-TW" dirty="0" smtClean="0">
                <a:solidFill>
                  <a:srgbClr val="008000"/>
                </a:solidFill>
              </a:rPr>
              <a:t>steps/execution </a:t>
            </a:r>
            <a:r>
              <a:rPr lang="en-US" altLang="zh-TW" dirty="0" smtClean="0">
                <a:solidFill>
                  <a:schemeClr val="accent2"/>
                </a:solidFill>
              </a:rPr>
              <a:t>)</a:t>
            </a:r>
            <a:endParaRPr lang="en-US" altLang="zh-TW" dirty="0">
              <a:solidFill>
                <a:schemeClr val="accent2"/>
              </a:solidFill>
            </a:endParaRPr>
          </a:p>
        </p:txBody>
      </p: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7844927" y="1487966"/>
            <a:ext cx="3532957" cy="2610606"/>
            <a:chOff x="2990" y="1364"/>
            <a:chExt cx="3155" cy="2400"/>
          </a:xfrm>
        </p:grpSpPr>
        <p:sp>
          <p:nvSpPr>
            <p:cNvPr id="11" name="AutoShape 9"/>
            <p:cNvSpPr>
              <a:spLocks noChangeArrowheads="1"/>
            </p:cNvSpPr>
            <p:nvPr/>
          </p:nvSpPr>
          <p:spPr bwMode="blackWhite">
            <a:xfrm>
              <a:off x="2990" y="1364"/>
              <a:ext cx="3155" cy="2400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blackWhite">
            <a:xfrm>
              <a:off x="3344" y="1593"/>
              <a:ext cx="2653" cy="1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Machine Model: Random Access Machine (RAM) Computing Model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data &amp; size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Operations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Intermediate Stages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data &amp; size</a:t>
              </a:r>
            </a:p>
          </p:txBody>
        </p:sp>
      </p:grpSp>
      <p:sp>
        <p:nvSpPr>
          <p:cNvPr id="13" name="Text Box 4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306472" y="708303"/>
            <a:ext cx="7042243" cy="563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Tabular Method</a:t>
            </a:r>
          </a:p>
        </p:txBody>
      </p:sp>
      <p:sp>
        <p:nvSpPr>
          <p:cNvPr id="14" name="Footer Placeholder 4"/>
          <p:cNvSpPr txBox="1">
            <a:spLocks/>
          </p:cNvSpPr>
          <p:nvPr/>
        </p:nvSpPr>
        <p:spPr>
          <a:xfrm>
            <a:off x="9503764" y="478710"/>
            <a:ext cx="2348032" cy="51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 Book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Sahni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01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Idea: Cannot compare actual times; hence compare Growth 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time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with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notation (“Big Oh”)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 notation (Omega)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notation (Theta)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notation (Little oh)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notation (Little omega)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5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ASYMPTOTICS </a:t>
            </a:r>
            <a:r>
              <a:rPr lang="en-US" dirty="0" smtClean="0"/>
              <a:t>NOTATIONS</a:t>
            </a:r>
            <a:br>
              <a:rPr lang="en-US" dirty="0" smtClean="0"/>
            </a:br>
            <a:r>
              <a:rPr lang="en-US" dirty="0" smtClean="0"/>
              <a:t>O-notation </a:t>
            </a:r>
            <a:r>
              <a:rPr lang="en-US" b="1" dirty="0" smtClean="0"/>
              <a:t>(Big </a:t>
            </a:r>
            <a:r>
              <a:rPr lang="en-US" b="1" dirty="0"/>
              <a:t>Oh)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Bound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given function g(n), we denote O(g(n)) as the set of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O(g(n)) = { f(n)| there exists positive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and n0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such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f(n) ≤ c g(n) for all n ≥ n0 } </a:t>
            </a:r>
          </a:p>
          <a:p>
            <a:r>
              <a:rPr lang="en-US" altLang="en-US" dirty="0" smtClean="0"/>
              <a:t>It is </a:t>
            </a:r>
            <a:r>
              <a:rPr lang="en-US" altLang="en-US" dirty="0"/>
              <a:t>used to represent the worst case growth of an </a:t>
            </a:r>
            <a:r>
              <a:rPr lang="en-US" altLang="en-US" dirty="0" smtClean="0"/>
              <a:t>algorithm</a:t>
            </a:r>
          </a:p>
          <a:p>
            <a:r>
              <a:rPr lang="en-US" altLang="en-US" dirty="0" smtClean="0"/>
              <a:t> </a:t>
            </a:r>
            <a:r>
              <a:rPr lang="en-US" altLang="en-US" dirty="0"/>
              <a:t>in time or a data structure in space when they are </a:t>
            </a:r>
            <a:endParaRPr lang="en-US" altLang="en-US" dirty="0" smtClean="0"/>
          </a:p>
          <a:p>
            <a:r>
              <a:rPr lang="en-US" altLang="en-US" dirty="0" smtClean="0"/>
              <a:t>dependent </a:t>
            </a:r>
            <a:r>
              <a:rPr lang="en-US" altLang="en-US" dirty="0"/>
              <a:t>on n, where n is big enough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612" indent="0">
              <a:buNone/>
            </a:pP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8" descr="graph_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27090" y="2155571"/>
            <a:ext cx="3385393" cy="340368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Oh - Example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828800" y="1828800"/>
            <a:ext cx="8382000" cy="4495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f(n) = 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+ 5n = O(n2)</a:t>
            </a:r>
          </a:p>
          <a:p>
            <a:pPr eaLnBrk="1" hangingPunct="1"/>
            <a:r>
              <a:rPr lang="en-US" altLang="en-US" dirty="0" smtClean="0"/>
              <a:t>g(n) = n</a:t>
            </a:r>
            <a:r>
              <a:rPr lang="en-US" altLang="en-US" baseline="30000" dirty="0" smtClean="0"/>
              <a:t>2   </a:t>
            </a:r>
            <a:r>
              <a:rPr lang="en-US" altLang="en-US" dirty="0" smtClean="0"/>
              <a:t>……… c = 2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 smtClean="0"/>
              <a:t>		n	 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+ 5n	 	2n</a:t>
            </a:r>
            <a:r>
              <a:rPr lang="en-US" altLang="en-US" baseline="30000" dirty="0" smtClean="0"/>
              <a:t>2	</a:t>
            </a:r>
            <a:endParaRPr lang="en-US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aseline="30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aseline="30000" dirty="0"/>
              <a:t>		</a:t>
            </a:r>
            <a:r>
              <a:rPr lang="en-US" altLang="en-US" dirty="0" smtClean="0"/>
              <a:t>1</a:t>
            </a:r>
            <a:r>
              <a:rPr lang="en-US" altLang="en-US" baseline="30000" dirty="0" smtClean="0"/>
              <a:t>	</a:t>
            </a:r>
            <a:r>
              <a:rPr lang="en-US" altLang="en-US" dirty="0" smtClean="0"/>
              <a:t>5</a:t>
            </a:r>
            <a:r>
              <a:rPr lang="en-US" altLang="en-US" baseline="30000" dirty="0" smtClean="0"/>
              <a:t>		</a:t>
            </a:r>
            <a:r>
              <a:rPr lang="en-US" altLang="en-US" dirty="0" smtClean="0"/>
              <a:t>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	2	14		8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	5	50		50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 smtClean="0"/>
              <a:t>f(n</a:t>
            </a:r>
            <a:r>
              <a:rPr lang="en-US" altLang="en-US" sz="2400" dirty="0"/>
              <a:t>) &lt;= c g(n) for all n&gt; = n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where c=2 &amp; n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=5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50182" name="Line 6"/>
          <p:cNvSpPr>
            <a:spLocks noChangeShapeType="1"/>
          </p:cNvSpPr>
          <p:nvPr/>
        </p:nvSpPr>
        <p:spPr bwMode="auto">
          <a:xfrm>
            <a:off x="3429000" y="321945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5181600" y="32004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244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Oh - Example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52600" y="1828800"/>
            <a:ext cx="8534400" cy="46482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f(N) = 2N</a:t>
            </a:r>
            <a:r>
              <a:rPr lang="en-US" alt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Then</a:t>
            </a:r>
          </a:p>
          <a:p>
            <a:pPr lvl="1"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f(N) = O(N</a:t>
            </a:r>
            <a:r>
              <a:rPr lang="en-US" alt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(loose bound)</a:t>
            </a:r>
          </a:p>
          <a:p>
            <a:pPr lvl="1"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f(N) = O(N</a:t>
            </a:r>
            <a:r>
              <a:rPr lang="en-US" alt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(loose bound)</a:t>
            </a:r>
          </a:p>
          <a:p>
            <a:pPr lvl="1"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f(N) = O(N</a:t>
            </a:r>
            <a:r>
              <a:rPr lang="en-US" alt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(It is the best answer and the bound is asymptotically tight.)</a:t>
            </a:r>
          </a:p>
          <a:p>
            <a:pPr lvl="1" eaLnBrk="1" hangingPunct="1"/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O(N</a:t>
            </a:r>
            <a:r>
              <a:rPr lang="en-US" alt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reads “order N-squared” or “Big-Oh N-squared”.</a:t>
            </a:r>
          </a:p>
          <a:p>
            <a:pPr eaLnBrk="1" hangingPunct="1"/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699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Oh - Example</a:t>
            </a:r>
            <a:endParaRPr lang="en-US" alt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5" name="Content Placeholder 3"/>
          <p:cNvSpPr>
            <a:spLocks noGrp="1"/>
          </p:cNvSpPr>
          <p:nvPr>
            <p:ph sz="quarter" idx="1"/>
          </p:nvPr>
        </p:nvSpPr>
        <p:spPr>
          <a:xfrm>
            <a:off x="1252419" y="1887785"/>
            <a:ext cx="8504238" cy="4572000"/>
          </a:xfrm>
        </p:spPr>
        <p:txBody>
          <a:bodyPr/>
          <a:lstStyle/>
          <a:p>
            <a:pPr eaLnBrk="1" hangingPunct="1"/>
            <a:r>
              <a:rPr lang="pt-BR" altLang="en-US" b="1" dirty="0" smtClean="0"/>
              <a:t>Prove that if T(n) = 15n</a:t>
            </a:r>
            <a:r>
              <a:rPr lang="pt-BR" altLang="en-US" b="1" baseline="30000" dirty="0" smtClean="0"/>
              <a:t>3</a:t>
            </a:r>
            <a:r>
              <a:rPr lang="pt-BR" altLang="en-US" b="1" dirty="0" smtClean="0"/>
              <a:t> + n</a:t>
            </a:r>
            <a:r>
              <a:rPr lang="pt-BR" altLang="en-US" b="1" baseline="30000" dirty="0" smtClean="0"/>
              <a:t>2</a:t>
            </a:r>
            <a:r>
              <a:rPr lang="pt-BR" altLang="en-US" b="1" dirty="0" smtClean="0"/>
              <a:t> + 4, T(n) = O(n</a:t>
            </a:r>
            <a:r>
              <a:rPr lang="pt-BR" altLang="en-US" b="1" baseline="30000" dirty="0" smtClean="0"/>
              <a:t>3</a:t>
            </a:r>
            <a:r>
              <a:rPr lang="pt-BR" altLang="en-US" b="1" dirty="0" smtClean="0"/>
              <a:t>).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Proof.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	Let c = 20 and n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 = 1.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 smtClean="0"/>
              <a:t>	Must show that 0 ≤ f (n) and f (n) ≤ cg(n).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pt-BR" altLang="en-US" dirty="0" smtClean="0"/>
              <a:t>	0</a:t>
            </a:r>
            <a:r>
              <a:rPr lang="en-US" altLang="en-US" dirty="0" smtClean="0"/>
              <a:t>≤1</a:t>
            </a:r>
            <a:r>
              <a:rPr lang="pt-BR" altLang="en-US" dirty="0" smtClean="0"/>
              <a:t>5n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 + n</a:t>
            </a:r>
            <a:r>
              <a:rPr lang="pt-BR" altLang="en-US" baseline="30000" dirty="0" smtClean="0"/>
              <a:t>2</a:t>
            </a:r>
            <a:r>
              <a:rPr lang="pt-BR" altLang="en-US" dirty="0" smtClean="0"/>
              <a:t> + 4 for all n ≥ n</a:t>
            </a:r>
            <a:r>
              <a:rPr lang="pt-BR" altLang="en-US" baseline="-25000" dirty="0" smtClean="0"/>
              <a:t>0</a:t>
            </a:r>
            <a:r>
              <a:rPr lang="pt-BR" altLang="en-US" dirty="0" smtClean="0"/>
              <a:t> = 1.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pt-BR" altLang="en-US" dirty="0" smtClean="0"/>
              <a:t>	f (n) = 15n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 + n</a:t>
            </a:r>
            <a:r>
              <a:rPr lang="pt-BR" altLang="en-US" baseline="30000" dirty="0" smtClean="0"/>
              <a:t>2</a:t>
            </a:r>
            <a:r>
              <a:rPr lang="pt-BR" altLang="en-US" dirty="0" smtClean="0"/>
              <a:t> + 4 </a:t>
            </a:r>
            <a:r>
              <a:rPr lang="en-US" altLang="en-US" dirty="0" smtClean="0"/>
              <a:t>≤</a:t>
            </a:r>
            <a:r>
              <a:rPr lang="pt-BR" altLang="en-US" dirty="0" smtClean="0"/>
              <a:t> 20n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 (20g(n) = cg(n))</a:t>
            </a:r>
          </a:p>
          <a:p>
            <a:pPr>
              <a:buNone/>
            </a:pPr>
            <a:r>
              <a:rPr lang="pt-BR" altLang="en-US" dirty="0"/>
              <a:t> </a:t>
            </a:r>
            <a:r>
              <a:rPr lang="pt-BR" altLang="en-US" dirty="0" smtClean="0"/>
              <a:t>  As per defination of Big O, hence T(n) = </a:t>
            </a:r>
            <a:r>
              <a:rPr lang="pt-BR" altLang="en-US" b="1" dirty="0"/>
              <a:t>O(n</a:t>
            </a:r>
            <a:r>
              <a:rPr lang="pt-BR" altLang="en-US" b="1" baseline="30000" dirty="0"/>
              <a:t>3</a:t>
            </a:r>
            <a:r>
              <a:rPr lang="pt-BR" altLang="en-US" b="1" dirty="0"/>
              <a:t>)</a:t>
            </a:r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2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NOTATIONS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bound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 (g(n)) represents a set of functions such that: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g(n)) = {f(n): there exist positive </a:t>
            </a:r>
          </a:p>
          <a:p>
            <a:pPr marL="800100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 c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n0 such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</a:p>
          <a:p>
            <a:pPr marL="800100" lvl="2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≤ c g(n) ≤ f(n) for all n≥ n0}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0" descr="graph_Omeg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83" y="1859069"/>
            <a:ext cx="380047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8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Omega - Example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828800"/>
            <a:ext cx="5227093" cy="4495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 smtClean="0"/>
              <a:t>Example 1 :</a:t>
            </a:r>
          </a:p>
          <a:p>
            <a:pPr eaLnBrk="1" hangingPunct="1"/>
            <a:r>
              <a:rPr lang="en-US" altLang="en-US" dirty="0" smtClean="0"/>
              <a:t>f(n) = 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+ 5n</a:t>
            </a:r>
          </a:p>
          <a:p>
            <a:pPr eaLnBrk="1" hangingPunct="1"/>
            <a:r>
              <a:rPr lang="en-US" altLang="en-US" dirty="0" smtClean="0"/>
              <a:t>g(n) = n</a:t>
            </a:r>
            <a:r>
              <a:rPr lang="en-US" altLang="en-US" baseline="30000" dirty="0" smtClean="0"/>
              <a:t>2   </a:t>
            </a:r>
            <a:r>
              <a:rPr lang="en-US" altLang="en-US" dirty="0" smtClean="0"/>
              <a:t>……… c = 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 smtClean="0"/>
              <a:t>		n	 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+ 5n	 	c*n</a:t>
            </a:r>
            <a:r>
              <a:rPr lang="en-US" altLang="en-US" baseline="30000" dirty="0" smtClean="0"/>
              <a:t>2	</a:t>
            </a:r>
            <a:endParaRPr lang="en-US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aseline="30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aseline="30000" dirty="0"/>
              <a:t>		</a:t>
            </a:r>
            <a:r>
              <a:rPr lang="en-US" altLang="en-US" baseline="30000" dirty="0" smtClean="0"/>
              <a:t>1	5		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	2	14		4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	5	50		25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f(n) &gt;= c g(n) for all n&gt; = n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where c=1 &amp; n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=1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Ref Book: Thomas Cormen</a:t>
            </a:r>
            <a:endParaRPr lang="en-US"/>
          </a:p>
        </p:txBody>
      </p:sp>
      <p:sp>
        <p:nvSpPr>
          <p:cNvPr id="57350" name="Line 4"/>
          <p:cNvSpPr>
            <a:spLocks noChangeShapeType="1"/>
          </p:cNvSpPr>
          <p:nvPr/>
        </p:nvSpPr>
        <p:spPr bwMode="auto">
          <a:xfrm>
            <a:off x="3686185" y="32004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1" name="Line 5"/>
          <p:cNvSpPr>
            <a:spLocks noChangeShapeType="1"/>
          </p:cNvSpPr>
          <p:nvPr/>
        </p:nvSpPr>
        <p:spPr bwMode="auto">
          <a:xfrm>
            <a:off x="5181600" y="32004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6429752" y="1828800"/>
            <a:ext cx="4593836" cy="43126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1 :</a:t>
            </a:r>
          </a:p>
          <a:p>
            <a:r>
              <a:rPr lang="pt-BR" altLang="en-US" dirty="0" smtClean="0"/>
              <a:t>Prove that if T(n) = 15n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 + n</a:t>
            </a:r>
            <a:r>
              <a:rPr lang="pt-BR" altLang="en-US" baseline="30000" dirty="0" smtClean="0"/>
              <a:t>2</a:t>
            </a:r>
            <a:r>
              <a:rPr lang="pt-BR" altLang="en-US" dirty="0" smtClean="0"/>
              <a:t> + 4, T(n) = </a:t>
            </a:r>
            <a:r>
              <a:rPr lang="en-US" altLang="en-US" dirty="0" smtClean="0"/>
              <a:t>Ω</a:t>
            </a:r>
            <a:r>
              <a:rPr lang="en-US" altLang="en-US" sz="2400" dirty="0" smtClean="0"/>
              <a:t> </a:t>
            </a:r>
            <a:r>
              <a:rPr lang="pt-BR" altLang="en-US" dirty="0" smtClean="0"/>
              <a:t>(n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).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 smtClean="0"/>
              <a:t>	Proof.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 smtClean="0"/>
              <a:t>	Let c = 15 and n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 = 1.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 smtClean="0"/>
              <a:t>	Must show that 0 ≤ cg(n) and cg(n) ≤ f (n).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pt-BR" altLang="en-US" dirty="0" smtClean="0"/>
              <a:t>	0 </a:t>
            </a:r>
            <a:r>
              <a:rPr lang="en-US" altLang="en-US" dirty="0" smtClean="0"/>
              <a:t>≤</a:t>
            </a:r>
            <a:r>
              <a:rPr lang="pt-BR" altLang="en-US" dirty="0" smtClean="0"/>
              <a:t> 15n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 for all n ≥ n</a:t>
            </a:r>
            <a:r>
              <a:rPr lang="pt-BR" altLang="en-US" baseline="-25000" dirty="0" smtClean="0"/>
              <a:t>0</a:t>
            </a:r>
            <a:r>
              <a:rPr lang="pt-BR" altLang="en-US" dirty="0" smtClean="0"/>
              <a:t> = 1.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pt-BR" altLang="en-US" dirty="0" smtClean="0"/>
              <a:t>	cg(n) = 15n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 </a:t>
            </a:r>
            <a:r>
              <a:rPr lang="en-US" altLang="en-US" dirty="0" smtClean="0"/>
              <a:t>≤</a:t>
            </a:r>
            <a:r>
              <a:rPr lang="pt-BR" altLang="en-US" dirty="0" smtClean="0"/>
              <a:t> 15n</a:t>
            </a:r>
            <a:r>
              <a:rPr lang="pt-BR" altLang="en-US" baseline="30000" dirty="0" smtClean="0"/>
              <a:t>3</a:t>
            </a:r>
            <a:r>
              <a:rPr lang="pt-BR" altLang="en-US" dirty="0" smtClean="0"/>
              <a:t> + n</a:t>
            </a:r>
            <a:r>
              <a:rPr lang="pt-BR" altLang="en-US" baseline="30000" dirty="0" smtClean="0"/>
              <a:t>2</a:t>
            </a:r>
            <a:r>
              <a:rPr lang="pt-BR" altLang="en-US" dirty="0" smtClean="0"/>
              <a:t> + 4 = f (n)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95715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ASYMPTOTICS </a:t>
            </a:r>
            <a:r>
              <a:rPr lang="en-US" dirty="0" smtClean="0"/>
              <a:t>NOTATIONS</a:t>
            </a:r>
            <a:br>
              <a:rPr lang="en-US" dirty="0" smtClean="0"/>
            </a:br>
            <a:r>
              <a:rPr lang="el-GR" b="1" dirty="0" smtClean="0"/>
              <a:t>Θ</a:t>
            </a:r>
            <a:r>
              <a:rPr lang="el-GR" dirty="0" smtClean="0"/>
              <a:t>-</a:t>
            </a:r>
            <a:r>
              <a:rPr lang="en-US" dirty="0"/>
              <a:t>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tight bound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(g(n)) represents a set of functions such that: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g(n)) = {f(n): there exist positive </a:t>
            </a:r>
          </a:p>
          <a:p>
            <a:pPr marL="800100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 c1, c2, and n0such </a:t>
            </a:r>
          </a:p>
          <a:p>
            <a:pPr marL="800100" lvl="2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0 ≤ c1g(n) ≤ f(n) ≤ c2g(n) </a:t>
            </a:r>
          </a:p>
          <a:p>
            <a:pPr marL="800100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n≥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n0 }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1" descr="graph_th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006" y="1737360"/>
            <a:ext cx="3790879" cy="393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9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Theta Example</a:t>
            </a:r>
            <a:endParaRPr lang="en-US" alt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82890" y="1869742"/>
            <a:ext cx="9080310" cy="4339989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Θ(g(N))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f(N) = O(g(N)) and f(N) = Ω(g(N))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can be read as “f(N) has order exactly g(N)”.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growth rate of f(N) equals the growth rate of g(N). The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growth rate of f(N) is the same as the growth rate of g(N)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large N.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Theta means the bound is the tightest possible.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T(N) is a polynomial of degree k, T(N) = Θ(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logarithmic functions, T(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en-US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 = Θ(log N).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400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notation (Little oh)</a:t>
            </a:r>
            <a:endParaRPr lang="en-US" altLang="en-US" sz="4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3" name="Content Placeholder 3"/>
          <p:cNvSpPr>
            <a:spLocks noGrp="1"/>
          </p:cNvSpPr>
          <p:nvPr>
            <p:ph sz="quarter" idx="1"/>
          </p:nvPr>
        </p:nvSpPr>
        <p:spPr>
          <a:xfrm>
            <a:off x="1460310" y="2133601"/>
            <a:ext cx="8869553" cy="3965574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function </a:t>
            </a:r>
            <a:r>
              <a:rPr lang="en-US" altLang="en-US" i="1" dirty="0" smtClean="0"/>
              <a:t>f(n)</a:t>
            </a:r>
            <a:r>
              <a:rPr lang="en-US" altLang="en-US" dirty="0" smtClean="0"/>
              <a:t> = o(</a:t>
            </a:r>
            <a:r>
              <a:rPr lang="en-US" altLang="en-US" i="1" dirty="0" smtClean="0"/>
              <a:t>g(n)</a:t>
            </a:r>
            <a:r>
              <a:rPr lang="en-US" altLang="en-US" dirty="0" smtClean="0"/>
              <a:t>) </a:t>
            </a:r>
            <a:r>
              <a:rPr lang="en-US" altLang="en-US" dirty="0" err="1" smtClean="0"/>
              <a:t>iff</a:t>
            </a:r>
            <a:r>
              <a:rPr lang="en-US" altLang="en-US" dirty="0" smtClean="0"/>
              <a:t> 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sz="2800" b="1" i="1" dirty="0">
                <a:sym typeface="Symbol" panose="05050102010706020507" pitchFamily="18" charset="2"/>
              </a:rPr>
              <a:t>o</a:t>
            </a:r>
            <a:r>
              <a:rPr lang="en-US" altLang="en-US" sz="2800" b="1" dirty="0"/>
              <a:t>(</a:t>
            </a:r>
            <a:r>
              <a:rPr lang="en-US" altLang="en-US" sz="2800" b="1" i="1" dirty="0"/>
              <a:t>g</a:t>
            </a:r>
            <a:r>
              <a:rPr lang="en-US" altLang="en-US" sz="2800" b="1" dirty="0"/>
              <a:t>(</a:t>
            </a:r>
            <a:r>
              <a:rPr lang="en-US" altLang="en-US" sz="2800" b="1" i="1" dirty="0"/>
              <a:t>n</a:t>
            </a:r>
            <a:r>
              <a:rPr lang="en-US" altLang="en-US" sz="2800" b="1" dirty="0"/>
              <a:t>))</a:t>
            </a:r>
            <a:r>
              <a:rPr lang="en-US" altLang="en-US" sz="2800" dirty="0"/>
              <a:t> = {</a:t>
            </a:r>
            <a:r>
              <a:rPr lang="en-US" altLang="en-US" sz="2800" i="1" dirty="0"/>
              <a:t>f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): </a:t>
            </a:r>
            <a:r>
              <a:rPr lang="en-US" altLang="en-US" sz="2800" b="1" dirty="0">
                <a:sym typeface="Symbol" panose="05050102010706020507" pitchFamily="18" charset="2"/>
              </a:rPr>
              <a:t>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b="1" i="1" dirty="0"/>
              <a:t>c</a:t>
            </a:r>
            <a:r>
              <a:rPr lang="en-US" altLang="en-US" sz="2800" b="1" dirty="0"/>
              <a:t> &gt; 0</a:t>
            </a:r>
            <a:r>
              <a:rPr lang="en-US" altLang="en-US" sz="2800" dirty="0"/>
              <a:t>, </a:t>
            </a:r>
            <a:r>
              <a:rPr lang="en-US" altLang="en-US" sz="2800" b="1" dirty="0">
                <a:sym typeface="Symbol" panose="05050102010706020507" pitchFamily="18" charset="2"/>
              </a:rPr>
              <a:t></a:t>
            </a:r>
            <a:r>
              <a:rPr lang="en-US" altLang="en-US" sz="2800" dirty="0"/>
              <a:t> </a:t>
            </a:r>
            <a:r>
              <a:rPr lang="en-US" altLang="en-US" sz="2800" b="1" i="1" dirty="0"/>
              <a:t>n</a:t>
            </a:r>
            <a:r>
              <a:rPr lang="en-US" altLang="en-US" sz="2800" b="1" baseline="-25000" dirty="0"/>
              <a:t>0</a:t>
            </a:r>
            <a:r>
              <a:rPr lang="en-US" altLang="en-US" sz="2800" b="1" dirty="0"/>
              <a:t> &gt; 0</a:t>
            </a:r>
            <a:r>
              <a:rPr lang="en-US" altLang="en-US" sz="2800" dirty="0"/>
              <a:t> such that </a:t>
            </a:r>
            <a:br>
              <a:rPr lang="en-US" altLang="en-US" sz="2800" dirty="0"/>
            </a:br>
            <a:r>
              <a:rPr lang="en-US" altLang="en-US" sz="2800" dirty="0"/>
              <a:t>		</a:t>
            </a:r>
            <a:r>
              <a:rPr lang="en-US" altLang="en-US" sz="2800" b="1" dirty="0">
                <a:sym typeface="Symbol" panose="05050102010706020507" pitchFamily="18" charset="2"/>
              </a:rPr>
              <a:t></a:t>
            </a:r>
            <a:r>
              <a:rPr lang="en-US" altLang="en-US" sz="2800" dirty="0"/>
              <a:t> </a:t>
            </a:r>
            <a:r>
              <a:rPr lang="en-US" altLang="en-US" sz="2800" i="1" dirty="0"/>
              <a:t>n </a:t>
            </a:r>
            <a:r>
              <a:rPr lang="en-US" altLang="en-US" sz="2800" dirty="0">
                <a:sym typeface="Symbol" panose="05050102010706020507" pitchFamily="18" charset="2"/>
              </a:rPr>
              <a:t></a:t>
            </a:r>
            <a:r>
              <a:rPr lang="en-US" altLang="en-US" sz="2800" i="1" baseline="-25000" dirty="0"/>
              <a:t>  </a:t>
            </a:r>
            <a:r>
              <a:rPr lang="en-US" altLang="en-US" sz="2800" i="1" dirty="0"/>
              <a:t>n</a:t>
            </a:r>
            <a:r>
              <a:rPr lang="en-US" altLang="en-US" sz="2800" baseline="-25000" dirty="0"/>
              <a:t>0</a:t>
            </a:r>
            <a:r>
              <a:rPr lang="en-US" altLang="en-US" sz="2800" i="1" dirty="0"/>
              <a:t>, </a:t>
            </a:r>
            <a:r>
              <a:rPr lang="en-US" altLang="en-US" sz="2400" dirty="0"/>
              <a:t>we have</a:t>
            </a:r>
            <a:r>
              <a:rPr lang="en-US" altLang="en-US" sz="2800" i="1" baseline="-25000" dirty="0"/>
              <a:t> </a:t>
            </a:r>
            <a:r>
              <a:rPr lang="en-US" altLang="en-US" sz="2800" dirty="0"/>
              <a:t>0 </a:t>
            </a:r>
            <a:r>
              <a:rPr lang="en-US" altLang="en-US" sz="2800" dirty="0">
                <a:sym typeface="Symbol" panose="05050102010706020507" pitchFamily="18" charset="2"/>
              </a:rPr>
              <a:t></a:t>
            </a:r>
            <a:r>
              <a:rPr lang="en-US" altLang="en-US" sz="2800" dirty="0"/>
              <a:t>  </a:t>
            </a:r>
            <a:r>
              <a:rPr lang="en-US" altLang="en-US" sz="2800" i="1" dirty="0"/>
              <a:t>f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</a:t>
            </a:r>
            <a:r>
              <a:rPr lang="en-US" altLang="en-US" sz="2800" i="1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&lt;</a:t>
            </a:r>
            <a:r>
              <a:rPr lang="en-US" altLang="en-US" sz="2800" dirty="0"/>
              <a:t> </a:t>
            </a:r>
            <a:r>
              <a:rPr lang="en-US" altLang="en-US" sz="2800" i="1" dirty="0"/>
              <a:t>cg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)}.</a:t>
            </a:r>
          </a:p>
          <a:p>
            <a:pPr eaLnBrk="1" hangingPunct="1"/>
            <a:endParaRPr lang="en-US" altLang="en-US" sz="2800" dirty="0">
              <a:solidFill>
                <a:schemeClr val="hlink"/>
              </a:solidFill>
            </a:endParaRPr>
          </a:p>
          <a:p>
            <a:pPr eaLnBrk="1" hangingPunct="1"/>
            <a:r>
              <a:rPr lang="en-US" altLang="en-US" dirty="0" smtClean="0"/>
              <a:t>Example: The function 3n + 2 = o(n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) as</a:t>
            </a:r>
          </a:p>
        </p:txBody>
      </p:sp>
      <p:graphicFrame>
        <p:nvGraphicFramePr>
          <p:cNvPr id="66566" name="Object 2"/>
          <p:cNvGraphicFramePr>
            <a:graphicFrameLocks noChangeAspect="1"/>
          </p:cNvGraphicFramePr>
          <p:nvPr/>
        </p:nvGraphicFramePr>
        <p:xfrm>
          <a:off x="4572000" y="2133601"/>
          <a:ext cx="16002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" name="Equation" r:id="rId3" imgW="914400" imgH="419100" progId="Equation.3">
                  <p:embed/>
                </p:oleObj>
              </mc:Choice>
              <mc:Fallback>
                <p:oleObj name="Equation" r:id="rId3" imgW="9144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133601"/>
                        <a:ext cx="16002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418326"/>
              </p:ext>
            </p:extLst>
          </p:nvPr>
        </p:nvGraphicFramePr>
        <p:xfrm>
          <a:off x="5611504" y="5181725"/>
          <a:ext cx="16764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" name="Equation" r:id="rId5" imgW="901309" imgH="393529" progId="Equation.3">
                  <p:embed/>
                </p:oleObj>
              </mc:Choice>
              <mc:Fallback>
                <p:oleObj name="Equation" r:id="rId5" imgW="90130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504" y="5181725"/>
                        <a:ext cx="16764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4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l-GR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notation (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omega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87" name="Content Placeholder 3"/>
          <p:cNvSpPr>
            <a:spLocks noGrp="1"/>
          </p:cNvSpPr>
          <p:nvPr>
            <p:ph sz="quarter" idx="1"/>
          </p:nvPr>
        </p:nvSpPr>
        <p:spPr>
          <a:xfrm>
            <a:off x="1097280" y="1887785"/>
            <a:ext cx="8504238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function </a:t>
            </a:r>
            <a:r>
              <a:rPr lang="en-US" altLang="en-US" i="1" dirty="0" smtClean="0"/>
              <a:t>f(n) = </a:t>
            </a:r>
            <a:r>
              <a:rPr lang="el-GR" altLang="en-US" dirty="0" smtClean="0"/>
              <a:t>ω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g(n)</a:t>
            </a:r>
            <a:r>
              <a:rPr lang="en-US" altLang="en-US" dirty="0" smtClean="0"/>
              <a:t>) </a:t>
            </a:r>
            <a:r>
              <a:rPr lang="en-US" altLang="en-US" dirty="0" err="1" smtClean="0"/>
              <a:t>iff</a:t>
            </a:r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 </a:t>
            </a:r>
            <a:r>
              <a:rPr lang="en-US" altLang="en-US" sz="3600" i="1" dirty="0"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400" b="1" dirty="0"/>
              <a:t>(</a:t>
            </a:r>
            <a:r>
              <a:rPr lang="en-US" altLang="en-US" sz="2400" b="1" i="1" dirty="0"/>
              <a:t>g</a:t>
            </a:r>
            <a:r>
              <a:rPr lang="en-US" altLang="en-US" sz="2400" b="1" dirty="0"/>
              <a:t>(</a:t>
            </a:r>
            <a:r>
              <a:rPr lang="en-US" altLang="en-US" sz="2400" b="1" i="1" dirty="0"/>
              <a:t>n</a:t>
            </a:r>
            <a:r>
              <a:rPr lang="en-US" altLang="en-US" sz="2400" b="1" dirty="0"/>
              <a:t>))</a:t>
            </a:r>
            <a:r>
              <a:rPr lang="en-US" altLang="en-US" sz="2400" dirty="0"/>
              <a:t> = {</a:t>
            </a:r>
            <a:r>
              <a:rPr lang="en-US" altLang="en-US" sz="2400" i="1" dirty="0"/>
              <a:t>f</a:t>
            </a:r>
            <a:r>
              <a:rPr lang="en-US" altLang="en-US" sz="2400" dirty="0"/>
              <a:t>(</a:t>
            </a:r>
            <a:r>
              <a:rPr lang="en-US" altLang="en-US" sz="2400" i="1" dirty="0"/>
              <a:t>n</a:t>
            </a:r>
            <a:r>
              <a:rPr lang="en-US" altLang="en-US" sz="2400" dirty="0"/>
              <a:t>): </a:t>
            </a:r>
            <a:r>
              <a:rPr lang="en-US" altLang="en-US" sz="2400" b="1" dirty="0">
                <a:sym typeface="Symbol" panose="05050102010706020507" pitchFamily="18" charset="2"/>
              </a:rPr>
              <a:t>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b="1" i="1" dirty="0"/>
              <a:t>c</a:t>
            </a:r>
            <a:r>
              <a:rPr lang="en-US" altLang="en-US" sz="2400" b="1" dirty="0"/>
              <a:t> &gt; 0</a:t>
            </a:r>
            <a:r>
              <a:rPr lang="en-US" altLang="en-US" sz="2400" dirty="0"/>
              <a:t>, </a:t>
            </a:r>
            <a:r>
              <a:rPr lang="en-US" altLang="en-US" sz="2400" b="1" dirty="0">
                <a:sym typeface="Symbol" panose="05050102010706020507" pitchFamily="18" charset="2"/>
              </a:rPr>
              <a:t></a:t>
            </a:r>
            <a:r>
              <a:rPr lang="en-US" altLang="en-US" sz="2400" dirty="0"/>
              <a:t> </a:t>
            </a:r>
            <a:r>
              <a:rPr lang="en-US" altLang="en-US" sz="2400" b="1" i="1" dirty="0"/>
              <a:t>n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&gt; 0</a:t>
            </a:r>
            <a:r>
              <a:rPr lang="en-US" altLang="en-US" sz="2400" dirty="0"/>
              <a:t> such that </a:t>
            </a:r>
            <a:br>
              <a:rPr lang="en-US" altLang="en-US" sz="2400" dirty="0"/>
            </a:br>
            <a:r>
              <a:rPr lang="en-US" altLang="en-US" sz="2400" dirty="0"/>
              <a:t>		</a:t>
            </a:r>
            <a:r>
              <a:rPr lang="en-US" altLang="en-US" sz="2400" b="1" dirty="0">
                <a:sym typeface="Symbol" panose="05050102010706020507" pitchFamily="18" charset="2"/>
              </a:rPr>
              <a:t></a:t>
            </a:r>
            <a:r>
              <a:rPr lang="en-US" altLang="en-US" sz="2400" dirty="0"/>
              <a:t> </a:t>
            </a:r>
            <a:r>
              <a:rPr lang="en-US" altLang="en-US" sz="2400" i="1" dirty="0"/>
              <a:t>n </a:t>
            </a:r>
            <a:r>
              <a:rPr lang="en-US" altLang="en-US" sz="2400" dirty="0">
                <a:sym typeface="Symbol" panose="05050102010706020507" pitchFamily="18" charset="2"/>
              </a:rPr>
              <a:t></a:t>
            </a:r>
            <a:r>
              <a:rPr lang="en-US" altLang="en-US" sz="2400" i="1" baseline="-25000" dirty="0"/>
              <a:t>  </a:t>
            </a:r>
            <a:r>
              <a:rPr lang="en-US" altLang="en-US" sz="2400" i="1" dirty="0"/>
              <a:t>n</a:t>
            </a:r>
            <a:r>
              <a:rPr lang="en-US" altLang="en-US" sz="2400" baseline="-25000" dirty="0"/>
              <a:t>0</a:t>
            </a:r>
            <a:r>
              <a:rPr lang="en-US" altLang="en-US" sz="2400" i="1" dirty="0"/>
              <a:t>, </a:t>
            </a:r>
            <a:r>
              <a:rPr lang="en-US" altLang="en-US" dirty="0"/>
              <a:t>we have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0 </a:t>
            </a:r>
            <a:r>
              <a:rPr lang="en-US" altLang="en-US" sz="2400" dirty="0">
                <a:sym typeface="Symbol" panose="05050102010706020507" pitchFamily="18" charset="2"/>
              </a:rPr>
              <a:t></a:t>
            </a:r>
            <a:r>
              <a:rPr lang="en-US" altLang="en-US" sz="2400" dirty="0"/>
              <a:t> </a:t>
            </a:r>
            <a:r>
              <a:rPr lang="en-US" altLang="en-US" sz="2400" i="1" dirty="0"/>
              <a:t>cg</a:t>
            </a:r>
            <a:r>
              <a:rPr lang="en-US" altLang="en-US" sz="2400" dirty="0"/>
              <a:t>(</a:t>
            </a:r>
            <a:r>
              <a:rPr lang="en-US" altLang="en-US" sz="2400" i="1" dirty="0"/>
              <a:t>n</a:t>
            </a:r>
            <a:r>
              <a:rPr lang="en-US" altLang="en-US" sz="2400" dirty="0"/>
              <a:t>) </a:t>
            </a:r>
            <a:r>
              <a:rPr lang="en-US" altLang="en-US" sz="2400" dirty="0">
                <a:sym typeface="Symbol" panose="05050102010706020507" pitchFamily="18" charset="2"/>
              </a:rPr>
              <a:t>&lt; </a:t>
            </a:r>
            <a:r>
              <a:rPr lang="en-US" altLang="en-US" sz="2400" dirty="0"/>
              <a:t> </a:t>
            </a:r>
            <a:r>
              <a:rPr lang="en-US" altLang="en-US" sz="2400" i="1" dirty="0"/>
              <a:t>f</a:t>
            </a:r>
            <a:r>
              <a:rPr lang="en-US" altLang="en-US" sz="2400" dirty="0"/>
              <a:t>(</a:t>
            </a:r>
            <a:r>
              <a:rPr lang="en-US" altLang="en-US" sz="2400" i="1" dirty="0"/>
              <a:t>n</a:t>
            </a:r>
            <a:r>
              <a:rPr lang="en-US" altLang="en-US" sz="2400" dirty="0"/>
              <a:t>)}.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 smtClean="0"/>
          </a:p>
        </p:txBody>
      </p:sp>
      <p:graphicFrame>
        <p:nvGraphicFramePr>
          <p:cNvPr id="67590" name="Object 2"/>
          <p:cNvGraphicFramePr>
            <a:graphicFrameLocks noChangeAspect="1"/>
          </p:cNvGraphicFramePr>
          <p:nvPr/>
        </p:nvGraphicFramePr>
        <p:xfrm>
          <a:off x="4800600" y="2209800"/>
          <a:ext cx="1752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2" name="Equation" r:id="rId3" imgW="838200" imgH="419100" progId="Equation.3">
                  <p:embed/>
                </p:oleObj>
              </mc:Choice>
              <mc:Fallback>
                <p:oleObj name="Equation" r:id="rId3" imgW="838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209800"/>
                        <a:ext cx="17526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5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Notations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a way to compare “sizes” of functions</a:t>
            </a:r>
          </a:p>
          <a:p>
            <a:r>
              <a:rPr lang="en-US" b="1" dirty="0"/>
              <a:t>O-notation ------------------</a:t>
            </a:r>
            <a:r>
              <a:rPr lang="en-US" dirty="0"/>
              <a:t>Less than equal to (</a:t>
            </a:r>
            <a:r>
              <a:rPr lang="en-US" b="1" i="1" dirty="0"/>
              <a:t>“</a:t>
            </a:r>
            <a:r>
              <a:rPr lang="en-US" dirty="0"/>
              <a:t>≤</a:t>
            </a:r>
            <a:r>
              <a:rPr lang="en-US" b="1" i="1" dirty="0"/>
              <a:t>”</a:t>
            </a:r>
            <a:r>
              <a:rPr lang="en-US" dirty="0"/>
              <a:t>)</a:t>
            </a:r>
          </a:p>
          <a:p>
            <a:r>
              <a:rPr lang="el-GR" dirty="0"/>
              <a:t>Θ</a:t>
            </a:r>
            <a:r>
              <a:rPr lang="el-GR" b="1" dirty="0"/>
              <a:t>-</a:t>
            </a:r>
            <a:r>
              <a:rPr lang="en-US" b="1" dirty="0"/>
              <a:t>notation ------------------</a:t>
            </a:r>
            <a:r>
              <a:rPr lang="en-US" dirty="0"/>
              <a:t>Equal to (“=“)</a:t>
            </a:r>
          </a:p>
          <a:p>
            <a:r>
              <a:rPr lang="en-US" dirty="0"/>
              <a:t>Ω</a:t>
            </a:r>
            <a:r>
              <a:rPr lang="en-US" b="1" dirty="0"/>
              <a:t>-notation ------------------</a:t>
            </a:r>
            <a:r>
              <a:rPr lang="en-US" dirty="0"/>
              <a:t>Greater than equal to (</a:t>
            </a:r>
            <a:r>
              <a:rPr lang="en-US" b="1" i="1" dirty="0"/>
              <a:t>“</a:t>
            </a:r>
            <a:r>
              <a:rPr lang="en-US" dirty="0"/>
              <a:t>≥</a:t>
            </a:r>
            <a:r>
              <a:rPr lang="en-US" b="1" i="1" dirty="0"/>
              <a:t>”</a:t>
            </a:r>
            <a:r>
              <a:rPr lang="en-US" dirty="0"/>
              <a:t>) </a:t>
            </a:r>
            <a:endParaRPr lang="en-US" dirty="0" smtClean="0"/>
          </a:p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≈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</a:p>
          <a:p>
            <a:pPr algn="ctr"/>
            <a:r>
              <a:rPr lang="el-G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</a:p>
          <a:p>
            <a:pPr algn="ctr"/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≈ =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  <a:p>
            <a:pPr algn="ctr"/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On Asymptotic Notations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How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f(x)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4n^2 – 5n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O(n^2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400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Show that </a:t>
            </a:r>
            <a:endParaRPr lang="en-US" altLang="ko-KR" sz="2400" dirty="0" smtClean="0">
              <a:latin typeface="Times New Roman" panose="02020603050405020304" pitchFamily="18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sz="2400" dirty="0" smtClean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30</a:t>
            </a:r>
            <a:r>
              <a:rPr lang="en-US" altLang="ko-KR" sz="2400" i="1" dirty="0" smtClean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n</a:t>
            </a:r>
            <a:r>
              <a:rPr lang="en-US" altLang="ko-KR" sz="2400" dirty="0" smtClean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+8 </a:t>
            </a:r>
            <a:r>
              <a:rPr lang="en-US" altLang="ko-KR" sz="2400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is O(</a:t>
            </a:r>
            <a:r>
              <a:rPr lang="en-US" altLang="ko-KR" sz="2400" i="1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n</a:t>
            </a:r>
            <a:r>
              <a:rPr lang="en-US" altLang="ko-KR" sz="2400" dirty="0" smtClean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+ 5 ≠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(n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5n</a:t>
            </a:r>
            <a:r>
              <a:rPr 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100n + 5 = O(n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–n/2 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r>
              <a:rPr lang="en-US" dirty="0" smtClean="0"/>
              <a:t>/</a:t>
            </a:r>
            <a:r>
              <a:rPr lang="en-US" dirty="0" err="1" smtClean="0"/>
              <a:t>SAhni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5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Algorithm Design Techniques/Strategies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 force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time tradeoffs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Greedy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and bound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1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 for Solving recurrences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Method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guess a bound and then use mathematical induction to prove our guess correct.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recurrence into tree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 Method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632" y="73244"/>
            <a:ext cx="10058400" cy="1450757"/>
          </a:xfrm>
        </p:spPr>
        <p:txBody>
          <a:bodyPr/>
          <a:lstStyle/>
          <a:p>
            <a:pPr algn="ctr"/>
            <a:r>
              <a:rPr lang="en-US" dirty="0" smtClean="0"/>
              <a:t>Math You need to Review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574" y="1796956"/>
            <a:ext cx="5310187" cy="456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Internet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85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78173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Method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43" y="1851546"/>
            <a:ext cx="6313454" cy="444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785" y="1790540"/>
            <a:ext cx="4238767" cy="456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5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8682" y="1995823"/>
            <a:ext cx="6554636" cy="37347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1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737360"/>
            <a:ext cx="7546412" cy="452596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</a:t>
            </a:r>
          </a:p>
        </p:txBody>
      </p:sp>
      <p:sp>
        <p:nvSpPr>
          <p:cNvPr id="1030" name="Content Placeholder 2"/>
          <p:cNvSpPr>
            <a:spLocks noGrp="1"/>
          </p:cNvSpPr>
          <p:nvPr>
            <p:ph idx="1"/>
          </p:nvPr>
        </p:nvSpPr>
        <p:spPr>
          <a:xfrm>
            <a:off x="868340" y="1737360"/>
            <a:ext cx="10287340" cy="4355205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 method provides a “cookbook” method for solving recurrences of the following form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T(n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a T(n/b) + f(n)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where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 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f(n) 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asymptotically positive function. T(n) has following asymptotic bounds: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3 cases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40" y="3787396"/>
            <a:ext cx="11005211" cy="193087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6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Method (Simplified)</a:t>
            </a:r>
            <a:endParaRPr lang="en-US" dirty="0" smtClean="0"/>
          </a:p>
        </p:txBody>
      </p:sp>
      <p:sp>
        <p:nvSpPr>
          <p:cNvPr id="103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Let T(n) be </a:t>
            </a:r>
            <a:r>
              <a:rPr lang="en-US" sz="2800" u="sng" dirty="0"/>
              <a:t>a monotonically increasing</a:t>
            </a:r>
            <a:r>
              <a:rPr lang="en-US" sz="2800" dirty="0"/>
              <a:t> function that satisfies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800" dirty="0"/>
              <a:t>                    T(n) = a T(n/b) + f(n)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800" dirty="0"/>
              <a:t>                    T(1) = c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800" dirty="0"/>
              <a:t>	where a </a:t>
            </a:r>
            <a:r>
              <a:rPr lang="en-US" sz="2800" dirty="0">
                <a:sym typeface="Symbol" panose="05050102010706020507" pitchFamily="18" charset="2"/>
              </a:rPr>
              <a:t> </a:t>
            </a:r>
            <a:r>
              <a:rPr lang="en-US" sz="2800" dirty="0"/>
              <a:t>1, b</a:t>
            </a:r>
            <a:r>
              <a:rPr lang="en-US" sz="2800" dirty="0">
                <a:sym typeface="Symbol" panose="05050102010706020507" pitchFamily="18" charset="2"/>
              </a:rPr>
              <a:t>  </a:t>
            </a:r>
            <a:r>
              <a:rPr lang="en-US" sz="2800" dirty="0"/>
              <a:t>2, c&gt;0.  If f(n) is </a:t>
            </a:r>
            <a:r>
              <a:rPr lang="en-US" sz="2800" dirty="0">
                <a:sym typeface="Symbol" panose="05050102010706020507" pitchFamily="18" charset="2"/>
              </a:rPr>
              <a:t></a:t>
            </a:r>
            <a:r>
              <a:rPr lang="en-US" sz="2800" dirty="0"/>
              <a:t>(</a:t>
            </a:r>
            <a:r>
              <a:rPr lang="en-US" sz="2800" dirty="0" err="1"/>
              <a:t>n</a:t>
            </a:r>
            <a:r>
              <a:rPr lang="en-US" sz="2800" baseline="30000" dirty="0" err="1"/>
              <a:t>d</a:t>
            </a:r>
            <a:r>
              <a:rPr lang="en-US" sz="2800" dirty="0"/>
              <a:t>) where d</a:t>
            </a:r>
            <a:r>
              <a:rPr lang="en-US" sz="2800" dirty="0">
                <a:sym typeface="Symbol" panose="05050102010706020507" pitchFamily="18" charset="2"/>
              </a:rPr>
              <a:t>  </a:t>
            </a:r>
            <a:r>
              <a:rPr lang="en-US" sz="2800" dirty="0"/>
              <a:t>0 </a:t>
            </a:r>
            <a:r>
              <a:rPr lang="en-US" sz="2800" dirty="0" smtClean="0"/>
              <a:t>then solution to recurrence relation is given as </a:t>
            </a:r>
          </a:p>
          <a:p>
            <a:pP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1: T(n)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	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&lt;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2800" baseline="30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--------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28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3: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 &gt;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b</a:t>
            </a:r>
            <a:r>
              <a:rPr lang="en-US" sz="28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d</a:t>
            </a:r>
            <a:endParaRPr lang="en-US" sz="28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 smtClean="0"/>
          </a:p>
        </p:txBody>
      </p:sp>
      <p:graphicFrame>
        <p:nvGraphicFramePr>
          <p:cNvPr id="102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66143"/>
              </p:ext>
            </p:extLst>
          </p:nvPr>
        </p:nvGraphicFramePr>
        <p:xfrm>
          <a:off x="3374169" y="5246169"/>
          <a:ext cx="1279718" cy="43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1" name="Formula" r:id="rId3" imgW="576720" imgH="196920" progId="Equation.Ribbit">
                  <p:embed/>
                </p:oleObj>
              </mc:Choice>
              <mc:Fallback>
                <p:oleObj name="Formula" r:id="rId3" imgW="57672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169" y="5246169"/>
                        <a:ext cx="1279718" cy="436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150963"/>
              </p:ext>
            </p:extLst>
          </p:nvPr>
        </p:nvGraphicFramePr>
        <p:xfrm>
          <a:off x="3332312" y="4696099"/>
          <a:ext cx="1579287" cy="441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2" name="Formula" r:id="rId5" imgW="702360" imgH="196920" progId="Equation.Ribbit">
                  <p:embed/>
                </p:oleObj>
              </mc:Choice>
              <mc:Fallback>
                <p:oleObj name="Formula" r:id="rId5" imgW="70236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312" y="4696099"/>
                        <a:ext cx="1579287" cy="441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077226"/>
              </p:ext>
            </p:extLst>
          </p:nvPr>
        </p:nvGraphicFramePr>
        <p:xfrm>
          <a:off x="3332312" y="4207749"/>
          <a:ext cx="924876" cy="48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3" name="Formula" r:id="rId7" imgW="371160" imgH="196920" progId="Equation.Ribbit">
                  <p:embed/>
                </p:oleObj>
              </mc:Choice>
              <mc:Fallback>
                <p:oleObj name="Formula" r:id="rId7" imgW="37116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312" y="4207749"/>
                        <a:ext cx="924876" cy="48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Sridhar (oxford Publication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9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91570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Master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99267"/>
            <a:ext cx="10058400" cy="4023360"/>
          </a:xfrm>
        </p:spPr>
        <p:txBody>
          <a:bodyPr/>
          <a:lstStyle/>
          <a:p>
            <a:r>
              <a:rPr lang="en-US" dirty="0"/>
              <a:t>To use the master </a:t>
            </a:r>
            <a:r>
              <a:rPr lang="en-US" dirty="0" smtClean="0"/>
              <a:t>theorem</a:t>
            </a:r>
            <a:r>
              <a:rPr lang="en-US" dirty="0"/>
              <a:t>, we simply plug the numbers into the formula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07" y="1733266"/>
            <a:ext cx="10112854" cy="4285396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Ref Book: Thomas </a:t>
            </a:r>
            <a:r>
              <a:rPr lang="en-US" dirty="0" err="1" smtClean="0"/>
              <a:t>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1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1780" y="362804"/>
            <a:ext cx="10058400" cy="9684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680" y="1816101"/>
            <a:ext cx="10216803" cy="45398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sz="32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 smtClean="0"/>
              <a:t>Thomas </a:t>
            </a:r>
            <a:r>
              <a:rPr lang="en-IN" sz="2400" dirty="0"/>
              <a:t>H </a:t>
            </a:r>
            <a:r>
              <a:rPr lang="en-IN" sz="2400" dirty="0" err="1"/>
              <a:t>Cormen</a:t>
            </a:r>
            <a:r>
              <a:rPr lang="en-IN" sz="2400" dirty="0"/>
              <a:t> and Charles E.L </a:t>
            </a:r>
            <a:r>
              <a:rPr lang="en-IN" sz="2400" dirty="0" err="1"/>
              <a:t>Leiserson</a:t>
            </a:r>
            <a:r>
              <a:rPr lang="en-IN" sz="2400" dirty="0"/>
              <a:t>, "Introduction to Algorithm" PHI Third Edition</a:t>
            </a:r>
            <a:endParaRPr lang="en-US" sz="2400" dirty="0"/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Horowitz and </a:t>
            </a:r>
            <a:r>
              <a:rPr lang="en-IN" sz="2400" dirty="0" err="1"/>
              <a:t>Sahani</a:t>
            </a:r>
            <a:r>
              <a:rPr lang="en-IN" sz="2400" dirty="0"/>
              <a:t>, "Fundamentals of Computer Algorithms", 2ND Edition. University Press, ISBN: 978 81 7371 6126, 81 7371 61262.</a:t>
            </a:r>
            <a:endParaRPr lang="en-US" sz="2400" dirty="0"/>
          </a:p>
          <a:p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0" y="286604"/>
            <a:ext cx="1269598" cy="114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9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"/>
          <p:cNvSpPr txBox="1">
            <a:spLocks noGrp="1"/>
          </p:cNvSpPr>
          <p:nvPr>
            <p:ph type="title"/>
          </p:nvPr>
        </p:nvSpPr>
        <p:spPr>
          <a:xfrm>
            <a:off x="1371600" y="286600"/>
            <a:ext cx="97842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Searching</a:t>
            </a:r>
            <a:endParaRPr/>
          </a:p>
        </p:txBody>
      </p:sp>
      <p:sp>
        <p:nvSpPr>
          <p:cNvPr id="557" name="Google Shape;557;p2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Searching is the process of determining whether or not a given value exists in a data structure or a storage media.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 Two searching methods are: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linear search and binary search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linear (or sequential) search algorithm on an array is:</a:t>
            </a:r>
            <a:endParaRPr/>
          </a:p>
          <a:p>
            <a:pPr marL="457200" lvl="1" indent="-4572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1. Sequentially scan the array, comparing each array item with the searched value.</a:t>
            </a:r>
            <a:endParaRPr/>
          </a:p>
          <a:p>
            <a:pPr marL="91440" lvl="1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2. If a match is found; return the index of the matched element; otherwise return –1.</a:t>
            </a:r>
            <a:endParaRPr/>
          </a:p>
        </p:txBody>
      </p:sp>
      <p:sp>
        <p:nvSpPr>
          <p:cNvPr id="558" name="Google Shape;558;p2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559" name="Google Shape;559;p2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560" name="Google Shape;5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44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"/>
          <p:cNvSpPr txBox="1">
            <a:spLocks noGrp="1"/>
          </p:cNvSpPr>
          <p:nvPr>
            <p:ph type="title"/>
          </p:nvPr>
        </p:nvSpPr>
        <p:spPr>
          <a:xfrm>
            <a:off x="1694180" y="367399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Searching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3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52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156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When we maintain a collection of data, one of the operations we need is a search routine to locate desired data quickly.</a:t>
            </a:r>
            <a:endParaRPr/>
          </a:p>
          <a:p>
            <a:pPr marL="91440" lvl="0" indent="-111569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Here’s the problem statement: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Given a value X, return the index of X in the array, if such X exists. Otherwise, return NOT_FOUND (-1). We assume there are no duplicate entries in the array.</a:t>
            </a:r>
            <a:endParaRPr/>
          </a:p>
          <a:p>
            <a:pPr marL="91440" lvl="0" indent="-111569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We will count the number of comparisons in the algorithms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- The ideal searching algorithm will make the least possible number of comparisons to locate the desired data.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 – Two separate performance analyses are normally done, one for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    successful search and another for unsuccessful search.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None/>
            </a:pPr>
            <a:endParaRPr sz="25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None/>
            </a:pPr>
            <a:endParaRPr sz="2590"/>
          </a:p>
        </p:txBody>
      </p:sp>
      <p:sp>
        <p:nvSpPr>
          <p:cNvPr id="570" name="Google Shape;570;p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8/10/2021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3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of Data Structures    UNIT-III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3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3" name="Google Shape;57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41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"/>
          <p:cNvSpPr txBox="1">
            <a:spLocks noGrp="1"/>
          </p:cNvSpPr>
          <p:nvPr>
            <p:ph type="title"/>
          </p:nvPr>
        </p:nvSpPr>
        <p:spPr>
          <a:xfrm>
            <a:off x="1536850" y="304800"/>
            <a:ext cx="97407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Algorithm</a:t>
            </a:r>
            <a:endParaRPr/>
          </a:p>
        </p:txBody>
      </p:sp>
      <p:sp>
        <p:nvSpPr>
          <p:cNvPr id="580" name="Google Shape;580;p4"/>
          <p:cNvSpPr txBox="1"/>
          <p:nvPr/>
        </p:nvSpPr>
        <p:spPr>
          <a:xfrm>
            <a:off x="862375" y="1435101"/>
            <a:ext cx="5724600" cy="46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 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81" name="Google Shape;581;p4"/>
          <p:cNvGrpSpPr/>
          <p:nvPr/>
        </p:nvGrpSpPr>
        <p:grpSpPr>
          <a:xfrm>
            <a:off x="5129614" y="2592204"/>
            <a:ext cx="5911896" cy="990600"/>
            <a:chOff x="3810000" y="2652232"/>
            <a:chExt cx="4434366" cy="990600"/>
          </a:xfrm>
        </p:grpSpPr>
        <p:cxnSp>
          <p:nvCxnSpPr>
            <p:cNvPr id="582" name="Google Shape;582;p4"/>
            <p:cNvCxnSpPr/>
            <p:nvPr/>
          </p:nvCxnSpPr>
          <p:spPr>
            <a:xfrm>
              <a:off x="3810000" y="2666519"/>
              <a:ext cx="4420076" cy="0"/>
            </a:xfrm>
            <a:prstGeom prst="straightConnector1">
              <a:avLst/>
            </a:prstGeom>
            <a:noFill/>
            <a:ln w="50800" cap="flat" cmpd="sng">
              <a:solidFill>
                <a:srgbClr val="BF73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3" name="Google Shape;583;p4"/>
            <p:cNvCxnSpPr/>
            <p:nvPr/>
          </p:nvCxnSpPr>
          <p:spPr>
            <a:xfrm>
              <a:off x="3824290" y="3642832"/>
              <a:ext cx="4420076" cy="0"/>
            </a:xfrm>
            <a:prstGeom prst="straightConnector1">
              <a:avLst/>
            </a:prstGeom>
            <a:noFill/>
            <a:ln w="50800" cap="flat" cmpd="sng">
              <a:solidFill>
                <a:srgbClr val="BF73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4" name="Google Shape;584;p4"/>
            <p:cNvCxnSpPr/>
            <p:nvPr/>
          </p:nvCxnSpPr>
          <p:spPr>
            <a:xfrm rot="10800000">
              <a:off x="8214200" y="2652232"/>
              <a:ext cx="0" cy="990600"/>
            </a:xfrm>
            <a:prstGeom prst="straightConnector1">
              <a:avLst/>
            </a:prstGeom>
            <a:noFill/>
            <a:ln w="50800" cap="flat" cmpd="sng">
              <a:solidFill>
                <a:srgbClr val="BF73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85" name="Google Shape;585;p4"/>
          <p:cNvSpPr txBox="1"/>
          <p:nvPr/>
        </p:nvSpPr>
        <p:spPr>
          <a:xfrm>
            <a:off x="8003248" y="2067976"/>
            <a:ext cx="1850186" cy="400110"/>
          </a:xfrm>
          <a:prstGeom prst="rect">
            <a:avLst/>
          </a:prstGeom>
          <a:solidFill>
            <a:srgbClr val="19191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Scan the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588" name="Google Shape;588;p4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589" name="Google Shape;589;p4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89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"/>
          <p:cNvSpPr txBox="1"/>
          <p:nvPr/>
        </p:nvSpPr>
        <p:spPr>
          <a:xfrm>
            <a:off x="812800" y="457200"/>
            <a:ext cx="10608733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6" name="Google Shape;596;p5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"/>
          <p:cNvSpPr txBox="1"/>
          <p:nvPr/>
        </p:nvSpPr>
        <p:spPr>
          <a:xfrm>
            <a:off x="812800" y="5241926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8" name="Google Shape;598;p5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612" name="Google Shape;612;p5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613" name="Google Shape;613;p5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31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0" name="Google Shape;620;p6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6"/>
          <p:cNvSpPr txBox="1"/>
          <p:nvPr/>
        </p:nvSpPr>
        <p:spPr>
          <a:xfrm>
            <a:off x="770467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2" name="Google Shape;622;p6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6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6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6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6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6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6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636" name="Google Shape;636;p6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637" name="Google Shape;637;p6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669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4" name="Google Shape;644;p7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6" name="Google Shape;646;p7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7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7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7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7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7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7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7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7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7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7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"/>
          <p:cNvSpPr/>
          <p:nvPr/>
        </p:nvSpPr>
        <p:spPr>
          <a:xfrm>
            <a:off x="1016000" y="5782994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7"/>
          <p:cNvSpPr/>
          <p:nvPr/>
        </p:nvSpPr>
        <p:spPr>
          <a:xfrm>
            <a:off x="2927351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7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662" name="Google Shape;662;p7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663" name="Google Shape;663;p7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14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0" name="Google Shape;670;p8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2" name="Google Shape;672;p8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8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8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8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8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8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8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8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8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8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8"/>
          <p:cNvSpPr/>
          <p:nvPr/>
        </p:nvSpPr>
        <p:spPr>
          <a:xfrm>
            <a:off x="1100406" y="5782994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8"/>
          <p:cNvSpPr/>
          <p:nvPr/>
        </p:nvSpPr>
        <p:spPr>
          <a:xfrm>
            <a:off x="43688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688" name="Google Shape;688;p8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689" name="Google Shape;689;p8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624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9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6" name="Google Shape;696;p9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9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8" name="Google Shape;698;p9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9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9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9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9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9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9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9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9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9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9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9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9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9"/>
          <p:cNvSpPr/>
          <p:nvPr/>
        </p:nvSpPr>
        <p:spPr>
          <a:xfrm>
            <a:off x="1128542" y="5853332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9"/>
          <p:cNvSpPr/>
          <p:nvPr/>
        </p:nvSpPr>
        <p:spPr>
          <a:xfrm>
            <a:off x="57912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9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714" name="Google Shape;714;p9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715" name="Google Shape;715;p9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3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0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2" name="Google Shape;722;p10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0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4" name="Google Shape;724;p10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0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0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0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0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0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0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0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0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0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0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0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0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0"/>
          <p:cNvSpPr/>
          <p:nvPr/>
        </p:nvSpPr>
        <p:spPr>
          <a:xfrm>
            <a:off x="1241083" y="5811130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0"/>
          <p:cNvSpPr/>
          <p:nvPr/>
        </p:nvSpPr>
        <p:spPr>
          <a:xfrm>
            <a:off x="72136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0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740" name="Google Shape;740;p10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741" name="Google Shape;741;p10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643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1"/>
          <p:cNvSpPr txBox="1"/>
          <p:nvPr/>
        </p:nvSpPr>
        <p:spPr>
          <a:xfrm>
            <a:off x="812800" y="457200"/>
            <a:ext cx="10608733" cy="45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8" name="Google Shape;748;p11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1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0" name="Google Shape;750;p11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1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1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1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1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1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1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1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1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1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1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1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1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1"/>
          <p:cNvSpPr/>
          <p:nvPr/>
        </p:nvSpPr>
        <p:spPr>
          <a:xfrm>
            <a:off x="1072271" y="5923670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1"/>
          <p:cNvSpPr/>
          <p:nvPr/>
        </p:nvSpPr>
        <p:spPr>
          <a:xfrm>
            <a:off x="8636001" y="5320372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5" name="Google Shape;765;p11"/>
          <p:cNvCxnSpPr/>
          <p:nvPr/>
        </p:nvCxnSpPr>
        <p:spPr>
          <a:xfrm flipH="1">
            <a:off x="4500099" y="1974166"/>
            <a:ext cx="4470400" cy="685800"/>
          </a:xfrm>
          <a:prstGeom prst="straightConnector1">
            <a:avLst/>
          </a:prstGeom>
          <a:noFill/>
          <a:ln w="38100" cap="flat" cmpd="sng">
            <a:solidFill>
              <a:srgbClr val="3333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6" name="Google Shape;766;p11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767" name="Google Shape;767;p11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768" name="Google Shape;768;p11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61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2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5" name="Google Shape;775;p12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2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7" name="Google Shape;777;p12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2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2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2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2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2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2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2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2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2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2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2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2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2"/>
          <p:cNvSpPr/>
          <p:nvPr/>
        </p:nvSpPr>
        <p:spPr>
          <a:xfrm>
            <a:off x="3123925" y="1374350"/>
            <a:ext cx="5791176" cy="1447794"/>
          </a:xfrm>
          <a:prstGeom prst="flowChartDocument">
            <a:avLst/>
          </a:prstGeom>
          <a:solidFill>
            <a:schemeClr val="accent1"/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data found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2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792" name="Google Shape;792;p12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793" name="Google Shape;793;p12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96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"/>
          <p:cNvSpPr txBox="1"/>
          <p:nvPr/>
        </p:nvSpPr>
        <p:spPr>
          <a:xfrm>
            <a:off x="812800" y="457200"/>
            <a:ext cx="10608733" cy="45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3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2" name="Google Shape;802;p13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3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3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3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3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3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3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3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3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3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3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3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3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3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16" name="Google Shape;816;p13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817" name="Google Shape;817;p13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809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4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Analysis: Best Case</a:t>
            </a:r>
            <a:endParaRPr/>
          </a:p>
        </p:txBody>
      </p:sp>
      <p:sp>
        <p:nvSpPr>
          <p:cNvPr id="823" name="Google Shape;823;p14"/>
          <p:cNvSpPr txBox="1"/>
          <p:nvPr/>
        </p:nvSpPr>
        <p:spPr>
          <a:xfrm>
            <a:off x="304801" y="4948238"/>
            <a:ext cx="35167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Best Case: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with the first item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4"/>
          <p:cNvSpPr/>
          <p:nvPr/>
        </p:nvSpPr>
        <p:spPr>
          <a:xfrm>
            <a:off x="2641600" y="55626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4"/>
          <p:cNvSpPr/>
          <p:nvPr/>
        </p:nvSpPr>
        <p:spPr>
          <a:xfrm>
            <a:off x="2627533" y="5534464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4"/>
          <p:cNvSpPr/>
          <p:nvPr/>
        </p:nvSpPr>
        <p:spPr>
          <a:xfrm>
            <a:off x="40640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4"/>
          <p:cNvSpPr/>
          <p:nvPr/>
        </p:nvSpPr>
        <p:spPr>
          <a:xfrm>
            <a:off x="54864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4"/>
          <p:cNvSpPr/>
          <p:nvPr/>
        </p:nvSpPr>
        <p:spPr>
          <a:xfrm>
            <a:off x="69088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4"/>
          <p:cNvSpPr/>
          <p:nvPr/>
        </p:nvSpPr>
        <p:spPr>
          <a:xfrm>
            <a:off x="83312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4"/>
          <p:cNvSpPr/>
          <p:nvPr/>
        </p:nvSpPr>
        <p:spPr>
          <a:xfrm>
            <a:off x="9753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4"/>
          <p:cNvSpPr txBox="1"/>
          <p:nvPr/>
        </p:nvSpPr>
        <p:spPr>
          <a:xfrm>
            <a:off x="397934" y="5866228"/>
            <a:ext cx="12298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4"/>
          <p:cNvSpPr/>
          <p:nvPr/>
        </p:nvSpPr>
        <p:spPr>
          <a:xfrm>
            <a:off x="1227016" y="5814647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4"/>
          <p:cNvSpPr/>
          <p:nvPr/>
        </p:nvSpPr>
        <p:spPr>
          <a:xfrm>
            <a:off x="2842945" y="5548971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4"/>
          <p:cNvSpPr/>
          <p:nvPr/>
        </p:nvSpPr>
        <p:spPr>
          <a:xfrm>
            <a:off x="6099126" y="3066757"/>
            <a:ext cx="3556000" cy="1011701"/>
          </a:xfrm>
          <a:prstGeom prst="wedgeRoundRectCallout">
            <a:avLst>
              <a:gd name="adj1" fmla="val -49070"/>
              <a:gd name="adj2" fmla="val 153441"/>
              <a:gd name="adj3" fmla="val 16667"/>
            </a:avLst>
          </a:prstGeom>
          <a:solidFill>
            <a:srgbClr val="F7CD9C"/>
          </a:solidFill>
          <a:ln w="76200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Case: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1 comparison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4"/>
          <p:cNvSpPr/>
          <p:nvPr/>
        </p:nvSpPr>
        <p:spPr>
          <a:xfrm>
            <a:off x="1008184" y="1104039"/>
            <a:ext cx="60960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6" name="Google Shape;836;p14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37" name="Google Shape;837;p14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838" name="Google Shape;838;p14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54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5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Analysis: Worst Case</a:t>
            </a:r>
            <a:endParaRPr/>
          </a:p>
        </p:txBody>
      </p:sp>
      <p:sp>
        <p:nvSpPr>
          <p:cNvPr id="844" name="Google Shape;844;p15"/>
          <p:cNvSpPr txBox="1"/>
          <p:nvPr/>
        </p:nvSpPr>
        <p:spPr>
          <a:xfrm>
            <a:off x="25400" y="4948238"/>
            <a:ext cx="4965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Worst Case: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with the last item (or no match)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5"/>
          <p:cNvSpPr/>
          <p:nvPr/>
        </p:nvSpPr>
        <p:spPr>
          <a:xfrm>
            <a:off x="2641600" y="55626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5"/>
          <p:cNvSpPr/>
          <p:nvPr/>
        </p:nvSpPr>
        <p:spPr>
          <a:xfrm>
            <a:off x="2641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5"/>
          <p:cNvSpPr/>
          <p:nvPr/>
        </p:nvSpPr>
        <p:spPr>
          <a:xfrm>
            <a:off x="40640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5"/>
          <p:cNvSpPr/>
          <p:nvPr/>
        </p:nvSpPr>
        <p:spPr>
          <a:xfrm>
            <a:off x="54864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5"/>
          <p:cNvSpPr/>
          <p:nvPr/>
        </p:nvSpPr>
        <p:spPr>
          <a:xfrm>
            <a:off x="69088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5"/>
          <p:cNvSpPr/>
          <p:nvPr/>
        </p:nvSpPr>
        <p:spPr>
          <a:xfrm>
            <a:off x="83312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5"/>
          <p:cNvSpPr/>
          <p:nvPr/>
        </p:nvSpPr>
        <p:spPr>
          <a:xfrm>
            <a:off x="9753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5"/>
          <p:cNvSpPr txBox="1"/>
          <p:nvPr/>
        </p:nvSpPr>
        <p:spPr>
          <a:xfrm>
            <a:off x="283634" y="6172201"/>
            <a:ext cx="1358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 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5"/>
          <p:cNvSpPr/>
          <p:nvPr/>
        </p:nvSpPr>
        <p:spPr>
          <a:xfrm>
            <a:off x="1198879" y="603738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5"/>
          <p:cNvSpPr/>
          <p:nvPr/>
        </p:nvSpPr>
        <p:spPr>
          <a:xfrm>
            <a:off x="9737969" y="5604803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5"/>
          <p:cNvSpPr/>
          <p:nvPr/>
        </p:nvSpPr>
        <p:spPr>
          <a:xfrm>
            <a:off x="9847384" y="3253153"/>
            <a:ext cx="2344615" cy="990600"/>
          </a:xfrm>
          <a:prstGeom prst="wedgeRoundRectCallout">
            <a:avLst>
              <a:gd name="adj1" fmla="val -49070"/>
              <a:gd name="adj2" fmla="val 153441"/>
              <a:gd name="adj3" fmla="val 16667"/>
            </a:avLst>
          </a:prstGeom>
          <a:solidFill>
            <a:srgbClr val="F7CD9C"/>
          </a:solidFill>
          <a:ln w="76200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Worst Case: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N comparisons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5"/>
          <p:cNvSpPr/>
          <p:nvPr/>
        </p:nvSpPr>
        <p:spPr>
          <a:xfrm>
            <a:off x="951914" y="1369148"/>
            <a:ext cx="60960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5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58" name="Google Shape;858;p15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859" name="Google Shape;859;p15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873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24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b="1" i="0" u="sng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Animation</a:t>
            </a:r>
            <a:endParaRPr b="1" i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124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66" name="Google Shape;866;p124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867" name="Google Shape;867;p124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868" name="Google Shape;868;p124"/>
          <p:cNvSpPr txBox="1"/>
          <p:nvPr/>
        </p:nvSpPr>
        <p:spPr>
          <a:xfrm>
            <a:off x="1690597" y="2477386"/>
            <a:ext cx="56973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Animation</a:t>
            </a: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https://yongdanielliang.github.io/animation/web/LinearSearchNew.html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238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9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494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65760" lvl="0" indent="-2560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US"/>
              <a:t>int  seqsearch(int key)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for i= 0 to n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if(key==a[i])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pos=i;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flag=1;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break;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}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}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if(flag==1)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return pos;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else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return -1;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} </a:t>
            </a:r>
            <a:endParaRPr/>
          </a:p>
        </p:txBody>
      </p:sp>
      <p:sp>
        <p:nvSpPr>
          <p:cNvPr id="874" name="Google Shape;874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US"/>
              <a:t>Sequential search</a:t>
            </a:r>
            <a:endParaRPr/>
          </a:p>
        </p:txBody>
      </p:sp>
      <p:sp>
        <p:nvSpPr>
          <p:cNvPr id="875" name="Google Shape;875;p19"/>
          <p:cNvSpPr txBox="1"/>
          <p:nvPr/>
        </p:nvSpPr>
        <p:spPr>
          <a:xfrm>
            <a:off x="6502400" y="1447800"/>
            <a:ext cx="48768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class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int a[20],n;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public: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int seqsearch(int);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void accept();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void display();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};</a:t>
            </a:r>
            <a:endParaRPr sz="18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76" name="Google Shape;876;p19"/>
          <p:cNvSpPr txBox="1">
            <a:spLocks noGrp="1"/>
          </p:cNvSpPr>
          <p:nvPr>
            <p:ph type="sldNum" idx="12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877" name="Google Shape;877;p19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78" name="Google Shape;878;p19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482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7437b1ddd1_0_0"/>
          <p:cNvSpPr txBox="1">
            <a:spLocks noGrp="1"/>
          </p:cNvSpPr>
          <p:nvPr>
            <p:ph type="title"/>
          </p:nvPr>
        </p:nvSpPr>
        <p:spPr>
          <a:xfrm>
            <a:off x="1364566" y="365760"/>
            <a:ext cx="97911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Arial"/>
              <a:buNone/>
            </a:pPr>
            <a:r>
              <a:rPr lang="en-US" sz="4320"/>
              <a:t/>
            </a:r>
            <a:br>
              <a:rPr lang="en-US" sz="4320"/>
            </a:br>
            <a:r>
              <a:rPr lang="en-US" sz="4320"/>
              <a:t>Linear  Search Performance</a:t>
            </a:r>
            <a:endParaRPr sz="4320"/>
          </a:p>
        </p:txBody>
      </p:sp>
      <p:sp>
        <p:nvSpPr>
          <p:cNvPr id="884" name="Google Shape;884;g27437b1ddd1_0_0"/>
          <p:cNvSpPr txBox="1">
            <a:spLocks noGrp="1"/>
          </p:cNvSpPr>
          <p:nvPr>
            <p:ph type="body" idx="1"/>
          </p:nvPr>
        </p:nvSpPr>
        <p:spPr>
          <a:xfrm>
            <a:off x="1097280" y="1927274"/>
            <a:ext cx="10058400" cy="3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analyze the successful and unsuccessful searches separately.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We count how many times the search value is compared against the array elements.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Successful Search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– Best Case – 1 comparison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– Worst Case – N comparisons (N – array size)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Unsuccessful Search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– Best Case =  Worst Case – N comparisons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885" name="Google Shape;885;g27437b1ddd1_0_0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86" name="Google Shape;886;g27437b1ddd1_0_0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887" name="Google Shape;887;g27437b1ddd1_0_0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pic>
        <p:nvPicPr>
          <p:cNvPr id="888" name="Google Shape;888;g27437b1ddd1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09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1"/>
          <p:cNvSpPr txBox="1"/>
          <p:nvPr/>
        </p:nvSpPr>
        <p:spPr>
          <a:xfrm>
            <a:off x="812800" y="1828800"/>
            <a:ext cx="109728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508000" marR="45720" lvl="0" indent="-508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90"/>
              <a:buFont typeface="Noto Sans Symbols"/>
              <a:buChar char="▪"/>
            </a:pPr>
            <a:r>
              <a:rPr lang="en-US" sz="2200" b="1" i="0" u="none" strike="noStrike" cap="none">
                <a:solidFill>
                  <a:srgbClr val="0C0C0C"/>
                </a:solidFill>
                <a:latin typeface="Constantia"/>
                <a:ea typeface="Constantia"/>
                <a:cs typeface="Constantia"/>
                <a:sym typeface="Constantia"/>
              </a:rPr>
              <a:t>The algorithm ends either when the target is found or when the last element is compared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0" marR="45720" lvl="0" indent="-5080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090"/>
              <a:buFont typeface="Noto Sans Symbols"/>
              <a:buChar char="▪"/>
            </a:pPr>
            <a:r>
              <a:rPr lang="en-US" sz="2200" b="1" i="0" u="none" strike="noStrike" cap="none">
                <a:solidFill>
                  <a:srgbClr val="0C0C0C"/>
                </a:solidFill>
                <a:latin typeface="Constantia"/>
                <a:ea typeface="Constantia"/>
                <a:cs typeface="Constantia"/>
                <a:sym typeface="Constantia"/>
              </a:rPr>
              <a:t>The algorithm can be modified to eliminate the end of list test by placing the target at the end of list as just one additional entry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0" marR="45720" lvl="0" indent="-5080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090"/>
              <a:buFont typeface="Noto Sans Symbols"/>
              <a:buChar char="▪"/>
            </a:pPr>
            <a:r>
              <a:rPr lang="en-US" sz="2200" b="1" i="0" u="none" strike="noStrike" cap="none">
                <a:solidFill>
                  <a:srgbClr val="0C0C0C"/>
                </a:solidFill>
                <a:latin typeface="Constantia"/>
                <a:ea typeface="Constantia"/>
                <a:cs typeface="Constantia"/>
                <a:sym typeface="Constantia"/>
              </a:rPr>
              <a:t>This additional entry at the end of the list is called as </a:t>
            </a:r>
            <a:r>
              <a:rPr lang="en-US" sz="2200" b="1" i="1" u="none" strike="noStrike" cap="none">
                <a:solidFill>
                  <a:srgbClr val="0C0C0C"/>
                </a:solidFill>
                <a:latin typeface="Constantia"/>
                <a:ea typeface="Constantia"/>
                <a:cs typeface="Constantia"/>
                <a:sym typeface="Constantia"/>
              </a:rPr>
              <a:t>sentinel</a:t>
            </a:r>
            <a:endParaRPr sz="2200" b="1" i="0" u="none" strike="noStrike" cap="none">
              <a:solidFill>
                <a:srgbClr val="0C0C0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0" y="-76200"/>
            <a:ext cx="121920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7FCFD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6000" b="1" i="0" u="none" strike="noStrike" cap="none">
                <a:solidFill>
                  <a:srgbClr val="0C0C0C"/>
                </a:solidFill>
                <a:latin typeface="Constantia"/>
                <a:ea typeface="Constantia"/>
                <a:cs typeface="Constantia"/>
                <a:sym typeface="Constantia"/>
              </a:rPr>
              <a:t>Sentinel  search</a:t>
            </a:r>
            <a:br>
              <a:rPr lang="en-US" sz="6000" b="1" i="0" u="none" strike="noStrike" cap="none">
                <a:solidFill>
                  <a:srgbClr val="0C0C0C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endParaRPr sz="6000" b="1" i="0" u="none" strike="noStrike" cap="none">
              <a:solidFill>
                <a:srgbClr val="0C0C0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77723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2"/>
          <p:cNvSpPr txBox="1">
            <a:spLocks noGrp="1"/>
          </p:cNvSpPr>
          <p:nvPr>
            <p:ph type="body" idx="1"/>
          </p:nvPr>
        </p:nvSpPr>
        <p:spPr>
          <a:xfrm>
            <a:off x="609600" y="914401"/>
            <a:ext cx="10972800" cy="509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65760" lvl="0" indent="-2560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int  seqsearch_sentinel(int key)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last=a[n-1]; 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a[n-1]=key;   //place target at the end of the list   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i=0;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while (key!=a[i])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 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      i++;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 }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  arr[n-1]=last;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if((i&lt;n-1) || (a[n-1]==key))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 return i;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else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    return -1;   //not found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r>
              <a:rPr lang="en-US"/>
              <a:t>} </a:t>
            </a:r>
            <a:endParaRPr/>
          </a:p>
          <a:p>
            <a:pPr marL="365760" lvl="0" indent="-15693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endParaRPr/>
          </a:p>
        </p:txBody>
      </p:sp>
      <p:sp>
        <p:nvSpPr>
          <p:cNvPr id="906" name="Google Shape;906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Sentinel search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7" name="Google Shape;907;p22"/>
          <p:cNvSpPr txBox="1">
            <a:spLocks noGrp="1"/>
          </p:cNvSpPr>
          <p:nvPr>
            <p:ph type="sldNum" idx="12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908" name="Google Shape;908;p22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909" name="Google Shape;909;p22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727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7"/>
          <p:cNvSpPr txBox="1">
            <a:spLocks noGrp="1"/>
          </p:cNvSpPr>
          <p:nvPr>
            <p:ph type="title"/>
          </p:nvPr>
        </p:nvSpPr>
        <p:spPr>
          <a:xfrm>
            <a:off x="1434904" y="520505"/>
            <a:ext cx="9720775" cy="121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17" name="Google Shape;917;p17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endParaRPr sz="32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the array is sorted, then we can apply the binary search technique.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basic idea is straightforward. First search the value in the middle position. 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X is less than this value, then search the middle of the left half next.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If X is greater than this value, then search the middle of the right half next.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endParaRPr sz="3200"/>
          </a:p>
        </p:txBody>
      </p:sp>
      <p:sp>
        <p:nvSpPr>
          <p:cNvPr id="918" name="Google Shape;918;p17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8/10/2021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17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of Data Structures    UNIT-III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17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17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2" name="Google Shape;9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111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8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8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8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8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8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8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8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8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8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8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8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8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8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8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8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8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8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8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8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8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8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8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18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8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8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8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8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8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8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8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58" name="Google Shape;958;p18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9" name="Google Shape;959;p18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60" name="Google Shape;960;p18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1" name="Google Shape;961;p18"/>
          <p:cNvSpPr/>
          <p:nvPr/>
        </p:nvSpPr>
        <p:spPr>
          <a:xfrm>
            <a:off x="9113488" y="5105401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2" name="Google Shape;962;p18"/>
          <p:cNvCxnSpPr/>
          <p:nvPr/>
        </p:nvCxnSpPr>
        <p:spPr>
          <a:xfrm rot="10800000">
            <a:off x="9297988" y="4841875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2041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3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68" name="Google Shape;968;p23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9" name="Google Shape;969;p23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3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3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23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3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3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3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3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3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23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3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23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23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23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23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23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23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23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3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23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3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23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3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3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23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23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3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23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3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3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0" name="Google Shape;1000;p23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01" name="Google Shape;1001;p23"/>
          <p:cNvSpPr/>
          <p:nvPr/>
        </p:nvSpPr>
        <p:spPr>
          <a:xfrm>
            <a:off x="9113488" y="5105401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2" name="Google Shape;1002;p23"/>
          <p:cNvCxnSpPr/>
          <p:nvPr/>
        </p:nvCxnSpPr>
        <p:spPr>
          <a:xfrm rot="10800000">
            <a:off x="9297988" y="4841875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03" name="Google Shape;1003;p23"/>
          <p:cNvSpPr/>
          <p:nvPr/>
        </p:nvSpPr>
        <p:spPr>
          <a:xfrm>
            <a:off x="5841925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4" name="Google Shape;1004;p23"/>
          <p:cNvCxnSpPr/>
          <p:nvPr/>
        </p:nvCxnSpPr>
        <p:spPr>
          <a:xfrm rot="10800000">
            <a:off x="608012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05" name="Google Shape;1005;p23"/>
          <p:cNvSpPr/>
          <p:nvPr/>
        </p:nvSpPr>
        <p:spPr>
          <a:xfrm>
            <a:off x="5922964" y="4138614"/>
            <a:ext cx="357187" cy="357187"/>
          </a:xfrm>
          <a:prstGeom prst="ellipse">
            <a:avLst/>
          </a:prstGeom>
          <a:solidFill>
            <a:schemeClr val="folHlink">
              <a:alpha val="2431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5916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6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11" name="Google Shape;1011;p26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2" name="Google Shape;1012;p26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6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6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6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6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6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6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26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26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6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26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6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26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26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26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26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26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26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6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26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26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26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6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26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6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6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26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6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26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3" name="Google Shape;1043;p26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44" name="Google Shape;1044;p26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5" name="Google Shape;1045;p26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24745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7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51" name="Google Shape;1051;p27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2" name="Google Shape;1052;p27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27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7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27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27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27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27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27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27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27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27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27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7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7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27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27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27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27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27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27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27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7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7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27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7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7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7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7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7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7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7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3" name="Google Shape;1083;p27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84" name="Google Shape;1084;p27"/>
          <p:cNvSpPr/>
          <p:nvPr/>
        </p:nvSpPr>
        <p:spPr>
          <a:xfrm>
            <a:off x="4008362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5" name="Google Shape;1085;p27"/>
          <p:cNvCxnSpPr/>
          <p:nvPr/>
        </p:nvCxnSpPr>
        <p:spPr>
          <a:xfrm rot="10800000">
            <a:off x="4246563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86" name="Google Shape;1086;p27"/>
          <p:cNvSpPr/>
          <p:nvPr/>
        </p:nvSpPr>
        <p:spPr>
          <a:xfrm>
            <a:off x="4086225" y="4137025"/>
            <a:ext cx="357188" cy="357188"/>
          </a:xfrm>
          <a:prstGeom prst="ellipse">
            <a:avLst/>
          </a:prstGeom>
          <a:solidFill>
            <a:schemeClr val="folHlink">
              <a:alpha val="2431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7" name="Google Shape;1087;p27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8" name="Google Shape;1088;p27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63194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2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94" name="Google Shape;1094;p28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5" name="Google Shape;1095;p28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28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28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28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28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28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28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28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28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8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8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28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28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28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28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28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28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28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8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8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8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28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8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28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8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8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8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8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8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8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8"/>
          <p:cNvSpPr/>
          <p:nvPr/>
        </p:nvSpPr>
        <p:spPr>
          <a:xfrm>
            <a:off x="4531963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6" name="Google Shape;1126;p28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27" name="Google Shape;1127;p28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8" name="Google Shape;1128;p28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65759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9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134" name="Google Shape;1134;p29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5" name="Google Shape;1135;p29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29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29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29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9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29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29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29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29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29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29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29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9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9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29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29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9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29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9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29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29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9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9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9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9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29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9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9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9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9"/>
          <p:cNvSpPr/>
          <p:nvPr/>
        </p:nvSpPr>
        <p:spPr>
          <a:xfrm>
            <a:off x="4531963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6" name="Google Shape;1166;p29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7" name="Google Shape;1167;p29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8" name="Google Shape;1168;p29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9" name="Google Shape;1169;p29"/>
          <p:cNvSpPr/>
          <p:nvPr/>
        </p:nvSpPr>
        <p:spPr>
          <a:xfrm>
            <a:off x="4929112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0" name="Google Shape;1170;p29"/>
          <p:cNvCxnSpPr/>
          <p:nvPr/>
        </p:nvCxnSpPr>
        <p:spPr>
          <a:xfrm rot="10800000">
            <a:off x="5167313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71" name="Google Shape;1171;p29"/>
          <p:cNvSpPr/>
          <p:nvPr/>
        </p:nvSpPr>
        <p:spPr>
          <a:xfrm>
            <a:off x="5006975" y="4137025"/>
            <a:ext cx="357188" cy="357188"/>
          </a:xfrm>
          <a:prstGeom prst="ellipse">
            <a:avLst/>
          </a:prstGeom>
          <a:solidFill>
            <a:schemeClr val="folHlink">
              <a:alpha val="2431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51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30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177" name="Google Shape;1177;p30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8" name="Google Shape;1178;p30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0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0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0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0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0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0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0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0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0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0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0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0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0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0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0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0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0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0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0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0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0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0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30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0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0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0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0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0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0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0"/>
          <p:cNvSpPr/>
          <p:nvPr/>
        </p:nvSpPr>
        <p:spPr>
          <a:xfrm>
            <a:off x="4531963" y="5103813"/>
            <a:ext cx="400751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9" name="Google Shape;1209;p30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10643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50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215" name="Google Shape;1215;p150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6" name="Google Shape;1216;p150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150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50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50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50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150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50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50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50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150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150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150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150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50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50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150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50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50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50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150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150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50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50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50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50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150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50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150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50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50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50"/>
          <p:cNvSpPr/>
          <p:nvPr/>
        </p:nvSpPr>
        <p:spPr>
          <a:xfrm>
            <a:off x="4478262" y="5103813"/>
            <a:ext cx="508152" cy="73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7" name="Google Shape;1247;p150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48" name="Google Shape;1248;p150"/>
          <p:cNvSpPr/>
          <p:nvPr/>
        </p:nvSpPr>
        <p:spPr>
          <a:xfrm>
            <a:off x="4546600" y="4137025"/>
            <a:ext cx="357188" cy="357188"/>
          </a:xfrm>
          <a:prstGeom prst="ellipse">
            <a:avLst/>
          </a:prstGeom>
          <a:solidFill>
            <a:schemeClr val="folHlink">
              <a:alpha val="2431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5242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51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254" name="Google Shape;1254;p151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5" name="Google Shape;1255;p151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51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51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51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51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51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51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51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51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51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51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51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51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151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151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151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151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151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51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51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rgbClr val="00800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51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51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51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51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51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51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51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51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51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51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51"/>
          <p:cNvSpPr/>
          <p:nvPr/>
        </p:nvSpPr>
        <p:spPr>
          <a:xfrm>
            <a:off x="4478262" y="5103813"/>
            <a:ext cx="508152" cy="73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6" name="Google Shape;1286;p151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4058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52"/>
          <p:cNvSpPr txBox="1">
            <a:spLocks noGrp="1"/>
          </p:cNvSpPr>
          <p:nvPr>
            <p:ph type="sldNum" idx="12"/>
          </p:nvPr>
        </p:nvSpPr>
        <p:spPr>
          <a:xfrm>
            <a:off x="807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76</a:t>
            </a:fld>
            <a:endParaRPr sz="8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92" name="Google Shape;1292;p152"/>
          <p:cNvSpPr txBox="1">
            <a:spLocks noGrp="1"/>
          </p:cNvSpPr>
          <p:nvPr>
            <p:ph type="title"/>
          </p:nvPr>
        </p:nvSpPr>
        <p:spPr>
          <a:xfrm>
            <a:off x="2028826" y="249238"/>
            <a:ext cx="8639175" cy="1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Example: Binary Search</a:t>
            </a:r>
            <a:endParaRPr/>
          </a:p>
        </p:txBody>
      </p:sp>
      <p:sp>
        <p:nvSpPr>
          <p:cNvPr id="1293" name="Google Shape;1293;p152"/>
          <p:cNvSpPr txBox="1">
            <a:spLocks noGrp="1"/>
          </p:cNvSpPr>
          <p:nvPr>
            <p:ph type="body" idx="1"/>
          </p:nvPr>
        </p:nvSpPr>
        <p:spPr>
          <a:xfrm>
            <a:off x="1879600" y="1285876"/>
            <a:ext cx="8362950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Searching for an element k in a sorted array A with n elements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Idea: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Choose the middle element A[n/2]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== A[n/2], we are done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&lt; A[n/2], search for k between A[0] and A[n/2 -1]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&gt; A[n/2], search for k between A[n/2 + 1] and A[n-1]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Repeat until either k is found, or no more elements to search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Requires less number of comparisons than linear search in the worst case (log</a:t>
            </a:r>
            <a:r>
              <a:rPr lang="en-US" sz="2500" baseline="-25000"/>
              <a:t>2</a:t>
            </a:r>
            <a:r>
              <a:rPr lang="en-US" sz="2500"/>
              <a:t>n instead of n)</a:t>
            </a:r>
            <a:endParaRPr/>
          </a:p>
          <a:p>
            <a:pPr marL="346075" lvl="1" indent="-1762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None/>
            </a:pPr>
            <a:endParaRPr sz="2500"/>
          </a:p>
          <a:p>
            <a:pPr marL="346075" lvl="1" indent="-1762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None/>
            </a:pPr>
            <a:endParaRPr sz="2500"/>
          </a:p>
        </p:txBody>
      </p:sp>
      <p:sp>
        <p:nvSpPr>
          <p:cNvPr id="1294" name="Google Shape;1294;p152"/>
          <p:cNvSpPr/>
          <p:nvPr/>
        </p:nvSpPr>
        <p:spPr>
          <a:xfrm>
            <a:off x="7883526" y="898526"/>
            <a:ext cx="828675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5" name="Google Shape;1295;p152"/>
          <p:cNvSpPr/>
          <p:nvPr/>
        </p:nvSpPr>
        <p:spPr>
          <a:xfrm>
            <a:off x="8021639" y="1036638"/>
            <a:ext cx="8286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6" name="Google Shape;1296;p152"/>
          <p:cNvSpPr/>
          <p:nvPr/>
        </p:nvSpPr>
        <p:spPr>
          <a:xfrm>
            <a:off x="5326063" y="276225"/>
            <a:ext cx="352425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2345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25"/>
          <p:cNvSpPr txBox="1">
            <a:spLocks noGrp="1"/>
          </p:cNvSpPr>
          <p:nvPr>
            <p:ph type="title"/>
          </p:nvPr>
        </p:nvSpPr>
        <p:spPr>
          <a:xfrm>
            <a:off x="914400" y="737191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 and Binary search  </a:t>
            </a:r>
            <a:r>
              <a:rPr lang="en-US" b="1" i="0" u="sng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Animation</a:t>
            </a:r>
            <a:endParaRPr b="1" i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125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1303" name="Google Shape;1303;p125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1304" name="Google Shape;1304;p125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  <p:sp>
        <p:nvSpPr>
          <p:cNvPr id="1305" name="Google Shape;1305;p125"/>
          <p:cNvSpPr txBox="1"/>
          <p:nvPr/>
        </p:nvSpPr>
        <p:spPr>
          <a:xfrm>
            <a:off x="1690597" y="2477386"/>
            <a:ext cx="4653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Animation</a:t>
            </a: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https://www.cs.usfca.edu/~galles/visualization/Search.html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96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31"/>
          <p:cNvSpPr txBox="1">
            <a:spLocks noGrp="1"/>
          </p:cNvSpPr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Time Complexity of Binary Search</a:t>
            </a:r>
            <a:endParaRPr/>
          </a:p>
        </p:txBody>
      </p:sp>
      <p:sp>
        <p:nvSpPr>
          <p:cNvPr id="1313" name="Google Shape;1313;p31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no of elements after 1 comparison           =n/2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number of elements after 2 comparisons              =n/2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number of elements after h comparisons           =n/2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 baseline="3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 the lowest value of h elements 1 left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h=1   or  </a:t>
            </a: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h=n    h=log</a:t>
            </a:r>
            <a:r>
              <a:rPr lang="en-US" sz="217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(n)=O(log</a:t>
            </a:r>
            <a:r>
              <a:rPr lang="en-US" sz="217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 n)</a:t>
            </a: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/>
          </a:p>
        </p:txBody>
      </p:sp>
      <p:sp>
        <p:nvSpPr>
          <p:cNvPr id="1314" name="Google Shape;1314;p3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8/10/2021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5" name="Google Shape;1315;p31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of Data Structures    UNIT-III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6" name="Google Shape;1316;p31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7" name="Google Shape;131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010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13"/>
          <p:cNvSpPr txBox="1">
            <a:spLocks noGrp="1"/>
          </p:cNvSpPr>
          <p:nvPr>
            <p:ph type="title"/>
          </p:nvPr>
        </p:nvSpPr>
        <p:spPr>
          <a:xfrm>
            <a:off x="1406769" y="342875"/>
            <a:ext cx="10058400" cy="34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Binary Search Algorithm</a:t>
            </a:r>
            <a:endParaRPr/>
          </a:p>
        </p:txBody>
      </p:sp>
      <p:sp>
        <p:nvSpPr>
          <p:cNvPr id="1324" name="Google Shape;1324;p113"/>
          <p:cNvSpPr txBox="1">
            <a:spLocks noGrp="1"/>
          </p:cNvSpPr>
          <p:nvPr>
            <p:ph type="body" idx="1"/>
          </p:nvPr>
        </p:nvSpPr>
        <p:spPr>
          <a:xfrm>
            <a:off x="647114" y="717452"/>
            <a:ext cx="5444197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Algorithm binary_search(a[], low, high, key) {  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while(low&lt;=high)    {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mid=(low+high)/2;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if(a[mid]==key)      {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    flag=1;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     return flag; }     //end if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else if (key&lt;a[mid])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     high=mid-1;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else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low=mid+1;     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}   //end while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325" name="Google Shape;1325;p113"/>
          <p:cNvSpPr txBox="1">
            <a:spLocks noGrp="1"/>
          </p:cNvSpPr>
          <p:nvPr>
            <p:ph type="body" idx="2"/>
          </p:nvPr>
        </p:nvSpPr>
        <p:spPr>
          <a:xfrm>
            <a:off x="6485206" y="987608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If (flag==0)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{   return flag;}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}//end binary_search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1326" name="Google Shape;1326;p113"/>
          <p:cNvGrpSpPr/>
          <p:nvPr/>
        </p:nvGrpSpPr>
        <p:grpSpPr>
          <a:xfrm>
            <a:off x="576776" y="5736102"/>
            <a:ext cx="10363200" cy="457200"/>
            <a:chOff x="480" y="2832"/>
            <a:chExt cx="4896" cy="288"/>
          </a:xfrm>
        </p:grpSpPr>
        <p:grpSp>
          <p:nvGrpSpPr>
            <p:cNvPr id="1327" name="Google Shape;1327;p113"/>
            <p:cNvGrpSpPr/>
            <p:nvPr/>
          </p:nvGrpSpPr>
          <p:grpSpPr>
            <a:xfrm>
              <a:off x="480" y="2832"/>
              <a:ext cx="2784" cy="288"/>
              <a:chOff x="480" y="2832"/>
              <a:chExt cx="4608" cy="728"/>
            </a:xfrm>
          </p:grpSpPr>
          <p:sp>
            <p:nvSpPr>
              <p:cNvPr id="1328" name="Google Shape;1328;p113"/>
              <p:cNvSpPr/>
              <p:nvPr/>
            </p:nvSpPr>
            <p:spPr>
              <a:xfrm>
                <a:off x="480" y="2847"/>
                <a:ext cx="4608" cy="698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29" name="Google Shape;1329;p113"/>
              <p:cNvCxnSpPr/>
              <p:nvPr/>
            </p:nvCxnSpPr>
            <p:spPr>
              <a:xfrm>
                <a:off x="2723" y="2855"/>
                <a:ext cx="0" cy="68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0" name="Google Shape;1330;p113"/>
              <p:cNvCxnSpPr/>
              <p:nvPr/>
            </p:nvCxnSpPr>
            <p:spPr>
              <a:xfrm>
                <a:off x="1577" y="2832"/>
                <a:ext cx="0" cy="7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1" name="Google Shape;1331;p113"/>
              <p:cNvCxnSpPr/>
              <p:nvPr/>
            </p:nvCxnSpPr>
            <p:spPr>
              <a:xfrm>
                <a:off x="3971" y="2832"/>
                <a:ext cx="0" cy="72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2" name="Google Shape;1332;p113"/>
              <p:cNvCxnSpPr/>
              <p:nvPr/>
            </p:nvCxnSpPr>
            <p:spPr>
              <a:xfrm>
                <a:off x="996" y="2855"/>
                <a:ext cx="0" cy="68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3" name="Google Shape;1333;p113"/>
              <p:cNvCxnSpPr/>
              <p:nvPr/>
            </p:nvCxnSpPr>
            <p:spPr>
              <a:xfrm>
                <a:off x="2109" y="2832"/>
                <a:ext cx="0" cy="7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4" name="Google Shape;1334;p113"/>
              <p:cNvCxnSpPr/>
              <p:nvPr/>
            </p:nvCxnSpPr>
            <p:spPr>
              <a:xfrm>
                <a:off x="3305" y="2837"/>
                <a:ext cx="0" cy="72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5" name="Google Shape;1335;p113"/>
              <p:cNvCxnSpPr/>
              <p:nvPr/>
            </p:nvCxnSpPr>
            <p:spPr>
              <a:xfrm>
                <a:off x="4519" y="2847"/>
                <a:ext cx="0" cy="708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36" name="Google Shape;1336;p113"/>
            <p:cNvGrpSpPr/>
            <p:nvPr/>
          </p:nvGrpSpPr>
          <p:grpSpPr>
            <a:xfrm>
              <a:off x="3264" y="2832"/>
              <a:ext cx="2112" cy="288"/>
              <a:chOff x="2544" y="3456"/>
              <a:chExt cx="2112" cy="288"/>
            </a:xfrm>
          </p:grpSpPr>
          <p:sp>
            <p:nvSpPr>
              <p:cNvPr id="1337" name="Google Shape;1337;p113"/>
              <p:cNvSpPr/>
              <p:nvPr/>
            </p:nvSpPr>
            <p:spPr>
              <a:xfrm>
                <a:off x="2544" y="3462"/>
                <a:ext cx="2112" cy="276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38" name="Google Shape;1338;p113"/>
              <p:cNvCxnSpPr/>
              <p:nvPr/>
            </p:nvCxnSpPr>
            <p:spPr>
              <a:xfrm>
                <a:off x="3227" y="3465"/>
                <a:ext cx="0" cy="27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9" name="Google Shape;1339;p113"/>
              <p:cNvCxnSpPr/>
              <p:nvPr/>
            </p:nvCxnSpPr>
            <p:spPr>
              <a:xfrm>
                <a:off x="3981" y="3456"/>
                <a:ext cx="0" cy="28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0" name="Google Shape;1340;p113"/>
              <p:cNvCxnSpPr/>
              <p:nvPr/>
            </p:nvCxnSpPr>
            <p:spPr>
              <a:xfrm>
                <a:off x="2856" y="3456"/>
                <a:ext cx="0" cy="281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1" name="Google Shape;1341;p113"/>
              <p:cNvCxnSpPr/>
              <p:nvPr/>
            </p:nvCxnSpPr>
            <p:spPr>
              <a:xfrm>
                <a:off x="3579" y="3458"/>
                <a:ext cx="0" cy="28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2" name="Google Shape;1342;p113"/>
              <p:cNvCxnSpPr/>
              <p:nvPr/>
            </p:nvCxnSpPr>
            <p:spPr>
              <a:xfrm>
                <a:off x="4312" y="3462"/>
                <a:ext cx="0" cy="28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343" name="Google Shape;1343;p113"/>
          <p:cNvSpPr txBox="1"/>
          <p:nvPr/>
        </p:nvSpPr>
        <p:spPr>
          <a:xfrm>
            <a:off x="650240" y="5778305"/>
            <a:ext cx="10224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1          7           9        12        33        42        59        76       81       84         91       92         93      99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113"/>
          <p:cNvSpPr/>
          <p:nvPr/>
        </p:nvSpPr>
        <p:spPr>
          <a:xfrm>
            <a:off x="359507" y="5597769"/>
            <a:ext cx="10769600" cy="762000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113"/>
          <p:cNvSpPr/>
          <p:nvPr/>
        </p:nvSpPr>
        <p:spPr>
          <a:xfrm>
            <a:off x="4115581" y="5668107"/>
            <a:ext cx="914400" cy="762000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113"/>
          <p:cNvSpPr/>
          <p:nvPr/>
        </p:nvSpPr>
        <p:spPr>
          <a:xfrm>
            <a:off x="8531274" y="4778326"/>
            <a:ext cx="3860800" cy="685800"/>
          </a:xfrm>
          <a:prstGeom prst="cloudCallout">
            <a:avLst>
              <a:gd name="adj1" fmla="val -62074"/>
              <a:gd name="adj2" fmla="val -143921"/>
            </a:avLst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for 42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7" name="Google Shape;1347;p113"/>
          <p:cNvGraphicFramePr/>
          <p:nvPr/>
        </p:nvGraphicFramePr>
        <p:xfrm>
          <a:off x="372013" y="6487160"/>
          <a:ext cx="1041792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8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7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9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5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13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8" name="Google Shape;1348;p113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1349" name="Google Shape;1349;p113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Fundamental of Data Structures    UNIT-III</a:t>
            </a:r>
            <a:endParaRPr/>
          </a:p>
        </p:txBody>
      </p:sp>
      <p:sp>
        <p:nvSpPr>
          <p:cNvPr id="1350" name="Google Shape;1350;p113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pic>
        <p:nvPicPr>
          <p:cNvPr id="1351" name="Google Shape;1351;p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0"/>
            <a:ext cx="1014752" cy="866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783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33"/>
          <p:cNvSpPr txBox="1">
            <a:spLocks noGrp="1"/>
          </p:cNvSpPr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Binary search(recursive)</a:t>
            </a:r>
            <a:endParaRPr/>
          </a:p>
        </p:txBody>
      </p:sp>
      <p:sp>
        <p:nvSpPr>
          <p:cNvPr id="1359" name="Google Shape;1359;p33"/>
          <p:cNvSpPr txBox="1">
            <a:spLocks noGrp="1"/>
          </p:cNvSpPr>
          <p:nvPr>
            <p:ph type="body" idx="1"/>
          </p:nvPr>
        </p:nvSpPr>
        <p:spPr>
          <a:xfrm>
            <a:off x="1280160" y="1547447"/>
            <a:ext cx="10058400" cy="468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Algorithm  binary_search(a[], low, high, key)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{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if(low&lt;=high)  {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mid=(low+high)/2;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if(a[mid]==key)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  return mid;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else if (key&lt;a[mid])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  return binary_search(a,low,mid-1,key);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else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return binary_search(a,mid+1,high,key);}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return -1;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}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None/>
            </a:pPr>
            <a:endParaRPr sz="780"/>
          </a:p>
          <a:p>
            <a:pPr marL="91440" lvl="0" indent="-41907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Font typeface="Noto Sans Symbols"/>
              <a:buNone/>
            </a:pPr>
            <a:endParaRPr sz="7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41907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Font typeface="Noto Sans Symbols"/>
              <a:buNone/>
            </a:pPr>
            <a:endParaRPr sz="780"/>
          </a:p>
        </p:txBody>
      </p:sp>
      <p:sp>
        <p:nvSpPr>
          <p:cNvPr id="1360" name="Google Shape;1360;p3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8/10/2021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1" name="Google Shape;1361;p33"/>
          <p:cNvSpPr txBox="1">
            <a:spLocks noGrp="1"/>
          </p:cNvSpPr>
          <p:nvPr>
            <p:ph type="ft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of Data Structures    UNIT-III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2" name="Google Shape;1362;p33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3" name="Google Shape;136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3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328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 Warm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6125</TotalTime>
  <Words>4584</Words>
  <Application>Microsoft Office PowerPoint</Application>
  <PresentationFormat>Widescreen</PresentationFormat>
  <Paragraphs>1382</Paragraphs>
  <Slides>80</Slides>
  <Notes>47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80</vt:i4>
      </vt:variant>
    </vt:vector>
  </HeadingPairs>
  <TitlesOfParts>
    <vt:vector size="102" baseType="lpstr">
      <vt:lpstr>Arial</vt:lpstr>
      <vt:lpstr>Arial Black</vt:lpstr>
      <vt:lpstr>Calibri</vt:lpstr>
      <vt:lpstr>Calibri Light</vt:lpstr>
      <vt:lpstr>Constantia</vt:lpstr>
      <vt:lpstr>Courier New</vt:lpstr>
      <vt:lpstr>Georgia</vt:lpstr>
      <vt:lpstr>굴림</vt:lpstr>
      <vt:lpstr>Lucida Sans</vt:lpstr>
      <vt:lpstr>Monotype Sorts</vt:lpstr>
      <vt:lpstr>Noto Sans Symbols</vt:lpstr>
      <vt:lpstr>新細明體</vt:lpstr>
      <vt:lpstr>Symbol</vt:lpstr>
      <vt:lpstr>Times New Roman</vt:lpstr>
      <vt:lpstr>Times New Roman</vt:lpstr>
      <vt:lpstr>verdana</vt:lpstr>
      <vt:lpstr>Wingdings</vt:lpstr>
      <vt:lpstr>Wingdings 2</vt:lpstr>
      <vt:lpstr>Retrospect</vt:lpstr>
      <vt:lpstr>Document</vt:lpstr>
      <vt:lpstr>Equation</vt:lpstr>
      <vt:lpstr>Formula</vt:lpstr>
      <vt:lpstr>PowerPoint Presentation</vt:lpstr>
      <vt:lpstr>Unit 1: Analysis of Algorithm</vt:lpstr>
      <vt:lpstr>Why Study this Course?</vt:lpstr>
      <vt:lpstr>Algorithm: A brief History </vt:lpstr>
      <vt:lpstr>What is an Algorithm?</vt:lpstr>
      <vt:lpstr>Algorithm &amp; its Properties</vt:lpstr>
      <vt:lpstr>Examples of Algorithms – Computing the Greatest Common Divisor of Two Integers</vt:lpstr>
      <vt:lpstr>Pseudocode of Euclid’s Algorithm</vt:lpstr>
      <vt:lpstr>Example of Euclid’s Algorithm</vt:lpstr>
      <vt:lpstr>Fundamentals of Algorithmic Problem Solving</vt:lpstr>
      <vt:lpstr>Algorithm Design and Analysis Process</vt:lpstr>
      <vt:lpstr>Algorithms as a Technology</vt:lpstr>
      <vt:lpstr>Algorithm Efficiency</vt:lpstr>
      <vt:lpstr>Efficiency</vt:lpstr>
      <vt:lpstr>Methods of Specifying an Algorithm</vt:lpstr>
      <vt:lpstr>Pseudocode Conventions</vt:lpstr>
      <vt:lpstr>Pseudocode Conventions</vt:lpstr>
      <vt:lpstr>Pseudocode Conventions</vt:lpstr>
      <vt:lpstr>Analysis of Algorithms</vt:lpstr>
      <vt:lpstr>Common Rates of Growth</vt:lpstr>
      <vt:lpstr>Why Analyse?</vt:lpstr>
      <vt:lpstr>What to analyse?</vt:lpstr>
      <vt:lpstr>Tabular Method</vt:lpstr>
      <vt:lpstr>Asymptotic Analysis</vt:lpstr>
      <vt:lpstr>ASYMPTOTICS NOTATIONS O-notation (Big Oh)</vt:lpstr>
      <vt:lpstr>Big Oh - Example</vt:lpstr>
      <vt:lpstr>Big Oh - Example</vt:lpstr>
      <vt:lpstr>Big Oh - Example</vt:lpstr>
      <vt:lpstr>ASYMPTOTICS NOTATIONS Ω-notation</vt:lpstr>
      <vt:lpstr>Big Omega - Example</vt:lpstr>
      <vt:lpstr>ASYMPTOTICS NOTATIONS Θ-notation</vt:lpstr>
      <vt:lpstr>Theta Example</vt:lpstr>
      <vt:lpstr>o notation (Little oh)</vt:lpstr>
      <vt:lpstr>ω notation (Little omega)</vt:lpstr>
      <vt:lpstr>Asymptotic Notations</vt:lpstr>
      <vt:lpstr>Examples On Asymptotic Notations </vt:lpstr>
      <vt:lpstr>Algorithm Design Techniques/Strategies</vt:lpstr>
      <vt:lpstr>Methods for Solving recurrences</vt:lpstr>
      <vt:lpstr>Math You need to Review</vt:lpstr>
      <vt:lpstr>Substitution Method</vt:lpstr>
      <vt:lpstr>Quick Sort</vt:lpstr>
      <vt:lpstr>Binary Search</vt:lpstr>
      <vt:lpstr>Master Theorem</vt:lpstr>
      <vt:lpstr>Master Method (Simplified)</vt:lpstr>
      <vt:lpstr>Example of Master Method</vt:lpstr>
      <vt:lpstr>References</vt:lpstr>
      <vt:lpstr>Searching</vt:lpstr>
      <vt:lpstr>Searching</vt:lpstr>
      <vt:lpstr>Linear Search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Search Analysis: Best Case</vt:lpstr>
      <vt:lpstr>Linear Search Analysis: Worst Case</vt:lpstr>
      <vt:lpstr>Linear Search Animation</vt:lpstr>
      <vt:lpstr>Sequential search</vt:lpstr>
      <vt:lpstr> Linear  Search Performance</vt:lpstr>
      <vt:lpstr>PowerPoint Presentation</vt:lpstr>
      <vt:lpstr>Sentinel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Example: Binary Search</vt:lpstr>
      <vt:lpstr>Linear Search and Binary search  Animation</vt:lpstr>
      <vt:lpstr>Time Complexity of Binary Search</vt:lpstr>
      <vt:lpstr>Binary Search Algorithm</vt:lpstr>
      <vt:lpstr>Binary search(recursive)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Anita.Gunjal</dc:creator>
  <cp:lastModifiedBy>Himangi Pande</cp:lastModifiedBy>
  <cp:revision>763</cp:revision>
  <dcterms:created xsi:type="dcterms:W3CDTF">2017-06-20T09:56:08Z</dcterms:created>
  <dcterms:modified xsi:type="dcterms:W3CDTF">2024-12-06T12:11:46Z</dcterms:modified>
</cp:coreProperties>
</file>