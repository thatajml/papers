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oleObject" PartName="/ppt/embeddings/oleObject9.bin"/>
  <Override ContentType="application/vnd.openxmlformats-officedocument.oleObject" PartName="/ppt/embeddings/oleObject3.bin"/>
  <Override ContentType="application/vnd.openxmlformats-officedocument.oleObject" PartName="/ppt/embeddings/oleObject6.bin"/>
  <Override ContentType="application/vnd.openxmlformats-officedocument.oleObject" PartName="/ppt/embeddings/oleObject5.bin"/>
  <Override ContentType="application/vnd.openxmlformats-officedocument.oleObject" PartName="/ppt/embeddings/oleObject4.bin"/>
  <Override ContentType="application/vnd.openxmlformats-officedocument.oleObject" PartName="/ppt/embeddings/oleObject7.bin"/>
  <Override ContentType="application/vnd.openxmlformats-officedocument.oleObject" PartName="/ppt/embeddings/oleObject2.bin"/>
  <Override ContentType="application/vnd.openxmlformats-officedocument.oleObject" PartName="/ppt/embeddings/oleObject10.bin"/>
  <Override ContentType="application/vnd.openxmlformats-officedocument.oleObject" PartName="/ppt/embeddings/oleObject1.bin"/>
  <Override ContentType="application/vnd.openxmlformats-officedocument.oleObject" PartName="/ppt/embeddings/oleObject8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y="6858000" cx="9144000"/>
  <p:notesSz cx="6954825" cy="9309100"/>
  <p:embeddedFontLst>
    <p:embeddedFont>
      <p:font typeface="Tahoma"/>
      <p:regular r:id="rId67"/>
      <p:bold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9" roundtripDataSignature="AMtx7mj0Xu2jXuahf4NHJC1q6VlGVGsz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6BECA2-1E8F-4D94-9FCD-55602041E4EF}">
  <a:tblStyle styleId="{5F6BECA2-1E8F-4D94-9FCD-55602041E4E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Tahoma-bold.fntdata"/><Relationship Id="rId23" Type="http://schemas.openxmlformats.org/officeDocument/2006/relationships/slide" Target="slides/slide17.xml"/><Relationship Id="rId67" Type="http://schemas.openxmlformats.org/officeDocument/2006/relationships/font" Target="fonts/Tahoma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6.png"/><Relationship Id="rId3" Type="http://schemas.openxmlformats.org/officeDocument/2006/relationships/image" Target="../media/image13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9.png"/></Relationships>
</file>

<file path=ppt/drawings/_rels/vmlDrawing6.v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7.v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130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41762" y="0"/>
            <a:ext cx="30130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43962"/>
            <a:ext cx="30130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25" spcFirstLastPara="1" rIns="92925" wrap="square" tIns="464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41762" y="8843962"/>
            <a:ext cx="30130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25" spcFirstLastPara="1" rIns="92925" wrap="square" tIns="46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/>
        </p:nvSpPr>
        <p:spPr>
          <a:xfrm>
            <a:off x="3941762" y="8843962"/>
            <a:ext cx="30130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25" spcFirstLastPara="1" rIns="92925" wrap="square" tIns="46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2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8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17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9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20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21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22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23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24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5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25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26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27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28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9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p29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0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30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1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p31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p32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3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33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4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34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p35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7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37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6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36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8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p38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9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5" name="Google Shape;445;p39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0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40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1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4" name="Google Shape;474;p41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2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9" name="Google Shape;489;p42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3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9" name="Google Shape;499;p43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8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48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9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p49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0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p50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7" name="Google Shape;527;p51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2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5" name="Google Shape;535;p52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3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2" name="Google Shape;542;p53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9" name="Google Shape;549;p54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5:notes"/>
          <p:cNvSpPr txBox="1"/>
          <p:nvPr/>
        </p:nvSpPr>
        <p:spPr>
          <a:xfrm>
            <a:off x="3941762" y="8843962"/>
            <a:ext cx="30130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25" spcFirstLastPara="1" rIns="92925" wrap="square" tIns="46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55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8" name="Google Shape;558;p55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6:notes"/>
          <p:cNvSpPr txBox="1"/>
          <p:nvPr/>
        </p:nvSpPr>
        <p:spPr>
          <a:xfrm>
            <a:off x="3941762" y="8843962"/>
            <a:ext cx="30130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25" spcFirstLastPara="1" rIns="92925" wrap="square" tIns="46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56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6" name="Google Shape;566;p56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7:notes"/>
          <p:cNvSpPr txBox="1"/>
          <p:nvPr/>
        </p:nvSpPr>
        <p:spPr>
          <a:xfrm>
            <a:off x="3941762" y="8843962"/>
            <a:ext cx="30130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25" spcFirstLastPara="1" rIns="92925" wrap="square" tIns="46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57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5" name="Google Shape;575;p57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8:notes"/>
          <p:cNvSpPr txBox="1"/>
          <p:nvPr/>
        </p:nvSpPr>
        <p:spPr>
          <a:xfrm>
            <a:off x="3941762" y="8843962"/>
            <a:ext cx="30130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25" spcFirstLastPara="1" rIns="92925" wrap="square" tIns="46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58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7" name="Google Shape;587;p58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9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p59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0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2" name="Google Shape;602;p60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1:notes"/>
          <p:cNvSpPr txBox="1"/>
          <p:nvPr/>
        </p:nvSpPr>
        <p:spPr>
          <a:xfrm>
            <a:off x="3941762" y="8843962"/>
            <a:ext cx="30130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25" spcFirstLastPara="1" rIns="92925" wrap="square" tIns="46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61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0" name="Google Shape;610;p61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2:notes"/>
          <p:cNvSpPr txBox="1"/>
          <p:nvPr/>
        </p:nvSpPr>
        <p:spPr>
          <a:xfrm>
            <a:off x="3941762" y="8843962"/>
            <a:ext cx="30130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25" spcFirstLastPara="1" rIns="92925" wrap="square" tIns="46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62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9" name="Google Shape;619;p62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3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p63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4:notes"/>
          <p:cNvSpPr txBox="1"/>
          <p:nvPr/>
        </p:nvSpPr>
        <p:spPr>
          <a:xfrm>
            <a:off x="3941762" y="8843962"/>
            <a:ext cx="30130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25" spcFirstLastPara="1" rIns="92925" wrap="square" tIns="46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64:notes"/>
          <p:cNvSpPr/>
          <p:nvPr>
            <p:ph idx="2" type="sldImg"/>
          </p:nvPr>
        </p:nvSpPr>
        <p:spPr>
          <a:xfrm>
            <a:off x="1150937" y="698500"/>
            <a:ext cx="4652962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3" name="Google Shape;633;p64:notes"/>
          <p:cNvSpPr txBox="1"/>
          <p:nvPr>
            <p:ph idx="1" type="body"/>
          </p:nvPr>
        </p:nvSpPr>
        <p:spPr>
          <a:xfrm>
            <a:off x="927100" y="4421187"/>
            <a:ext cx="510063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8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6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9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7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3"/>
          <p:cNvSpPr txBox="1"/>
          <p:nvPr>
            <p:ph idx="1" type="body"/>
          </p:nvPr>
        </p:nvSpPr>
        <p:spPr>
          <a:xfrm rot="5400000">
            <a:off x="2396332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7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2" name="Google Shape;52;p7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5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8" name="Google Shape;58;p75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9" name="Google Shape;59;p7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5" name="Google Shape;65;p7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7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7" name="Google Shape;67;p7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7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7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7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77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7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7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7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67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3" name="Google Shape;13;p6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4" name="Google Shape;14;p6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  <a:defRPr b="0" i="0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en.wikipedia.org/wiki/Problem-solving" TargetMode="External"/><Relationship Id="rId4" Type="http://schemas.openxmlformats.org/officeDocument/2006/relationships/hyperlink" Target="https://en.wikipedia.org/wiki/Algorithmic_paradigm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1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4.bin"/><Relationship Id="rId11" Type="http://schemas.openxmlformats.org/officeDocument/2006/relationships/oleObject" Target="../embeddings/oleObject6.bin"/><Relationship Id="rId10" Type="http://schemas.openxmlformats.org/officeDocument/2006/relationships/oleObject" Target="../embeddings/oleObject6.bin"/><Relationship Id="rId12" Type="http://schemas.openxmlformats.org/officeDocument/2006/relationships/image" Target="../media/image14.png"/><Relationship Id="rId9" Type="http://schemas.openxmlformats.org/officeDocument/2006/relationships/image" Target="../media/image6.png"/><Relationship Id="rId5" Type="http://schemas.openxmlformats.org/officeDocument/2006/relationships/oleObject" Target="../embeddings/oleObject4.bin"/><Relationship Id="rId6" Type="http://schemas.openxmlformats.org/officeDocument/2006/relationships/image" Target="../media/image7.png"/><Relationship Id="rId7" Type="http://schemas.openxmlformats.org/officeDocument/2006/relationships/oleObject" Target="../embeddings/oleObject5.bin"/><Relationship Id="rId8" Type="http://schemas.openxmlformats.org/officeDocument/2006/relationships/oleObject" Target="../embeddings/oleObject5.bin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vmlDrawing" Target="../drawings/vmlDrawing5.vml"/><Relationship Id="rId4" Type="http://schemas.openxmlformats.org/officeDocument/2006/relationships/oleObject" Target="../embeddings/oleObject7.bin"/><Relationship Id="rId9" Type="http://schemas.openxmlformats.org/officeDocument/2006/relationships/image" Target="../media/image9.png"/><Relationship Id="rId5" Type="http://schemas.openxmlformats.org/officeDocument/2006/relationships/oleObject" Target="../embeddings/oleObject7.bin"/><Relationship Id="rId6" Type="http://schemas.openxmlformats.org/officeDocument/2006/relationships/image" Target="../media/image11.png"/><Relationship Id="rId7" Type="http://schemas.openxmlformats.org/officeDocument/2006/relationships/oleObject" Target="../embeddings/oleObject8.bin"/><Relationship Id="rId8" Type="http://schemas.openxmlformats.org/officeDocument/2006/relationships/oleObject" Target="../embeddings/oleObject8.bin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vmlDrawing" Target="../drawings/vmlDrawing6.vml"/><Relationship Id="rId4" Type="http://schemas.openxmlformats.org/officeDocument/2006/relationships/oleObject" Target="../embeddings/oleObject9.bin"/><Relationship Id="rId5" Type="http://schemas.openxmlformats.org/officeDocument/2006/relationships/oleObject" Target="../embeddings/oleObject9.bin"/><Relationship Id="rId6" Type="http://schemas.openxmlformats.org/officeDocument/2006/relationships/image" Target="../media/image1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vmlDrawing" Target="../drawings/vmlDrawing7.vml"/><Relationship Id="rId4" Type="http://schemas.openxmlformats.org/officeDocument/2006/relationships/oleObject" Target="../embeddings/oleObject10.bin"/><Relationship Id="rId5" Type="http://schemas.openxmlformats.org/officeDocument/2006/relationships/oleObject" Target="../embeddings/oleObject10.bin"/><Relationship Id="rId6" Type="http://schemas.openxmlformats.org/officeDocument/2006/relationships/image" Target="../media/image1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838200" y="381000"/>
            <a:ext cx="7620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-US" sz="4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Programming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3429000" y="1447800"/>
            <a:ext cx="4876800" cy="51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 of optimality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0/1 Knapsack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Largest Common Subsequence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Travelling Salesperson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Multistage Graph problem (using Forward computation)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		          (Ref. Horowithz Sahni and Parag Dave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628650" y="4413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Programming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programming is typically applied to optimization problem.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Programming is an algorithm design method that can be used when the solution to a problem may be viewed as the result of a sequence of decisions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Dynamic Programming?</a:t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685800" y="1524000"/>
            <a:ext cx="79248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Divide-and-Conquer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b="0" i="0" lang="en-US" sz="2100" u="none" cap="none" strike="noStrike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a top-down approach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partitions a problem into independent subproblems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Greedy method : 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works with the local information</a:t>
            </a:r>
            <a:endParaRPr/>
          </a:p>
          <a:p>
            <a:pPr indent="-381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programming :</a:t>
            </a:r>
            <a:r>
              <a:rPr b="0" i="0" lang="en-US" sz="2100" u="none" cap="none" strike="noStrike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a bottom-up approach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Solutions for smaller instances are stored in a table for later use.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 with divide-and-conquer</a:t>
            </a:r>
            <a:endParaRPr/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Divide-and-conquer algorithms split a problem into separate subproblems, solve the subproblems, and combine the results for a solution to the original problem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Quicksort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Mergesort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Binary search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Divide-and-conquer algorithms can be thought of as </a:t>
            </a:r>
            <a:r>
              <a:rPr b="0" i="0" lang="en-US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top-down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algorithms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contrast, a </a:t>
            </a:r>
            <a:r>
              <a:rPr b="0" i="0" lang="en-US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dynamic programming algorithm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proceeds by solving small problems, then combining them to find the solution to larger problems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programming can be thought of as </a:t>
            </a:r>
            <a:r>
              <a:rPr b="0" i="0" lang="en-US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bottom-up</a:t>
            </a:r>
            <a:endParaRPr/>
          </a:p>
        </p:txBody>
      </p:sp>
      <p:sp>
        <p:nvSpPr>
          <p:cNvPr id="108" name="Google Shape;108;p4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1371600" y="228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 with Greedy Approach</a:t>
            </a:r>
            <a:endParaRPr/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457200" y="11430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Greedy and Dynamic Programming are methods for solving optimization problems.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often you need to use dynamic programming since the optimal solution cannot be guaranteed by a greedy algorithm.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Programming provides efficient solutions for some problems for which a brute force approach would be very slow.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Dynamic Programming we need only show that the principle of optimality applies to the problem.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Elements of Dynamic Programming …</a:t>
            </a:r>
            <a:endParaRPr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838200" y="1828800"/>
            <a:ext cx="8001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 of optimality</a:t>
            </a:r>
            <a:endParaRPr/>
          </a:p>
          <a:p>
            <a:pPr indent="-3429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an optimal sequence of decisions or choices, each subsequence must also be optimal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Memorization (for overlapping sub-problems)</a:t>
            </a:r>
            <a:endParaRPr/>
          </a:p>
          <a:p>
            <a:pPr indent="-3429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calculating the same thing twice, </a:t>
            </a:r>
            <a:endParaRPr/>
          </a:p>
          <a:p>
            <a:pPr indent="-342900" lvl="1" marL="3429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usually by keeping a table of know results that fills up as sub-instances are solved.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914400" y="304800"/>
            <a:ext cx="6553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Fibonacci numbers</a:t>
            </a:r>
            <a:r>
              <a:rPr b="0" i="0" lang="en-US" sz="1600" u="none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914400" y="1676400"/>
            <a:ext cx="7924800" cy="4586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Computing the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fibonacci number using </a:t>
            </a:r>
            <a:r>
              <a:rPr b="1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bottom-up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iteration: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(0)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0+1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(3)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1+1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(4)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1+2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(5)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2+3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f(n-2) = f(n-3)+f(n-4)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f(n-1) = f(n-2)+f(n-3)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-1)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f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1447800" y="1219200"/>
            <a:ext cx="5791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Fibonacci numbers: 0, 1, 1, 2, 3, 5, 8, 13, 21, 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Recursive calls for fib</a:t>
            </a:r>
            <a:endParaRPr/>
          </a:p>
        </p:txBody>
      </p:sp>
      <p:graphicFrame>
        <p:nvGraphicFramePr>
          <p:cNvPr id="134" name="Google Shape;134;p9"/>
          <p:cNvGraphicFramePr/>
          <p:nvPr/>
        </p:nvGraphicFramePr>
        <p:xfrm>
          <a:off x="0" y="2133600"/>
          <a:ext cx="9144000" cy="4114800"/>
        </p:xfrm>
        <a:graphic>
          <a:graphicData uri="http://schemas.openxmlformats.org/presentationml/2006/ole">
            <mc:AlternateContent>
              <mc:Choice Requires="v">
                <p:oleObj r:id="rId4" imgH="4114800" imgW="9144000" spid="_x0000_s1">
                  <p:embed/>
                </p:oleObj>
              </mc:Choice>
              <mc:Fallback>
                <p:oleObj r:id="rId5" imgH="4114800" imgW="9144000">
                  <p:embed/>
                  <p:pic>
                    <p:nvPicPr>
                      <p:cNvPr id="134" name="Google Shape;134;p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0" y="2133600"/>
                        <a:ext cx="91440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/>
        </p:nvSpPr>
        <p:spPr>
          <a:xfrm>
            <a:off x="990600" y="1295400"/>
            <a:ext cx="7620000" cy="481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Recall definition of Fibonacci numbers: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</a:pPr>
            <a:r>
              <a:t/>
            </a:r>
            <a:endParaRPr b="0" i="1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-1)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-2)       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Computing the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Fibonacci number recursively (top-down):                     f(n)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           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            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   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    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        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   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    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8"/>
          <p:cNvCxnSpPr/>
          <p:nvPr/>
        </p:nvCxnSpPr>
        <p:spPr>
          <a:xfrm flipH="1">
            <a:off x="2590800" y="3886200"/>
            <a:ext cx="12192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" name="Google Shape;141;p8"/>
          <p:cNvCxnSpPr/>
          <p:nvPr/>
        </p:nvCxnSpPr>
        <p:spPr>
          <a:xfrm>
            <a:off x="3810000" y="38862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2" name="Google Shape;142;p8"/>
          <p:cNvCxnSpPr/>
          <p:nvPr/>
        </p:nvCxnSpPr>
        <p:spPr>
          <a:xfrm flipH="1">
            <a:off x="1600200" y="4572000"/>
            <a:ext cx="762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3" name="Google Shape;143;p8"/>
          <p:cNvCxnSpPr/>
          <p:nvPr/>
        </p:nvCxnSpPr>
        <p:spPr>
          <a:xfrm>
            <a:off x="2362200" y="4572000"/>
            <a:ext cx="762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4" name="Google Shape;144;p8"/>
          <p:cNvCxnSpPr/>
          <p:nvPr/>
        </p:nvCxnSpPr>
        <p:spPr>
          <a:xfrm flipH="1">
            <a:off x="4648200" y="4572000"/>
            <a:ext cx="6858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" name="Google Shape;145;p8"/>
          <p:cNvCxnSpPr/>
          <p:nvPr/>
        </p:nvCxnSpPr>
        <p:spPr>
          <a:xfrm>
            <a:off x="5334000" y="4572000"/>
            <a:ext cx="8382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>
            <p:ph type="title"/>
          </p:nvPr>
        </p:nvSpPr>
        <p:spPr>
          <a:xfrm>
            <a:off x="762000" y="-1524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fib Using Dynamic Programming</a:t>
            </a:r>
            <a:endParaRPr/>
          </a:p>
        </p:txBody>
      </p:sp>
      <p:graphicFrame>
        <p:nvGraphicFramePr>
          <p:cNvPr id="151" name="Google Shape;151;p10"/>
          <p:cNvGraphicFramePr/>
          <p:nvPr/>
        </p:nvGraphicFramePr>
        <p:xfrm>
          <a:off x="0" y="1752600"/>
          <a:ext cx="9144000" cy="4648200"/>
        </p:xfrm>
        <a:graphic>
          <a:graphicData uri="http://schemas.openxmlformats.org/presentationml/2006/ole">
            <mc:AlternateContent>
              <mc:Choice Requires="v">
                <p:oleObj r:id="rId4" imgH="4648200" imgW="9144000" spid="_x0000_s1">
                  <p:embed/>
                </p:oleObj>
              </mc:Choice>
              <mc:Fallback>
                <p:oleObj r:id="rId5" imgH="4648200" imgW="9144000">
                  <p:embed/>
                  <p:pic>
                    <p:nvPicPr>
                      <p:cNvPr id="151" name="Google Shape;151;p1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0" y="1752600"/>
                        <a:ext cx="9144000" cy="464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>
            <p:ph type="title"/>
          </p:nvPr>
        </p:nvSpPr>
        <p:spPr>
          <a:xfrm>
            <a:off x="628650" y="4413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Problem</a:t>
            </a:r>
            <a:endParaRPr/>
          </a:p>
        </p:txBody>
      </p:sp>
      <p:sp>
        <p:nvSpPr>
          <p:cNvPr id="157" name="Google Shape;157;p11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difference between this problem and the fractional knapsack one is that you CANNOT take a fraction of an item.</a:t>
            </a:r>
            <a:endParaRPr/>
          </a:p>
          <a:p>
            <a:pPr indent="-381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either take it or not.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Hence the name Knapsack 0-1 problem.</a:t>
            </a:r>
            <a:endParaRPr/>
          </a:p>
        </p:txBody>
      </p:sp>
      <p:pic>
        <p:nvPicPr>
          <p:cNvPr descr="knapsack_problem.png" id="158" name="Google Shape;15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5850" y="2748425"/>
            <a:ext cx="3821625" cy="355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/>
          <p:nvPr>
            <p:ph type="title"/>
          </p:nvPr>
        </p:nvSpPr>
        <p:spPr>
          <a:xfrm>
            <a:off x="9906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Problem</a:t>
            </a:r>
            <a:endParaRPr/>
          </a:p>
        </p:txBody>
      </p:sp>
      <p:sp>
        <p:nvSpPr>
          <p:cNvPr id="164" name="Google Shape;164;p12"/>
          <p:cNvSpPr txBox="1"/>
          <p:nvPr>
            <p:ph idx="1" type="body"/>
          </p:nvPr>
        </p:nvSpPr>
        <p:spPr>
          <a:xfrm>
            <a:off x="838200" y="1295400"/>
            <a:ext cx="8305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we did before we are going to solve the problem in terms of sub-problems.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let’s try to do that…</a:t>
            </a:r>
            <a:endParaRPr/>
          </a:p>
          <a:p>
            <a:pPr indent="-571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first attempt might be to characterize a sub-problem as follows: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S</a:t>
            </a:r>
            <a:r>
              <a:rPr b="0" baseline="-2500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 the optimal subset of elements from {I</a:t>
            </a:r>
            <a:r>
              <a:rPr b="0" baseline="-2500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I</a:t>
            </a:r>
            <a:r>
              <a:rPr b="0" baseline="-2500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}.  </a:t>
            </a:r>
            <a:endParaRPr/>
          </a:p>
          <a:p>
            <a:pPr indent="-171450" lvl="2" marL="8572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we find is that the optimal subset from the elements {I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I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k+1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may not correspond to the optimal subset of elements from {I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I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in any regular pattern.</a:t>
            </a:r>
            <a:endParaRPr/>
          </a:p>
          <a:p>
            <a:pPr indent="-76200" lvl="2" marL="8572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Basically, the solution to the optimization problem for S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k+1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might NOT contain the optimal solution from problem S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/>
          <p:nvPr>
            <p:ph type="title"/>
          </p:nvPr>
        </p:nvSpPr>
        <p:spPr>
          <a:xfrm>
            <a:off x="882650" y="0"/>
            <a:ext cx="7499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Problem</a:t>
            </a:r>
            <a:endParaRPr/>
          </a:p>
        </p:txBody>
      </p:sp>
      <p:sp>
        <p:nvSpPr>
          <p:cNvPr id="170" name="Google Shape;170;p13"/>
          <p:cNvSpPr txBox="1"/>
          <p:nvPr>
            <p:ph idx="1" type="body"/>
          </p:nvPr>
        </p:nvSpPr>
        <p:spPr>
          <a:xfrm>
            <a:off x="914400" y="609600"/>
            <a:ext cx="82296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illustrate that point with an example: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Item			Weight			Value</a:t>
            </a:r>
            <a:endParaRPr b="0" i="0" sz="2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I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 3			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I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 8			 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I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 9			 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I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 8			11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i="0" lang="en-US" sz="21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maximum weight the knapsack can hold is 20.</a:t>
            </a:r>
            <a:endParaRPr/>
          </a:p>
          <a:p>
            <a:pPr indent="-3810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best set of items from {I</a:t>
            </a:r>
            <a:r>
              <a:rPr b="0" baseline="-2500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is {I</a:t>
            </a:r>
            <a:r>
              <a:rPr b="0" baseline="-2500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 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the best set of items from {I</a:t>
            </a:r>
            <a:r>
              <a:rPr b="0" baseline="-2500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 is {I</a:t>
            </a:r>
            <a:r>
              <a:rPr b="0" baseline="-2500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}. </a:t>
            </a:r>
            <a:endParaRPr/>
          </a:p>
          <a:p>
            <a:pPr indent="-171450" lvl="1" marL="5143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example, note that this optimal solution, {I</a:t>
            </a:r>
            <a:r>
              <a:rPr b="0" baseline="-2500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}, does NOT build upon the previous optimal solution, {I</a:t>
            </a:r>
            <a:r>
              <a:rPr b="0" baseline="-2500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}. </a:t>
            </a:r>
            <a:endParaRPr/>
          </a:p>
          <a:p>
            <a:pPr indent="-171450" lvl="2" marL="8572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(Instead it build's upon the solution, {I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}, which is really the optimal subset of   {I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 with weight 12 or less.)</a:t>
            </a:r>
            <a:endParaRPr/>
          </a:p>
          <a:p>
            <a:pPr indent="-7620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/>
          <p:nvPr>
            <p:ph type="title"/>
          </p:nvPr>
        </p:nvSpPr>
        <p:spPr>
          <a:xfrm>
            <a:off x="914400" y="-152400"/>
            <a:ext cx="74993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problem</a:t>
            </a:r>
            <a:endParaRPr/>
          </a:p>
        </p:txBody>
      </p:sp>
      <p:sp>
        <p:nvSpPr>
          <p:cNvPr id="176" name="Google Shape;176;p14"/>
          <p:cNvSpPr txBox="1"/>
          <p:nvPr>
            <p:ph idx="1" type="body"/>
          </p:nvPr>
        </p:nvSpPr>
        <p:spPr>
          <a:xfrm>
            <a:off x="914400" y="838200"/>
            <a:ext cx="82296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now we must re-work the way we build upon previous sub-problems…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</a:t>
            </a:r>
            <a:r>
              <a:rPr b="1" i="0" lang="en-US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B[k, w]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 the maximum total value of a subset S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weight w. 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goal is to find </a:t>
            </a:r>
            <a:r>
              <a:rPr b="1" i="0" lang="en-US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B[n, W],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n is the total number of items and W is the maximal weight the knapsack can carry.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our recursive formula for subproblems: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20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B[k, w]   = B[k - 1,w], </a:t>
            </a:r>
            <a:r>
              <a:rPr b="1" i="0" lang="en-US" sz="2000" u="sng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if w</a:t>
            </a:r>
            <a:r>
              <a:rPr b="1" baseline="-25000" i="0" lang="en-US" sz="2000" u="sng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i="0" lang="en-US" sz="2000" u="sng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&gt; w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		  	 = max { B[k - 1,w], B[k - 1,w - w</a:t>
            </a:r>
            <a:r>
              <a:rPr b="1" baseline="-25000" i="0" lang="en-US" sz="20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i="0" lang="en-US" sz="20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] + v</a:t>
            </a:r>
            <a:r>
              <a:rPr b="1" baseline="-25000" i="0" lang="en-US" sz="20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i="0" lang="en-US" sz="2000" u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}, </a:t>
            </a:r>
            <a:r>
              <a:rPr b="1" i="0" lang="en-US" sz="2000" u="sng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otherwise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means that the best subset of S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has total weight w is: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arenR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best subset of S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k-1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has total weight w, or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arenR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best subset of S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k-1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has total weight 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plus the item k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>
            <p:ph type="title"/>
          </p:nvPr>
        </p:nvSpPr>
        <p:spPr>
          <a:xfrm>
            <a:off x="9906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Problem – </a:t>
            </a:r>
            <a:b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Recursive Formula</a:t>
            </a:r>
            <a:endParaRPr/>
          </a:p>
        </p:txBody>
      </p:sp>
      <p:sp>
        <p:nvSpPr>
          <p:cNvPr id="182" name="Google Shape;182;p15"/>
          <p:cNvSpPr txBox="1"/>
          <p:nvPr>
            <p:ph idx="1" type="body"/>
          </p:nvPr>
        </p:nvSpPr>
        <p:spPr>
          <a:xfrm>
            <a:off x="1219200" y="2743200"/>
            <a:ext cx="792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best subset of S</a:t>
            </a:r>
            <a:r>
              <a:rPr b="0" baseline="-2500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has the total weight w, either contains item k or not.</a:t>
            </a:r>
            <a:endParaRPr/>
          </a:p>
          <a:p>
            <a:pPr indent="-381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5A2781"/>
              </a:buClr>
              <a:buSzPts val="2100"/>
              <a:buFont typeface="Arial"/>
              <a:buChar char="•"/>
            </a:pPr>
            <a:r>
              <a:rPr b="1" i="0" lang="en-US" sz="2100" u="sng">
                <a:solidFill>
                  <a:srgbClr val="5A2781"/>
                </a:solidFill>
                <a:latin typeface="Calibri"/>
                <a:ea typeface="Calibri"/>
                <a:cs typeface="Calibri"/>
                <a:sym typeface="Calibri"/>
              </a:rPr>
              <a:t>First case:  </a:t>
            </a:r>
            <a:r>
              <a:rPr b="0" i="1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baseline="-25000" i="1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1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w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can’t be part of the solution!  If it was the total weight would be &gt; w, which is unacceptable.</a:t>
            </a:r>
            <a:endParaRPr/>
          </a:p>
          <a:p>
            <a:pPr indent="-571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5A2781"/>
              </a:buClr>
              <a:buSzPts val="2100"/>
              <a:buFont typeface="Arial"/>
              <a:buChar char="•"/>
            </a:pPr>
            <a:r>
              <a:rPr b="1" i="0" lang="en-US" sz="2100" u="sng">
                <a:solidFill>
                  <a:srgbClr val="5A2781"/>
                </a:solidFill>
                <a:latin typeface="Calibri"/>
                <a:ea typeface="Calibri"/>
                <a:cs typeface="Calibri"/>
                <a:sym typeface="Calibri"/>
              </a:rPr>
              <a:t>Second case:  </a:t>
            </a:r>
            <a:r>
              <a:rPr b="0" i="1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baseline="-25000" i="1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1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≤ w 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the item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in the solution, and we choose the case with greater value.</a:t>
            </a:r>
            <a:endParaRPr/>
          </a:p>
          <a:p>
            <a:pPr indent="-571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napsack_formula.png" id="183" name="Google Shape;18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295400"/>
            <a:ext cx="7239000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>
            <p:ph type="title"/>
          </p:nvPr>
        </p:nvSpPr>
        <p:spPr>
          <a:xfrm>
            <a:off x="8382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Example</a:t>
            </a:r>
            <a:endParaRPr/>
          </a:p>
        </p:txBody>
      </p:sp>
      <p:sp>
        <p:nvSpPr>
          <p:cNvPr id="189" name="Google Shape;189;p18"/>
          <p:cNvSpPr txBox="1"/>
          <p:nvPr>
            <p:ph idx="1" type="body"/>
          </p:nvPr>
        </p:nvSpPr>
        <p:spPr>
          <a:xfrm>
            <a:off x="2286000" y="4038600"/>
            <a:ext cx="46482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Initialize the base cases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w = 0 to W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B[0,w] = 0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i = 1 to n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B[i,0] = 0</a:t>
            </a:r>
            <a:endParaRPr/>
          </a:p>
        </p:txBody>
      </p:sp>
      <p:graphicFrame>
        <p:nvGraphicFramePr>
          <p:cNvPr id="190" name="Google Shape;190;p18"/>
          <p:cNvGraphicFramePr/>
          <p:nvPr/>
        </p:nvGraphicFramePr>
        <p:xfrm>
          <a:off x="1219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 txBox="1"/>
          <p:nvPr>
            <p:ph type="title"/>
          </p:nvPr>
        </p:nvSpPr>
        <p:spPr>
          <a:xfrm>
            <a:off x="990600" y="0"/>
            <a:ext cx="7499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Algorithm</a:t>
            </a:r>
            <a:endParaRPr/>
          </a:p>
        </p:txBody>
      </p:sp>
      <p:sp>
        <p:nvSpPr>
          <p:cNvPr id="196" name="Google Shape;196;p16"/>
          <p:cNvSpPr txBox="1"/>
          <p:nvPr>
            <p:ph idx="1" type="body"/>
          </p:nvPr>
        </p:nvSpPr>
        <p:spPr>
          <a:xfrm>
            <a:off x="990600" y="990600"/>
            <a:ext cx="81534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w = 0 to W {  // Initialize 1</a:t>
            </a:r>
            <a:r>
              <a:rPr b="1" baseline="30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row to 0’s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B[0,w] = 0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i = 1 to n {  // Initialize 1</a:t>
            </a:r>
            <a:r>
              <a:rPr b="1" baseline="30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column to 0’s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B[i,0] = 0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i = 1 to n {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for w = 0 to W {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if w</a:t>
            </a:r>
            <a:r>
              <a:rPr b="1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&lt;= w {  //item i can be in the solution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if v</a:t>
            </a:r>
            <a:r>
              <a:rPr b="1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B[i-1,w-w</a:t>
            </a:r>
            <a:r>
              <a:rPr b="1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&gt; B[i-1,w]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B[i,w] = v</a:t>
            </a:r>
            <a:r>
              <a:rPr b="1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 w</a:t>
            </a:r>
            <a:r>
              <a:rPr b="1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else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B[i,w] = B[i-1,w]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else B[i,w] = B[i-1,w] // w</a:t>
            </a:r>
            <a:r>
              <a:rPr b="1" baseline="-2500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w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Problem</a:t>
            </a:r>
            <a:endParaRPr/>
          </a:p>
        </p:txBody>
      </p:sp>
      <p:sp>
        <p:nvSpPr>
          <p:cNvPr id="202" name="Google Shape;202;p17"/>
          <p:cNvSpPr txBox="1"/>
          <p:nvPr>
            <p:ph idx="1" type="body"/>
          </p:nvPr>
        </p:nvSpPr>
        <p:spPr>
          <a:xfrm>
            <a:off x="1066800" y="1371600"/>
            <a:ext cx="7772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run our algorithm on the following data: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= 4 (# of elements)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= 5 (max weight)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Elements (weight, value):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(2,3), (3,4), (4,5), (5,6)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 txBox="1"/>
          <p:nvPr>
            <p:ph type="title"/>
          </p:nvPr>
        </p:nvSpPr>
        <p:spPr>
          <a:xfrm>
            <a:off x="8382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Example</a:t>
            </a:r>
            <a:endParaRPr/>
          </a:p>
        </p:txBody>
      </p:sp>
      <p:sp>
        <p:nvSpPr>
          <p:cNvPr id="208" name="Google Shape;208;p19"/>
          <p:cNvSpPr txBox="1"/>
          <p:nvPr>
            <p:ph idx="1" type="body"/>
          </p:nvPr>
        </p:nvSpPr>
        <p:spPr>
          <a:xfrm>
            <a:off x="1295400" y="3962400"/>
            <a:ext cx="64770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&lt;= w   //item i can be in the solution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if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&gt;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else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</a:t>
            </a:r>
            <a:r>
              <a:rPr b="1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B[i,w] = B[i-1,w] 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w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76200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0" name="Google Shape;210;p19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p19"/>
          <p:cNvSpPr txBox="1"/>
          <p:nvPr/>
        </p:nvSpPr>
        <p:spPr>
          <a:xfrm>
            <a:off x="6445250" y="1797050"/>
            <a:ext cx="11748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19"/>
          <p:cNvCxnSpPr/>
          <p:nvPr/>
        </p:nvCxnSpPr>
        <p:spPr>
          <a:xfrm rot="5400000">
            <a:off x="2781300" y="2247900"/>
            <a:ext cx="381000" cy="3175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graphicFrame>
        <p:nvGraphicFramePr>
          <p:cNvPr id="213" name="Google Shape;213;p19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p19"/>
          <p:cNvSpPr txBox="1"/>
          <p:nvPr/>
        </p:nvSpPr>
        <p:spPr>
          <a:xfrm>
            <a:off x="7620000" y="304800"/>
            <a:ext cx="1066800" cy="3048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 txBox="1"/>
          <p:nvPr>
            <p:ph type="title"/>
          </p:nvPr>
        </p:nvSpPr>
        <p:spPr>
          <a:xfrm>
            <a:off x="8382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Example</a:t>
            </a:r>
            <a:endParaRPr/>
          </a:p>
        </p:txBody>
      </p:sp>
      <p:sp>
        <p:nvSpPr>
          <p:cNvPr id="220" name="Google Shape;220;p20"/>
          <p:cNvSpPr txBox="1"/>
          <p:nvPr>
            <p:ph idx="1" type="body"/>
          </p:nvPr>
        </p:nvSpPr>
        <p:spPr>
          <a:xfrm>
            <a:off x="152400" y="3914775"/>
            <a:ext cx="43434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&lt;= w   //item i can be in the solution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if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&gt; B[i-1,w]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else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B[i-1,w]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B[i,w] = B[i-1,w] //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w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76200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2" name="Google Shape;222;p20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3" name="Google Shape;223;p20"/>
          <p:cNvSpPr txBox="1"/>
          <p:nvPr/>
        </p:nvSpPr>
        <p:spPr>
          <a:xfrm>
            <a:off x="6248400" y="1905000"/>
            <a:ext cx="1069975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20"/>
          <p:cNvCxnSpPr/>
          <p:nvPr/>
        </p:nvCxnSpPr>
        <p:spPr>
          <a:xfrm>
            <a:off x="2362200" y="2133600"/>
            <a:ext cx="1143000" cy="304800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graphicFrame>
        <p:nvGraphicFramePr>
          <p:cNvPr id="225" name="Google Shape;225;p20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6" name="Google Shape;226;p20"/>
          <p:cNvSpPr txBox="1"/>
          <p:nvPr/>
        </p:nvSpPr>
        <p:spPr>
          <a:xfrm>
            <a:off x="7620000" y="304800"/>
            <a:ext cx="1066800" cy="3048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4381500" y="4038600"/>
            <a:ext cx="46863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&lt;= w   //item i can be in the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if 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B[i-1,w-w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&gt; B[i-1,w]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</a:t>
            </a:r>
            <a:r>
              <a:rPr b="1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B[i,w] = v</a:t>
            </a:r>
            <a:r>
              <a:rPr b="1" baseline="-25000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B[i-1,w- w</a:t>
            </a:r>
            <a:r>
              <a:rPr b="1" baseline="-25000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B[i,w] = B[i-1,w]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B[i,w] = B[i-1,w] //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 txBox="1"/>
          <p:nvPr>
            <p:ph type="title"/>
          </p:nvPr>
        </p:nvSpPr>
        <p:spPr>
          <a:xfrm>
            <a:off x="8382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Example</a:t>
            </a:r>
            <a:endParaRPr/>
          </a:p>
        </p:txBody>
      </p:sp>
      <p:sp>
        <p:nvSpPr>
          <p:cNvPr id="233" name="Google Shape;233;p21"/>
          <p:cNvSpPr txBox="1"/>
          <p:nvPr>
            <p:ph idx="1" type="body"/>
          </p:nvPr>
        </p:nvSpPr>
        <p:spPr>
          <a:xfrm>
            <a:off x="1295400" y="3962400"/>
            <a:ext cx="64770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&lt;= w   //item i can be in the solution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if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&gt;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</a:t>
            </a:r>
            <a:r>
              <a:rPr b="1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B[i,w] = v</a:t>
            </a:r>
            <a:r>
              <a:rPr b="1" baseline="-25000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+ B[i-1,w- w</a:t>
            </a:r>
            <a:r>
              <a:rPr b="1" baseline="-25000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else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B[i,w] = B[i-1,w] //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w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76200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5" name="Google Shape;235;p21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6" name="Google Shape;236;p21"/>
          <p:cNvSpPr txBox="1"/>
          <p:nvPr/>
        </p:nvSpPr>
        <p:spPr>
          <a:xfrm>
            <a:off x="6248400" y="1905000"/>
            <a:ext cx="1069975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p21"/>
          <p:cNvCxnSpPr/>
          <p:nvPr/>
        </p:nvCxnSpPr>
        <p:spPr>
          <a:xfrm>
            <a:off x="3124200" y="2133600"/>
            <a:ext cx="1066800" cy="228600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graphicFrame>
        <p:nvGraphicFramePr>
          <p:cNvPr id="238" name="Google Shape;238;p21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9" name="Google Shape;239;p21"/>
          <p:cNvSpPr txBox="1"/>
          <p:nvPr/>
        </p:nvSpPr>
        <p:spPr>
          <a:xfrm>
            <a:off x="7620000" y="304800"/>
            <a:ext cx="1066800" cy="3048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 txBox="1"/>
          <p:nvPr>
            <p:ph type="title"/>
          </p:nvPr>
        </p:nvSpPr>
        <p:spPr>
          <a:xfrm>
            <a:off x="8382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Example</a:t>
            </a:r>
            <a:endParaRPr/>
          </a:p>
        </p:txBody>
      </p:sp>
      <p:sp>
        <p:nvSpPr>
          <p:cNvPr id="245" name="Google Shape;245;p22"/>
          <p:cNvSpPr txBox="1"/>
          <p:nvPr>
            <p:ph idx="1" type="body"/>
          </p:nvPr>
        </p:nvSpPr>
        <p:spPr>
          <a:xfrm>
            <a:off x="1295400" y="3962400"/>
            <a:ext cx="64770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&lt;= w   //item i can be in the solution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if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&gt;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</a:t>
            </a:r>
            <a:r>
              <a:rPr b="1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B[i,w] = v</a:t>
            </a:r>
            <a:r>
              <a:rPr b="1" baseline="-25000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+ B[i-1,w- w</a:t>
            </a:r>
            <a:r>
              <a:rPr b="1" baseline="-25000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else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B[i,w] = B[i-1,w] //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w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76200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7" name="Google Shape;247;p22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8" name="Google Shape;248;p22"/>
          <p:cNvSpPr txBox="1"/>
          <p:nvPr/>
        </p:nvSpPr>
        <p:spPr>
          <a:xfrm>
            <a:off x="6248400" y="1905000"/>
            <a:ext cx="1069975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" name="Google Shape;249;p22"/>
          <p:cNvCxnSpPr/>
          <p:nvPr/>
        </p:nvCxnSpPr>
        <p:spPr>
          <a:xfrm>
            <a:off x="3733800" y="2209800"/>
            <a:ext cx="1143000" cy="152400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graphicFrame>
        <p:nvGraphicFramePr>
          <p:cNvPr id="250" name="Google Shape;250;p22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1" name="Google Shape;251;p22"/>
          <p:cNvSpPr txBox="1"/>
          <p:nvPr/>
        </p:nvSpPr>
        <p:spPr>
          <a:xfrm>
            <a:off x="7620000" y="304800"/>
            <a:ext cx="1066800" cy="3048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"/>
          <p:cNvSpPr txBox="1"/>
          <p:nvPr>
            <p:ph type="title"/>
          </p:nvPr>
        </p:nvSpPr>
        <p:spPr>
          <a:xfrm>
            <a:off x="8382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Example</a:t>
            </a:r>
            <a:endParaRPr/>
          </a:p>
        </p:txBody>
      </p:sp>
      <p:sp>
        <p:nvSpPr>
          <p:cNvPr id="257" name="Google Shape;257;p23"/>
          <p:cNvSpPr txBox="1"/>
          <p:nvPr>
            <p:ph idx="1" type="body"/>
          </p:nvPr>
        </p:nvSpPr>
        <p:spPr>
          <a:xfrm>
            <a:off x="1295400" y="3962400"/>
            <a:ext cx="64770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&lt;= w   //item i can be in the solution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if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&gt;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</a:t>
            </a:r>
            <a:r>
              <a:rPr b="1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B[i,w] = v</a:t>
            </a:r>
            <a:r>
              <a:rPr b="1" baseline="-25000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+ B[i-1,w- w</a:t>
            </a:r>
            <a:r>
              <a:rPr b="1" baseline="-25000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else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B[i,w] = B[i-1,w] //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w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76200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9" name="Google Shape;259;p23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0" name="Google Shape;260;p23"/>
          <p:cNvSpPr txBox="1"/>
          <p:nvPr/>
        </p:nvSpPr>
        <p:spPr>
          <a:xfrm>
            <a:off x="6248400" y="1905000"/>
            <a:ext cx="1069975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p23"/>
          <p:cNvCxnSpPr/>
          <p:nvPr/>
        </p:nvCxnSpPr>
        <p:spPr>
          <a:xfrm>
            <a:off x="4419600" y="2209800"/>
            <a:ext cx="1143000" cy="228600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graphicFrame>
        <p:nvGraphicFramePr>
          <p:cNvPr id="262" name="Google Shape;262;p23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3" name="Google Shape;263;p23"/>
          <p:cNvSpPr txBox="1"/>
          <p:nvPr/>
        </p:nvSpPr>
        <p:spPr>
          <a:xfrm>
            <a:off x="7620000" y="304800"/>
            <a:ext cx="1066800" cy="3048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>
            <p:ph type="title"/>
          </p:nvPr>
        </p:nvSpPr>
        <p:spPr>
          <a:xfrm>
            <a:off x="8382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Example</a:t>
            </a:r>
            <a:endParaRPr/>
          </a:p>
        </p:txBody>
      </p:sp>
      <p:sp>
        <p:nvSpPr>
          <p:cNvPr id="269" name="Google Shape;269;p24"/>
          <p:cNvSpPr txBox="1"/>
          <p:nvPr>
            <p:ph idx="1" type="body"/>
          </p:nvPr>
        </p:nvSpPr>
        <p:spPr>
          <a:xfrm>
            <a:off x="4562475" y="3990975"/>
            <a:ext cx="44958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&lt;= w   //item i can be in the solution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if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&gt;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else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B[i,w] = B[i-1,w] //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w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76200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1" name="Google Shape;271;p24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2" name="Google Shape;272;p24"/>
          <p:cNvSpPr txBox="1"/>
          <p:nvPr/>
        </p:nvSpPr>
        <p:spPr>
          <a:xfrm>
            <a:off x="6248400" y="1905000"/>
            <a:ext cx="1174750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-2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24"/>
          <p:cNvCxnSpPr/>
          <p:nvPr/>
        </p:nvCxnSpPr>
        <p:spPr>
          <a:xfrm rot="5400000">
            <a:off x="2667793" y="2590006"/>
            <a:ext cx="304800" cy="1587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graphicFrame>
        <p:nvGraphicFramePr>
          <p:cNvPr id="274" name="Google Shape;274;p24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5" name="Google Shape;275;p24"/>
          <p:cNvSpPr txBox="1"/>
          <p:nvPr/>
        </p:nvSpPr>
        <p:spPr>
          <a:xfrm>
            <a:off x="7620000" y="609600"/>
            <a:ext cx="1066800" cy="3048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6" name="Google Shape;276;p24"/>
          <p:cNvSpPr txBox="1"/>
          <p:nvPr/>
        </p:nvSpPr>
        <p:spPr>
          <a:xfrm>
            <a:off x="381000" y="3990975"/>
            <a:ext cx="44958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&lt;= w   //item i can be in the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if 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B[i-1,w-w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&gt; B[i-1,w]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B[i,w] = 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B[i-1,w-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B[i,w] = B[i-1,w]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</a:t>
            </a:r>
            <a:r>
              <a:rPr b="1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B[i,w] = B[i-1,w]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 txBox="1"/>
          <p:nvPr>
            <p:ph type="title"/>
          </p:nvPr>
        </p:nvSpPr>
        <p:spPr>
          <a:xfrm>
            <a:off x="8382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Example</a:t>
            </a:r>
            <a:endParaRPr/>
          </a:p>
        </p:txBody>
      </p:sp>
      <p:sp>
        <p:nvSpPr>
          <p:cNvPr id="282" name="Google Shape;282;p25"/>
          <p:cNvSpPr txBox="1"/>
          <p:nvPr>
            <p:ph idx="1" type="body"/>
          </p:nvPr>
        </p:nvSpPr>
        <p:spPr>
          <a:xfrm>
            <a:off x="1295400" y="3962400"/>
            <a:ext cx="64770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&lt;= w   //item i can be in the solution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if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&gt;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else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</a:t>
            </a:r>
            <a:r>
              <a:rPr b="1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B[i,w] = B[i-1,w] 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w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76200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4" name="Google Shape;284;p25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5" name="Google Shape;285;p25"/>
          <p:cNvSpPr txBox="1"/>
          <p:nvPr/>
        </p:nvSpPr>
        <p:spPr>
          <a:xfrm>
            <a:off x="6248400" y="1905000"/>
            <a:ext cx="1154112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p25"/>
          <p:cNvCxnSpPr/>
          <p:nvPr/>
        </p:nvCxnSpPr>
        <p:spPr>
          <a:xfrm rot="5400000">
            <a:off x="3277393" y="2590006"/>
            <a:ext cx="304800" cy="1587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graphicFrame>
        <p:nvGraphicFramePr>
          <p:cNvPr id="287" name="Google Shape;287;p25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8" name="Google Shape;288;p25"/>
          <p:cNvSpPr txBox="1"/>
          <p:nvPr/>
        </p:nvSpPr>
        <p:spPr>
          <a:xfrm>
            <a:off x="7620000" y="609600"/>
            <a:ext cx="1066800" cy="3048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"/>
          <p:cNvSpPr txBox="1"/>
          <p:nvPr>
            <p:ph type="title"/>
          </p:nvPr>
        </p:nvSpPr>
        <p:spPr>
          <a:xfrm>
            <a:off x="8382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Example</a:t>
            </a:r>
            <a:endParaRPr/>
          </a:p>
        </p:txBody>
      </p:sp>
      <p:sp>
        <p:nvSpPr>
          <p:cNvPr id="294" name="Google Shape;294;p26"/>
          <p:cNvSpPr txBox="1"/>
          <p:nvPr>
            <p:ph idx="1" type="body"/>
          </p:nvPr>
        </p:nvSpPr>
        <p:spPr>
          <a:xfrm>
            <a:off x="320675" y="3848100"/>
            <a:ext cx="4403725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&lt;= w   //item i can be in the solution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if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&gt; B[i-1,w]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else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B[i-1,w]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B[i,w] = B[i-1,w] //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w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76200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6" name="Google Shape;296;p26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7" name="Google Shape;297;p26"/>
          <p:cNvSpPr txBox="1"/>
          <p:nvPr/>
        </p:nvSpPr>
        <p:spPr>
          <a:xfrm>
            <a:off x="6248400" y="1905000"/>
            <a:ext cx="1069975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" name="Google Shape;298;p26"/>
          <p:cNvCxnSpPr/>
          <p:nvPr/>
        </p:nvCxnSpPr>
        <p:spPr>
          <a:xfrm>
            <a:off x="2514600" y="2514600"/>
            <a:ext cx="1676400" cy="228600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graphicFrame>
        <p:nvGraphicFramePr>
          <p:cNvPr id="299" name="Google Shape;299;p26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0" name="Google Shape;300;p26"/>
          <p:cNvSpPr txBox="1"/>
          <p:nvPr/>
        </p:nvSpPr>
        <p:spPr>
          <a:xfrm>
            <a:off x="7620000" y="609600"/>
            <a:ext cx="1066800" cy="3048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1" name="Google Shape;301;p26"/>
          <p:cNvSpPr txBox="1"/>
          <p:nvPr/>
        </p:nvSpPr>
        <p:spPr>
          <a:xfrm>
            <a:off x="4586287" y="3962400"/>
            <a:ext cx="4557712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&lt;= w   //item i can be in the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if 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B[i-1,w-w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&gt; B[i-1,w]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</a:t>
            </a:r>
            <a:r>
              <a:rPr b="1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B[i,w] = v</a:t>
            </a:r>
            <a:r>
              <a:rPr b="1" baseline="-25000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B[i-1,w- w</a:t>
            </a:r>
            <a:r>
              <a:rPr b="1" baseline="-25000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B[i,w] = B[i-1,w]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B[i,w] = B[i-1,w] //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"/>
          <p:cNvSpPr txBox="1"/>
          <p:nvPr>
            <p:ph type="title"/>
          </p:nvPr>
        </p:nvSpPr>
        <p:spPr>
          <a:xfrm>
            <a:off x="8382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Example</a:t>
            </a:r>
            <a:endParaRPr/>
          </a:p>
        </p:txBody>
      </p:sp>
      <p:sp>
        <p:nvSpPr>
          <p:cNvPr id="307" name="Google Shape;307;p27"/>
          <p:cNvSpPr txBox="1"/>
          <p:nvPr>
            <p:ph idx="1" type="body"/>
          </p:nvPr>
        </p:nvSpPr>
        <p:spPr>
          <a:xfrm>
            <a:off x="990600" y="3962400"/>
            <a:ext cx="64770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&lt;= w   //item i can be in the solution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if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&gt;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</a:t>
            </a:r>
            <a:r>
              <a:rPr b="1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B[i,w] = v</a:t>
            </a:r>
            <a:r>
              <a:rPr b="1" baseline="-25000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+ B[i-1,w- w</a:t>
            </a:r>
            <a:r>
              <a:rPr b="1" baseline="-25000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else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B[i,w] = B[i-1,w] //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w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76200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9" name="Google Shape;309;p27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0" name="Google Shape;310;p27"/>
          <p:cNvSpPr txBox="1"/>
          <p:nvPr/>
        </p:nvSpPr>
        <p:spPr>
          <a:xfrm>
            <a:off x="6248400" y="1905000"/>
            <a:ext cx="1069975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27"/>
          <p:cNvCxnSpPr/>
          <p:nvPr/>
        </p:nvCxnSpPr>
        <p:spPr>
          <a:xfrm>
            <a:off x="3124200" y="2514600"/>
            <a:ext cx="1676400" cy="228600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graphicFrame>
        <p:nvGraphicFramePr>
          <p:cNvPr id="312" name="Google Shape;312;p27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3" name="Google Shape;313;p27"/>
          <p:cNvSpPr txBox="1"/>
          <p:nvPr/>
        </p:nvSpPr>
        <p:spPr>
          <a:xfrm>
            <a:off x="7620000" y="609600"/>
            <a:ext cx="1066800" cy="3048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"/>
          <p:cNvSpPr txBox="1"/>
          <p:nvPr>
            <p:ph type="title"/>
          </p:nvPr>
        </p:nvSpPr>
        <p:spPr>
          <a:xfrm>
            <a:off x="8382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Example</a:t>
            </a:r>
            <a:endParaRPr/>
          </a:p>
        </p:txBody>
      </p:sp>
      <p:sp>
        <p:nvSpPr>
          <p:cNvPr id="319" name="Google Shape;319;p28"/>
          <p:cNvSpPr txBox="1"/>
          <p:nvPr>
            <p:ph idx="1" type="body"/>
          </p:nvPr>
        </p:nvSpPr>
        <p:spPr>
          <a:xfrm>
            <a:off x="1295400" y="3962400"/>
            <a:ext cx="64770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&lt;= w   //item i can be in the solution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if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&gt;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</a:t>
            </a:r>
            <a:r>
              <a:rPr b="1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B[i,w] = v</a:t>
            </a:r>
            <a:r>
              <a:rPr b="1" baseline="-25000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+ B[i-1,w- w</a:t>
            </a:r>
            <a:r>
              <a:rPr b="1" baseline="-25000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else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B[i,w] = B[i-1,w] //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w</a:t>
            </a:r>
            <a:endParaRPr/>
          </a:p>
        </p:txBody>
      </p:sp>
      <p:sp>
        <p:nvSpPr>
          <p:cNvPr id="320" name="Google Shape;320;p28"/>
          <p:cNvSpPr txBox="1"/>
          <p:nvPr/>
        </p:nvSpPr>
        <p:spPr>
          <a:xfrm>
            <a:off x="76200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1" name="Google Shape;321;p28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2" name="Google Shape;322;p28"/>
          <p:cNvSpPr txBox="1"/>
          <p:nvPr/>
        </p:nvSpPr>
        <p:spPr>
          <a:xfrm>
            <a:off x="6248400" y="1905000"/>
            <a:ext cx="1069975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3" name="Google Shape;323;p28"/>
          <p:cNvCxnSpPr/>
          <p:nvPr/>
        </p:nvCxnSpPr>
        <p:spPr>
          <a:xfrm>
            <a:off x="3733800" y="2438400"/>
            <a:ext cx="1828800" cy="304800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graphicFrame>
        <p:nvGraphicFramePr>
          <p:cNvPr id="324" name="Google Shape;324;p28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5" name="Google Shape;325;p28"/>
          <p:cNvSpPr txBox="1"/>
          <p:nvPr/>
        </p:nvSpPr>
        <p:spPr>
          <a:xfrm>
            <a:off x="7620000" y="609600"/>
            <a:ext cx="1066800" cy="3048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9"/>
          <p:cNvSpPr txBox="1"/>
          <p:nvPr>
            <p:ph type="title"/>
          </p:nvPr>
        </p:nvSpPr>
        <p:spPr>
          <a:xfrm>
            <a:off x="8382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Example</a:t>
            </a:r>
            <a:endParaRPr/>
          </a:p>
        </p:txBody>
      </p:sp>
      <p:sp>
        <p:nvSpPr>
          <p:cNvPr id="331" name="Google Shape;331;p29"/>
          <p:cNvSpPr txBox="1"/>
          <p:nvPr>
            <p:ph idx="1" type="body"/>
          </p:nvPr>
        </p:nvSpPr>
        <p:spPr>
          <a:xfrm>
            <a:off x="188912" y="3881437"/>
            <a:ext cx="4383087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&lt;= w   //item i can be in the solution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if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&gt; B[i-1,w]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else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B[i-1,w]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B[i,w] = B[i-1,w] //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w</a:t>
            </a:r>
            <a:endParaRPr/>
          </a:p>
        </p:txBody>
      </p:sp>
      <p:sp>
        <p:nvSpPr>
          <p:cNvPr id="332" name="Google Shape;332;p29"/>
          <p:cNvSpPr txBox="1"/>
          <p:nvPr/>
        </p:nvSpPr>
        <p:spPr>
          <a:xfrm>
            <a:off x="76200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3" name="Google Shape;333;p29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4" name="Google Shape;334;p29"/>
          <p:cNvSpPr txBox="1"/>
          <p:nvPr/>
        </p:nvSpPr>
        <p:spPr>
          <a:xfrm>
            <a:off x="6248400" y="1905000"/>
            <a:ext cx="1495425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= 1..3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-3..-1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29"/>
          <p:cNvCxnSpPr/>
          <p:nvPr/>
        </p:nvCxnSpPr>
        <p:spPr>
          <a:xfrm rot="5400000">
            <a:off x="2667000" y="2971800"/>
            <a:ext cx="304800" cy="3175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graphicFrame>
        <p:nvGraphicFramePr>
          <p:cNvPr id="336" name="Google Shape;336;p29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7" name="Google Shape;337;p29"/>
          <p:cNvSpPr txBox="1"/>
          <p:nvPr/>
        </p:nvSpPr>
        <p:spPr>
          <a:xfrm>
            <a:off x="7620000" y="914400"/>
            <a:ext cx="1066800" cy="3048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38" name="Google Shape;338;p29"/>
          <p:cNvCxnSpPr/>
          <p:nvPr/>
        </p:nvCxnSpPr>
        <p:spPr>
          <a:xfrm rot="5400000">
            <a:off x="3275806" y="2971006"/>
            <a:ext cx="304800" cy="1587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339" name="Google Shape;339;p29"/>
          <p:cNvCxnSpPr/>
          <p:nvPr/>
        </p:nvCxnSpPr>
        <p:spPr>
          <a:xfrm rot="5400000">
            <a:off x="3963193" y="2971006"/>
            <a:ext cx="304800" cy="1587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340" name="Google Shape;340;p29"/>
          <p:cNvSpPr txBox="1"/>
          <p:nvPr/>
        </p:nvSpPr>
        <p:spPr>
          <a:xfrm>
            <a:off x="4267200" y="3957637"/>
            <a:ext cx="45720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&lt;= w   //item i can be in the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if 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B[i-1,w-w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&gt; B[i-1,w]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B[i,w] = 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B[i-1,w-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B[i,w] = B[i-1,w]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</a:t>
            </a:r>
            <a:r>
              <a:rPr b="1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B[i,w] = B[i-1,w]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"/>
          <p:cNvSpPr txBox="1"/>
          <p:nvPr>
            <p:ph type="title"/>
          </p:nvPr>
        </p:nvSpPr>
        <p:spPr>
          <a:xfrm>
            <a:off x="8382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Example</a:t>
            </a:r>
            <a:endParaRPr/>
          </a:p>
        </p:txBody>
      </p:sp>
      <p:sp>
        <p:nvSpPr>
          <p:cNvPr id="346" name="Google Shape;346;p30"/>
          <p:cNvSpPr txBox="1"/>
          <p:nvPr>
            <p:ph idx="1" type="body"/>
          </p:nvPr>
        </p:nvSpPr>
        <p:spPr>
          <a:xfrm>
            <a:off x="152400" y="3765550"/>
            <a:ext cx="45720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&lt;= w   //item i can be in the solution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if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&gt;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else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B[i,w] = B[i-1,w] //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w</a:t>
            </a:r>
            <a:endParaRPr/>
          </a:p>
        </p:txBody>
      </p:sp>
      <p:sp>
        <p:nvSpPr>
          <p:cNvPr id="347" name="Google Shape;347;p30"/>
          <p:cNvSpPr txBox="1"/>
          <p:nvPr/>
        </p:nvSpPr>
        <p:spPr>
          <a:xfrm>
            <a:off x="76200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8" name="Google Shape;348;p30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9" name="Google Shape;349;p30"/>
          <p:cNvSpPr txBox="1"/>
          <p:nvPr/>
        </p:nvSpPr>
        <p:spPr>
          <a:xfrm>
            <a:off x="6248400" y="1905000"/>
            <a:ext cx="1069975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p30"/>
          <p:cNvCxnSpPr/>
          <p:nvPr/>
        </p:nvCxnSpPr>
        <p:spPr>
          <a:xfrm>
            <a:off x="2514600" y="2819400"/>
            <a:ext cx="2438400" cy="228600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graphicFrame>
        <p:nvGraphicFramePr>
          <p:cNvPr id="351" name="Google Shape;351;p30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2" name="Google Shape;352;p30"/>
          <p:cNvSpPr txBox="1"/>
          <p:nvPr/>
        </p:nvSpPr>
        <p:spPr>
          <a:xfrm>
            <a:off x="7620000" y="914400"/>
            <a:ext cx="1066800" cy="3048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587875" y="3813175"/>
            <a:ext cx="4403725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&lt;= w   //item i can be in the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if 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B[i-1,w-w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&gt; B[i-1,w]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</a:t>
            </a:r>
            <a:r>
              <a:rPr b="1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B[i,w] = v</a:t>
            </a:r>
            <a:r>
              <a:rPr b="1" baseline="-25000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B[i-1,w- w</a:t>
            </a:r>
            <a:r>
              <a:rPr b="1" baseline="-25000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B[i,w] = B[i-1,w]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B[i,w] = B[i-1,w] //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"/>
          <p:cNvSpPr txBox="1"/>
          <p:nvPr>
            <p:ph type="title"/>
          </p:nvPr>
        </p:nvSpPr>
        <p:spPr>
          <a:xfrm>
            <a:off x="8382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Example</a:t>
            </a:r>
            <a:endParaRPr/>
          </a:p>
        </p:txBody>
      </p:sp>
      <p:sp>
        <p:nvSpPr>
          <p:cNvPr id="359" name="Google Shape;359;p31"/>
          <p:cNvSpPr txBox="1"/>
          <p:nvPr>
            <p:ph idx="1" type="body"/>
          </p:nvPr>
        </p:nvSpPr>
        <p:spPr>
          <a:xfrm>
            <a:off x="76200" y="3757612"/>
            <a:ext cx="44958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&lt;= w   //item i can be in the solution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if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&gt;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else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B[i,w] = B[i-1,w] //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w</a:t>
            </a:r>
            <a:endParaRPr/>
          </a:p>
        </p:txBody>
      </p:sp>
      <p:sp>
        <p:nvSpPr>
          <p:cNvPr id="360" name="Google Shape;360;p31"/>
          <p:cNvSpPr txBox="1"/>
          <p:nvPr/>
        </p:nvSpPr>
        <p:spPr>
          <a:xfrm>
            <a:off x="76200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1" name="Google Shape;361;p31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2" name="Google Shape;362;p31"/>
          <p:cNvSpPr txBox="1"/>
          <p:nvPr/>
        </p:nvSpPr>
        <p:spPr>
          <a:xfrm>
            <a:off x="6248400" y="1905000"/>
            <a:ext cx="1069975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3" name="Google Shape;363;p31"/>
          <p:cNvCxnSpPr/>
          <p:nvPr/>
        </p:nvCxnSpPr>
        <p:spPr>
          <a:xfrm rot="5400000">
            <a:off x="5410200" y="2971800"/>
            <a:ext cx="304800" cy="3175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graphicFrame>
        <p:nvGraphicFramePr>
          <p:cNvPr id="364" name="Google Shape;364;p31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5" name="Google Shape;365;p31"/>
          <p:cNvSpPr txBox="1"/>
          <p:nvPr/>
        </p:nvSpPr>
        <p:spPr>
          <a:xfrm>
            <a:off x="7620000" y="914400"/>
            <a:ext cx="1066800" cy="3048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6" name="Google Shape;366;p31"/>
          <p:cNvSpPr txBox="1"/>
          <p:nvPr/>
        </p:nvSpPr>
        <p:spPr>
          <a:xfrm>
            <a:off x="4619625" y="3757612"/>
            <a:ext cx="4524375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&lt;= w   //item i can be in the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if 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B[i-1,w-w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&gt; B[i-1,w]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B[i,w] = 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B[i-1,w-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</a:t>
            </a:r>
            <a:r>
              <a:rPr b="1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B[i,w] = B[i-1,w]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B[i,w] = B[i-1,w] //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8382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Example</a:t>
            </a:r>
            <a:endParaRPr/>
          </a:p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152400" y="3921125"/>
            <a:ext cx="44958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&lt;= w   //item i can be in the solution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if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&gt;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else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B[i-1,w]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B[i,w] = B[i-1,w] //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w</a:t>
            </a:r>
            <a:endParaRPr/>
          </a:p>
        </p:txBody>
      </p:sp>
      <p:sp>
        <p:nvSpPr>
          <p:cNvPr id="373" name="Google Shape;373;p32"/>
          <p:cNvSpPr txBox="1"/>
          <p:nvPr/>
        </p:nvSpPr>
        <p:spPr>
          <a:xfrm>
            <a:off x="76200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4" name="Google Shape;374;p32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5" name="Google Shape;375;p32"/>
          <p:cNvSpPr txBox="1"/>
          <p:nvPr/>
        </p:nvSpPr>
        <p:spPr>
          <a:xfrm>
            <a:off x="6248400" y="1905000"/>
            <a:ext cx="1495425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= 1..4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-4..-1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p32"/>
          <p:cNvCxnSpPr/>
          <p:nvPr/>
        </p:nvCxnSpPr>
        <p:spPr>
          <a:xfrm rot="5400000">
            <a:off x="2591593" y="3275806"/>
            <a:ext cx="304800" cy="1587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graphicFrame>
        <p:nvGraphicFramePr>
          <p:cNvPr id="377" name="Google Shape;377;p32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8" name="Google Shape;378;p32"/>
          <p:cNvSpPr txBox="1"/>
          <p:nvPr/>
        </p:nvSpPr>
        <p:spPr>
          <a:xfrm>
            <a:off x="7620000" y="1295400"/>
            <a:ext cx="1066800" cy="3048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79" name="Google Shape;379;p32"/>
          <p:cNvCxnSpPr/>
          <p:nvPr/>
        </p:nvCxnSpPr>
        <p:spPr>
          <a:xfrm rot="5400000">
            <a:off x="3353593" y="3275806"/>
            <a:ext cx="304800" cy="1587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380" name="Google Shape;380;p32"/>
          <p:cNvCxnSpPr/>
          <p:nvPr/>
        </p:nvCxnSpPr>
        <p:spPr>
          <a:xfrm rot="5400000">
            <a:off x="4039393" y="3275806"/>
            <a:ext cx="304800" cy="1587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381" name="Google Shape;381;p32"/>
          <p:cNvCxnSpPr/>
          <p:nvPr/>
        </p:nvCxnSpPr>
        <p:spPr>
          <a:xfrm rot="5400000">
            <a:off x="4725193" y="3275806"/>
            <a:ext cx="304800" cy="1587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382" name="Google Shape;382;p32"/>
          <p:cNvSpPr txBox="1"/>
          <p:nvPr/>
        </p:nvSpPr>
        <p:spPr>
          <a:xfrm>
            <a:off x="4625975" y="4038600"/>
            <a:ext cx="4518025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&lt;= w   //item i can be in the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if 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B[i-1,w-w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&gt; B[i-1,w]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B[i,w] = 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B[i-1,w-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B[i,w] = B[i-1,w]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</a:t>
            </a:r>
            <a:r>
              <a:rPr b="1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B[i,w] = B[i-1,w]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3"/>
          <p:cNvSpPr txBox="1"/>
          <p:nvPr>
            <p:ph type="title"/>
          </p:nvPr>
        </p:nvSpPr>
        <p:spPr>
          <a:xfrm>
            <a:off x="8382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Example</a:t>
            </a:r>
            <a:endParaRPr/>
          </a:p>
        </p:txBody>
      </p:sp>
      <p:sp>
        <p:nvSpPr>
          <p:cNvPr id="388" name="Google Shape;388;p33"/>
          <p:cNvSpPr txBox="1"/>
          <p:nvPr>
            <p:ph idx="1" type="body"/>
          </p:nvPr>
        </p:nvSpPr>
        <p:spPr>
          <a:xfrm>
            <a:off x="152400" y="3962400"/>
            <a:ext cx="43434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&lt;= w   //item i can be in the solution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if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&gt; B[i-1,w]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v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B[i-1,w-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else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B[i,w] = B[i-1,w]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B[i,w] = B[i-1,w] // w</a:t>
            </a:r>
            <a:r>
              <a:rPr b="0" baseline="-2500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w</a:t>
            </a:r>
            <a:endParaRPr/>
          </a:p>
        </p:txBody>
      </p:sp>
      <p:sp>
        <p:nvSpPr>
          <p:cNvPr id="389" name="Google Shape;389;p33"/>
          <p:cNvSpPr txBox="1"/>
          <p:nvPr/>
        </p:nvSpPr>
        <p:spPr>
          <a:xfrm>
            <a:off x="76200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0" name="Google Shape;390;p33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1" name="Google Shape;391;p33"/>
          <p:cNvSpPr txBox="1"/>
          <p:nvPr/>
        </p:nvSpPr>
        <p:spPr>
          <a:xfrm>
            <a:off x="6248400" y="1905000"/>
            <a:ext cx="1069975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p33"/>
          <p:cNvCxnSpPr/>
          <p:nvPr/>
        </p:nvCxnSpPr>
        <p:spPr>
          <a:xfrm rot="5400000">
            <a:off x="5334793" y="3275806"/>
            <a:ext cx="304800" cy="1587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graphicFrame>
        <p:nvGraphicFramePr>
          <p:cNvPr id="393" name="Google Shape;393;p33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4" name="Google Shape;394;p33"/>
          <p:cNvSpPr txBox="1"/>
          <p:nvPr/>
        </p:nvSpPr>
        <p:spPr>
          <a:xfrm>
            <a:off x="7620000" y="1295400"/>
            <a:ext cx="1066800" cy="3048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95" name="Google Shape;395;p33"/>
          <p:cNvSpPr txBox="1"/>
          <p:nvPr/>
        </p:nvSpPr>
        <p:spPr>
          <a:xfrm>
            <a:off x="4492625" y="4038600"/>
            <a:ext cx="4575175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&lt;= w   //item i can be in the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if 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B[i-1,w-w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&gt; B[i-1,w]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B[i,w] = 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B[i-1,w-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</a:t>
            </a:r>
            <a:r>
              <a:rPr b="1" i="0" lang="en-US" sz="20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B[i,w] = B[i-1,w]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B[i,w] = B[i-1,w] //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4"/>
          <p:cNvSpPr txBox="1"/>
          <p:nvPr>
            <p:ph type="title"/>
          </p:nvPr>
        </p:nvSpPr>
        <p:spPr>
          <a:xfrm>
            <a:off x="8382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Example</a:t>
            </a:r>
            <a:endParaRPr/>
          </a:p>
        </p:txBody>
      </p:sp>
      <p:sp>
        <p:nvSpPr>
          <p:cNvPr id="401" name="Google Shape;401;p34"/>
          <p:cNvSpPr txBox="1"/>
          <p:nvPr>
            <p:ph idx="1" type="body"/>
          </p:nvPr>
        </p:nvSpPr>
        <p:spPr>
          <a:xfrm>
            <a:off x="1295400" y="3962400"/>
            <a:ext cx="71628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DONE!!  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max possible value that can be carried in this knapsack is </a:t>
            </a:r>
            <a:r>
              <a:rPr b="1" i="1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$7</a:t>
            </a:r>
            <a:endParaRPr/>
          </a:p>
        </p:txBody>
      </p:sp>
      <p:sp>
        <p:nvSpPr>
          <p:cNvPr id="402" name="Google Shape;402;p34"/>
          <p:cNvSpPr txBox="1"/>
          <p:nvPr/>
        </p:nvSpPr>
        <p:spPr>
          <a:xfrm>
            <a:off x="76200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3" name="Google Shape;403;p34"/>
          <p:cNvGraphicFramePr/>
          <p:nvPr/>
        </p:nvGraphicFramePr>
        <p:xfrm>
          <a:off x="1295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4" name="Google Shape;404;p34"/>
          <p:cNvSpPr txBox="1"/>
          <p:nvPr/>
        </p:nvSpPr>
        <p:spPr>
          <a:xfrm>
            <a:off x="7620000" y="1295400"/>
            <a:ext cx="1066800" cy="3048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5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Algorithm</a:t>
            </a:r>
            <a:endParaRPr/>
          </a:p>
        </p:txBody>
      </p:sp>
      <p:sp>
        <p:nvSpPr>
          <p:cNvPr id="410" name="Google Shape;410;p35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algorithm only finds the max possible value that can be carried in the knapsack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value in B[n,W]</a:t>
            </a:r>
            <a:endParaRPr/>
          </a:p>
          <a:p>
            <a:pPr indent="-381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know the </a:t>
            </a:r>
            <a:r>
              <a:rPr b="1" i="1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 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make this maximum value, we need to trace back through the table.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7"/>
          <p:cNvSpPr txBox="1"/>
          <p:nvPr>
            <p:ph type="title"/>
          </p:nvPr>
        </p:nvSpPr>
        <p:spPr>
          <a:xfrm>
            <a:off x="914400" y="0"/>
            <a:ext cx="5410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Algorithm</a:t>
            </a:r>
            <a:b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the Items</a:t>
            </a:r>
            <a:endParaRPr/>
          </a:p>
        </p:txBody>
      </p:sp>
      <p:sp>
        <p:nvSpPr>
          <p:cNvPr id="416" name="Google Shape;416;p37"/>
          <p:cNvSpPr txBox="1"/>
          <p:nvPr/>
        </p:nvSpPr>
        <p:spPr>
          <a:xfrm>
            <a:off x="63246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7"/>
          <p:cNvSpPr txBox="1"/>
          <p:nvPr/>
        </p:nvSpPr>
        <p:spPr>
          <a:xfrm>
            <a:off x="6248400" y="1905000"/>
            <a:ext cx="1403350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B[i,k] =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B[i-1,k] =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8" name="Google Shape;418;p37"/>
          <p:cNvGraphicFramePr/>
          <p:nvPr/>
        </p:nvGraphicFramePr>
        <p:xfrm>
          <a:off x="10668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9" name="Google Shape;419;p37"/>
          <p:cNvSpPr txBox="1"/>
          <p:nvPr/>
        </p:nvSpPr>
        <p:spPr>
          <a:xfrm>
            <a:off x="6324600" y="304800"/>
            <a:ext cx="1066800" cy="12954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0" name="Google Shape;420;p37"/>
          <p:cNvSpPr txBox="1"/>
          <p:nvPr/>
        </p:nvSpPr>
        <p:spPr>
          <a:xfrm>
            <a:off x="1295400" y="4038600"/>
            <a:ext cx="64770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n , k =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 i, k &gt;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if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B[i, k] ≠ B[i-1, k]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 the i</a:t>
            </a:r>
            <a:r>
              <a:rPr b="0" baseline="3000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item as in the knapsack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 = i-1, k = k-w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i-1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1" name="Google Shape;421;p37"/>
          <p:cNvCxnSpPr/>
          <p:nvPr/>
        </p:nvCxnSpPr>
        <p:spPr>
          <a:xfrm rot="-5400000">
            <a:off x="5068093" y="3313906"/>
            <a:ext cx="381000" cy="1587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422" name="Google Shape;422;p37"/>
          <p:cNvSpPr txBox="1"/>
          <p:nvPr/>
        </p:nvSpPr>
        <p:spPr>
          <a:xfrm>
            <a:off x="7696200" y="0"/>
            <a:ext cx="1447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0" i="0" lang="en-US" sz="2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7"/>
          <p:cNvSpPr/>
          <p:nvPr/>
        </p:nvSpPr>
        <p:spPr>
          <a:xfrm>
            <a:off x="5334000" y="2971800"/>
            <a:ext cx="381000" cy="685800"/>
          </a:xfrm>
          <a:prstGeom prst="ellipse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6"/>
          <p:cNvSpPr txBox="1"/>
          <p:nvPr>
            <p:ph type="title"/>
          </p:nvPr>
        </p:nvSpPr>
        <p:spPr>
          <a:xfrm>
            <a:off x="990600" y="22860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Algorithm</a:t>
            </a:r>
            <a:b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the Items</a:t>
            </a:r>
            <a:endParaRPr/>
          </a:p>
        </p:txBody>
      </p:sp>
      <p:sp>
        <p:nvSpPr>
          <p:cNvPr id="429" name="Google Shape;429;p36"/>
          <p:cNvSpPr txBox="1"/>
          <p:nvPr>
            <p:ph idx="1" type="body"/>
          </p:nvPr>
        </p:nvSpPr>
        <p:spPr>
          <a:xfrm>
            <a:off x="990600" y="1487487"/>
            <a:ext cx="81534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i = n and k = W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 B[i, k] ≠ B[i-1, k] then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mark the i</a:t>
            </a:r>
            <a:r>
              <a:rPr b="0" baseline="30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item as in the knapsack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i = i-1, k = k-w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i = i-1   // Assume the i</a:t>
            </a:r>
            <a:r>
              <a:rPr b="0" baseline="30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item is not in the knapsack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// Could it be in the optimally packed knapsack?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8"/>
          <p:cNvSpPr txBox="1"/>
          <p:nvPr>
            <p:ph type="title"/>
          </p:nvPr>
        </p:nvSpPr>
        <p:spPr>
          <a:xfrm>
            <a:off x="914400" y="0"/>
            <a:ext cx="5410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Algorithm</a:t>
            </a:r>
            <a:b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the Items</a:t>
            </a:r>
            <a:endParaRPr/>
          </a:p>
        </p:txBody>
      </p:sp>
      <p:sp>
        <p:nvSpPr>
          <p:cNvPr id="435" name="Google Shape;435;p38"/>
          <p:cNvSpPr txBox="1"/>
          <p:nvPr/>
        </p:nvSpPr>
        <p:spPr>
          <a:xfrm>
            <a:off x="63246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8"/>
          <p:cNvSpPr txBox="1"/>
          <p:nvPr/>
        </p:nvSpPr>
        <p:spPr>
          <a:xfrm>
            <a:off x="6248400" y="1905000"/>
            <a:ext cx="1403350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B[i,k] =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B[i-1,k] =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7" name="Google Shape;437;p38"/>
          <p:cNvGraphicFramePr/>
          <p:nvPr/>
        </p:nvGraphicFramePr>
        <p:xfrm>
          <a:off x="10668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8" name="Google Shape;438;p38"/>
          <p:cNvSpPr txBox="1"/>
          <p:nvPr/>
        </p:nvSpPr>
        <p:spPr>
          <a:xfrm>
            <a:off x="6324600" y="304800"/>
            <a:ext cx="1066800" cy="12954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39" name="Google Shape;439;p38"/>
          <p:cNvSpPr txBox="1"/>
          <p:nvPr/>
        </p:nvSpPr>
        <p:spPr>
          <a:xfrm>
            <a:off x="1295400" y="4038600"/>
            <a:ext cx="64770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n , k =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 i, k &gt;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if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B[i, k] ≠ B[i-1, k]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 the i</a:t>
            </a:r>
            <a:r>
              <a:rPr b="0" baseline="3000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item as in the knapsack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 = i-1, k = k-w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i-1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" name="Google Shape;440;p38"/>
          <p:cNvCxnSpPr/>
          <p:nvPr/>
        </p:nvCxnSpPr>
        <p:spPr>
          <a:xfrm rot="-5400000">
            <a:off x="5068093" y="2932906"/>
            <a:ext cx="381000" cy="1587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441" name="Google Shape;441;p38"/>
          <p:cNvSpPr txBox="1"/>
          <p:nvPr/>
        </p:nvSpPr>
        <p:spPr>
          <a:xfrm>
            <a:off x="7696200" y="0"/>
            <a:ext cx="1447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0" i="0" lang="en-US" sz="2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8"/>
          <p:cNvSpPr/>
          <p:nvPr/>
        </p:nvSpPr>
        <p:spPr>
          <a:xfrm>
            <a:off x="5334000" y="2667000"/>
            <a:ext cx="381000" cy="685800"/>
          </a:xfrm>
          <a:prstGeom prst="ellipse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9"/>
          <p:cNvSpPr txBox="1"/>
          <p:nvPr>
            <p:ph type="title"/>
          </p:nvPr>
        </p:nvSpPr>
        <p:spPr>
          <a:xfrm>
            <a:off x="914400" y="0"/>
            <a:ext cx="5410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Algorithm</a:t>
            </a:r>
            <a:b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the Items</a:t>
            </a:r>
            <a:endParaRPr/>
          </a:p>
        </p:txBody>
      </p:sp>
      <p:sp>
        <p:nvSpPr>
          <p:cNvPr id="448" name="Google Shape;448;p39"/>
          <p:cNvSpPr txBox="1"/>
          <p:nvPr/>
        </p:nvSpPr>
        <p:spPr>
          <a:xfrm>
            <a:off x="63246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9"/>
          <p:cNvSpPr txBox="1"/>
          <p:nvPr/>
        </p:nvSpPr>
        <p:spPr>
          <a:xfrm>
            <a:off x="6248400" y="1905000"/>
            <a:ext cx="1403350" cy="224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B[i,k] =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B[i-1,k]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–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0" name="Google Shape;450;p39"/>
          <p:cNvGraphicFramePr/>
          <p:nvPr/>
        </p:nvGraphicFramePr>
        <p:xfrm>
          <a:off x="10668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1" name="Google Shape;451;p39"/>
          <p:cNvSpPr txBox="1"/>
          <p:nvPr/>
        </p:nvSpPr>
        <p:spPr>
          <a:xfrm>
            <a:off x="6324600" y="304800"/>
            <a:ext cx="1066800" cy="12954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52" name="Google Shape;452;p39"/>
          <p:cNvSpPr txBox="1"/>
          <p:nvPr/>
        </p:nvSpPr>
        <p:spPr>
          <a:xfrm>
            <a:off x="1295400" y="4038600"/>
            <a:ext cx="64770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n , k =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 i, k &gt;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if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B[i, k] ≠ B[i-1, k]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 the i</a:t>
            </a:r>
            <a:r>
              <a:rPr b="0" baseline="3000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item as in the knapsack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 = i-1, k = k-w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i-1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p39"/>
          <p:cNvCxnSpPr/>
          <p:nvPr/>
        </p:nvCxnSpPr>
        <p:spPr>
          <a:xfrm rot="10800000">
            <a:off x="3657600" y="2514600"/>
            <a:ext cx="1600200" cy="304800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454" name="Google Shape;454;p39"/>
          <p:cNvSpPr txBox="1"/>
          <p:nvPr/>
        </p:nvSpPr>
        <p:spPr>
          <a:xfrm>
            <a:off x="7696200" y="0"/>
            <a:ext cx="1447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0" i="0" lang="en-US" sz="2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Knapsack: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9"/>
          <p:cNvSpPr/>
          <p:nvPr/>
        </p:nvSpPr>
        <p:spPr>
          <a:xfrm>
            <a:off x="5334000" y="2362200"/>
            <a:ext cx="381000" cy="685800"/>
          </a:xfrm>
          <a:prstGeom prst="ellipse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56" name="Google Shape;456;p39"/>
          <p:cNvSpPr txBox="1"/>
          <p:nvPr/>
        </p:nvSpPr>
        <p:spPr>
          <a:xfrm>
            <a:off x="7620000" y="3048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Times New Roman"/>
              <a:buNone/>
            </a:pPr>
            <a:r>
              <a:rPr b="1" i="1" lang="en-US" sz="27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0"/>
          <p:cNvSpPr txBox="1"/>
          <p:nvPr>
            <p:ph type="title"/>
          </p:nvPr>
        </p:nvSpPr>
        <p:spPr>
          <a:xfrm>
            <a:off x="914400" y="0"/>
            <a:ext cx="5410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Algorithm</a:t>
            </a:r>
            <a:b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the Items</a:t>
            </a:r>
            <a:endParaRPr/>
          </a:p>
        </p:txBody>
      </p:sp>
      <p:sp>
        <p:nvSpPr>
          <p:cNvPr id="462" name="Google Shape;462;p40"/>
          <p:cNvSpPr txBox="1"/>
          <p:nvPr/>
        </p:nvSpPr>
        <p:spPr>
          <a:xfrm>
            <a:off x="63246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0"/>
          <p:cNvSpPr txBox="1"/>
          <p:nvPr/>
        </p:nvSpPr>
        <p:spPr>
          <a:xfrm>
            <a:off x="6248400" y="1905000"/>
            <a:ext cx="1403350" cy="224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B[i,k]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B[i-1,k]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–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64" name="Google Shape;464;p40"/>
          <p:cNvGraphicFramePr/>
          <p:nvPr/>
        </p:nvGraphicFramePr>
        <p:xfrm>
          <a:off x="10668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5" name="Google Shape;465;p40"/>
          <p:cNvSpPr txBox="1"/>
          <p:nvPr/>
        </p:nvSpPr>
        <p:spPr>
          <a:xfrm>
            <a:off x="6324600" y="304800"/>
            <a:ext cx="1066800" cy="12954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66" name="Google Shape;466;p40"/>
          <p:cNvSpPr txBox="1"/>
          <p:nvPr/>
        </p:nvSpPr>
        <p:spPr>
          <a:xfrm>
            <a:off x="1295400" y="4038600"/>
            <a:ext cx="64770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n , k =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 i, k &gt;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if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B[i, k] ≠ B[i-1, k]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 the i</a:t>
            </a:r>
            <a:r>
              <a:rPr b="0" baseline="3000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item as in the knapsack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 = i-1, k = k-w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i-1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p40"/>
          <p:cNvCxnSpPr/>
          <p:nvPr/>
        </p:nvCxnSpPr>
        <p:spPr>
          <a:xfrm rot="10800000">
            <a:off x="2209800" y="2209800"/>
            <a:ext cx="989012" cy="382587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468" name="Google Shape;468;p40"/>
          <p:cNvSpPr txBox="1"/>
          <p:nvPr/>
        </p:nvSpPr>
        <p:spPr>
          <a:xfrm>
            <a:off x="7696200" y="0"/>
            <a:ext cx="1447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0" i="0" lang="en-US" sz="2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Knapsack: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0"/>
          <p:cNvSpPr/>
          <p:nvPr/>
        </p:nvSpPr>
        <p:spPr>
          <a:xfrm>
            <a:off x="3276600" y="1981200"/>
            <a:ext cx="381000" cy="685800"/>
          </a:xfrm>
          <a:prstGeom prst="ellipse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70" name="Google Shape;470;p40"/>
          <p:cNvSpPr txBox="1"/>
          <p:nvPr/>
        </p:nvSpPr>
        <p:spPr>
          <a:xfrm>
            <a:off x="7620000" y="6858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Times New Roman"/>
              <a:buNone/>
            </a:pPr>
            <a:r>
              <a:rPr b="1" i="1" lang="en-US" sz="27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0"/>
          <p:cNvSpPr txBox="1"/>
          <p:nvPr/>
        </p:nvSpPr>
        <p:spPr>
          <a:xfrm>
            <a:off x="7620000" y="3048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Times New Roman"/>
              <a:buNone/>
            </a:pPr>
            <a:r>
              <a:rPr b="1" i="1" lang="en-US" sz="27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1"/>
          <p:cNvSpPr txBox="1"/>
          <p:nvPr>
            <p:ph type="title"/>
          </p:nvPr>
        </p:nvSpPr>
        <p:spPr>
          <a:xfrm>
            <a:off x="914400" y="0"/>
            <a:ext cx="5410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Algorithm</a:t>
            </a:r>
            <a:b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the Items</a:t>
            </a:r>
            <a:endParaRPr/>
          </a:p>
        </p:txBody>
      </p:sp>
      <p:sp>
        <p:nvSpPr>
          <p:cNvPr id="477" name="Google Shape;477;p41"/>
          <p:cNvSpPr txBox="1"/>
          <p:nvPr/>
        </p:nvSpPr>
        <p:spPr>
          <a:xfrm>
            <a:off x="6324600" y="0"/>
            <a:ext cx="106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(3,4)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(4,5)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0" marL="3651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(5,6)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1"/>
          <p:cNvSpPr txBox="1"/>
          <p:nvPr/>
        </p:nvSpPr>
        <p:spPr>
          <a:xfrm>
            <a:off x="6248400" y="1905000"/>
            <a:ext cx="1403350" cy="224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B[i,k]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B[i-1,k]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– 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9" name="Google Shape;479;p41"/>
          <p:cNvGraphicFramePr/>
          <p:nvPr/>
        </p:nvGraphicFramePr>
        <p:xfrm>
          <a:off x="10668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{5F6BECA2-1E8F-4D94-9FCD-55602041E4EF}</a:tableStyleId>
              </a:tblPr>
              <a:tblGrid>
                <a:gridCol w="649275"/>
                <a:gridCol w="690550"/>
                <a:gridCol w="690550"/>
                <a:gridCol w="690550"/>
                <a:gridCol w="690550"/>
                <a:gridCol w="692150"/>
                <a:gridCol w="6969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/ w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0" name="Google Shape;480;p41"/>
          <p:cNvSpPr txBox="1"/>
          <p:nvPr/>
        </p:nvSpPr>
        <p:spPr>
          <a:xfrm>
            <a:off x="6324600" y="304800"/>
            <a:ext cx="1066800" cy="1295400"/>
          </a:xfrm>
          <a:prstGeom prst="rect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81" name="Google Shape;481;p41"/>
          <p:cNvSpPr txBox="1"/>
          <p:nvPr/>
        </p:nvSpPr>
        <p:spPr>
          <a:xfrm>
            <a:off x="1295400" y="4038600"/>
            <a:ext cx="64770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= 0, so we’re DONE!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t/>
            </a:r>
            <a:endParaRPr b="1" i="1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optimal knapsack should contain: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Item 1 and Item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" name="Google Shape;482;p41"/>
          <p:cNvCxnSpPr/>
          <p:nvPr/>
        </p:nvCxnSpPr>
        <p:spPr>
          <a:xfrm rot="10800000">
            <a:off x="2209800" y="2209800"/>
            <a:ext cx="989012" cy="382587"/>
          </a:xfrm>
          <a:prstGeom prst="straightConnector1">
            <a:avLst/>
          </a:prstGeom>
          <a:noFill/>
          <a:ln cap="flat" cmpd="sng" w="28575">
            <a:solidFill>
              <a:srgbClr val="0070C0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483" name="Google Shape;483;p41"/>
          <p:cNvSpPr txBox="1"/>
          <p:nvPr/>
        </p:nvSpPr>
        <p:spPr>
          <a:xfrm>
            <a:off x="7696200" y="0"/>
            <a:ext cx="1447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0" i="0" lang="en-US" sz="2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Knapsack: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1"/>
          <p:cNvSpPr/>
          <p:nvPr/>
        </p:nvSpPr>
        <p:spPr>
          <a:xfrm>
            <a:off x="3276600" y="1981200"/>
            <a:ext cx="381000" cy="685800"/>
          </a:xfrm>
          <a:prstGeom prst="ellipse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85" name="Google Shape;485;p41"/>
          <p:cNvSpPr txBox="1"/>
          <p:nvPr/>
        </p:nvSpPr>
        <p:spPr>
          <a:xfrm>
            <a:off x="7620000" y="6858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Times New Roman"/>
              <a:buNone/>
            </a:pPr>
            <a:r>
              <a:rPr b="1" i="1" lang="en-US" sz="27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41"/>
          <p:cNvSpPr txBox="1"/>
          <p:nvPr/>
        </p:nvSpPr>
        <p:spPr>
          <a:xfrm>
            <a:off x="7620000" y="3048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Times New Roman"/>
              <a:buNone/>
            </a:pPr>
            <a:r>
              <a:rPr b="1" i="1" lang="en-US" sz="27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2"/>
          <p:cNvSpPr txBox="1"/>
          <p:nvPr>
            <p:ph type="title"/>
          </p:nvPr>
        </p:nvSpPr>
        <p:spPr>
          <a:xfrm>
            <a:off x="1371600" y="0"/>
            <a:ext cx="749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Knapsack 0-1 Problem – Run Time</a:t>
            </a:r>
            <a:endParaRPr/>
          </a:p>
        </p:txBody>
      </p:sp>
      <p:sp>
        <p:nvSpPr>
          <p:cNvPr id="492" name="Google Shape;492;p42"/>
          <p:cNvSpPr txBox="1"/>
          <p:nvPr>
            <p:ph idx="1" type="body"/>
          </p:nvPr>
        </p:nvSpPr>
        <p:spPr>
          <a:xfrm>
            <a:off x="914400" y="1066800"/>
            <a:ext cx="8077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w = 0 to W</a:t>
            </a:r>
            <a:endParaRPr/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B[0,w] = 0</a:t>
            </a:r>
            <a:endParaRPr/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i = 1 to n</a:t>
            </a:r>
            <a:endParaRPr/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B[i,0] = 0</a:t>
            </a:r>
            <a:endParaRPr/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i = 1 to n</a:t>
            </a:r>
            <a:endParaRPr/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for w = 0 to W</a:t>
            </a:r>
            <a:endParaRPr/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&lt; the rest of the code &gt;</a:t>
            </a:r>
            <a:endParaRPr/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running time of this algorithm?</a:t>
            </a:r>
            <a:endParaRPr/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</a:t>
            </a:r>
            <a:r>
              <a:rPr b="1" i="1" lang="en-US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n*W</a:t>
            </a:r>
            <a:r>
              <a:rPr b="1" i="0" lang="en-US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that the brute-force algorithm takes: 	</a:t>
            </a:r>
            <a:r>
              <a:rPr b="1" i="0" lang="en-US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O(2</a:t>
            </a:r>
            <a:r>
              <a:rPr b="1" baseline="30000" i="0" lang="en-US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0" lang="en-US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i="0" sz="19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Brute-force search</a:t>
            </a:r>
            <a:r>
              <a:rPr b="0" i="0" lang="en-US" sz="1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or </a:t>
            </a:r>
            <a:r>
              <a:rPr b="1" i="0" lang="en-US" sz="1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exhaustive search</a:t>
            </a:r>
            <a:r>
              <a:rPr b="0" i="0" lang="en-US" sz="1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also known as </a:t>
            </a:r>
            <a:r>
              <a:rPr b="1" i="0" lang="en-US" sz="1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and test</a:t>
            </a:r>
            <a:r>
              <a:rPr b="0" i="0" lang="en-US" sz="1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is a very general </a:t>
            </a:r>
            <a:r>
              <a:rPr b="0" i="0" lang="en-US" sz="1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problem solving</a:t>
            </a:r>
            <a:r>
              <a:rPr b="0" i="0" lang="en-US" sz="1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is a very general problem solving technique and </a:t>
            </a:r>
            <a:r>
              <a:rPr b="0" i="0" lang="en-US" sz="1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algorithmic paradigm</a:t>
            </a:r>
            <a:r>
              <a:rPr b="0" i="0" lang="en-US" sz="17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that consists of systematically enumerating all possible candidates for the solution and checking whether each candidate satisfies the problem's statement</a:t>
            </a:r>
            <a:r>
              <a:rPr b="0" i="0" lang="en-US" sz="19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493" name="Google Shape;493;p42"/>
          <p:cNvSpPr txBox="1"/>
          <p:nvPr/>
        </p:nvSpPr>
        <p:spPr>
          <a:xfrm>
            <a:off x="3733800" y="1219200"/>
            <a:ext cx="10223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</a:t>
            </a: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2"/>
          <p:cNvSpPr txBox="1"/>
          <p:nvPr/>
        </p:nvSpPr>
        <p:spPr>
          <a:xfrm>
            <a:off x="4419600" y="3124200"/>
            <a:ext cx="10223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</a:t>
            </a: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2"/>
          <p:cNvSpPr txBox="1"/>
          <p:nvPr/>
        </p:nvSpPr>
        <p:spPr>
          <a:xfrm>
            <a:off x="3581400" y="2667000"/>
            <a:ext cx="24590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</a:t>
            </a: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2"/>
          <p:cNvSpPr txBox="1"/>
          <p:nvPr/>
        </p:nvSpPr>
        <p:spPr>
          <a:xfrm>
            <a:off x="3810000" y="1981200"/>
            <a:ext cx="9048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</a:t>
            </a: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3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problem having weights and profits are: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Weights: {3, 4, 6, 5}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Profits: {2, 3, 1, 4}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weight of the knapsack is 8 kg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items is 4</a:t>
            </a:r>
            <a:endParaRPr/>
          </a:p>
          <a:p>
            <a:pPr indent="-3810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3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8"/>
          <p:cNvSpPr txBox="1"/>
          <p:nvPr>
            <p:ph type="title"/>
          </p:nvPr>
        </p:nvSpPr>
        <p:spPr>
          <a:xfrm>
            <a:off x="1143000" y="152400"/>
            <a:ext cx="8001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Largest/Longest Common Subsequence (LCS)</a:t>
            </a:r>
            <a:b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				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(Ref. Parag Dave, page no-285)</a:t>
            </a:r>
            <a:endParaRPr/>
          </a:p>
        </p:txBody>
      </p:sp>
      <p:sp>
        <p:nvSpPr>
          <p:cNvPr id="509" name="Google Shape;509;p48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48"/>
          <p:cNvSpPr txBox="1"/>
          <p:nvPr/>
        </p:nvSpPr>
        <p:spPr>
          <a:xfrm>
            <a:off x="381000" y="1143000"/>
            <a:ext cx="8458200" cy="4246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subsequence is a sequence that appears in the same relative order, but not necessarily contiguous. For example, “abc”, “abg”, “bdf”, “aeg”, ‘”acefg”, .. etc are subsequences of “abcdefg”.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two sequences X = &lt;x1,x2,…xm&gt; and Y = &lt;y1,y2,…yn&gt; , Find the longest sub-sequence Z = &lt;z1,….zk&gt; that is common to X and 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X = &lt; A,B,C,B,D,A,B&gt; and Y = &lt;B,D,C,A,B,A&gt;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some common sub-sequences are: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{A}  {B}  {C}  {D} {A,A} {B,B} {B,C,A} {B,C,A} {B,C,B,A } {B,D,A,B}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which </a:t>
            </a: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{B,C,B,A } {B,D,A,B}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the </a:t>
            </a: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Longest Common sub-sequences.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1" name="Google Shape;51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600" y="5257800"/>
            <a:ext cx="5122862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8"/>
          <p:cNvSpPr txBox="1"/>
          <p:nvPr/>
        </p:nvSpPr>
        <p:spPr>
          <a:xfrm>
            <a:off x="304800" y="5638800"/>
            <a:ext cx="38862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C[i, j]= length of LCS for X[i] and Y[j]   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9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587" y="755650"/>
            <a:ext cx="6780212" cy="53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0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50"/>
          <p:cNvSpPr txBox="1"/>
          <p:nvPr/>
        </p:nvSpPr>
        <p:spPr>
          <a:xfrm>
            <a:off x="685800" y="685800"/>
            <a:ext cx="6858000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PRINT-LCS (b, x, i, j)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1. if i=0 or j=0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2. then return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3. if b [i,j] = ' ↖ 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4. then PRINT-LCS (b,x,i-1,j-1)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5. print x_i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6. else if b [i,j] = '  ↑  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7. then PRINT-LCS (b,X,i-1,j)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8. else PRINT-LCS (b,X,i,j-1)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1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CS" id="530" name="Google Shape;53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2895600"/>
            <a:ext cx="718185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51"/>
          <p:cNvSpPr txBox="1"/>
          <p:nvPr/>
        </p:nvSpPr>
        <p:spPr>
          <a:xfrm>
            <a:off x="1143000" y="1295400"/>
            <a:ext cx="71628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two strings are  </a:t>
            </a:r>
            <a:r>
              <a:rPr b="1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BACDB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and </a:t>
            </a:r>
            <a:r>
              <a:rPr b="1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BDCB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longest common subsequence.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51"/>
          <p:cNvSpPr txBox="1"/>
          <p:nvPr/>
        </p:nvSpPr>
        <p:spPr>
          <a:xfrm>
            <a:off x="1752600" y="381000"/>
            <a:ext cx="59436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Largest/Longest Common Subsequence (LCS)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2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52"/>
          <p:cNvSpPr txBox="1"/>
          <p:nvPr/>
        </p:nvSpPr>
        <p:spPr>
          <a:xfrm>
            <a:off x="2209800" y="228600"/>
            <a:ext cx="5048250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Travelling Salesman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(Ref. Horowithz Sahni , page no-319)</a:t>
            </a:r>
            <a:endParaRPr b="0" i="0" sz="14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52"/>
          <p:cNvSpPr txBox="1"/>
          <p:nvPr/>
        </p:nvSpPr>
        <p:spPr>
          <a:xfrm>
            <a:off x="838200" y="1295400"/>
            <a:ext cx="7696200" cy="2586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traveling salesman problem, a map of cities is given to the salesman and he has to visit all the cities only once and return to his starting point to complete the tour in such a way that the length of the tour is the shortest among all possible tours for this map.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Clearly starting from a given city, the salesman will have a total of (n-1)! Different sequences: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 n = 2, A and B, there is no choice.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 n = 3, i.e. he wants to visit three cities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inclusive of the starting point, he has 2! Possible routes and so 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3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 txBox="1"/>
          <p:nvPr/>
        </p:nvSpPr>
        <p:spPr>
          <a:xfrm>
            <a:off x="1676400" y="228600"/>
            <a:ext cx="6324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Travelling Salesman Problem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(Ref. Horowithz Sahni , page no-319)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381000" y="1066800"/>
            <a:ext cx="8763000" cy="5694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Dynamic Programming proceeds as follows:-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Step-1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Consider the given travelling salesman problem in which he wants to find that route which has shortest 	distance.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Step-2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Consider set of 0element, such that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g(2, Φ ) = c21	 g(3, Φ ) = c31 	g(4, Φ ) = c41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Step-3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After completion of step-2, consider sets of 1 elements, such that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Set {2}: 		g(3,{2}) = c32 + g(2, Φ ) = c32 + c21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g(4,{2}) = c42 + g(2, Φ ) = c42 + c21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Set {3}:		g(2,{3}) = c23 + g(3, Φ ) = c23 + c31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g(4,{3}) = c43 + g(3, Φ) = c43 + c31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Set {4}: 		g(2,{4}) = c24 + g(4, Φ ) = c24 + c41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g(3,{4}) = c34 + g(4, Φ ) = c34 + c41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Step-4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After completion of step-3, consider sets of 2 elements, such that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Set {2,3}: 	g(4,{2,3}) = min {c42 + g(2,{3}), c43 + g(3,{2})}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Set {2,4}:	g(3,{2,4}) = min {c32 + g(2,{4}), c34 + g(4,{2})}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Set {3,4}: 	g(2,{3,4}) = min {c23 + g(3,{4}), c24 + g(4,{3})}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Step-5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After completion of step-4, Find the length of an optimal tour: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f = g(1,{2,3,4}) = min { c12 + g(2,{3,4}), c13 + g(3,{2,4}), c14 + g(4,{2,3})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Step-6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After completion of step-5, Find the Optimal TSP tour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4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54"/>
          <p:cNvSpPr txBox="1"/>
          <p:nvPr/>
        </p:nvSpPr>
        <p:spPr>
          <a:xfrm>
            <a:off x="838200" y="762000"/>
            <a:ext cx="8686800" cy="6340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Solve the TSP problem for given Distance matrix.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g(2, Φ ) = c21 = 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g(3, Φ ) = c31 = 15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g(4, Φ ) = c41 = 6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= 1, consider sets of 1 element: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{2}:	g(3,{2}) = c32 + g(2, Φ ) = c32 + c21 = 7 + 1 = 8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g(4,{2}) = c42 + g(2, Φ ) = c42 + c21 = 3 + 1 = 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{3}: 	g(2,{3}) = c23 + g(3, Φ ) = c23 + c31 = 6 + 15 = 21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g(4,{3}) = c43 + g(3, Φ) = c43 + c31 = 12 + 15 = 27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{4}:	g(2,{4}) = c24 + g(4, Φ ) = c24 + c41 = 4 + 6 = 10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g(3,{4}) = c34 + g(4, Φ ) = c34 + c41 = 8 + 6 = 14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= 2, consider sets of 2 elements: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{2,3}: g(4,{2,3}) = min {c42 + g(2,{3}), c43 + g(3,{2})} = min {3+21, 12+8}= min {24, 20}= 20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{2,4}: g(3,{2,4}) = min {c32 + g(2,{4}), c34 + g(4,{2})} = min {7+10, 8+4}= min {17, 12} = 12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{3,4}: g(2,{3,4}) = min {c23 + g(3,{4}), c24 + g(4,{3})} = min {6+14, 4+27}= min {20, 31}= 20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Length of an optimal tour: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 = g(1,{2,3,4}) = min { c12 + g(2,{3,4}), c13 + g(3,{2,4}), c14 + g(4,{2,3}) 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 = min {2 + 20, 9 + 12, 10 + 20}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      = min {22, 21, 30} = 21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Successor of node 1: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c13 + 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g(3,{2,4})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3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Successor of node 3: = c34 + g(4,{2})}  =4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Successor of node 4: g(4,{2}) =2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Successor of node 2:  back to staring node 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Optimal TSP tour: 1 →3 → 4 →2→1    with minimum cost=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54"/>
          <p:cNvSpPr txBox="1"/>
          <p:nvPr/>
        </p:nvSpPr>
        <p:spPr>
          <a:xfrm>
            <a:off x="1447800" y="0"/>
            <a:ext cx="6324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Travelling Salesman Problem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(Ref. Horowithz Sahni , page no-319)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4" name="Google Shape;55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990600"/>
            <a:ext cx="1952625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5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Programming</a:t>
            </a:r>
            <a:endParaRPr/>
          </a:p>
        </p:txBody>
      </p:sp>
      <p:sp>
        <p:nvSpPr>
          <p:cNvPr id="561" name="Google Shape;561;p55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Arial"/>
              <a:buChar char="•"/>
            </a:pPr>
            <a:r>
              <a:rPr b="0" i="0" lang="en-US" sz="2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Dynamic Programming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an algorithm design method that can be used when the solution to a problem may be viewed as the result of a sequence of decisions</a:t>
            </a:r>
            <a:endParaRPr/>
          </a:p>
        </p:txBody>
      </p:sp>
      <p:sp>
        <p:nvSpPr>
          <p:cNvPr id="562" name="Google Shape;562;p55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7 -</a:t>
            </a:r>
            <a:fld id="{00000000-1234-1234-1234-123412341234}" type="slidenum"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6"/>
          <p:cNvSpPr txBox="1"/>
          <p:nvPr>
            <p:ph type="title"/>
          </p:nvPr>
        </p:nvSpPr>
        <p:spPr>
          <a:xfrm>
            <a:off x="838200" y="762000"/>
            <a:ext cx="7793037" cy="693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shortest path in multistage graphs</a:t>
            </a:r>
            <a:endParaRPr/>
          </a:p>
        </p:txBody>
      </p:sp>
      <p:sp>
        <p:nvSpPr>
          <p:cNvPr id="569" name="Google Shape;569;p56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endParaRPr/>
          </a:p>
          <a:p>
            <a:pPr indent="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0" i="0" lang="en-US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greedy method can not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 applied to this case:  (S, A, D, T)    1+4+18 = 23.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real shortest path is: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(S, C, F, T)    5+2+2 = 9. </a:t>
            </a:r>
            <a:endParaRPr/>
          </a:p>
        </p:txBody>
      </p:sp>
      <p:sp>
        <p:nvSpPr>
          <p:cNvPr id="570" name="Google Shape;570;p56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7 -</a:t>
            </a:r>
            <a:fld id="{00000000-1234-1234-1234-123412341234}" type="slidenum"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71" name="Google Shape;571;p56"/>
          <p:cNvGraphicFramePr/>
          <p:nvPr/>
        </p:nvGraphicFramePr>
        <p:xfrm>
          <a:off x="1828800" y="1600200"/>
          <a:ext cx="5441950" cy="2640012"/>
        </p:xfrm>
        <a:graphic>
          <a:graphicData uri="http://schemas.openxmlformats.org/presentationml/2006/ole">
            <mc:AlternateContent>
              <mc:Choice Requires="v">
                <p:oleObj r:id="rId4" imgH="2640012" imgW="5441950" progId="Visio.Drawing.6" spid="_x0000_s1">
                  <p:embed/>
                </p:oleObj>
              </mc:Choice>
              <mc:Fallback>
                <p:oleObj r:id="rId5" imgH="2640012" imgW="5441950" progId="Visio.Drawing.6">
                  <p:embed/>
                  <p:pic>
                    <p:nvPicPr>
                      <p:cNvPr id="571" name="Google Shape;571;p5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828800" y="1600200"/>
                        <a:ext cx="5441950" cy="2640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7"/>
          <p:cNvSpPr txBox="1"/>
          <p:nvPr>
            <p:ph type="title"/>
          </p:nvPr>
        </p:nvSpPr>
        <p:spPr>
          <a:xfrm>
            <a:off x="838200" y="457200"/>
            <a:ext cx="8001000" cy="693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programming approach</a:t>
            </a: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78" name="Google Shape;578;p57"/>
          <p:cNvSpPr txBox="1"/>
          <p:nvPr>
            <p:ph idx="1" type="body"/>
          </p:nvPr>
        </p:nvSpPr>
        <p:spPr>
          <a:xfrm>
            <a:off x="1876925" y="14851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programming approach (</a:t>
            </a:r>
            <a:r>
              <a:rPr b="0" i="0" lang="en-US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forward approach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 </a:t>
            </a:r>
            <a:endParaRPr/>
          </a:p>
          <a:p>
            <a:pPr indent="-190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d(S, T) = min{1+d(A, T), 2+d(B, T), 5+d(C, T)} </a:t>
            </a:r>
            <a:endParaRPr/>
          </a:p>
        </p:txBody>
      </p:sp>
      <p:sp>
        <p:nvSpPr>
          <p:cNvPr id="579" name="Google Shape;579;p57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7 -</a:t>
            </a:r>
            <a:fld id="{00000000-1234-1234-1234-123412341234}" type="slidenum"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0" name="Google Shape;580;p57"/>
          <p:cNvGraphicFramePr/>
          <p:nvPr/>
        </p:nvGraphicFramePr>
        <p:xfrm>
          <a:off x="4572000" y="2286000"/>
          <a:ext cx="4343400" cy="2032000"/>
        </p:xfrm>
        <a:graphic>
          <a:graphicData uri="http://schemas.openxmlformats.org/presentationml/2006/ole">
            <mc:AlternateContent>
              <mc:Choice Requires="v">
                <p:oleObj r:id="rId4" imgH="2032000" imgW="4343400" progId="Visio.Drawing.6" spid="_x0000_s1">
                  <p:embed/>
                </p:oleObj>
              </mc:Choice>
              <mc:Fallback>
                <p:oleObj r:id="rId5" imgH="2032000" imgW="4343400" progId="Visio.Drawing.6">
                  <p:embed/>
                  <p:pic>
                    <p:nvPicPr>
                      <p:cNvPr id="580" name="Google Shape;580;p5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572000" y="2286000"/>
                        <a:ext cx="4343400" cy="20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1" name="Google Shape;581;p57"/>
          <p:cNvGraphicFramePr/>
          <p:nvPr/>
        </p:nvGraphicFramePr>
        <p:xfrm>
          <a:off x="5638800" y="5029200"/>
          <a:ext cx="3505200" cy="1465262"/>
        </p:xfrm>
        <a:graphic>
          <a:graphicData uri="http://schemas.openxmlformats.org/presentationml/2006/ole">
            <mc:AlternateContent>
              <mc:Choice Requires="v">
                <p:oleObj r:id="rId7" imgH="1465262" imgW="3505200" progId="Visio.Drawing.6" spid="_x0000_s2">
                  <p:embed/>
                </p:oleObj>
              </mc:Choice>
              <mc:Fallback>
                <p:oleObj r:id="rId8" imgH="1465262" imgW="3505200" progId="Visio.Drawing.6">
                  <p:embed/>
                  <p:pic>
                    <p:nvPicPr>
                      <p:cNvPr id="581" name="Google Shape;581;p57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638800" y="5029200"/>
                        <a:ext cx="3505200" cy="1465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" name="Google Shape;582;p57"/>
          <p:cNvSpPr txBox="1"/>
          <p:nvPr/>
        </p:nvSpPr>
        <p:spPr>
          <a:xfrm>
            <a:off x="457200" y="5257800"/>
            <a:ext cx="5334000" cy="1370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9144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d(A,T) = min{4+d(D,T), 11+d(E,T)}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= min{4+18, 11+13} = 22.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583" name="Google Shape;583;p57"/>
          <p:cNvGraphicFramePr/>
          <p:nvPr/>
        </p:nvGraphicFramePr>
        <p:xfrm>
          <a:off x="0" y="2362200"/>
          <a:ext cx="4191000" cy="2033587"/>
        </p:xfrm>
        <a:graphic>
          <a:graphicData uri="http://schemas.openxmlformats.org/presentationml/2006/ole">
            <mc:AlternateContent>
              <mc:Choice Requires="v">
                <p:oleObj r:id="rId10" imgH="2033587" imgW="4191000" progId="Visio.Drawing.6" spid="_x0000_s3">
                  <p:embed/>
                </p:oleObj>
              </mc:Choice>
              <mc:Fallback>
                <p:oleObj r:id="rId11" imgH="2033587" imgW="4191000" progId="Visio.Drawing.6">
                  <p:embed/>
                  <p:pic>
                    <p:nvPicPr>
                      <p:cNvPr id="583" name="Google Shape;583;p57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0" y="2362200"/>
                        <a:ext cx="4191000" cy="203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8"/>
          <p:cNvSpPr txBox="1"/>
          <p:nvPr>
            <p:ph idx="1" type="body"/>
          </p:nvPr>
        </p:nvSpPr>
        <p:spPr>
          <a:xfrm>
            <a:off x="304800" y="838200"/>
            <a:ext cx="8534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d(B, T) = min{9+d(D, T), 5+d(E, T), 16+d(F, T)}</a:t>
            </a:r>
            <a:endParaRPr/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= min{9+18, 5+13, 16+2} = 18.</a:t>
            </a:r>
            <a:endParaRPr/>
          </a:p>
          <a:p>
            <a:pPr indent="-317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/>
          </a:p>
          <a:p>
            <a:pPr indent="-317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/>
          </a:p>
          <a:p>
            <a:pPr indent="-317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/>
          </a:p>
          <a:p>
            <a:pPr indent="-317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/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d(C, T) = min{ 2+d(F, T) } = 2+2 = 4</a:t>
            </a:r>
            <a:endParaRPr/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d(S, T) = min{1+d(A, T), 2+d(B, T), 5+d(C, T)}</a:t>
            </a:r>
            <a:endParaRPr/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= min{1+22, 2+18, 5+4} = 9.  </a:t>
            </a:r>
            <a:endParaRPr/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above way of reasoning is called </a:t>
            </a:r>
            <a:endParaRPr/>
          </a:p>
          <a:p>
            <a:pPr indent="-171450" lvl="0" marL="17145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2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backward reasoning</a:t>
            </a:r>
            <a:r>
              <a:rPr b="0" i="0" lang="en-US" sz="22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590" name="Google Shape;590;p58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7 -</a:t>
            </a:r>
            <a:fld id="{00000000-1234-1234-1234-123412341234}" type="slidenum"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58"/>
          <p:cNvSpPr txBox="1"/>
          <p:nvPr/>
        </p:nvSpPr>
        <p:spPr>
          <a:xfrm>
            <a:off x="3052762" y="24241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592" name="Google Shape;592;p58"/>
          <p:cNvGraphicFramePr/>
          <p:nvPr/>
        </p:nvGraphicFramePr>
        <p:xfrm>
          <a:off x="5181600" y="1676400"/>
          <a:ext cx="3962400" cy="2133600"/>
        </p:xfrm>
        <a:graphic>
          <a:graphicData uri="http://schemas.openxmlformats.org/presentationml/2006/ole">
            <mc:AlternateContent>
              <mc:Choice Requires="v">
                <p:oleObj r:id="rId4" imgH="2133600" imgW="3962400" progId="Visio.Drawing.6" spid="_x0000_s1">
                  <p:embed/>
                </p:oleObj>
              </mc:Choice>
              <mc:Fallback>
                <p:oleObj r:id="rId5" imgH="2133600" imgW="3962400" progId="Visio.Drawing.6">
                  <p:embed/>
                  <p:pic>
                    <p:nvPicPr>
                      <p:cNvPr id="592" name="Google Shape;592;p5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-2407" l="0" r="3388" t="-3610"/>
                      <a:stretch/>
                    </p:blipFill>
                    <p:spPr>
                      <a:xfrm>
                        <a:off x="5181600" y="1676400"/>
                        <a:ext cx="39624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" name="Google Shape;593;p58"/>
          <p:cNvGraphicFramePr/>
          <p:nvPr/>
        </p:nvGraphicFramePr>
        <p:xfrm>
          <a:off x="381000" y="1752600"/>
          <a:ext cx="4419600" cy="2143125"/>
        </p:xfrm>
        <a:graphic>
          <a:graphicData uri="http://schemas.openxmlformats.org/presentationml/2006/ole">
            <mc:AlternateContent>
              <mc:Choice Requires="v">
                <p:oleObj r:id="rId7" imgH="2143125" imgW="4419600" progId="Visio.Drawing.6" spid="_x0000_s2">
                  <p:embed/>
                </p:oleObj>
              </mc:Choice>
              <mc:Fallback>
                <p:oleObj r:id="rId8" imgH="2143125" imgW="4419600" progId="Visio.Drawing.6">
                  <p:embed/>
                  <p:pic>
                    <p:nvPicPr>
                      <p:cNvPr id="593" name="Google Shape;593;p58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81000" y="1752600"/>
                        <a:ext cx="4419600" cy="214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9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7 -</a:t>
            </a:r>
            <a:fld id="{00000000-1234-1234-1234-123412341234}" type="slidenum"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59"/>
          <p:cNvSpPr txBox="1"/>
          <p:nvPr/>
        </p:nvSpPr>
        <p:spPr>
          <a:xfrm>
            <a:off x="827087" y="384175"/>
            <a:ext cx="6872287" cy="6370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Algorithm Fgraph(G,k,n,p)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//input is k stage graph G=(V,E) with n vertices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//indexed in order of stages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// E set of edges, c[i][j] is cost of &lt;i,j&gt;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// p[1..k] is a minimum cost 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fcost[n] = 0.0;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j= n-1 to 1 step -1 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{ // compute fcost[j]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Let r be the vertex such that &lt;j, r&gt; is an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of G and c[j][r] + fcost[r] is minimum;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fcost[j] = c[j][r] + fcost[r];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d[j]=r 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p[1]=1; p[k] = 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j= 2 to k-1 do p[j] = d[p[j-1]];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Complexity</a:t>
            </a:r>
            <a:endParaRPr/>
          </a:p>
        </p:txBody>
      </p:sp>
      <p:sp>
        <p:nvSpPr>
          <p:cNvPr id="605" name="Google Shape;605;p60"/>
          <p:cNvSpPr txBox="1"/>
          <p:nvPr>
            <p:ph idx="1" type="body"/>
          </p:nvPr>
        </p:nvSpPr>
        <p:spPr>
          <a:xfrm>
            <a:off x="858837" y="1628775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represented using adjacency list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Vertex r can be found in time proportional to the degree of vertex j.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G has |E| edges, the total time required is Ѳ(|v| +|E|)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Additional space required for cost[],d[],p[]</a:t>
            </a:r>
            <a:endParaRPr/>
          </a:p>
        </p:txBody>
      </p:sp>
      <p:sp>
        <p:nvSpPr>
          <p:cNvPr id="606" name="Google Shape;606;p60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7 -</a:t>
            </a:r>
            <a:fld id="{00000000-1234-1234-1234-123412341234}" type="slidenum"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1"/>
          <p:cNvSpPr txBox="1"/>
          <p:nvPr>
            <p:ph type="title"/>
          </p:nvPr>
        </p:nvSpPr>
        <p:spPr>
          <a:xfrm>
            <a:off x="838200" y="762000"/>
            <a:ext cx="7793037" cy="693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Backward approach </a:t>
            </a:r>
            <a:b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(forward reasoning)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13" name="Google Shape;613;p61"/>
          <p:cNvSpPr txBox="1"/>
          <p:nvPr>
            <p:ph idx="1" type="body"/>
          </p:nvPr>
        </p:nvSpPr>
        <p:spPr>
          <a:xfrm>
            <a:off x="533400" y="1676400"/>
            <a:ext cx="79248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350" lvl="0" marL="1714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3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3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d(S, A) = 1</a:t>
            </a:r>
            <a:endParaRPr/>
          </a:p>
          <a:p>
            <a:pPr indent="-171450" lvl="0" marL="171450" marR="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d(S, B) = 2</a:t>
            </a:r>
            <a:endParaRPr/>
          </a:p>
          <a:p>
            <a:pPr indent="-171450" lvl="0" marL="171450" marR="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d(S, C) = 5</a:t>
            </a:r>
            <a:endParaRPr/>
          </a:p>
          <a:p>
            <a:pPr indent="-171450" lvl="0" marL="171450" marR="0" rtl="0" algn="just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d(S,D)=min{d(S,A)+d(A,D), d(S,B)+d(B,D)}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= min{ 1+4, 2+9 } = 5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d(S,E)=min{d(S,A)+d(A,E), d(S,B)+d(B,E)}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= min{ 1+11, 2+5 } = 7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d(S,F)=min{d(S,B)+d(B,F), d(S,C)+d(C,F)}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= min{ 2+16, 5+2 } = 7</a:t>
            </a:r>
            <a:endParaRPr/>
          </a:p>
        </p:txBody>
      </p:sp>
      <p:sp>
        <p:nvSpPr>
          <p:cNvPr id="614" name="Google Shape;614;p61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7 -</a:t>
            </a:r>
            <a:fld id="{00000000-1234-1234-1234-123412341234}" type="slidenum"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15" name="Google Shape;615;p61"/>
          <p:cNvGraphicFramePr/>
          <p:nvPr/>
        </p:nvGraphicFramePr>
        <p:xfrm>
          <a:off x="3733800" y="1524000"/>
          <a:ext cx="5181600" cy="2514600"/>
        </p:xfrm>
        <a:graphic>
          <a:graphicData uri="http://schemas.openxmlformats.org/presentationml/2006/ole">
            <mc:AlternateContent>
              <mc:Choice Requires="v">
                <p:oleObj r:id="rId4" imgH="2514600" imgW="5181600" progId="Visio.Drawing.6" spid="_x0000_s1">
                  <p:embed/>
                </p:oleObj>
              </mc:Choice>
              <mc:Fallback>
                <p:oleObj r:id="rId5" imgH="2514600" imgW="5181600" progId="Visio.Drawing.6">
                  <p:embed/>
                  <p:pic>
                    <p:nvPicPr>
                      <p:cNvPr id="615" name="Google Shape;615;p6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733800" y="1524000"/>
                        <a:ext cx="518160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2"/>
          <p:cNvSpPr txBox="1"/>
          <p:nvPr>
            <p:ph idx="1" type="body"/>
          </p:nvPr>
        </p:nvSpPr>
        <p:spPr>
          <a:xfrm>
            <a:off x="762000" y="2017712"/>
            <a:ext cx="7696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d(S,T) = min{d(S, D)+d(D, T), d(S,E)+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      d(E,T), d(S, F)+d(F, T)}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= min{ 5+18, 7+13, 7+2 } 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= 9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22" name="Google Shape;622;p62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7 -</a:t>
            </a:r>
            <a:fld id="{00000000-1234-1234-1234-123412341234}" type="slidenum"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23" name="Google Shape;623;p62"/>
          <p:cNvGraphicFramePr/>
          <p:nvPr/>
        </p:nvGraphicFramePr>
        <p:xfrm>
          <a:off x="3429000" y="3810000"/>
          <a:ext cx="5181600" cy="2514600"/>
        </p:xfrm>
        <a:graphic>
          <a:graphicData uri="http://schemas.openxmlformats.org/presentationml/2006/ole">
            <mc:AlternateContent>
              <mc:Choice Requires="v">
                <p:oleObj r:id="rId4" imgH="2514600" imgW="5181600" progId="Visio.Drawing.6" spid="_x0000_s1">
                  <p:embed/>
                </p:oleObj>
              </mc:Choice>
              <mc:Fallback>
                <p:oleObj r:id="rId5" imgH="2514600" imgW="5181600" progId="Visio.Drawing.6">
                  <p:embed/>
                  <p:pic>
                    <p:nvPicPr>
                      <p:cNvPr id="623" name="Google Shape;623;p6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429000" y="3810000"/>
                        <a:ext cx="518160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3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7 -</a:t>
            </a:r>
            <a:fld id="{00000000-1234-1234-1234-123412341234}" type="slidenum"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63"/>
          <p:cNvSpPr txBox="1"/>
          <p:nvPr/>
        </p:nvSpPr>
        <p:spPr>
          <a:xfrm>
            <a:off x="755650" y="411162"/>
            <a:ext cx="7704137" cy="6370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Algorithm Bgraph(G,k,n,p)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//input is k stage graph G=(V,E) with n vertices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//indexed in order of stages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// E set of edges, c[i][j] is cost of &lt;i,j&gt;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// p[1..k] is a minimum cost 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bcost[1] = 0.0;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j=2 to n 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{ // compute bcost[j]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Let r be the vertex such that &lt;r, j&gt; is an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of G and  bcost[r] + c[r][j] is minimum;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bcost[j] = bcost[r] + c[r][j];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d[j]=r 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p[1]=1; p[k] = 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j=  k-1 to 2 do p[j] = d[p[j+1]];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 of optimality</a:t>
            </a:r>
            <a:endParaRPr/>
          </a:p>
        </p:txBody>
      </p:sp>
      <p:sp>
        <p:nvSpPr>
          <p:cNvPr id="636" name="Google Shape;636;p64"/>
          <p:cNvSpPr txBox="1"/>
          <p:nvPr>
            <p:ph idx="1" type="body"/>
          </p:nvPr>
        </p:nvSpPr>
        <p:spPr>
          <a:xfrm>
            <a:off x="533400" y="1524000"/>
            <a:ext cx="8040687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Arial"/>
              <a:buChar char="•"/>
            </a:pPr>
            <a:r>
              <a:rPr b="0" i="0" lang="en-US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Principle</a:t>
            </a:r>
            <a:r>
              <a:rPr lang="en-US" sz="2800" u="sng">
                <a:solidFill>
                  <a:schemeClr val="hlink"/>
                </a:solidFill>
              </a:rPr>
              <a:t> </a:t>
            </a:r>
            <a:r>
              <a:rPr b="0" i="0" lang="en-US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of optimality: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Suppose that in solving a problem, we have to make a sequence of decisions D</a:t>
            </a:r>
            <a:r>
              <a:rPr b="0" baseline="-2500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</a:t>
            </a:r>
            <a:r>
              <a:rPr b="0" baseline="-2500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</a:t>
            </a:r>
            <a:r>
              <a:rPr b="0" baseline="-2500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If this sequence is optimal, then the last k decisions, 1 </a:t>
            </a:r>
            <a:r>
              <a:rPr b="0" i="0" lang="en-US" sz="2800" u="none">
                <a:solidFill>
                  <a:schemeClr val="dk1"/>
                </a:solidFill>
                <a:latin typeface="PMingLiU"/>
                <a:ea typeface="PMingLiU"/>
                <a:cs typeface="PMingLiU"/>
                <a:sym typeface="PMingLiU"/>
              </a:rPr>
              <a:t>&lt;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 </a:t>
            </a:r>
            <a:r>
              <a:rPr b="0" i="0" lang="en-US" sz="2800" u="none">
                <a:solidFill>
                  <a:schemeClr val="dk1"/>
                </a:solidFill>
                <a:latin typeface="PMingLiU"/>
                <a:ea typeface="PMingLiU"/>
                <a:cs typeface="PMingLiU"/>
                <a:sym typeface="PMingLiU"/>
              </a:rPr>
              <a:t>&lt;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 must be optimal. 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the shortest path problem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If i, i</a:t>
            </a:r>
            <a:r>
              <a:rPr b="0" baseline="-2500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j is a shortest path from i to j, then i</a:t>
            </a:r>
            <a:r>
              <a:rPr b="0" baseline="-2500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baseline="-2500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j must be a shortest path from i</a:t>
            </a:r>
            <a:r>
              <a:rPr b="0" baseline="-2500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j</a:t>
            </a:r>
            <a:endParaRPr b="0" i="0" sz="28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Arial"/>
              <a:buChar char="•"/>
            </a:pPr>
            <a:r>
              <a:rPr b="0" i="0" lang="en-US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In summary, if a problem can be described by a multistage graph, then it can be solved by dynamic programming.</a:t>
            </a:r>
            <a:endParaRPr/>
          </a:p>
        </p:txBody>
      </p:sp>
      <p:sp>
        <p:nvSpPr>
          <p:cNvPr id="637" name="Google Shape;637;p64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7 -</a:t>
            </a:r>
            <a:fld id="{00000000-1234-1234-1234-123412341234}" type="slidenum">
              <a:rPr b="0" i="0" lang="en-US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2004-04-01T18:01:25Z</dcterms:created>
  <dc:creator>David L. Matuszek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