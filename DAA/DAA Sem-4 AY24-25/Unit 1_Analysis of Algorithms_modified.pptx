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4" r:id="rId47"/>
    <p:sldId id="339" r:id="rId48"/>
    <p:sldId id="340" r:id="rId49"/>
    <p:sldId id="341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2192000" cy="6858000"/>
  <p:notesSz cx="6858000" cy="9144000"/>
  <p:embeddedFontLst>
    <p:embeddedFont>
      <p:font typeface="Arial Black" panose="020B0A04020102020204" pitchFamily="34" charset="0"/>
      <p:regular r:id="rId86"/>
      <p:bold r:id="rId87"/>
    </p:embeddedFont>
    <p:embeddedFont>
      <p:font typeface="Georgia" panose="02040502050405020303" pitchFamily="18" charset="0"/>
      <p:regular r:id="rId88"/>
      <p:bold r:id="rId89"/>
      <p:italic r:id="rId90"/>
      <p:boldItalic r:id="rId91"/>
    </p:embeddedFont>
    <p:embeddedFont>
      <p:font typeface="Lucida Sans" panose="020B0602030504020204" pitchFamily="34" charset="0"/>
      <p:regular r:id="rId92"/>
      <p:bold r:id="rId93"/>
      <p:italic r:id="rId94"/>
      <p:boldItalic r:id="rId95"/>
    </p:embeddedFont>
    <p:embeddedFont>
      <p:font typeface="Noto Sans Symbols" panose="020B0604020202020204" charset="0"/>
      <p:regular r:id="rId96"/>
      <p:bold r:id="rId97"/>
    </p:embeddedFont>
    <p:embeddedFont>
      <p:font typeface="Verdana" panose="020B0604030504040204" pitchFamily="34" charset="0"/>
      <p:regular r:id="rId98"/>
      <p:bold r:id="rId99"/>
      <p:italic r:id="rId100"/>
      <p:boldItalic r:id="rId10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hsdF6mk4+u7xkTAOEHywrUT+t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16B7C2-5E49-4586-8B93-98E4ED2C79C2}">
  <a:tblStyle styleId="{7B16B7C2-5E49-4586-8B93-98E4ED2C79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font" Target="fonts/font14.fntdata"/><Relationship Id="rId10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2.fntdata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5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8.fntdata"/><Relationship Id="rId98" Type="http://schemas.openxmlformats.org/officeDocument/2006/relationships/font" Target="fonts/font1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115" name="Google Shape;1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8853348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88533481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288533481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88533481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88533481a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288533481a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88533481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88533481a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288533481a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88533481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88533481a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288533481a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let me begin by justifying this 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course's existence. And giving you some reasons why you 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be highly motivated to learn about algorithms. </a:t>
            </a:r>
            <a:endParaRPr/>
          </a:p>
        </p:txBody>
      </p:sp>
      <p:sp>
        <p:nvSpPr>
          <p:cNvPr id="168" name="Google Shape;1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algorism</a:t>
            </a:r>
            <a:endParaRPr/>
          </a:p>
        </p:txBody>
      </p:sp>
      <p:sp>
        <p:nvSpPr>
          <p:cNvPr id="178" name="Google Shape;1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199" name="Google Shape;19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239" name="Google Shape;2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C1 and c2 not depend on input size n</a:t>
            </a:r>
            <a:endParaRPr/>
          </a:p>
        </p:txBody>
      </p:sp>
      <p:sp>
        <p:nvSpPr>
          <p:cNvPr id="266" name="Google Shape;266;p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267" name="Google Shape;26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Whatever can be measured that we want to analyze </a:t>
            </a:r>
            <a:endParaRPr/>
          </a:p>
        </p:txBody>
      </p:sp>
      <p:sp>
        <p:nvSpPr>
          <p:cNvPr id="356" name="Google Shape;356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1" name="Google Shape;40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2" name="Google Shape;4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2" name="Google Shape;46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6" name="Google Shape;57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578" name="Google Shape;57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87" name="Google Shape;58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96" name="Google Shape;59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97" name="Google Shape;597;p4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605" name="Google Shape;60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616" name="Google Shape;61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639" name="Google Shape;63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662" name="Google Shape;66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3" name="Google Shape;66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687" name="Google Shape;6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8" name="Google Shape;68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712" name="Google Shape;71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3" name="Google Shape;71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737" name="Google Shape;7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762" name="Google Shape;7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788" name="Google Shape;78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12" name="Google Shape;81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35" name="Google Shape;83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5" name="Google Shape;85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5" name="Google Shape;87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83" name="Google Shape;88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92" name="Google Shape;89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1" name="Google Shape;901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2" name="Google Shape;902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903" name="Google Shape;903;p6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12" name="Google Shape;91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54" name="Google Shape;95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98" name="Google Shape;99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40" name="Google Shape;104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84" name="Google Shape;108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26" name="Google Shape;112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70" name="Google Shape;117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10" name="Google Shape;121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50" name="Google Shape;125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90" name="Google Shape;129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01" name="Google Shape;130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9" name="Google Shape;1309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10" name="Google Shape;1310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1311" name="Google Shape;1311;p7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1319" name="Google Shape;131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0" name="Google Shape;132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1" name="Google Shape;1351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52" name="Google Shape;1352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1353" name="Google Shape;1353;p8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288533481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3288533481a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g3288533481a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288533481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288533481a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g3288533481a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2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8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8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8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4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84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" name="Google Shape;37;p8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9052984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8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8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8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8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8" name="Google Shape;68;p8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8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8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9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9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9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93" name="Google Shape;93;p9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9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0" name="Google Shape;100;p9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9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8" name="Google Shape;108;p9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9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8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8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x.org/course/algorithm-design-analysis-pennx-sd3x" TargetMode="External"/><Relationship Id="rId3" Type="http://schemas.openxmlformats.org/officeDocument/2006/relationships/hyperlink" Target="https://nptel.ac.in/courses/106106131/" TargetMode="External"/><Relationship Id="rId7" Type="http://schemas.openxmlformats.org/officeDocument/2006/relationships/hyperlink" Target="https://swayam.gov.in/nd1_noc19_cs47/pre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cw.mit.edu/courses/electrical-engineering-and-computer-science/6-046j-design-and-analysis-of-algorithms-spring-2015/lecture-videos/" TargetMode="External"/><Relationship Id="rId5" Type="http://schemas.openxmlformats.org/officeDocument/2006/relationships/hyperlink" Target="https://ocw.mit.edu/courses/electrical-engineering-and-computer-science/6-046j-design-and-analysis-of-algorithms-spring-2015/lecture-notes/" TargetMode="External"/><Relationship Id="rId4" Type="http://schemas.openxmlformats.org/officeDocument/2006/relationships/hyperlink" Target="https://nptel.ac.in/syllabus/106101060/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hyperlink" Target="https://yongdanielliang.github.io/animation/web/LinearSearchNew.html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hyperlink" Target="https://www.cs.usfca.edu/~galles/visualization/Search.html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1638300" y="51435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 AND TECHNOLOGY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172" y="431800"/>
            <a:ext cx="10193528" cy="20701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19" name="Google Shape;119;p1"/>
          <p:cNvSpPr/>
          <p:nvPr/>
        </p:nvSpPr>
        <p:spPr>
          <a:xfrm>
            <a:off x="668720" y="2886840"/>
            <a:ext cx="1108315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CSE2PM09A / AID2PM07A	</a:t>
            </a: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Analysis of Algorithm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88533481a_0_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126" name="Google Shape;126;g3288533481a_0_0"/>
          <p:cNvSpPr txBox="1">
            <a:spLocks noGrp="1"/>
          </p:cNvSpPr>
          <p:nvPr>
            <p:ph type="body" idx="1"/>
          </p:nvPr>
        </p:nvSpPr>
        <p:spPr>
          <a:xfrm>
            <a:off x="1097275" y="1845724"/>
            <a:ext cx="10058400" cy="4505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I: Introductions to Algorithms: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Algorithm: Efficiency- Analysis framework, asymptotic notations – big O, theta and omega. Analysis of Non-recursive and recursive algorithms: Solving Recurrence Equations using Masters theorem and Substitution method. Searching: Search Techniques-Sequential Search/Linear Search, Binary Search</a:t>
            </a:r>
            <a:endParaRPr sz="22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2: Divide and Conquer &amp; Greedy strategy: Divide and Conquer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introduction Principle, control abstraction, Quick Sort, Merge sort, Large Integer multiplication/ Strassen matrix multiplication, 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Basic Terminology, Graphs (Directed, Undirected), Various Representations, Traversals &amp; Applications of graph- Prim’s and Kruskal’s Algorithms, Dijsktra's Single source shortest path, Analysis complexity of algorithm, topological sorting.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Principle, control abstraction, Knapsack problem, Job sequencing with Deadlines, Huffman Encoding</a:t>
            </a:r>
            <a:endParaRPr sz="22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3: Dynamic Programming: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 Programming: Principle of optimality, 0/1 Knapsack, Largest Common Subsequence, Traveling Salesman Problem, Optimal Binary Search Tree (OBST). Symbol Table: Representation of Symbol Tables, Types of Symbol table -Static and Dynamic tree table, Height Balanced Tree- AVL tree.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27" name="Google Shape;127;g3288533481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288533481a_0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88533481a_0_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135" name="Google Shape;135;g3288533481a_0_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4: Backtracking &amp; Branch –N –Bound: 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Backtracking: Recursive backtracking algorithm, Iterative backtracking method, 8-Queen problem, Hamiltonian Cycle, 0/1 Knapsack Problem, Branch –N -Bound: Branch–N-Bound method, Control abstractions for Least Cost Search, Bounding, FIFO branch and bound, LC branch and bound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5: Complexity Theory: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Computational Complexity, NP, NP Complete, NP Hard,Hashing- Concepts-hash table, hash function, basic operations, bucket, collision, probe, synonym, overflow, open hashing, closed hashing, perfect hash function, load density, full table, load factor, rehashing, issues in hashing, hash functions- properties of good hash function, division, multiplication, extraction, mid-square, folding and universal, Collision resolution strategies- open addressing and chaining, Hash table overflow- open addressing and chaining. 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pic>
        <p:nvPicPr>
          <p:cNvPr id="136" name="Google Shape;136;g3288533481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225"/>
            <a:ext cx="14859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288533481a_0_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88533481a_0_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Text Books and Reference Books</a:t>
            </a:r>
            <a:endParaRPr/>
          </a:p>
        </p:txBody>
      </p:sp>
      <p:sp>
        <p:nvSpPr>
          <p:cNvPr id="144" name="Google Shape;144;g3288533481a_0_2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Books: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	Thomas H Cormen and Charles E.L Leiserson, "Introduction to Algorithm" Third Edition, PHI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	Horowitz, Sahni &amp; Rajasekaran, "Fundamentals of Computer Algorithms", 2ND Edition. University Press.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Books: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	Gilles Brassard and Paul Bartley, "Fundamental of Algorithms", PHI, New Delhi.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Anany Levitin, "Introduction to the Design and Analysis of Algorithms" Pearson Education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Parag Dave, Himanshu B Dave,” Design and analysis of Algorithms”,2/e Pearson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	S. Dasgupta, C. H. Papadimitriou, and U. V. Vazirani,” Algorithms”, 1 edition, McGraw-Hill Education;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Supplementary Reading: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 Jon Kleinberg, EvasTardos, “Algorithm Design”, Pearson Education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 S. Srihar , “ Design and Analysis of Algorithm”, Oxford University Press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145" name="Google Shape;145;g3288533481a_0_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6" name="Google Shape;146;g3288533481a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88533481a_0_34"/>
          <p:cNvSpPr txBox="1">
            <a:spLocks noGrp="1"/>
          </p:cNvSpPr>
          <p:nvPr>
            <p:ph type="title"/>
          </p:nvPr>
        </p:nvSpPr>
        <p:spPr>
          <a:xfrm>
            <a:off x="894505" y="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Resources</a:t>
            </a:r>
            <a:endParaRPr/>
          </a:p>
        </p:txBody>
      </p:sp>
      <p:sp>
        <p:nvSpPr>
          <p:cNvPr id="153" name="Google Shape;153;g3288533481a_0_34"/>
          <p:cNvSpPr txBox="1">
            <a:spLocks noGrp="1"/>
          </p:cNvSpPr>
          <p:nvPr>
            <p:ph type="body" idx="1"/>
          </p:nvPr>
        </p:nvSpPr>
        <p:spPr>
          <a:xfrm>
            <a:off x="1066800" y="1450802"/>
            <a:ext cx="10058400" cy="30246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Resources: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https://nptel.ac.in/courses/106106131/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https://nptel.ac.in/syllabus/106101060/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 h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ttps://ocw.mit.edu/courses/electrical-engineering-and-computer-science/6-046j-design-and-analysis-of-algorithms-spring-2015/lecture-notes/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links: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https://ocw.mit.edu/courses/electrical-engineering-and-computer-science/6-046j-design-and-analysis-of-algorithms-spring-2015/lecture-videos/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MOOCs: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https://swayam.gov.in/nd1_noc19_cs47/preview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https://www.edx.org/course/algorithm-design-analysis-pennsd3x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 https://www.coursera.org/specializations/algorithms</a:t>
            </a:r>
            <a:endParaRPr sz="1700"/>
          </a:p>
        </p:txBody>
      </p:sp>
      <p:sp>
        <p:nvSpPr>
          <p:cNvPr id="154" name="Google Shape;154;g3288533481a_0_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5" name="Google Shape;155;g3288533481a_0_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1097280" y="900545"/>
            <a:ext cx="10058400" cy="83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Unit 1: Analysis of Algorithm</a:t>
            </a:r>
            <a:endParaRPr/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337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Efficiency: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Analysis framework, asymptotic notations – big O, theta and omega.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Analysis of Non-recursive and recursive algorithms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Solving Recurrence Equations using Masters theorem and Substitution method.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Search Techniques-Sequential Search/Linear Search, Binary Search.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62" name="Google Shape;162;p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4" name="Google Shape;16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>
            <a:spLocks noGrp="1"/>
          </p:cNvSpPr>
          <p:nvPr>
            <p:ph type="title"/>
          </p:nvPr>
        </p:nvSpPr>
        <p:spPr>
          <a:xfrm>
            <a:off x="1154080" y="610829"/>
            <a:ext cx="100584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Why Study this Course?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3"/>
          <p:cNvSpPr txBox="1">
            <a:spLocks noGrp="1"/>
          </p:cNvSpPr>
          <p:nvPr>
            <p:ph type="body" idx="1"/>
          </p:nvPr>
        </p:nvSpPr>
        <p:spPr>
          <a:xfrm>
            <a:off x="1154083" y="1645411"/>
            <a:ext cx="10058400" cy="443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25000" lnSpcReduction="20000"/>
          </a:bodyPr>
          <a:lstStyle/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Donald E. Knuth stated “Computer Science is the study of algorithms”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Cornerstone of computer science. Programs will not exist without algorithms.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6400"/>
              <a:t>Algorithms are needed (most of which are novel) to solve the many problems listed here  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Computational Primitives –CG –Geometric Algorithms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Communication Network –Shortest path Algorithms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Genome Structure in Bioinformatics –Dynamic Programming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Search engines –Page Rank Algorithm by Google 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Challenging (i.e. Good for brain !!!)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Real Blend of Creativity and Precision 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Very interesting if you can concentrate on this course </a:t>
            </a:r>
            <a:endParaRPr/>
          </a:p>
          <a:p>
            <a:pPr marL="91440" lvl="0" indent="-59689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173" name="Google Shape;173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Algorithm: A brief History </a:t>
            </a:r>
            <a:endParaRPr b="1"/>
          </a:p>
        </p:txBody>
      </p:sp>
      <p:sp>
        <p:nvSpPr>
          <p:cNvPr id="181" name="Google Shape;181;p4"/>
          <p:cNvSpPr txBox="1">
            <a:spLocks noGrp="1"/>
          </p:cNvSpPr>
          <p:nvPr>
            <p:ph type="body" idx="1"/>
          </p:nvPr>
        </p:nvSpPr>
        <p:spPr>
          <a:xfrm>
            <a:off x="395786" y="1856096"/>
            <a:ext cx="7710984" cy="406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word algorithm comes from the name of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Persian author, Abu Ja’far Mohammed ibn Musa al Khowarizmi (c. 825 A.D.)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who wrote a textbook on mathematics.</a:t>
            </a:r>
            <a:endParaRPr/>
          </a:p>
          <a:p>
            <a:pPr marL="9144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book was translated into Latin in the 12th century under the title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Algoritmi de numero Indorum.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title means "Algoritmi on the numbers of the Indians", where "Algoritmi" was the translator's Latinization of Al-Khwarizmi's name.</a:t>
            </a:r>
            <a:endParaRPr/>
          </a:p>
          <a:p>
            <a:pPr marL="9144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centuries later, decimal system was adopted in Europe, and the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procedures in Al Khwarizmi’s book were named after him as “Algorithms”.</a:t>
            </a:r>
            <a:endParaRPr/>
          </a:p>
        </p:txBody>
      </p:sp>
      <p:pic>
        <p:nvPicPr>
          <p:cNvPr id="182" name="Google Shape;182;p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7686" y="2084696"/>
            <a:ext cx="291752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16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What is an Algorithm?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1"/>
          </p:nvPr>
        </p:nvSpPr>
        <p:spPr>
          <a:xfrm>
            <a:off x="955343" y="1965278"/>
            <a:ext cx="6009337" cy="3739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algorithm is a sequence of unambiguous instructions for solving a computational problem i.e., for obtaining a required output for any legitimate input in a finite amount of time.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is any well defined computational procedure that takes some value or set of values as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produces some value, or set of values as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64680" y="1447800"/>
            <a:ext cx="4191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 txBox="1">
            <a:spLocks noGrp="1"/>
          </p:cNvSpPr>
          <p:nvPr>
            <p:ph type="ftr" idx="11"/>
          </p:nvPr>
        </p:nvSpPr>
        <p:spPr>
          <a:xfrm>
            <a:off x="7238854" y="286603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REF BOOK: THOMAS CORMEN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3" name="Google Shape;193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4" name="Google Shape;19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&amp; its Properties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6"/>
          <p:cNvSpPr txBox="1">
            <a:spLocks noGrp="1"/>
          </p:cNvSpPr>
          <p:nvPr>
            <p:ph type="body" idx="1"/>
          </p:nvPr>
        </p:nvSpPr>
        <p:spPr>
          <a:xfrm>
            <a:off x="1097279" y="1856095"/>
            <a:ext cx="9943759" cy="436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74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precisely, </a:t>
            </a:r>
            <a:r>
              <a:rPr lang="en-US"/>
              <a:t>An </a:t>
            </a:r>
            <a:r>
              <a:rPr lang="en-US" i="1">
                <a:solidFill>
                  <a:srgbClr val="CC3300"/>
                </a:solidFill>
              </a:rPr>
              <a:t>algorithm</a:t>
            </a:r>
            <a:r>
              <a:rPr lang="en-US"/>
              <a:t> is a finite set of instructions that accomplishes a particular task.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Algorithm must satisfy the following properties: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Valid inputs must be clearly specified.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can be proved to produce the correct output given a valid input.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Finiteness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terminates after a finite number of steps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Definiteness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Each instruction must be clear and unambiguously specified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Effectiveness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Every instruction must be sufficiently simple and basic.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04" name="Google Shape;204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5" name="Google Shape;20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Examples of Algorithms – Computing the Greatest Common Divisor of Two Integers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7"/>
          <p:cNvSpPr txBox="1">
            <a:spLocks noGrp="1"/>
          </p:cNvSpPr>
          <p:nvPr>
            <p:ph type="body" idx="1"/>
          </p:nvPr>
        </p:nvSpPr>
        <p:spPr>
          <a:xfrm>
            <a:off x="1456899" y="1869743"/>
            <a:ext cx="8546910" cy="339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b="1"/>
              <a:t>Problem: </a:t>
            </a:r>
            <a:r>
              <a:rPr lang="en-US"/>
              <a:t>Find gcd (</a:t>
            </a:r>
            <a:r>
              <a:rPr lang="en-US" i="1"/>
              <a:t>m,n</a:t>
            </a:r>
            <a:r>
              <a:rPr lang="en-US"/>
              <a:t>), the greatest common divisor of two nonnegative, not both zero integers </a:t>
            </a:r>
            <a:r>
              <a:rPr lang="en-US" i="1"/>
              <a:t>m </a:t>
            </a:r>
            <a:r>
              <a:rPr lang="en-US"/>
              <a:t>and </a:t>
            </a:r>
            <a:r>
              <a:rPr lang="en-US" i="1"/>
              <a:t>n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//First try –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School level algorithm: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Step1: factorize m.( m 🡨 m1*m2*m3…)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Step2: factorize n. (n 🡨 n1*n2*…)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Step 3: Identify common factors , multiply and return.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13" name="Google Shape;213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4" name="Google Shape;21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Pseudocode of Euclid’s Algorithm</a:t>
            </a:r>
            <a:endParaRPr b="1"/>
          </a:p>
        </p:txBody>
      </p:sp>
      <p:sp>
        <p:nvSpPr>
          <p:cNvPr id="220" name="Google Shape;220;p8"/>
          <p:cNvSpPr txBox="1">
            <a:spLocks noGrp="1"/>
          </p:cNvSpPr>
          <p:nvPr>
            <p:ph type="body" idx="1"/>
          </p:nvPr>
        </p:nvSpPr>
        <p:spPr>
          <a:xfrm>
            <a:off x="859809" y="1861782"/>
            <a:ext cx="9503400" cy="47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32500" lnSpcReduction="20000"/>
          </a:bodyPr>
          <a:lstStyle/>
          <a:p>
            <a:pPr marL="91440" lvl="0" indent="-793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Algorithm : </a:t>
            </a:r>
            <a:r>
              <a:rPr lang="en-US" sz="5000" b="1" i="1">
                <a:latin typeface="Times New Roman"/>
                <a:ea typeface="Times New Roman"/>
                <a:cs typeface="Times New Roman"/>
                <a:sym typeface="Times New Roman"/>
              </a:rPr>
              <a:t>Euclid (m, n)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//Computes gcd(m, n) by Euclid’s algorithm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//Input: Two non negative, not-both-zero integers m and n 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//Output: Greatest common divisor of m and n </a:t>
            </a: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gcd(m, n) = gcd(n, m mod n)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While (m does not divide n)</a:t>
            </a: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 do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		r 🡨 n mod m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  <a:t>	n 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🡨 </a:t>
            </a:r>
            <a: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  🡨 </a:t>
            </a:r>
            <a:r>
              <a:rPr lang="en-US" sz="4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return m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Questions: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Finiteness: how do we know that Euclid’s algorithm actually comes to a stop?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Definiteness: non-ambiguity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Effectiveness: effectively computable. </a:t>
            </a:r>
            <a:endParaRPr/>
          </a:p>
          <a:p>
            <a:pPr marL="91440" lvl="0" indent="-793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5000" b="1">
                <a:latin typeface="Times New Roman"/>
                <a:ea typeface="Times New Roman"/>
                <a:cs typeface="Times New Roman"/>
                <a:sym typeface="Times New Roman"/>
              </a:rPr>
              <a:t>Which algorithm is faster, the Euclid’s or previous one? </a:t>
            </a:r>
            <a:endParaRPr/>
          </a:p>
          <a:p>
            <a:pPr marL="91440" lvl="0" indent="-50164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50164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22" name="Google Shape;222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23" name="Google Shape;22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 of Euclid’s Algorithm</a:t>
            </a:r>
            <a:endParaRPr b="1">
              <a:solidFill>
                <a:srgbClr val="7B9899"/>
              </a:solidFill>
            </a:endParaRPr>
          </a:p>
        </p:txBody>
      </p:sp>
      <p:sp>
        <p:nvSpPr>
          <p:cNvPr id="229" name="Google Shape;229;p9"/>
          <p:cNvSpPr txBox="1">
            <a:spLocks noGrp="1"/>
          </p:cNvSpPr>
          <p:nvPr>
            <p:ph type="body" idx="1"/>
          </p:nvPr>
        </p:nvSpPr>
        <p:spPr>
          <a:xfrm>
            <a:off x="1097280" y="2080644"/>
            <a:ext cx="3432175" cy="399014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/>
              <a:t>Simple Algorithm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m = 36, n = 48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m = </a:t>
            </a:r>
            <a:r>
              <a:rPr lang="en-US">
                <a:solidFill>
                  <a:srgbClr val="FF0000"/>
                </a:solidFill>
              </a:rPr>
              <a:t>2 * 2 </a:t>
            </a:r>
            <a:r>
              <a:rPr lang="en-US"/>
              <a:t>* 3 * </a:t>
            </a:r>
            <a:r>
              <a:rPr lang="en-US">
                <a:solidFill>
                  <a:srgbClr val="FF0000"/>
                </a:solidFill>
              </a:rPr>
              <a:t>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n = </a:t>
            </a:r>
            <a:r>
              <a:rPr lang="en-US">
                <a:solidFill>
                  <a:srgbClr val="FF0000"/>
                </a:solidFill>
              </a:rPr>
              <a:t>2 * 2 </a:t>
            </a:r>
            <a:r>
              <a:rPr lang="en-US"/>
              <a:t>* 2 * 2 * </a:t>
            </a:r>
            <a:r>
              <a:rPr lang="en-US">
                <a:solidFill>
                  <a:srgbClr val="FF0000"/>
                </a:solidFill>
              </a:rPr>
              <a:t>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Common factors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2, 2, 3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GCD = 12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 </a:t>
            </a:r>
            <a:r>
              <a:rPr lang="en-US" sz="3600">
                <a:solidFill>
                  <a:srgbClr val="FF0000"/>
                </a:solidFill>
              </a:rPr>
              <a:t>9 divisions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4849824" y="2126353"/>
            <a:ext cx="3429000" cy="398070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Euclid Algorithm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36 divides 48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 = 48 mod 36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 = 36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 = 12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Return 12</a:t>
            </a:r>
            <a:endParaRPr/>
          </a:p>
          <a:p>
            <a:pPr marL="273050" marR="0" lvl="0" indent="-273050" algn="l" rtl="0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r>
              <a:rPr lang="en-US" sz="3600" b="0" i="0" u="none" strike="noStrike" cap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2 divisions</a:t>
            </a:r>
            <a:endParaRPr sz="2700" b="0" i="0" u="none" strike="noStrike" cap="none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endParaRPr sz="2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8657977" y="2126353"/>
            <a:ext cx="3429000" cy="13811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Another example:</a:t>
            </a:r>
            <a:endParaRPr/>
          </a:p>
          <a:p>
            <a:pPr marL="45720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m = 434 and n = 966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endParaRPr sz="2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4" name="Google Shape;23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>
            <a:spLocks noGrp="1"/>
          </p:cNvSpPr>
          <p:nvPr>
            <p:ph type="title"/>
          </p:nvPr>
        </p:nvSpPr>
        <p:spPr>
          <a:xfrm>
            <a:off x="1335805" y="27665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Fundamentals of Algorithmic Problem Solving</a:t>
            </a:r>
            <a:endParaRPr b="1"/>
          </a:p>
        </p:txBody>
      </p:sp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Understanding the problem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Asking questions, do a few examples by hand, think about special cases, etc.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Deciding 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Exact vs. approximate problem solving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Appropriate data structure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Design an algorithm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Proving correctness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Analyzing an algorithm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 efficiency : how fast the algorithm runs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Space efficiency: how much extra memory the algorithm needs.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Coding an algorithm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0"/>
          <p:cNvSpPr txBox="1">
            <a:spLocks noGrp="1"/>
          </p:cNvSpPr>
          <p:nvPr>
            <p:ph type="ftr" idx="11"/>
          </p:nvPr>
        </p:nvSpPr>
        <p:spPr>
          <a:xfrm>
            <a:off x="9668657" y="178229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5" name="Google Shape;24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1581150" y="303370"/>
            <a:ext cx="9946800" cy="1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Design and Analysis Process</a:t>
            </a:r>
            <a:endParaRPr b="1"/>
          </a:p>
        </p:txBody>
      </p:sp>
      <p:pic>
        <p:nvPicPr>
          <p:cNvPr id="251" name="Google Shape;251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36487" y="1600201"/>
            <a:ext cx="4719026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3" name="Google Shape;25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Algorithms as a Technology</a:t>
            </a:r>
            <a:endParaRPr b="1"/>
          </a:p>
        </p:txBody>
      </p:sp>
      <p:sp>
        <p:nvSpPr>
          <p:cNvPr id="259" name="Google Shape;259;p1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Even if computers were infinitely fast and memory was plentiful and free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◦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Study of algorithms still important – still need to establish algorithm correctness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◦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Since time and space resources are infinitely fast, any </a:t>
            </a:r>
            <a:r>
              <a:rPr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correct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algorithm for solving a problem would do.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Real-world computers may be fast but not infinitely fast. 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Memory is cheap but not free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Hence Computing time is bounded resource and so need space in memory.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should use resources wisely by efficient algorithm in terms of space and time </a:t>
            </a:r>
            <a:endParaRPr/>
          </a:p>
        </p:txBody>
      </p:sp>
      <p:sp>
        <p:nvSpPr>
          <p:cNvPr id="260" name="Google Shape;260;p1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61" name="Google Shape;261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2" name="Google Shape;2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11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Efficiency</a:t>
            </a:r>
            <a:endParaRPr b="1"/>
          </a:p>
        </p:txBody>
      </p:sp>
      <p:sp>
        <p:nvSpPr>
          <p:cNvPr id="270" name="Google Shape;270;p13"/>
          <p:cNvSpPr txBox="1">
            <a:spLocks noGrp="1"/>
          </p:cNvSpPr>
          <p:nvPr>
            <p:ph type="body" idx="1"/>
          </p:nvPr>
        </p:nvSpPr>
        <p:spPr>
          <a:xfrm>
            <a:off x="390142" y="1794983"/>
            <a:ext cx="6542921" cy="44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46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 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Time and space efficiency are the goal</a:t>
            </a:r>
            <a:endParaRPr/>
          </a:p>
          <a:p>
            <a:pPr marL="91440" lvl="0" indent="-1460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Char char=" 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Algorithms often differ dramatically in their efficiency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Example: Two sorting algorithms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INSERTION-SORT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– time efficiency is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MERGE-SORT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– time efficiency is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For which problem instances would one algorithm be preferable to the other?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For example,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computer ‘A’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(10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instructions/sec) running insertion sort against a </a:t>
            </a:r>
            <a:r>
              <a:rPr lang="en-US" sz="2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computer ‘B’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(10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instructions/sec) running merge sort. Suppose that c1=2，c2=50 and n= 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086" y="1992573"/>
            <a:ext cx="4869705" cy="39169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74" name="Google Shape;27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9052984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b="1"/>
          </a:p>
        </p:txBody>
      </p:sp>
      <p:graphicFrame>
        <p:nvGraphicFramePr>
          <p:cNvPr id="280" name="Google Shape;280;p14"/>
          <p:cNvGraphicFramePr/>
          <p:nvPr/>
        </p:nvGraphicFramePr>
        <p:xfrm>
          <a:off x="3384645" y="2571750"/>
          <a:ext cx="5607425" cy="3291930"/>
        </p:xfrm>
        <a:graphic>
          <a:graphicData uri="http://schemas.openxmlformats.org/drawingml/2006/table">
            <a:tbl>
              <a:tblPr>
                <a:noFill/>
                <a:tableStyleId>{7B16B7C2-5E49-4586-8B93-98E4ED2C79C2}</a:tableStyleId>
              </a:tblPr>
              <a:tblGrid>
                <a:gridCol w="165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125"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/10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b="1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/10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b="1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8.30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47.33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556.34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1,162.67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6,393.86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1" name="Google Shape;281;p14"/>
          <p:cNvSpPr txBox="1"/>
          <p:nvPr/>
        </p:nvSpPr>
        <p:spPr>
          <a:xfrm>
            <a:off x="3578226" y="1952626"/>
            <a:ext cx="137001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 Size</a:t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5078414" y="1752600"/>
            <a:ext cx="1614487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A</a:t>
            </a:r>
            <a:b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Insertion- Sort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6945313" y="1746250"/>
            <a:ext cx="1370012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B</a:t>
            </a:r>
            <a:b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Merge- Sort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132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Methods of Specifying an Algorithm</a:t>
            </a:r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body" idx="1"/>
          </p:nvPr>
        </p:nvSpPr>
        <p:spPr>
          <a:xfrm>
            <a:off x="1097280" y="1845733"/>
            <a:ext cx="10058400" cy="461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Natural language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Ambiguous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: “Mike ate the sandwich on a bed.”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Flowchart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Graphic representations called flowcharts , only if the algorithm is small and simple.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mixture of a natural language and programming language-like structures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Precise and concise.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in this course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omits declarations of variables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indentation to show the scope of such statements as for, if, and while.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🡨 for assignment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6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115204" cy="433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Comments begin with // and continue until the end of line.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Blocks are indicated with matching braces :{ and }. A compound statement (i.e., a collection of simple statements) can be represented as as a block. The body of a procedure also forms a block. Statements are delimited by;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Assignment of values to variables is done using the assignment statement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〈variable〉≔〈expression〉;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are two Boolean values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true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In order to produce these values,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Logical operators :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Relational operators&lt;, ≤, =, ≠, ≥, and &gt;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Elements of multidimensional arrays are accessed using [ and ]. Ex  A[i,j]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SAHNI</a:t>
            </a:r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7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553553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Looping statement can be employed as follows 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 while, for , repeat-until 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7"/>
          <p:cNvSpPr txBox="1">
            <a:spLocks noGrp="1"/>
          </p:cNvSpPr>
          <p:nvPr>
            <p:ph type="body" idx="2"/>
          </p:nvPr>
        </p:nvSpPr>
        <p:spPr>
          <a:xfrm>
            <a:off x="6837527" y="1845735"/>
            <a:ext cx="4517409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10000"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A conditional statement has the following forms: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b="1"/>
              <a:t>If </a:t>
            </a:r>
            <a:r>
              <a:rPr lang="en-US"/>
              <a:t>〈condition〉 </a:t>
            </a:r>
            <a:r>
              <a:rPr lang="en-US" b="1"/>
              <a:t>then </a:t>
            </a:r>
            <a:r>
              <a:rPr lang="en-US"/>
              <a:t>〈statement〉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b="1"/>
              <a:t>If </a:t>
            </a:r>
            <a:r>
              <a:rPr lang="en-US"/>
              <a:t>〈condition〉 </a:t>
            </a:r>
            <a:r>
              <a:rPr lang="en-US" b="1"/>
              <a:t>then </a:t>
            </a:r>
            <a:r>
              <a:rPr lang="en-US"/>
              <a:t>〈statement 1〉 </a:t>
            </a:r>
            <a:r>
              <a:rPr lang="en-US" b="1"/>
              <a:t>else </a:t>
            </a:r>
            <a:r>
              <a:rPr lang="en-US"/>
              <a:t>〈statement 2〉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We also employ the following case statement: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case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{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〈condition 1〉: 〈statement 1〉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.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〈condition n〉: 〈statement n〉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</a:t>
            </a:r>
            <a:r>
              <a:rPr lang="en-US" b="1"/>
              <a:t>else</a:t>
            </a:r>
            <a:r>
              <a:rPr lang="en-US"/>
              <a:t>: 〈statement n + 1〉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78" y="2943012"/>
            <a:ext cx="5535532" cy="322142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>
            <a:spLocks noGrp="1"/>
          </p:cNvSpPr>
          <p:nvPr>
            <p:ph type="ftr" idx="11"/>
          </p:nvPr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15" name="Google Shape;3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Input and output are done using the instructions </a:t>
            </a:r>
            <a:r>
              <a:rPr lang="en-US" b="1" i="1"/>
              <a:t>read </a:t>
            </a:r>
            <a:r>
              <a:rPr lang="en-US"/>
              <a:t>and </a:t>
            </a:r>
            <a:r>
              <a:rPr lang="en-US" b="1" i="1"/>
              <a:t>write</a:t>
            </a:r>
            <a:r>
              <a:rPr lang="en-US"/>
              <a:t>. No format is used to specify the size of input or output quantities.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An algorithm consists of a heading and a body. The heading takes the form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Algorithm </a:t>
            </a:r>
            <a:r>
              <a:rPr lang="en-US"/>
              <a:t>Name (〈parameter list〉)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{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// body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}</a:t>
            </a: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 i="1"/>
              <a:t>Example</a:t>
            </a:r>
            <a:r>
              <a:rPr lang="en-US"/>
              <a:t> : Algorithm to find and return the maximum of n given numbers: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Algorithm </a:t>
            </a:r>
            <a:r>
              <a:rPr lang="en-US">
                <a:solidFill>
                  <a:srgbClr val="072B62"/>
                </a:solidFill>
              </a:rPr>
              <a:t>Max (A, n)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rgbClr val="072B62"/>
                </a:solidFill>
              </a:rPr>
              <a:t>// A is an array of size n.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{</a:t>
            </a:r>
            <a:endParaRPr>
              <a:solidFill>
                <a:srgbClr val="072B62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rgbClr val="072B62"/>
                </a:solidFill>
              </a:rPr>
              <a:t>Result ≔A[1];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For i ≔2 to n do</a:t>
            </a:r>
            <a:endParaRPr>
              <a:solidFill>
                <a:srgbClr val="072B62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If </a:t>
            </a:r>
            <a:r>
              <a:rPr lang="en-US">
                <a:solidFill>
                  <a:srgbClr val="072B62"/>
                </a:solidFill>
              </a:rPr>
              <a:t>A[i] &gt; Result </a:t>
            </a:r>
            <a:r>
              <a:rPr lang="en-US" b="1">
                <a:solidFill>
                  <a:srgbClr val="072B62"/>
                </a:solidFill>
              </a:rPr>
              <a:t>then </a:t>
            </a:r>
            <a:r>
              <a:rPr lang="en-US">
                <a:solidFill>
                  <a:srgbClr val="072B62"/>
                </a:solidFill>
              </a:rPr>
              <a:t>Result ≔A[i];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Return </a:t>
            </a:r>
            <a:r>
              <a:rPr lang="en-US">
                <a:solidFill>
                  <a:srgbClr val="072B62"/>
                </a:solidFill>
              </a:rPr>
              <a:t>Result;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}</a:t>
            </a:r>
            <a:endParaRPr>
              <a:solidFill>
                <a:srgbClr val="072B62"/>
              </a:solidFill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25" name="Google Shape;3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of Algorithms</a:t>
            </a:r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Two main issues related to algorithms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design algorithms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analyze algorithm efficiency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Analysis of Algorithms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How good is the algorithm?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time efficiency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space efficiency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Does there exist a better algorithm?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lower bounds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optimality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34" name="Google Shape;3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Common Rates of Growth</a:t>
            </a:r>
            <a:endParaRPr/>
          </a:p>
        </p:txBody>
      </p:sp>
      <p:sp>
        <p:nvSpPr>
          <p:cNvPr id="340" name="Google Shape;340;p2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Let n be the size of input to an algorithm, and k some constant. The following are common rates of growth.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Constant: Θ(k), for example Θ(1)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Linear: Θ(n)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Logarithmic: Θ(log</a:t>
            </a:r>
            <a:r>
              <a:rPr lang="en-US" sz="1800" baseline="-25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 : n Θ(n) or n log n: Θ(n log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Quadratic: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) 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Polynomial: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Exponential: Θ(k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341" name="Google Shape;341;p2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43" name="Google Shape;3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Why Analyse?</a:t>
            </a:r>
            <a:endParaRPr/>
          </a:p>
        </p:txBody>
      </p:sp>
      <p:sp>
        <p:nvSpPr>
          <p:cNvPr id="349" name="Google Shape;349;p21"/>
          <p:cNvSpPr txBox="1">
            <a:spLocks noGrp="1"/>
          </p:cNvSpPr>
          <p:nvPr>
            <p:ph type="body" idx="1"/>
          </p:nvPr>
        </p:nvSpPr>
        <p:spPr>
          <a:xfrm>
            <a:off x="1097280" y="1737359"/>
            <a:ext cx="10244010" cy="460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Practical reasons: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Resources are scarce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Greed to do more with less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Avoid performance bugs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Core Issues: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Predict performance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much time does binary search take?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Compare algorithms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quick is Quicksort?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 guarantees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Size not with standing, Red-Black tree inserts in O(log n)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Understand theoretical basis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Sorting by comparison cannot do better than (n log n)</a:t>
            </a:r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NPTEL</a:t>
            </a:r>
            <a:endParaRPr/>
          </a:p>
        </p:txBody>
      </p:sp>
      <p:sp>
        <p:nvSpPr>
          <p:cNvPr id="351" name="Google Shape;351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52" name="Google Shape;3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to analyse?</a:t>
            </a:r>
            <a:endParaRPr/>
          </a:p>
        </p:txBody>
      </p:sp>
      <p:sp>
        <p:nvSpPr>
          <p:cNvPr id="359" name="Google Shape;359;p22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Core Issue: Cannot control what we cannot measure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time complexity, T(n),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taken by a program P is the sum of the running times for each statement executed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Space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space complexity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of a program is the amount of memory that it needs to run to completion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2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Examples : Sum of Natural Numbers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// Sum of Natural Numbers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 sum (a, n)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 := 0 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 i := 1 to n do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 := s + a[i];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return s;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 T(n) = n (additions)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Space S(n) = 2 (n, 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 BOOK: NPTEL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9836047" y="4557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BOOK: NPTEL</a:t>
            </a:r>
            <a:endParaRPr sz="105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65" name="Google Shape;3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graphicFrame>
        <p:nvGraphicFramePr>
          <p:cNvPr id="371" name="Google Shape;371;p23"/>
          <p:cNvGraphicFramePr/>
          <p:nvPr/>
        </p:nvGraphicFramePr>
        <p:xfrm>
          <a:off x="336305" y="2031715"/>
          <a:ext cx="7508875" cy="421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508875" imgH="4211638" progId="Word.Document.8">
                  <p:embed/>
                </p:oleObj>
              </mc:Choice>
              <mc:Fallback>
                <p:oleObj r:id="rId3" imgW="7508875" imgH="4211638" progId="Word.Document.8">
                  <p:embed/>
                  <p:pic>
                    <p:nvPicPr>
                      <p:cNvPr id="371" name="Google Shape;371;p2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36305" y="2031715"/>
                        <a:ext cx="7508875" cy="421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" name="Google Shape;372;p23"/>
          <p:cNvSpPr txBox="1"/>
          <p:nvPr/>
        </p:nvSpPr>
        <p:spPr>
          <a:xfrm>
            <a:off x="952759" y="1418510"/>
            <a:ext cx="62759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Iterative function to sum a list of numbers (</a:t>
            </a:r>
            <a:r>
              <a:rPr lang="en-US" sz="1800" b="0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steps/execution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p23"/>
          <p:cNvGrpSpPr/>
          <p:nvPr/>
        </p:nvGrpSpPr>
        <p:grpSpPr>
          <a:xfrm>
            <a:off x="7844927" y="1487966"/>
            <a:ext cx="3532957" cy="2610606"/>
            <a:chOff x="2990" y="1364"/>
            <a:chExt cx="3155" cy="2400"/>
          </a:xfrm>
        </p:grpSpPr>
        <p:sp>
          <p:nvSpPr>
            <p:cNvPr id="374" name="Google Shape;374;p23"/>
            <p:cNvSpPr/>
            <p:nvPr/>
          </p:nvSpPr>
          <p:spPr>
            <a:xfrm>
              <a:off x="2990" y="1364"/>
              <a:ext cx="3155" cy="2400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dk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3344" y="1593"/>
              <a:ext cx="2653" cy="1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Model: Random Access Machine (RAM) Computing Model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data &amp; size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Operations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Intermediate Stages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 data &amp; size</a:t>
              </a:r>
              <a:endParaRPr/>
            </a:p>
          </p:txBody>
        </p:sp>
      </p:grpSp>
      <p:sp>
        <p:nvSpPr>
          <p:cNvPr id="376" name="Google Shape;376;p23"/>
          <p:cNvSpPr txBox="1">
            <a:spLocks noGrp="1"/>
          </p:cNvSpPr>
          <p:nvPr>
            <p:ph type="title"/>
          </p:nvPr>
        </p:nvSpPr>
        <p:spPr>
          <a:xfrm>
            <a:off x="2306472" y="708303"/>
            <a:ext cx="7042243" cy="5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Tabular Method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79" name="Google Shape;3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 Analysis</a:t>
            </a:r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Core Idea: Cannot compare actual times; hence compare Growth or how time increases with input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 notation (“Big Oh”)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Ω notation (Omega)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Θ notation (Theta)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 notation (Little oh)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ω notation (Little omega)</a:t>
            </a:r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88" name="Google Shape;3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ASYMPTOTICS NOTATIONS</a:t>
            </a:r>
            <a:br>
              <a:rPr lang="en-US"/>
            </a:br>
            <a:r>
              <a:rPr lang="en-US"/>
              <a:t>O-notation </a:t>
            </a:r>
            <a:r>
              <a:rPr lang="en-US" b="1"/>
              <a:t>(Big Oh)</a:t>
            </a: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Asymptotic Upper Bound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a given function g(n), we denote O(g(n)) as the set of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O(g(n)) = { f(n)| there exists positive constants c and n0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such that  0 ≤ f(n) ≤ c g(n) for all n ≥ n0 }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It is used to represent the worst case growth of an algorithm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in time or a data structure in space when they are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dependent on n, where n is big enough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4612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5" name="Google Shape;395;p25" descr="graph_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7090" y="2155571"/>
            <a:ext cx="3385393" cy="340368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97" name="Google Shape;397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98" name="Google Shape;3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/>
          </a:p>
        </p:txBody>
      </p:sp>
      <p:sp>
        <p:nvSpPr>
          <p:cNvPr id="404" name="Google Shape;404;p26"/>
          <p:cNvSpPr txBox="1">
            <a:spLocks noGrp="1"/>
          </p:cNvSpPr>
          <p:nvPr>
            <p:ph type="body" idx="1"/>
          </p:nvPr>
        </p:nvSpPr>
        <p:spPr>
          <a:xfrm>
            <a:off x="1828800" y="1828800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f(n) = n</a:t>
            </a:r>
            <a:r>
              <a:rPr lang="en-US" baseline="30000"/>
              <a:t>2</a:t>
            </a:r>
            <a:r>
              <a:rPr lang="en-US"/>
              <a:t>+ 5n = O(n2)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g(n) = n</a:t>
            </a:r>
            <a:r>
              <a:rPr lang="en-US" baseline="30000"/>
              <a:t>2   </a:t>
            </a:r>
            <a:r>
              <a:rPr lang="en-US"/>
              <a:t>……… c = 2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		n	 n</a:t>
            </a:r>
            <a:r>
              <a:rPr lang="en-US" baseline="30000"/>
              <a:t>2</a:t>
            </a:r>
            <a:r>
              <a:rPr lang="en-US"/>
              <a:t>+ 5n	 	2n</a:t>
            </a:r>
            <a:r>
              <a:rPr lang="en-US" baseline="30000"/>
              <a:t>2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baseline="300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 baseline="30000"/>
              <a:t>		</a:t>
            </a:r>
            <a:r>
              <a:rPr lang="en-US"/>
              <a:t>1</a:t>
            </a:r>
            <a:r>
              <a:rPr lang="en-US" baseline="30000"/>
              <a:t>	</a:t>
            </a:r>
            <a:r>
              <a:rPr lang="en-US"/>
              <a:t>6</a:t>
            </a:r>
            <a:r>
              <a:rPr lang="en-US" baseline="30000"/>
              <a:t>		</a:t>
            </a:r>
            <a:r>
              <a:rPr lang="en-US"/>
              <a:t>2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2	14		8	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5	50		50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f(n) &lt;= c g(n) for all n&gt; = n</a:t>
            </a:r>
            <a:r>
              <a:rPr lang="en-US" sz="2400" baseline="-25000"/>
              <a:t>0</a:t>
            </a:r>
            <a:r>
              <a:rPr lang="en-US" sz="2400"/>
              <a:t> where c=2 &amp; n</a:t>
            </a:r>
            <a:r>
              <a:rPr lang="en-US" sz="2400" baseline="-25000"/>
              <a:t>0</a:t>
            </a:r>
            <a:r>
              <a:rPr lang="en-US" sz="2400"/>
              <a:t> =5</a:t>
            </a:r>
            <a:endParaRPr/>
          </a:p>
        </p:txBody>
      </p:sp>
      <p:sp>
        <p:nvSpPr>
          <p:cNvPr id="405" name="Google Shape;405;p2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cxnSp>
        <p:nvCxnSpPr>
          <p:cNvPr id="406" name="Google Shape;406;p26"/>
          <p:cNvCxnSpPr/>
          <p:nvPr/>
        </p:nvCxnSpPr>
        <p:spPr>
          <a:xfrm>
            <a:off x="3429000" y="321945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26"/>
          <p:cNvCxnSpPr/>
          <p:nvPr/>
        </p:nvCxnSpPr>
        <p:spPr>
          <a:xfrm>
            <a:off x="5181600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409" name="Google Shape;4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/>
          </a:p>
        </p:txBody>
      </p:sp>
      <p:sp>
        <p:nvSpPr>
          <p:cNvPr id="415" name="Google Shape;415;p27"/>
          <p:cNvSpPr txBox="1">
            <a:spLocks noGrp="1"/>
          </p:cNvSpPr>
          <p:nvPr>
            <p:ph type="body" idx="1"/>
          </p:nvPr>
        </p:nvSpPr>
        <p:spPr>
          <a:xfrm>
            <a:off x="1752600" y="1828800"/>
            <a:ext cx="8534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Let f(N) = 2N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Then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(loose bound)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(loose bound)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(It is the best answer and the bound is asymptotically tight.)</a:t>
            </a:r>
            <a:endParaRPr/>
          </a:p>
          <a:p>
            <a:pPr marL="384048" lvl="1" indent="-685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): reads “order N-squared” or “Big-Oh N-squared”.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17" name="Google Shape;417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18" name="Google Shape;4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8"/>
          <p:cNvSpPr txBox="1">
            <a:spLocks noGrp="1"/>
          </p:cNvSpPr>
          <p:nvPr>
            <p:ph type="body" idx="1"/>
          </p:nvPr>
        </p:nvSpPr>
        <p:spPr>
          <a:xfrm>
            <a:off x="1252419" y="188778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Prove that if T(n) = 15n</a:t>
            </a:r>
            <a:r>
              <a:rPr lang="en-US" b="1" baseline="30000"/>
              <a:t>3</a:t>
            </a:r>
            <a:r>
              <a:rPr lang="en-US" b="1"/>
              <a:t> + n</a:t>
            </a:r>
            <a:r>
              <a:rPr lang="en-US" b="1" baseline="30000"/>
              <a:t>2</a:t>
            </a:r>
            <a:r>
              <a:rPr lang="en-US" b="1"/>
              <a:t> + 4, T(n) = O(n</a:t>
            </a:r>
            <a:r>
              <a:rPr lang="en-US" b="1" baseline="30000"/>
              <a:t>3</a:t>
            </a:r>
            <a:r>
              <a:rPr lang="en-US" b="1"/>
              <a:t>).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Proof.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Let c = 20 and n</a:t>
            </a:r>
            <a:r>
              <a:rPr lang="en-US" baseline="-25000"/>
              <a:t>0</a:t>
            </a:r>
            <a:r>
              <a:rPr lang="en-US"/>
              <a:t> = 1.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Must show that 0 ≤ f (n) and f (n) ≤ cg(n).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0≤15n</a:t>
            </a:r>
            <a:r>
              <a:rPr lang="en-US" baseline="30000"/>
              <a:t>3</a:t>
            </a:r>
            <a:r>
              <a:rPr lang="en-US"/>
              <a:t> + n</a:t>
            </a:r>
            <a:r>
              <a:rPr lang="en-US" baseline="30000"/>
              <a:t>2</a:t>
            </a:r>
            <a:r>
              <a:rPr lang="en-US"/>
              <a:t> + 4 for all n ≥ n</a:t>
            </a:r>
            <a:r>
              <a:rPr lang="en-US" baseline="-25000"/>
              <a:t>0</a:t>
            </a:r>
            <a:r>
              <a:rPr lang="en-US"/>
              <a:t> = 1.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f (n) = 15n</a:t>
            </a:r>
            <a:r>
              <a:rPr lang="en-US" baseline="30000"/>
              <a:t>3</a:t>
            </a:r>
            <a:r>
              <a:rPr lang="en-US"/>
              <a:t> + n</a:t>
            </a:r>
            <a:r>
              <a:rPr lang="en-US" baseline="30000"/>
              <a:t>2</a:t>
            </a:r>
            <a:r>
              <a:rPr lang="en-US"/>
              <a:t> + 4 ≤ 20n</a:t>
            </a:r>
            <a:r>
              <a:rPr lang="en-US" baseline="30000"/>
              <a:t>3</a:t>
            </a:r>
            <a:r>
              <a:rPr lang="en-US"/>
              <a:t> (20g(n) = cg(n))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As per defination of Big O, hence T(n) = </a:t>
            </a:r>
            <a:r>
              <a:rPr lang="en-US" b="1"/>
              <a:t>O(n</a:t>
            </a:r>
            <a:r>
              <a:rPr lang="en-US" b="1" baseline="30000"/>
              <a:t>3</a:t>
            </a:r>
            <a:r>
              <a:rPr lang="en-US" b="1"/>
              <a:t>)</a:t>
            </a:r>
            <a:endParaRPr/>
          </a:p>
        </p:txBody>
      </p:sp>
      <p:sp>
        <p:nvSpPr>
          <p:cNvPr id="425" name="Google Shape;425;p2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26" name="Google Shape;426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427" name="Google Shape;4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ASYMPTOTICS NOTATIONS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-notation</a:t>
            </a:r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Asymptotic lower bound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Ω (g(n)) represents a set of functions such that: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Ω(g(n)) = {f(n): there exist positive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constants c and n0 such that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0 ≤ c g(n) ≤ f(n) for all n≥ n0}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p29" descr="graph_Omeg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483" y="1859069"/>
            <a:ext cx="3800475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37" name="Google Shape;43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Omega - Example</a:t>
            </a:r>
            <a:endParaRPr/>
          </a:p>
        </p:txBody>
      </p:sp>
      <p:sp>
        <p:nvSpPr>
          <p:cNvPr id="443" name="Google Shape;443;p30"/>
          <p:cNvSpPr txBox="1">
            <a:spLocks noGrp="1"/>
          </p:cNvSpPr>
          <p:nvPr>
            <p:ph type="body" idx="1"/>
          </p:nvPr>
        </p:nvSpPr>
        <p:spPr>
          <a:xfrm>
            <a:off x="914400" y="1828800"/>
            <a:ext cx="5227093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Example 1 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f(n) = n</a:t>
            </a:r>
            <a:r>
              <a:rPr lang="en-US" baseline="30000"/>
              <a:t>2</a:t>
            </a:r>
            <a:r>
              <a:rPr lang="en-US"/>
              <a:t>+ 5n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g(n) = n</a:t>
            </a:r>
            <a:r>
              <a:rPr lang="en-US" baseline="30000"/>
              <a:t>2   </a:t>
            </a:r>
            <a:r>
              <a:rPr lang="en-US"/>
              <a:t>……… c = 1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		n	 n</a:t>
            </a:r>
            <a:r>
              <a:rPr lang="en-US" baseline="30000"/>
              <a:t>2</a:t>
            </a:r>
            <a:r>
              <a:rPr lang="en-US"/>
              <a:t>+ 5n	 	c*n</a:t>
            </a:r>
            <a:r>
              <a:rPr lang="en-US" baseline="30000"/>
              <a:t>2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baseline="300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 baseline="30000"/>
              <a:t>		</a:t>
            </a:r>
            <a:r>
              <a:rPr lang="en-US" baseline="30000"/>
              <a:t>1	5		1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2	14		4	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5	50		25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f(n) &gt;= c g(n) for all n&gt; = n</a:t>
            </a:r>
            <a:r>
              <a:rPr lang="en-US" sz="2400" baseline="-25000"/>
              <a:t>0</a:t>
            </a:r>
            <a:r>
              <a:rPr lang="en-US" sz="2400"/>
              <a:t> where c=1 &amp; n</a:t>
            </a:r>
            <a:r>
              <a:rPr lang="en-US" sz="2400" baseline="-25000"/>
              <a:t>0</a:t>
            </a:r>
            <a:r>
              <a:rPr lang="en-US" sz="2400"/>
              <a:t> =1</a:t>
            </a:r>
            <a:endParaRPr/>
          </a:p>
        </p:txBody>
      </p:sp>
      <p:sp>
        <p:nvSpPr>
          <p:cNvPr id="444" name="Google Shape;444;p3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cxnSp>
        <p:nvCxnSpPr>
          <p:cNvPr id="445" name="Google Shape;445;p30"/>
          <p:cNvCxnSpPr/>
          <p:nvPr/>
        </p:nvCxnSpPr>
        <p:spPr>
          <a:xfrm>
            <a:off x="3686185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30"/>
          <p:cNvCxnSpPr/>
          <p:nvPr/>
        </p:nvCxnSpPr>
        <p:spPr>
          <a:xfrm>
            <a:off x="5181600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30"/>
          <p:cNvSpPr txBox="1"/>
          <p:nvPr/>
        </p:nvSpPr>
        <p:spPr>
          <a:xfrm>
            <a:off x="6429752" y="1828800"/>
            <a:ext cx="4593836" cy="431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 1 :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Prove that if T(n) =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+ 4, T(n) = Ω</a:t>
            </a: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Proof.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Let c = 15 and n</a:t>
            </a:r>
            <a:r>
              <a:rPr lang="en-US" sz="2000" baseline="-25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1.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Must show that 0 ≤ cg(n) and cg(n) ≤ f (n).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0 ≤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all n ≥ n</a:t>
            </a:r>
            <a:r>
              <a:rPr lang="en-US" sz="2000" baseline="-25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1.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cg(n) =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≤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+ 4 = f (n)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49" name="Google Shape;4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ASYMPTOTICS NOTATIONS</a:t>
            </a:r>
            <a:br>
              <a:rPr lang="en-US"/>
            </a:br>
            <a:r>
              <a:rPr lang="en-US" b="1"/>
              <a:t>Θ</a:t>
            </a:r>
            <a:r>
              <a:rPr lang="en-US"/>
              <a:t>-notation</a:t>
            </a:r>
            <a:endParaRPr/>
          </a:p>
        </p:txBody>
      </p:sp>
      <p:sp>
        <p:nvSpPr>
          <p:cNvPr id="455" name="Google Shape;455;p3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Asymptotic tight bound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Θ (g(n)) represents a set of functions such that: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Θ (g(n)) = {f(n): there exist positive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constants c1, c2, and n0such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that 0 ≤ c1g(n) ≤ f(n) ≤ c2g(n)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for all n≥ n0 }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6" name="Google Shape;456;p31" descr="graph_the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4006" y="1737360"/>
            <a:ext cx="3790879" cy="393122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58" name="Google Shape;458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459" name="Google Shape;4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Theta Example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1"/>
          </p:nvPr>
        </p:nvSpPr>
        <p:spPr>
          <a:xfrm>
            <a:off x="1282890" y="1869742"/>
            <a:ext cx="9080310" cy="433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91440" lvl="0" indent="-1295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f(N) = Θ(g(N)) iff f(N) = O(g(N)) and f(N) = Ω(g(N))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It can be read as “f(N) has order exactly g(N)”.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growth rate of f(N) equals the growth rate of g(N). The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growth rate of f(N) is the same as the growth rate of g(N)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for large N.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Theta means the bound is the tightest possible.</a:t>
            </a: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T(N) is a polynomial of degree k, T(N) = Θ(N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logarithmic functions, T(log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= Θ(log N).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67" name="Google Shape;467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468" name="Google Shape;4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 Notations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35"/>
          <p:cNvSpPr txBox="1">
            <a:spLocks noGrp="1"/>
          </p:cNvSpPr>
          <p:nvPr>
            <p:ph type="body" idx="1"/>
          </p:nvPr>
        </p:nvSpPr>
        <p:spPr>
          <a:xfrm>
            <a:off x="1097280" y="2210834"/>
            <a:ext cx="10058400" cy="327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dirty="0"/>
              <a:t>It is a way to compare “sizes” of functions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 dirty="0"/>
              <a:t>O-notation ------------------</a:t>
            </a:r>
            <a:r>
              <a:rPr lang="en-US" dirty="0"/>
              <a:t>Less than equal to (</a:t>
            </a:r>
            <a:r>
              <a:rPr lang="en-US" b="1" i="1" dirty="0"/>
              <a:t>“</a:t>
            </a:r>
            <a:r>
              <a:rPr lang="en-US" dirty="0"/>
              <a:t>≤</a:t>
            </a:r>
            <a:r>
              <a:rPr lang="en-US" b="1" i="1" dirty="0"/>
              <a:t>”</a:t>
            </a:r>
            <a:r>
              <a:rPr lang="en-US" dirty="0"/>
              <a:t>)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dirty="0"/>
              <a:t>Θ</a:t>
            </a:r>
            <a:r>
              <a:rPr lang="en-US" b="1" dirty="0"/>
              <a:t>-notation ------------------</a:t>
            </a:r>
            <a:r>
              <a:rPr lang="en-US" dirty="0"/>
              <a:t>Equal to (“=“)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dirty="0"/>
              <a:t>Ω</a:t>
            </a:r>
            <a:r>
              <a:rPr lang="en-US" b="1" dirty="0"/>
              <a:t>-notation ------------------</a:t>
            </a:r>
            <a:r>
              <a:rPr lang="en-US" dirty="0"/>
              <a:t>Greater than equal to (</a:t>
            </a:r>
            <a:r>
              <a:rPr lang="en-US" b="1" i="1" dirty="0"/>
              <a:t>“</a:t>
            </a:r>
            <a:r>
              <a:rPr lang="en-US" dirty="0"/>
              <a:t>≥</a:t>
            </a:r>
            <a:r>
              <a:rPr lang="en-US" b="1" i="1" dirty="0"/>
              <a:t>”</a:t>
            </a:r>
            <a:r>
              <a:rPr lang="en-US" dirty="0"/>
              <a:t>) </a:t>
            </a:r>
            <a:endParaRPr dirty="0"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O ≈ ≤</a:t>
            </a:r>
            <a:endParaRPr dirty="0"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Ω ≈ ≥</a:t>
            </a:r>
            <a:endParaRPr dirty="0"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Θ ≈ =</a:t>
            </a:r>
            <a:endParaRPr lang="en-US" dirty="0"/>
          </a:p>
        </p:txBody>
      </p:sp>
      <p:sp>
        <p:nvSpPr>
          <p:cNvPr id="495" name="Google Shape;495;p3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96" name="Google Shape;496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Examples On Asymptotic Notations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Explain How is f(x) = 4n^2 – 5n + 3 is O(n^2) 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Show that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+8 is O(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100n + 5 ≠ Ω(n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Ω(n)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100n + 5 = O(n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/2 –n/2 =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CORMEN/SAHNI</a:t>
            </a:r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b="1"/>
              <a:t>Algorithm Design Techniques/Strategies</a:t>
            </a:r>
            <a:endParaRPr/>
          </a:p>
        </p:txBody>
      </p:sp>
      <p:sp>
        <p:nvSpPr>
          <p:cNvPr id="510" name="Google Shape;510;p3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Brute force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Divide and conquer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Space and time tradeoffs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Greedy approach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Dynamic programming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Backtracking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Branch and bound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12" name="Google Shape;512;p3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Methods for Solving recurrences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Substitution Method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We guess a bound and then use mathematical induction to prove our guess correct.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Master Method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3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20" name="Google Shape;520;p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title"/>
          </p:nvPr>
        </p:nvSpPr>
        <p:spPr>
          <a:xfrm>
            <a:off x="1083632" y="73244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Math You need to Review</a:t>
            </a:r>
            <a:endParaRPr/>
          </a:p>
        </p:txBody>
      </p:sp>
      <p:pic>
        <p:nvPicPr>
          <p:cNvPr id="526" name="Google Shape;526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73574" y="1796956"/>
            <a:ext cx="5310187" cy="456976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INTERNET</a:t>
            </a:r>
            <a:endParaRPr/>
          </a:p>
        </p:txBody>
      </p:sp>
      <p:sp>
        <p:nvSpPr>
          <p:cNvPr id="528" name="Google Shape;528;p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07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Substitution Method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5143" y="1851546"/>
            <a:ext cx="6313454" cy="44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4785" y="1790540"/>
            <a:ext cx="4238767" cy="456738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37" name="Google Shape;537;p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>
            <a:spLocks noGrp="1"/>
          </p:cNvSpPr>
          <p:nvPr>
            <p:ph type="title"/>
          </p:nvPr>
        </p:nvSpPr>
        <p:spPr>
          <a:xfrm>
            <a:off x="1066800" y="679151"/>
            <a:ext cx="100584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Quick Sort Recurrence Relation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3" name="Google Shape;543;p4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18682" y="1995823"/>
            <a:ext cx="6554636" cy="3734719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45" name="Google Shape;545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Binary Search  Recurrence Relation</a:t>
            </a:r>
            <a:endParaRPr/>
          </a:p>
        </p:txBody>
      </p:sp>
      <p:pic>
        <p:nvPicPr>
          <p:cNvPr id="551" name="Google Shape;551;p4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737360"/>
            <a:ext cx="7546412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53" name="Google Shape;553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Master Theorem</a:t>
            </a:r>
            <a:endParaRPr/>
          </a:p>
        </p:txBody>
      </p:sp>
      <p:sp>
        <p:nvSpPr>
          <p:cNvPr id="559" name="Google Shape;559;p43"/>
          <p:cNvSpPr txBox="1">
            <a:spLocks noGrp="1"/>
          </p:cNvSpPr>
          <p:nvPr>
            <p:ph type="body" idx="1"/>
          </p:nvPr>
        </p:nvSpPr>
        <p:spPr>
          <a:xfrm>
            <a:off x="868340" y="1737360"/>
            <a:ext cx="10287340" cy="435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Master method provides a “cookbook” method for solving recurrences of the following form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T(n) = a T(n/b) + f(n)</a:t>
            </a:r>
            <a:endParaRPr dirty="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where a ≥ 1, b &gt; 1.  If f(n) is asymptotically positive function. T(n) has following asymptotic bounds:</a:t>
            </a:r>
            <a:endParaRPr dirty="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There are 3 cases:</a:t>
            </a:r>
            <a:endParaRPr dirty="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0" name="Google Shape;56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340" y="3787396"/>
            <a:ext cx="11005211" cy="193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62" name="Google Shape;562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8273C1-7926-CC7A-FDBE-6710C4FA8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52" y="6092565"/>
            <a:ext cx="1897291" cy="18360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79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of Master Method</a:t>
            </a:r>
            <a:endParaRPr/>
          </a:p>
        </p:txBody>
      </p:sp>
      <p:sp>
        <p:nvSpPr>
          <p:cNvPr id="581" name="Google Shape;581;p45"/>
          <p:cNvSpPr txBox="1">
            <a:spLocks noGrp="1"/>
          </p:cNvSpPr>
          <p:nvPr>
            <p:ph type="body" idx="1"/>
          </p:nvPr>
        </p:nvSpPr>
        <p:spPr>
          <a:xfrm>
            <a:off x="944419" y="1299267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dirty="0"/>
              <a:t>To use the master theorem, we simply plug the numbers into the formula</a:t>
            </a:r>
            <a:endParaRPr dirty="0"/>
          </a:p>
        </p:txBody>
      </p:sp>
      <p:pic>
        <p:nvPicPr>
          <p:cNvPr id="582" name="Google Shape;582;p45"/>
          <p:cNvPicPr preferRelativeResize="0"/>
          <p:nvPr/>
        </p:nvPicPr>
        <p:blipFill rotWithShape="1">
          <a:blip r:embed="rId3">
            <a:alphaModFix/>
          </a:blip>
          <a:srcRect b="30710"/>
          <a:stretch/>
        </p:blipFill>
        <p:spPr>
          <a:xfrm>
            <a:off x="876057" y="2043122"/>
            <a:ext cx="10439886" cy="351561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84" name="Google Shape;584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32D9-79A1-6872-666A-0C2EE5E5C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Master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CCE30-2383-0E38-E9C5-8030062BA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/>
                <a:cs typeface="Times New Roman"/>
              </a:rPr>
              <a:t>Case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24589-2C24-57AC-91CC-EACC2EE4EC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6F38F-4932-05F2-555D-1C1790282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078"/>
          <a:stretch/>
        </p:blipFill>
        <p:spPr>
          <a:xfrm>
            <a:off x="3028496" y="1737360"/>
            <a:ext cx="5508050" cy="45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542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E2EB-3518-935F-8841-AB5D0ED8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9DC8-1D59-2D23-54CE-83859932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Master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9A762-B415-0A42-9513-09F6A14FA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583957"/>
          </a:xfrm>
        </p:spPr>
        <p:txBody>
          <a:bodyPr/>
          <a:lstStyle/>
          <a:p>
            <a:r>
              <a:rPr lang="en-IN" dirty="0">
                <a:latin typeface="Times New Roman"/>
                <a:cs typeface="Times New Roman"/>
              </a:rPr>
              <a:t>Case 2</a:t>
            </a:r>
          </a:p>
          <a:p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3C1C-2633-6F75-A47F-41ED28C23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2B6CF9-B48F-F1B3-1449-1378EBB9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85" y="1737360"/>
            <a:ext cx="4955475" cy="45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7671-FFDC-A147-5A57-FF3B3645E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7D5B-5DA6-F0E7-1B74-76E0A2E2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Master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3232C-2F51-04D8-8D19-757362476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/>
                <a:cs typeface="Times New Roman"/>
              </a:rPr>
              <a:t>Case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BB0C5-DD5E-F4E3-0D70-20BD38D117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F65FD-DA66-FAE9-53B3-D8F2EF91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664" y="1737360"/>
            <a:ext cx="7457063" cy="451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208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>
            <a:spLocks noGrp="1"/>
          </p:cNvSpPr>
          <p:nvPr>
            <p:ph type="title"/>
          </p:nvPr>
        </p:nvSpPr>
        <p:spPr>
          <a:xfrm>
            <a:off x="1371600" y="286600"/>
            <a:ext cx="97842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Searching</a:t>
            </a:r>
            <a:endParaRPr/>
          </a:p>
        </p:txBody>
      </p:sp>
      <p:sp>
        <p:nvSpPr>
          <p:cNvPr id="590" name="Google Shape;590;p47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 is the process of determining whether or not a given value exists in a data structure or a storage media.</a:t>
            </a:r>
            <a:endParaRPr/>
          </a:p>
          <a:p>
            <a:pPr marL="91440" lvl="0" indent="-1270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Two searching methods are: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linear (or sequential) search algorithm on an array is:</a:t>
            </a:r>
            <a:endParaRPr/>
          </a:p>
          <a:p>
            <a:pPr marL="457200" lvl="1" indent="-457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1. Sequentially scan the array, comparing each array item with the searched value.</a:t>
            </a:r>
            <a:endParaRPr/>
          </a:p>
          <a:p>
            <a:pPr marL="91440" lvl="1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2. If a match is found; return the index of the matched element; otherwise return –1.</a:t>
            </a:r>
            <a:endParaRPr/>
          </a:p>
        </p:txBody>
      </p:sp>
      <p:pic>
        <p:nvPicPr>
          <p:cNvPr id="591" name="Google Shape;59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"/>
          <p:cNvSpPr txBox="1">
            <a:spLocks noGrp="1"/>
          </p:cNvSpPr>
          <p:nvPr>
            <p:ph type="title"/>
          </p:nvPr>
        </p:nvSpPr>
        <p:spPr>
          <a:xfrm>
            <a:off x="1694180" y="367399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48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52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156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When we maintain a collection of data, one of the operations we need is a search routine to locate desired data quickly.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Here’s the problem statement: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Given a value X, return the index of X in the array, if such X exists. Otherwise, return NOT_FOUND (-1). We assume there are no duplicate entries in the array.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We will count the number of comparisons in the algorithms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- The ideal searching algorithm will make the least possible number of comparisons to locate the desired data.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– Two separate performance analyses are normally done, one for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   successful search and another for unsuccessful search.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/>
          </a:p>
        </p:txBody>
      </p:sp>
      <p:pic>
        <p:nvPicPr>
          <p:cNvPr id="601" name="Google Shape;60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>
            <a:spLocks noGrp="1"/>
          </p:cNvSpPr>
          <p:nvPr>
            <p:ph type="title"/>
          </p:nvPr>
        </p:nvSpPr>
        <p:spPr>
          <a:xfrm>
            <a:off x="1536850" y="304800"/>
            <a:ext cx="97407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Algorithm</a:t>
            </a:r>
            <a:endParaRPr/>
          </a:p>
        </p:txBody>
      </p:sp>
      <p:sp>
        <p:nvSpPr>
          <p:cNvPr id="609" name="Google Shape;609;p49"/>
          <p:cNvSpPr txBox="1"/>
          <p:nvPr/>
        </p:nvSpPr>
        <p:spPr>
          <a:xfrm>
            <a:off x="862375" y="1435101"/>
            <a:ext cx="5724600" cy="4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 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0" name="Google Shape;610;p49"/>
          <p:cNvSpPr txBox="1"/>
          <p:nvPr/>
        </p:nvSpPr>
        <p:spPr>
          <a:xfrm>
            <a:off x="8003248" y="2067976"/>
            <a:ext cx="1850186" cy="400110"/>
          </a:xfrm>
          <a:prstGeom prst="rect">
            <a:avLst/>
          </a:prstGeom>
          <a:solidFill>
            <a:srgbClr val="19191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 the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1" name="Google Shape;61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613" name="Google Shape;61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325" y="2606175"/>
            <a:ext cx="6306800" cy="8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0"/>
          <p:cNvSpPr txBox="1"/>
          <p:nvPr/>
        </p:nvSpPr>
        <p:spPr>
          <a:xfrm>
            <a:off x="812800" y="457200"/>
            <a:ext cx="10608733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50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812800" y="5241926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2" name="Google Shape;622;p50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0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0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0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0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0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0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0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pic>
        <p:nvPicPr>
          <p:cNvPr id="636" name="Google Shape;63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4495" y="21702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1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3" name="Google Shape;643;p51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1"/>
          <p:cNvSpPr txBox="1"/>
          <p:nvPr/>
        </p:nvSpPr>
        <p:spPr>
          <a:xfrm>
            <a:off x="770467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5" name="Google Shape;645;p51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1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1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1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1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1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1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1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1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1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pic>
        <p:nvPicPr>
          <p:cNvPr id="659" name="Google Shape;65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1995" y="2369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2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6" name="Google Shape;666;p52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2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Google Shape;668;p52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2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2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2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2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2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2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2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2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1016000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2927351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2620" y="23692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3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53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3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3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3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3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3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3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1100406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/>
          <p:nvPr/>
        </p:nvSpPr>
        <p:spPr>
          <a:xfrm>
            <a:off x="43688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709" name="Google Shape;70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0545" y="2369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4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6" name="Google Shape;716;p54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4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4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4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4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4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4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4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4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4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4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1128542" y="585333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4"/>
          <p:cNvSpPr/>
          <p:nvPr/>
        </p:nvSpPr>
        <p:spPr>
          <a:xfrm>
            <a:off x="57912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pic>
        <p:nvPicPr>
          <p:cNvPr id="734" name="Google Shape;73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0745" y="2070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5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5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3" name="Google Shape;743;p55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5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5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5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5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5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5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5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5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5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5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5"/>
          <p:cNvSpPr/>
          <p:nvPr/>
        </p:nvSpPr>
        <p:spPr>
          <a:xfrm>
            <a:off x="1241083" y="581113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5"/>
          <p:cNvSpPr/>
          <p:nvPr/>
        </p:nvSpPr>
        <p:spPr>
          <a:xfrm>
            <a:off x="72136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759" name="Google Shape;75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4495" y="2071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6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6" name="Google Shape;766;p56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6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8" name="Google Shape;768;p56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6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6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6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6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6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6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6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56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6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6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6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6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6"/>
          <p:cNvSpPr/>
          <p:nvPr/>
        </p:nvSpPr>
        <p:spPr>
          <a:xfrm>
            <a:off x="1072271" y="592367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6"/>
          <p:cNvSpPr/>
          <p:nvPr/>
        </p:nvSpPr>
        <p:spPr>
          <a:xfrm>
            <a:off x="8636001" y="532037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56"/>
          <p:cNvCxnSpPr/>
          <p:nvPr/>
        </p:nvCxnSpPr>
        <p:spPr>
          <a:xfrm flipH="1">
            <a:off x="4500099" y="1974166"/>
            <a:ext cx="4470400" cy="685800"/>
          </a:xfrm>
          <a:prstGeom prst="straightConnector1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4" name="Google Shape;784;p56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785" name="Google Shape;78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3170" y="2567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7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57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7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4" name="Google Shape;794;p57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7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7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7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7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7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7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7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7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7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7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7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7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7"/>
          <p:cNvSpPr/>
          <p:nvPr/>
        </p:nvSpPr>
        <p:spPr>
          <a:xfrm>
            <a:off x="3123925" y="1374350"/>
            <a:ext cx="5791176" cy="1447794"/>
          </a:xfrm>
          <a:prstGeom prst="flowChartDocument">
            <a:avLst/>
          </a:prstGeom>
          <a:solidFill>
            <a:schemeClr val="accent1"/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data found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809" name="Google Shape;80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0745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8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6" name="Google Shape;816;p58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8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8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8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8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8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8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8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8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8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pic>
        <p:nvPicPr>
          <p:cNvPr id="832" name="Google Shape;83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1920" y="2070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Best Case</a:t>
            </a:r>
            <a:endParaRPr/>
          </a:p>
        </p:txBody>
      </p:sp>
      <p:sp>
        <p:nvSpPr>
          <p:cNvPr id="838" name="Google Shape;838;p59"/>
          <p:cNvSpPr txBox="1"/>
          <p:nvPr/>
        </p:nvSpPr>
        <p:spPr>
          <a:xfrm>
            <a:off x="304801" y="4948238"/>
            <a:ext cx="35167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first 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9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9"/>
          <p:cNvSpPr/>
          <p:nvPr/>
        </p:nvSpPr>
        <p:spPr>
          <a:xfrm>
            <a:off x="2627533" y="5534464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9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9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9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9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9"/>
          <p:cNvSpPr txBox="1"/>
          <p:nvPr/>
        </p:nvSpPr>
        <p:spPr>
          <a:xfrm>
            <a:off x="397934" y="5866228"/>
            <a:ext cx="1229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9"/>
          <p:cNvSpPr/>
          <p:nvPr/>
        </p:nvSpPr>
        <p:spPr>
          <a:xfrm>
            <a:off x="1227016" y="5814647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9"/>
          <p:cNvSpPr/>
          <p:nvPr/>
        </p:nvSpPr>
        <p:spPr>
          <a:xfrm>
            <a:off x="2842945" y="5548971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6099126" y="3066757"/>
            <a:ext cx="3556000" cy="1011701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1 comparison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9"/>
          <p:cNvSpPr/>
          <p:nvPr/>
        </p:nvSpPr>
        <p:spPr>
          <a:xfrm>
            <a:off x="1008184" y="1104039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1" name="Google Shape;851;p59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pic>
        <p:nvPicPr>
          <p:cNvPr id="852" name="Google Shape;852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0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Worst Case</a:t>
            </a:r>
            <a:endParaRPr/>
          </a:p>
        </p:txBody>
      </p:sp>
      <p:sp>
        <p:nvSpPr>
          <p:cNvPr id="858" name="Google Shape;858;p60"/>
          <p:cNvSpPr txBox="1"/>
          <p:nvPr/>
        </p:nvSpPr>
        <p:spPr>
          <a:xfrm>
            <a:off x="25400" y="4948238"/>
            <a:ext cx="4965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last item (or no match)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0"/>
          <p:cNvSpPr/>
          <p:nvPr/>
        </p:nvSpPr>
        <p:spPr>
          <a:xfrm>
            <a:off x="2641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0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0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0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60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0"/>
          <p:cNvSpPr txBox="1"/>
          <p:nvPr/>
        </p:nvSpPr>
        <p:spPr>
          <a:xfrm>
            <a:off x="283634" y="5724939"/>
            <a:ext cx="135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1198879" y="5600710"/>
            <a:ext cx="8127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0"/>
          <p:cNvSpPr/>
          <p:nvPr/>
        </p:nvSpPr>
        <p:spPr>
          <a:xfrm>
            <a:off x="9737969" y="5604803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0"/>
          <p:cNvSpPr/>
          <p:nvPr/>
        </p:nvSpPr>
        <p:spPr>
          <a:xfrm>
            <a:off x="9847384" y="3253153"/>
            <a:ext cx="2344615" cy="990600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N comparisons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60"/>
          <p:cNvSpPr/>
          <p:nvPr/>
        </p:nvSpPr>
        <p:spPr>
          <a:xfrm>
            <a:off x="951914" y="1369148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pic>
        <p:nvPicPr>
          <p:cNvPr id="872" name="Google Shape;8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1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61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879" name="Google Shape;879;p61"/>
          <p:cNvSpPr txBox="1"/>
          <p:nvPr/>
        </p:nvSpPr>
        <p:spPr>
          <a:xfrm>
            <a:off x="1690597" y="2477386"/>
            <a:ext cx="56973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https://yongdanielliang.github.io/animation/web/LinearSearchNew.html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0" name="Google Shape;88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2"/>
          <p:cNvSpPr txBox="1">
            <a:spLocks noGrp="1"/>
          </p:cNvSpPr>
          <p:nvPr>
            <p:ph type="body" idx="1"/>
          </p:nvPr>
        </p:nvSpPr>
        <p:spPr>
          <a:xfrm>
            <a:off x="609600" y="1451276"/>
            <a:ext cx="109728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US"/>
              <a:t>int  seqsearch(int key)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for i= 0 to n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if(key==a[i])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pos=i;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flag=1;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break;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if(flag==1)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return pos;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else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return -1;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} </a:t>
            </a:r>
            <a:endParaRPr/>
          </a:p>
        </p:txBody>
      </p:sp>
      <p:sp>
        <p:nvSpPr>
          <p:cNvPr id="886" name="Google Shape;886;p6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US"/>
              <a:t>Sequential search</a:t>
            </a:r>
            <a:endParaRPr/>
          </a:p>
        </p:txBody>
      </p:sp>
      <p:sp>
        <p:nvSpPr>
          <p:cNvPr id="887" name="Google Shape;887;p62"/>
          <p:cNvSpPr txBox="1"/>
          <p:nvPr/>
        </p:nvSpPr>
        <p:spPr>
          <a:xfrm>
            <a:off x="6491275" y="2135988"/>
            <a:ext cx="4876800" cy="2862900"/>
          </a:xfrm>
          <a:prstGeom prst="rect">
            <a:avLst/>
          </a:prstGeom>
          <a:noFill/>
          <a:ln w="9525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Using Class </a:t>
            </a:r>
            <a:endParaRPr sz="1800" b="1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class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int a[20],n;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public: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int seqsearch(int);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accept();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display();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88" name="Google Shape;888;p62"/>
          <p:cNvSpPr txBox="1">
            <a:spLocks noGrp="1"/>
          </p:cNvSpPr>
          <p:nvPr>
            <p:ph type="sldNum" idx="12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pic>
        <p:nvPicPr>
          <p:cNvPr id="889" name="Google Shape;889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3"/>
          <p:cNvSpPr txBox="1">
            <a:spLocks noGrp="1"/>
          </p:cNvSpPr>
          <p:nvPr>
            <p:ph type="title"/>
          </p:nvPr>
        </p:nvSpPr>
        <p:spPr>
          <a:xfrm>
            <a:off x="1364566" y="365760"/>
            <a:ext cx="97911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Arial"/>
              <a:buNone/>
            </a:pPr>
            <a:br>
              <a:rPr lang="en-US" sz="4320"/>
            </a:br>
            <a:r>
              <a:rPr lang="en-US" sz="4320"/>
              <a:t>Linear  Search Performance</a:t>
            </a:r>
            <a:endParaRPr sz="4320"/>
          </a:p>
        </p:txBody>
      </p:sp>
      <p:sp>
        <p:nvSpPr>
          <p:cNvPr id="895" name="Google Shape;895;p63"/>
          <p:cNvSpPr txBox="1">
            <a:spLocks noGrp="1"/>
          </p:cNvSpPr>
          <p:nvPr>
            <p:ph type="body" idx="1"/>
          </p:nvPr>
        </p:nvSpPr>
        <p:spPr>
          <a:xfrm>
            <a:off x="1097280" y="1927274"/>
            <a:ext cx="10058400" cy="3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analyze the successful and unsuccessful searches separately.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We count how many times the search value is compared against the array elements.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Best Case – 1 comparison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Worst Case – N comparisons (N – array size)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Unsuccessful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– Best Case =  Worst Case – N comparisons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96" name="Google Shape;896;p63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97" name="Google Shape;897;p6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pic>
        <p:nvPicPr>
          <p:cNvPr id="898" name="Google Shape;89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/>
          <p:cNvSpPr txBox="1">
            <a:spLocks noGrp="1"/>
          </p:cNvSpPr>
          <p:nvPr>
            <p:ph type="title"/>
          </p:nvPr>
        </p:nvSpPr>
        <p:spPr>
          <a:xfrm>
            <a:off x="1434904" y="520505"/>
            <a:ext cx="9720775" cy="121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06" name="Google Shape;906;p66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endParaRPr sz="32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the array is sorted, then we can apply the binary search technique.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basic idea is straightforward. First search the value in the middle position.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X is less than this value, then search the middle of the left half next.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If X is greater than this value, then search the middle of the right half next.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3200"/>
          </a:p>
        </p:txBody>
      </p:sp>
      <p:sp>
        <p:nvSpPr>
          <p:cNvPr id="907" name="Google Shape;907;p66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66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7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7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7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7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67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7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67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7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7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7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7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7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7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7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7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67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7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7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7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67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67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67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7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67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67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67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67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67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67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45" name="Google Shape;945;p67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6" name="Google Shape;946;p67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47" name="Google Shape;947;p67"/>
          <p:cNvSpPr txBox="1">
            <a:spLocks noGrp="1"/>
          </p:cNvSpPr>
          <p:nvPr>
            <p:ph type="body" idx="1"/>
          </p:nvPr>
        </p:nvSpPr>
        <p:spPr>
          <a:xfrm>
            <a:off x="1464675" y="829588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9" name="Google Shape;949;p67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50" name="Google Shape;950;p6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pic>
        <p:nvPicPr>
          <p:cNvPr id="951" name="Google Shape;95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57" name="Google Shape;957;p68"/>
          <p:cNvSpPr txBox="1">
            <a:spLocks noGrp="1"/>
          </p:cNvSpPr>
          <p:nvPr>
            <p:ph type="body" idx="1"/>
          </p:nvPr>
        </p:nvSpPr>
        <p:spPr>
          <a:xfrm>
            <a:off x="747550" y="9144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8" name="Google Shape;958;p68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8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8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68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68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8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8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8"/>
          <p:cNvSpPr/>
          <p:nvPr/>
        </p:nvSpPr>
        <p:spPr>
          <a:xfrm>
            <a:off x="5867400" y="4557714"/>
            <a:ext cx="457200" cy="192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68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8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68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8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8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68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8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8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8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8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8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8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8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8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68"/>
          <p:cNvSpPr/>
          <p:nvPr/>
        </p:nvSpPr>
        <p:spPr>
          <a:xfrm>
            <a:off x="5851525" y="4106975"/>
            <a:ext cx="457200" cy="42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68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8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68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8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68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68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2667000" y="4108450"/>
            <a:ext cx="457200" cy="42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8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68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0" name="Google Shape;990;p68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" name="Google Shape;991;p68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2" name="Google Shape;992;p68"/>
          <p:cNvSpPr/>
          <p:nvPr/>
        </p:nvSpPr>
        <p:spPr>
          <a:xfrm>
            <a:off x="5841925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68"/>
          <p:cNvCxnSpPr/>
          <p:nvPr/>
        </p:nvCxnSpPr>
        <p:spPr>
          <a:xfrm rot="10800000">
            <a:off x="608012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4" name="Google Shape;994;p6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pic>
        <p:nvPicPr>
          <p:cNvPr id="995" name="Google Shape;99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01" name="Google Shape;1001;p69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69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9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9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9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69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9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9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9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9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9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9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9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9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9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9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9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9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9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9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9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9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9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9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9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9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69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34" name="Google Shape;1034;p69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69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36" name="Google Shape;1036;p6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pic>
        <p:nvPicPr>
          <p:cNvPr id="1037" name="Google Shape;1037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0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43" name="Google Shape;1043;p70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4" name="Google Shape;1044;p70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70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70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70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70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70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70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70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70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70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70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70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70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70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70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70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0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70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70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70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0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0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0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0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0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70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0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70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76" name="Google Shape;1076;p70"/>
          <p:cNvSpPr/>
          <p:nvPr/>
        </p:nvSpPr>
        <p:spPr>
          <a:xfrm>
            <a:off x="400836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7" name="Google Shape;1077;p70"/>
          <p:cNvCxnSpPr/>
          <p:nvPr/>
        </p:nvCxnSpPr>
        <p:spPr>
          <a:xfrm rot="10800000">
            <a:off x="424656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78" name="Google Shape;1078;p70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70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80" name="Google Shape;1080;p7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pic>
        <p:nvPicPr>
          <p:cNvPr id="1081" name="Google Shape;1081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1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87" name="Google Shape;1087;p71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71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71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71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71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71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71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71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71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71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71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71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71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71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71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71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71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71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71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71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1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71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1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71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1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71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71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71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71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71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71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9" name="Google Shape;1119;p71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20" name="Google Shape;1120;p71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1" name="Google Shape;1121;p71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22" name="Google Shape;1122;p7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pic>
        <p:nvPicPr>
          <p:cNvPr id="1123" name="Google Shape;1123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2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29" name="Google Shape;1129;p72"/>
          <p:cNvSpPr txBox="1">
            <a:spLocks noGrp="1"/>
          </p:cNvSpPr>
          <p:nvPr>
            <p:ph type="body" idx="1"/>
          </p:nvPr>
        </p:nvSpPr>
        <p:spPr>
          <a:xfrm>
            <a:off x="1369375" y="934275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0" name="Google Shape;1130;p72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72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72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72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72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72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72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72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72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72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72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72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72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72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72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72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72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72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2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2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72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72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72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72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72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72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72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1" name="Google Shape;1161;p72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2" name="Google Shape;1162;p72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3" name="Google Shape;1163;p72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4" name="Google Shape;1164;p72"/>
          <p:cNvSpPr/>
          <p:nvPr/>
        </p:nvSpPr>
        <p:spPr>
          <a:xfrm>
            <a:off x="492911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5" name="Google Shape;1165;p72"/>
          <p:cNvCxnSpPr/>
          <p:nvPr/>
        </p:nvCxnSpPr>
        <p:spPr>
          <a:xfrm rot="10800000">
            <a:off x="516731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6" name="Google Shape;1166;p7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pic>
        <p:nvPicPr>
          <p:cNvPr id="1167" name="Google Shape;1167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3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73" name="Google Shape;1173;p73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4" name="Google Shape;1174;p73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73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73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73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73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73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3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3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3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3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3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73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73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73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73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73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73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73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73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73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73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73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73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73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73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73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73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73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73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73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73"/>
          <p:cNvSpPr/>
          <p:nvPr/>
        </p:nvSpPr>
        <p:spPr>
          <a:xfrm>
            <a:off x="4531963" y="5103813"/>
            <a:ext cx="400751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5" name="Google Shape;1205;p73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06" name="Google Shape;1206;p7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pic>
        <p:nvPicPr>
          <p:cNvPr id="1207" name="Google Shape;120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2195" y="27665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4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13" name="Google Shape;1213;p74"/>
          <p:cNvSpPr txBox="1">
            <a:spLocks noGrp="1"/>
          </p:cNvSpPr>
          <p:nvPr>
            <p:ph type="body" idx="1"/>
          </p:nvPr>
        </p:nvSpPr>
        <p:spPr>
          <a:xfrm>
            <a:off x="1657625" y="9641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4" name="Google Shape;1214;p74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74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74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74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74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74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74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74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74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74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74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74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74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74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74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74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74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74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74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74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74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74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74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74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74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74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74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74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74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74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74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5" name="Google Shape;1245;p74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46" name="Google Shape;1246;p7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pic>
        <p:nvPicPr>
          <p:cNvPr id="1247" name="Google Shape;1247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5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53" name="Google Shape;1253;p75"/>
          <p:cNvSpPr txBox="1">
            <a:spLocks noGrp="1"/>
          </p:cNvSpPr>
          <p:nvPr>
            <p:ph type="body" idx="1"/>
          </p:nvPr>
        </p:nvSpPr>
        <p:spPr>
          <a:xfrm>
            <a:off x="1667550" y="9144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4" name="Google Shape;1254;p75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75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75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75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75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75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75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75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75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75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75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75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75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75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75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75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75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75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75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75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75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75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75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75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75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75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75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75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75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75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75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75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86" name="Google Shape;1286;p7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  <p:pic>
        <p:nvPicPr>
          <p:cNvPr id="1287" name="Google Shape;12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6"/>
          <p:cNvSpPr txBox="1">
            <a:spLocks noGrp="1"/>
          </p:cNvSpPr>
          <p:nvPr>
            <p:ph type="sldNum" idx="12"/>
          </p:nvPr>
        </p:nvSpPr>
        <p:spPr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Black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77</a:t>
            </a:fld>
            <a:endParaRPr sz="8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3" name="Google Shape;1293;p76"/>
          <p:cNvSpPr txBox="1">
            <a:spLocks noGrp="1"/>
          </p:cNvSpPr>
          <p:nvPr>
            <p:ph type="title"/>
          </p:nvPr>
        </p:nvSpPr>
        <p:spPr>
          <a:xfrm>
            <a:off x="2028826" y="249238"/>
            <a:ext cx="8639175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 sz="4400"/>
              <a:t>Example: Binary Search</a:t>
            </a:r>
            <a:endParaRPr/>
          </a:p>
        </p:txBody>
      </p:sp>
      <p:sp>
        <p:nvSpPr>
          <p:cNvPr id="1294" name="Google Shape;1294;p76"/>
          <p:cNvSpPr txBox="1">
            <a:spLocks noGrp="1"/>
          </p:cNvSpPr>
          <p:nvPr>
            <p:ph type="body" idx="1"/>
          </p:nvPr>
        </p:nvSpPr>
        <p:spPr>
          <a:xfrm>
            <a:off x="1879600" y="1285876"/>
            <a:ext cx="8362950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Searching for an element k in a sorted array A with n elements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Idea: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Choose the middle element A[n/2]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== A[n/2], we are done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&lt; A[n/2], search for k between A[0] and A[n/2 -1]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&gt; A[n/2], search for k between A[n/2 + 1] and A[n-1]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Repeat until either k is found, or no more elements to search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Requires less number of comparisons than linear search in the worst case (log</a:t>
            </a:r>
            <a:r>
              <a:rPr lang="en-US" sz="2500" baseline="-25000"/>
              <a:t>2</a:t>
            </a:r>
            <a:r>
              <a:rPr lang="en-US" sz="2500"/>
              <a:t>n instead of n)</a:t>
            </a:r>
            <a:endParaRPr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</p:txBody>
      </p:sp>
      <p:sp>
        <p:nvSpPr>
          <p:cNvPr id="1295" name="Google Shape;1295;p76"/>
          <p:cNvSpPr/>
          <p:nvPr/>
        </p:nvSpPr>
        <p:spPr>
          <a:xfrm>
            <a:off x="7883526" y="898526"/>
            <a:ext cx="828675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6" name="Google Shape;1296;p76"/>
          <p:cNvSpPr/>
          <p:nvPr/>
        </p:nvSpPr>
        <p:spPr>
          <a:xfrm>
            <a:off x="8021639" y="1036638"/>
            <a:ext cx="8286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7" name="Google Shape;1297;p76"/>
          <p:cNvSpPr/>
          <p:nvPr/>
        </p:nvSpPr>
        <p:spPr>
          <a:xfrm>
            <a:off x="5326063" y="276225"/>
            <a:ext cx="352425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98" name="Google Shape;129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7"/>
          <p:cNvSpPr txBox="1">
            <a:spLocks noGrp="1"/>
          </p:cNvSpPr>
          <p:nvPr>
            <p:ph type="title"/>
          </p:nvPr>
        </p:nvSpPr>
        <p:spPr>
          <a:xfrm>
            <a:off x="914400" y="737191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 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7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305" name="Google Shape;1305;p77"/>
          <p:cNvSpPr txBox="1"/>
          <p:nvPr/>
        </p:nvSpPr>
        <p:spPr>
          <a:xfrm>
            <a:off x="1690597" y="2477386"/>
            <a:ext cx="4653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https://www.cs.usfca.edu/~galles/visualization/Search.html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6" name="Google Shape;130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8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Time Complexity of Binary Search</a:t>
            </a:r>
            <a:endParaRPr/>
          </a:p>
        </p:txBody>
      </p:sp>
      <p:sp>
        <p:nvSpPr>
          <p:cNvPr id="1314" name="Google Shape;1314;p78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no of elements after 1 comparison           =n/2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2 comparisons   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h comparisons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 baseline="3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 the lowest value of h elements 1 left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h=1   or  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h=n    h=log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(n)=O(log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 n)</a:t>
            </a: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/>
          </a:p>
        </p:txBody>
      </p:sp>
      <p:sp>
        <p:nvSpPr>
          <p:cNvPr id="1315" name="Google Shape;1315;p78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6" name="Google Shape;1316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79"/>
          <p:cNvSpPr txBox="1">
            <a:spLocks noGrp="1"/>
          </p:cNvSpPr>
          <p:nvPr>
            <p:ph type="title"/>
          </p:nvPr>
        </p:nvSpPr>
        <p:spPr>
          <a:xfrm>
            <a:off x="1406769" y="342875"/>
            <a:ext cx="10058400" cy="34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 Algorithm</a:t>
            </a:r>
            <a:endParaRPr/>
          </a:p>
        </p:txBody>
      </p:sp>
      <p:sp>
        <p:nvSpPr>
          <p:cNvPr id="1323" name="Google Shape;1323;p79"/>
          <p:cNvSpPr txBox="1">
            <a:spLocks noGrp="1"/>
          </p:cNvSpPr>
          <p:nvPr>
            <p:ph type="body" idx="1"/>
          </p:nvPr>
        </p:nvSpPr>
        <p:spPr>
          <a:xfrm>
            <a:off x="647114" y="717452"/>
            <a:ext cx="5444197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Algorithm binary_search(a[], low, high, key) {  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while(low&lt;=high)    {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mid=(low+high)/2;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if(a[mid]==key)      {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flag=1;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 return flag; }     //end if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     high=mid-1;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else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low=mid+1;     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}   //end while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24" name="Google Shape;1324;p79"/>
          <p:cNvSpPr txBox="1">
            <a:spLocks noGrp="1"/>
          </p:cNvSpPr>
          <p:nvPr>
            <p:ph type="body" idx="2"/>
          </p:nvPr>
        </p:nvSpPr>
        <p:spPr>
          <a:xfrm>
            <a:off x="6485206" y="987608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If (flag==0)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{   return flag;}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}//end binary_search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1325" name="Google Shape;1325;p79"/>
          <p:cNvGrpSpPr/>
          <p:nvPr/>
        </p:nvGrpSpPr>
        <p:grpSpPr>
          <a:xfrm>
            <a:off x="576776" y="5736102"/>
            <a:ext cx="10363200" cy="457200"/>
            <a:chOff x="480" y="2832"/>
            <a:chExt cx="4896" cy="288"/>
          </a:xfrm>
        </p:grpSpPr>
        <p:grpSp>
          <p:nvGrpSpPr>
            <p:cNvPr id="1326" name="Google Shape;1326;p79"/>
            <p:cNvGrpSpPr/>
            <p:nvPr/>
          </p:nvGrpSpPr>
          <p:grpSpPr>
            <a:xfrm>
              <a:off x="480" y="2832"/>
              <a:ext cx="2784" cy="288"/>
              <a:chOff x="480" y="2832"/>
              <a:chExt cx="4608" cy="728"/>
            </a:xfrm>
          </p:grpSpPr>
          <p:sp>
            <p:nvSpPr>
              <p:cNvPr id="1327" name="Google Shape;1327;p79"/>
              <p:cNvSpPr/>
              <p:nvPr/>
            </p:nvSpPr>
            <p:spPr>
              <a:xfrm>
                <a:off x="480" y="2847"/>
                <a:ext cx="4608" cy="698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28" name="Google Shape;1328;p79"/>
              <p:cNvCxnSpPr/>
              <p:nvPr/>
            </p:nvCxnSpPr>
            <p:spPr>
              <a:xfrm>
                <a:off x="2723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9" name="Google Shape;1329;p79"/>
              <p:cNvCxnSpPr/>
              <p:nvPr/>
            </p:nvCxnSpPr>
            <p:spPr>
              <a:xfrm>
                <a:off x="1577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0" name="Google Shape;1330;p79"/>
              <p:cNvCxnSpPr/>
              <p:nvPr/>
            </p:nvCxnSpPr>
            <p:spPr>
              <a:xfrm>
                <a:off x="3971" y="2832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1" name="Google Shape;1331;p79"/>
              <p:cNvCxnSpPr/>
              <p:nvPr/>
            </p:nvCxnSpPr>
            <p:spPr>
              <a:xfrm>
                <a:off x="996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p79"/>
              <p:cNvCxnSpPr/>
              <p:nvPr/>
            </p:nvCxnSpPr>
            <p:spPr>
              <a:xfrm>
                <a:off x="2109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p79"/>
              <p:cNvCxnSpPr/>
              <p:nvPr/>
            </p:nvCxnSpPr>
            <p:spPr>
              <a:xfrm>
                <a:off x="3305" y="2837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4" name="Google Shape;1334;p79"/>
              <p:cNvCxnSpPr/>
              <p:nvPr/>
            </p:nvCxnSpPr>
            <p:spPr>
              <a:xfrm>
                <a:off x="4519" y="2847"/>
                <a:ext cx="0" cy="708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35" name="Google Shape;1335;p79"/>
            <p:cNvGrpSpPr/>
            <p:nvPr/>
          </p:nvGrpSpPr>
          <p:grpSpPr>
            <a:xfrm>
              <a:off x="3264" y="2832"/>
              <a:ext cx="2112" cy="288"/>
              <a:chOff x="2544" y="3456"/>
              <a:chExt cx="2112" cy="288"/>
            </a:xfrm>
          </p:grpSpPr>
          <p:sp>
            <p:nvSpPr>
              <p:cNvPr id="1336" name="Google Shape;1336;p79"/>
              <p:cNvSpPr/>
              <p:nvPr/>
            </p:nvSpPr>
            <p:spPr>
              <a:xfrm>
                <a:off x="2544" y="3462"/>
                <a:ext cx="2112" cy="276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37" name="Google Shape;1337;p79"/>
              <p:cNvCxnSpPr/>
              <p:nvPr/>
            </p:nvCxnSpPr>
            <p:spPr>
              <a:xfrm>
                <a:off x="3227" y="3465"/>
                <a:ext cx="0" cy="27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8" name="Google Shape;1338;p79"/>
              <p:cNvCxnSpPr/>
              <p:nvPr/>
            </p:nvCxnSpPr>
            <p:spPr>
              <a:xfrm>
                <a:off x="3981" y="3456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9" name="Google Shape;1339;p79"/>
              <p:cNvCxnSpPr/>
              <p:nvPr/>
            </p:nvCxnSpPr>
            <p:spPr>
              <a:xfrm>
                <a:off x="2856" y="3456"/>
                <a:ext cx="0" cy="281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0" name="Google Shape;1340;p79"/>
              <p:cNvCxnSpPr/>
              <p:nvPr/>
            </p:nvCxnSpPr>
            <p:spPr>
              <a:xfrm>
                <a:off x="3579" y="3458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1" name="Google Shape;1341;p79"/>
              <p:cNvCxnSpPr/>
              <p:nvPr/>
            </p:nvCxnSpPr>
            <p:spPr>
              <a:xfrm>
                <a:off x="4312" y="3462"/>
                <a:ext cx="0" cy="28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342" name="Google Shape;1342;p79"/>
          <p:cNvSpPr txBox="1"/>
          <p:nvPr/>
        </p:nvSpPr>
        <p:spPr>
          <a:xfrm>
            <a:off x="650240" y="5778305"/>
            <a:ext cx="10224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1          7           9        12        33        42        59        76       81       84         91       92         93      99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79"/>
          <p:cNvSpPr/>
          <p:nvPr/>
        </p:nvSpPr>
        <p:spPr>
          <a:xfrm>
            <a:off x="359507" y="5597769"/>
            <a:ext cx="107696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79"/>
          <p:cNvSpPr/>
          <p:nvPr/>
        </p:nvSpPr>
        <p:spPr>
          <a:xfrm>
            <a:off x="4115581" y="5668107"/>
            <a:ext cx="9144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79"/>
          <p:cNvSpPr/>
          <p:nvPr/>
        </p:nvSpPr>
        <p:spPr>
          <a:xfrm>
            <a:off x="8531274" y="4778326"/>
            <a:ext cx="3860800" cy="685800"/>
          </a:xfrm>
          <a:prstGeom prst="cloudCallout">
            <a:avLst>
              <a:gd name="adj1" fmla="val -62074"/>
              <a:gd name="adj2" fmla="val -143921"/>
            </a:avLst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 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6" name="Google Shape;1346;p79"/>
          <p:cNvGraphicFramePr/>
          <p:nvPr/>
        </p:nvGraphicFramePr>
        <p:xfrm>
          <a:off x="372013" y="6487160"/>
          <a:ext cx="10417925" cy="370850"/>
        </p:xfrm>
        <a:graphic>
          <a:graphicData uri="http://schemas.openxmlformats.org/drawingml/2006/table">
            <a:tbl>
              <a:tblPr>
                <a:noFill/>
                <a:tableStyleId>{7B16B7C2-5E49-4586-8B93-98E4ED2C79C2}</a:tableStyleId>
              </a:tblPr>
              <a:tblGrid>
                <a:gridCol w="68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7" name="Google Shape;1347;p79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pic>
        <p:nvPicPr>
          <p:cNvPr id="1348" name="Google Shape;1348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0"/>
            <a:ext cx="1014752" cy="8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0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Binary search(recursive)</a:t>
            </a:r>
            <a:endParaRPr/>
          </a:p>
        </p:txBody>
      </p:sp>
      <p:sp>
        <p:nvSpPr>
          <p:cNvPr id="1356" name="Google Shape;1356;p80"/>
          <p:cNvSpPr txBox="1">
            <a:spLocks noGrp="1"/>
          </p:cNvSpPr>
          <p:nvPr>
            <p:ph type="body" idx="1"/>
          </p:nvPr>
        </p:nvSpPr>
        <p:spPr>
          <a:xfrm>
            <a:off x="1280160" y="1547447"/>
            <a:ext cx="10058400" cy="468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endParaRPr sz="1820"/>
          </a:p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endParaRPr sz="1820"/>
          </a:p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Algorithm  binary_search(a[], low, high, 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if(low&lt;=high)  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mid=(low+high)/2;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if(a[mid]==key)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mid;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binary_search(a,low,mid-1,key);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return binary_search(a,mid+1,high,key);}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return 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None/>
            </a:pPr>
            <a:endParaRPr sz="780"/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/>
          </a:p>
        </p:txBody>
      </p:sp>
      <p:sp>
        <p:nvSpPr>
          <p:cNvPr id="1357" name="Google Shape;1357;p8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8" name="Google Shape;1358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8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288533481a_2_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FAQ</a:t>
            </a:r>
            <a:endParaRPr/>
          </a:p>
        </p:txBody>
      </p:sp>
      <p:sp>
        <p:nvSpPr>
          <p:cNvPr id="1366" name="Google Shape;1366;g3288533481a_2_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Select the data structures that you have seen previously, and discuss its strengths and limitations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is time complexity?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is linear search?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are the limitations of linear search?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are the advantages of binary search over linear search?</a:t>
            </a:r>
            <a:endParaRPr/>
          </a:p>
        </p:txBody>
      </p:sp>
      <p:sp>
        <p:nvSpPr>
          <p:cNvPr id="1367" name="Google Shape;1367;g3288533481a_2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288533481a_2_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74" name="Google Shape;1374;g3288533481a_2_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683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Thomas H Cormen and Charles E.L Leiserson, "Introduction to Algorithm" Third Edition, PHI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Horowitz, Sahni &amp; Rajasekaran, "Fundamentals of Computer Algorithms",        2ND      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Edition. University Press.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g3288533481a_2_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6685</Words>
  <Application>Microsoft Office PowerPoint</Application>
  <PresentationFormat>Widescreen</PresentationFormat>
  <Paragraphs>1396</Paragraphs>
  <Slides>83</Slides>
  <Notes>80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5" baseType="lpstr">
      <vt:lpstr>Verdana</vt:lpstr>
      <vt:lpstr>Georgia</vt:lpstr>
      <vt:lpstr>Calibri</vt:lpstr>
      <vt:lpstr>Courier New</vt:lpstr>
      <vt:lpstr>Noto Sans Symbols</vt:lpstr>
      <vt:lpstr>times new roman</vt:lpstr>
      <vt:lpstr>Lucida Sans</vt:lpstr>
      <vt:lpstr>times new roman</vt:lpstr>
      <vt:lpstr>Arial Black</vt:lpstr>
      <vt:lpstr>Arial</vt:lpstr>
      <vt:lpstr>Retrospect</vt:lpstr>
      <vt:lpstr>Microsoft Word 97 - 2003 Document</vt:lpstr>
      <vt:lpstr>PowerPoint Presentation</vt:lpstr>
      <vt:lpstr>Syllabus</vt:lpstr>
      <vt:lpstr>Syllabus</vt:lpstr>
      <vt:lpstr>Text Books and Reference Books</vt:lpstr>
      <vt:lpstr>Web Resources</vt:lpstr>
      <vt:lpstr>Unit 1: Analysis of Algorithm</vt:lpstr>
      <vt:lpstr>Why Study this Course?</vt:lpstr>
      <vt:lpstr>Algorithm: A brief History </vt:lpstr>
      <vt:lpstr>What is an Algorithm?</vt:lpstr>
      <vt:lpstr>Algorithm &amp; its Properties</vt:lpstr>
      <vt:lpstr>Examples of Algorithms – Computing the Greatest Common Divisor of Two Integers</vt:lpstr>
      <vt:lpstr>Pseudocode of Euclid’s Algorithm</vt:lpstr>
      <vt:lpstr>Example of Euclid’s Algorithm</vt:lpstr>
      <vt:lpstr>Fundamentals of Algorithmic Problem Solving</vt:lpstr>
      <vt:lpstr>Algorithm Design and Analysis Process</vt:lpstr>
      <vt:lpstr>Algorithms as a Technology</vt:lpstr>
      <vt:lpstr>Algorithm Efficiency</vt:lpstr>
      <vt:lpstr>Efficiency</vt:lpstr>
      <vt:lpstr>Methods of Specifying an Algorithm</vt:lpstr>
      <vt:lpstr>Pseudocode Conventions</vt:lpstr>
      <vt:lpstr>Pseudocode Conventions</vt:lpstr>
      <vt:lpstr>Pseudocode Conventions</vt:lpstr>
      <vt:lpstr>Analysis of Algorithms</vt:lpstr>
      <vt:lpstr>Common Rates of Growth</vt:lpstr>
      <vt:lpstr>Why Analyse?</vt:lpstr>
      <vt:lpstr>What to analyse?</vt:lpstr>
      <vt:lpstr>Tabular Method</vt:lpstr>
      <vt:lpstr>Asymptotic Analysis</vt:lpstr>
      <vt:lpstr>ASYMPTOTICS NOTATIONS O-notation (Big Oh)</vt:lpstr>
      <vt:lpstr>Big Oh - Example</vt:lpstr>
      <vt:lpstr>Big Oh - Example</vt:lpstr>
      <vt:lpstr>Big Oh - Example</vt:lpstr>
      <vt:lpstr>ASYMPTOTICS NOTATIONS Ω-notation</vt:lpstr>
      <vt:lpstr>Big Omega - Example</vt:lpstr>
      <vt:lpstr>ASYMPTOTICS NOTATIONS Θ-notation</vt:lpstr>
      <vt:lpstr>Theta Example</vt:lpstr>
      <vt:lpstr>Asymptotic Notations</vt:lpstr>
      <vt:lpstr>Examples On Asymptotic Notations </vt:lpstr>
      <vt:lpstr>Algorithm Design Techniques/Strategies</vt:lpstr>
      <vt:lpstr>Methods for Solving recurrences</vt:lpstr>
      <vt:lpstr>Math You need to Review</vt:lpstr>
      <vt:lpstr>Substitution Method</vt:lpstr>
      <vt:lpstr>Quick Sort Recurrence Relation </vt:lpstr>
      <vt:lpstr>Binary Search  Recurrence Relation</vt:lpstr>
      <vt:lpstr>Master Theorem</vt:lpstr>
      <vt:lpstr>Example of Master Method</vt:lpstr>
      <vt:lpstr>Example of Master Method</vt:lpstr>
      <vt:lpstr>Example of Master Method</vt:lpstr>
      <vt:lpstr>Example of Master Method</vt:lpstr>
      <vt:lpstr>Searching</vt:lpstr>
      <vt:lpstr>Searching</vt:lpstr>
      <vt:lpstr>Linear Search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Search Analysis: Best Case</vt:lpstr>
      <vt:lpstr>Linear Search Analysis: Worst Case</vt:lpstr>
      <vt:lpstr>Linear Search Animation</vt:lpstr>
      <vt:lpstr>Sequential search</vt:lpstr>
      <vt:lpstr> Linear  Search Performance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Example: Binary Search</vt:lpstr>
      <vt:lpstr>Linear Search and Binary search  Animation</vt:lpstr>
      <vt:lpstr>Time Complexity of Binary Search</vt:lpstr>
      <vt:lpstr>Binary Search Algorithm</vt:lpstr>
      <vt:lpstr>Binary search(recursive)</vt:lpstr>
      <vt:lpstr>FAQ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Anita.Gunjal</dc:creator>
  <cp:lastModifiedBy>Shridevi Karande</cp:lastModifiedBy>
  <cp:revision>6</cp:revision>
  <dcterms:created xsi:type="dcterms:W3CDTF">2017-06-20T09:56:08Z</dcterms:created>
  <dcterms:modified xsi:type="dcterms:W3CDTF">2025-01-26T16:40:17Z</dcterms:modified>
</cp:coreProperties>
</file>