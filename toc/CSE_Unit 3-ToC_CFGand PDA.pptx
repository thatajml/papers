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82"/>
  </p:notesMasterIdLst>
  <p:sldIdLst>
    <p:sldId id="256" r:id="rId2"/>
    <p:sldId id="299" r:id="rId3"/>
    <p:sldId id="257" r:id="rId4"/>
    <p:sldId id="258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327" r:id="rId71"/>
    <p:sldId id="328" r:id="rId72"/>
    <p:sldId id="329" r:id="rId73"/>
    <p:sldId id="330" r:id="rId74"/>
    <p:sldId id="331" r:id="rId75"/>
    <p:sldId id="334" r:id="rId76"/>
    <p:sldId id="335" r:id="rId77"/>
    <p:sldId id="336" r:id="rId78"/>
    <p:sldId id="337" r:id="rId79"/>
    <p:sldId id="332" r:id="rId80"/>
    <p:sldId id="333" r:id="rId81"/>
  </p:sldIdLst>
  <p:sldSz cx="9144000" cy="6858000" type="screen4x3"/>
  <p:notesSz cx="6831013" cy="93964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9">
          <p15:clr>
            <a:srgbClr val="A4A3A4"/>
          </p15:clr>
        </p15:guide>
        <p15:guide id="2" pos="2152">
          <p15:clr>
            <a:srgbClr val="A4A3A4"/>
          </p15:clr>
        </p15:guide>
      </p15:notes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4" roundtripDataSignature="AMtx7mhtMCiE+zUU0TNfU6Z0+jDvPQQr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372A922-C3F2-4F4C-95C5-438C27DCA227}">
  <a:tblStyle styleId="{C372A922-C3F2-4F4C-95C5-438C27DCA227}" styleName="Table_0">
    <a:wholeTbl>
      <a:tcTxStyle b="off" i="off">
        <a:font>
          <a:latin typeface="Comic Sans MS"/>
          <a:ea typeface="Comic Sans MS"/>
          <a:cs typeface="Comic Sans M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6EF"/>
          </a:solidFill>
        </a:fill>
      </a:tcStyle>
    </a:wholeTbl>
    <a:band1H>
      <a:tcTxStyle/>
      <a:tcStyle>
        <a:tcBdr/>
        <a:fill>
          <a:solidFill>
            <a:srgbClr val="CAECDD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ECDD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omic Sans MS"/>
          <a:ea typeface="Comic Sans MS"/>
          <a:cs typeface="Comic Sans M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omic Sans MS"/>
          <a:ea typeface="Comic Sans MS"/>
          <a:cs typeface="Comic Sans M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omic Sans MS"/>
          <a:ea typeface="Comic Sans MS"/>
          <a:cs typeface="Comic Sans M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omic Sans MS"/>
          <a:ea typeface="Comic Sans MS"/>
          <a:cs typeface="Comic Sans M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6452A58-667A-46C3-B5ED-EDB33580B556}" styleName="Table_1">
    <a:wholeTbl>
      <a:tcTxStyle b="off" i="off">
        <a:font>
          <a:latin typeface="Comic Sans MS"/>
          <a:ea typeface="Comic Sans MS"/>
          <a:cs typeface="Comic Sans MS"/>
        </a:font>
        <a:schemeClr val="dk1"/>
      </a:tcTxStyle>
      <a:tcStyle>
        <a:tcBdr>
          <a:left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7F3"/>
          </a:solidFill>
        </a:fill>
      </a:tcStyle>
    </a:wholeTbl>
    <a:band1H>
      <a:tcTxStyle/>
      <a:tcStyle>
        <a:tcBdr/>
        <a:fill>
          <a:solidFill>
            <a:srgbClr val="CCCCE6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CCCE6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7E7F3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7E7F3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D2C699C-AF08-48FC-999A-9FD76AF26519}" styleName="Table_2">
    <a:wholeTbl>
      <a:tcTxStyle b="off" i="off">
        <a:font>
          <a:latin typeface="Comic Sans MS"/>
          <a:ea typeface="Comic Sans MS"/>
          <a:cs typeface="Comic Sans MS"/>
        </a:font>
        <a:schemeClr val="dk1"/>
      </a:tcTxStyle>
      <a:tcStyle>
        <a:tcBdr>
          <a:lef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band1H>
    <a:band2H>
      <a:tcTxStyle/>
      <a:tcStyle>
        <a:tcBdr/>
      </a:tcStyle>
    </a:band2H>
    <a:band1V>
      <a:tcTxStyle/>
      <a:tcStyle>
        <a:tcBdr>
          <a:lef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1V>
    <a:band2V>
      <a:tcTxStyle/>
      <a:tcStyle>
        <a:tcBdr>
          <a:lef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omic Sans MS"/>
          <a:ea typeface="Comic Sans MS"/>
          <a:cs typeface="Comic Sans MS"/>
        </a:font>
        <a:schemeClr val="lt1"/>
      </a:tcTxStyle>
      <a:tcStyle>
        <a:tcBdr/>
        <a:fill>
          <a:solidFill>
            <a:schemeClr val="accent3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428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959"/>
        <p:guide pos="215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customschemas.google.com/relationships/presentationmetadata" Target="meta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60688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64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l" rtl="0">
              <a:spcBef>
                <a:spcPts val="64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l" rtl="0">
              <a:spcBef>
                <a:spcPts val="64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l" rtl="0">
              <a:spcBef>
                <a:spcPts val="64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70325" y="0"/>
            <a:ext cx="2960688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64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l" rtl="0">
              <a:spcBef>
                <a:spcPts val="64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l" rtl="0">
              <a:spcBef>
                <a:spcPts val="64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l" rtl="0">
              <a:spcBef>
                <a:spcPts val="64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926513"/>
            <a:ext cx="2960688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64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l" rtl="0">
              <a:spcBef>
                <a:spcPts val="64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l" rtl="0">
              <a:spcBef>
                <a:spcPts val="64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l" rtl="0">
              <a:spcBef>
                <a:spcPts val="64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70325" y="8926513"/>
            <a:ext cx="2960688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2130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3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4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5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6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7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9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0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1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2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3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4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5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6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7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8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9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0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1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2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3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34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5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6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7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8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3" name="Google Shape;583;p39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5" b="1"/>
              <a:t>Elimination of terminals on RHS: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326"/>
              </a:spcBef>
              <a:spcAft>
                <a:spcPts val="0"/>
              </a:spcAft>
              <a:buNone/>
            </a:pPr>
            <a:r>
              <a:rPr lang="en-US" sz="1085"/>
              <a:t>          </a:t>
            </a:r>
            <a:r>
              <a:rPr lang="en-US" sz="930"/>
              <a:t>We define G1 = (V’, T, P, S)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279"/>
              </a:spcBef>
              <a:spcAft>
                <a:spcPts val="0"/>
              </a:spcAft>
              <a:buNone/>
            </a:pPr>
            <a:r>
              <a:rPr lang="en-US" sz="930"/>
              <a:t>                  Where P1 and V’ are constructed as follows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279"/>
              </a:spcBef>
              <a:spcAft>
                <a:spcPts val="0"/>
              </a:spcAft>
              <a:buNone/>
            </a:pPr>
            <a:r>
              <a:rPr lang="en-US" sz="930"/>
              <a:t>         All the productions in P of the form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279"/>
              </a:spcBef>
              <a:spcAft>
                <a:spcPts val="0"/>
              </a:spcAft>
              <a:buNone/>
            </a:pPr>
            <a:r>
              <a:rPr lang="en-US" sz="930"/>
              <a:t>                       </a:t>
            </a:r>
            <a:r>
              <a:rPr lang="en-US" sz="930" b="1"/>
              <a:t>A🡪 a or A🡪BC  </a:t>
            </a:r>
            <a:r>
              <a:rPr lang="en-US" sz="930"/>
              <a:t>are included in P1.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279"/>
              </a:spcBef>
              <a:spcAft>
                <a:spcPts val="0"/>
              </a:spcAft>
              <a:buNone/>
            </a:pPr>
            <a:r>
              <a:rPr lang="en-US" sz="930"/>
              <a:t>                  All variables in V are included in V’. 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279"/>
              </a:spcBef>
              <a:spcAft>
                <a:spcPts val="0"/>
              </a:spcAft>
              <a:buNone/>
            </a:pPr>
            <a:r>
              <a:rPr lang="en-US" sz="930"/>
              <a:t>      Consider </a:t>
            </a:r>
            <a:r>
              <a:rPr lang="en-US" sz="930" b="1"/>
              <a:t>A🡪 X1X2…Xn </a:t>
            </a:r>
            <a:r>
              <a:rPr lang="en-US" sz="930"/>
              <a:t>with some terminal on RHS .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279"/>
              </a:spcBef>
              <a:spcAft>
                <a:spcPts val="0"/>
              </a:spcAft>
              <a:buNone/>
            </a:pPr>
            <a:r>
              <a:rPr lang="en-US" sz="930"/>
              <a:t>            If X</a:t>
            </a:r>
            <a:r>
              <a:rPr lang="en-US" sz="930" baseline="-25000"/>
              <a:t>i</a:t>
            </a:r>
            <a:r>
              <a:rPr lang="en-US" sz="930"/>
              <a:t> is a terminal say a</a:t>
            </a:r>
            <a:r>
              <a:rPr lang="en-US" sz="930" baseline="-25000"/>
              <a:t>1</a:t>
            </a:r>
            <a:r>
              <a:rPr lang="en-US" sz="930"/>
              <a:t>, add a new variable C</a:t>
            </a:r>
            <a:r>
              <a:rPr lang="en-US" sz="930" baseline="-25000"/>
              <a:t>ai</a:t>
            </a:r>
            <a:r>
              <a:rPr lang="en-US" sz="930"/>
              <a:t> to V’ and Cai 🡪 a</a:t>
            </a:r>
            <a:r>
              <a:rPr lang="en-US" sz="930" baseline="-25000"/>
              <a:t>i </a:t>
            </a:r>
            <a:r>
              <a:rPr lang="en-US" sz="930"/>
              <a:t>to P1.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326"/>
              </a:spcBef>
              <a:spcAft>
                <a:spcPts val="0"/>
              </a:spcAft>
              <a:buNone/>
            </a:pPr>
            <a:r>
              <a:rPr lang="en-US" sz="1085"/>
              <a:t>In production </a:t>
            </a:r>
            <a:r>
              <a:rPr lang="en-US" sz="1085" b="1"/>
              <a:t>A🡪 X1X2…Xn </a:t>
            </a:r>
            <a:r>
              <a:rPr lang="en-US" sz="1085"/>
              <a:t>every terminal on RHS is replaced by the corresponding new variable and the variable on RHS are retained.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326"/>
              </a:spcBef>
              <a:spcAft>
                <a:spcPts val="0"/>
              </a:spcAft>
              <a:buNone/>
            </a:pPr>
            <a:r>
              <a:rPr lang="en-US" sz="1085"/>
              <a:t>     The resulting production is added to P1.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326"/>
              </a:spcBef>
              <a:spcAft>
                <a:spcPts val="0"/>
              </a:spcAft>
              <a:buNone/>
            </a:pPr>
            <a:r>
              <a:rPr lang="en-US" sz="1085"/>
              <a:t>Thus we get G1=(V’,T,P,S)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279"/>
              </a:spcBef>
              <a:spcAft>
                <a:spcPts val="0"/>
              </a:spcAft>
              <a:buNone/>
            </a:pPr>
            <a:r>
              <a:rPr lang="en-US" sz="930" b="1"/>
              <a:t>Step 3.  Restricting the number of variables on RHS.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279"/>
              </a:spcBef>
              <a:spcAft>
                <a:spcPts val="0"/>
              </a:spcAft>
              <a:buNone/>
            </a:pPr>
            <a:r>
              <a:rPr lang="en-US" sz="930"/>
              <a:t>              For any production in P1 the RHS consists of 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279"/>
              </a:spcBef>
              <a:spcAft>
                <a:spcPts val="0"/>
              </a:spcAft>
              <a:buNone/>
            </a:pPr>
            <a:r>
              <a:rPr lang="en-US" sz="930"/>
              <a:t>            either a single terminal (or ∈ in S🡪∈)or two or 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279"/>
              </a:spcBef>
              <a:spcAft>
                <a:spcPts val="0"/>
              </a:spcAft>
              <a:buNone/>
            </a:pPr>
            <a:r>
              <a:rPr lang="en-US" sz="930"/>
              <a:t>              more variables.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279"/>
              </a:spcBef>
              <a:spcAft>
                <a:spcPts val="0"/>
              </a:spcAft>
              <a:buNone/>
            </a:pPr>
            <a:r>
              <a:rPr lang="en-US" sz="930"/>
              <a:t>We define G2= (V’’,T,P2,S) as follows: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279"/>
              </a:spcBef>
              <a:spcAft>
                <a:spcPts val="0"/>
              </a:spcAft>
              <a:buNone/>
            </a:pPr>
            <a:r>
              <a:rPr lang="en-US" sz="930"/>
              <a:t>All productions in P1 are added to P2 if they are in required form.All the variables in V’ are added to V’’.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279"/>
              </a:spcBef>
              <a:spcAft>
                <a:spcPts val="0"/>
              </a:spcAft>
              <a:buNone/>
            </a:pPr>
            <a:r>
              <a:rPr lang="en-US" sz="930"/>
              <a:t>Consider </a:t>
            </a:r>
            <a:r>
              <a:rPr lang="en-US" sz="930" b="1"/>
              <a:t>A🡪 A1A2…Am </a:t>
            </a:r>
            <a:r>
              <a:rPr lang="en-US" sz="930"/>
              <a:t>where m ≥ 3.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279"/>
              </a:spcBef>
              <a:spcAft>
                <a:spcPts val="0"/>
              </a:spcAft>
              <a:buNone/>
            </a:pPr>
            <a:r>
              <a:rPr lang="en-US" sz="930"/>
              <a:t>We introduce new productions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279"/>
              </a:spcBef>
              <a:spcAft>
                <a:spcPts val="0"/>
              </a:spcAft>
              <a:buNone/>
            </a:pPr>
            <a:r>
              <a:rPr lang="en-US" sz="930"/>
              <a:t> </a:t>
            </a:r>
            <a:r>
              <a:rPr lang="en-US" sz="930" b="1"/>
              <a:t>A🡪A1C1 , C1🡪A2C2….Cm-2🡪Am-1Am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279"/>
              </a:spcBef>
              <a:spcAft>
                <a:spcPts val="0"/>
              </a:spcAft>
              <a:buNone/>
            </a:pPr>
            <a:r>
              <a:rPr lang="en-US" sz="930"/>
              <a:t> And new variables</a:t>
            </a:r>
            <a:r>
              <a:rPr lang="en-US" sz="930" b="1"/>
              <a:t> C1,C2,…Cm-2</a:t>
            </a:r>
            <a:r>
              <a:rPr lang="en-US" sz="930"/>
              <a:t>.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279"/>
              </a:spcBef>
              <a:spcAft>
                <a:spcPts val="0"/>
              </a:spcAft>
              <a:buNone/>
            </a:pPr>
            <a:r>
              <a:rPr lang="en-US" sz="930"/>
              <a:t>These are added to P2 and V’’ resp.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279"/>
              </a:spcBef>
              <a:spcAft>
                <a:spcPts val="0"/>
              </a:spcAft>
              <a:buNone/>
            </a:pPr>
            <a:r>
              <a:rPr lang="en-US" sz="930"/>
              <a:t>Thus we get G2 in CNF.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279"/>
              </a:spcBef>
              <a:spcAft>
                <a:spcPts val="0"/>
              </a:spcAft>
              <a:buNone/>
            </a:pPr>
            <a:endParaRPr sz="930"/>
          </a:p>
        </p:txBody>
      </p:sp>
      <p:sp>
        <p:nvSpPr>
          <p:cNvPr id="584" name="Google Shape;584;p39:notes"/>
          <p:cNvSpPr txBox="1">
            <a:spLocks noGrp="1"/>
          </p:cNvSpPr>
          <p:nvPr>
            <p:ph type="sldNum" idx="12"/>
          </p:nvPr>
        </p:nvSpPr>
        <p:spPr>
          <a:xfrm>
            <a:off x="3870325" y="8926513"/>
            <a:ext cx="2960688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0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41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5" name="Google Shape;605;p42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42:notes"/>
          <p:cNvSpPr txBox="1">
            <a:spLocks noGrp="1"/>
          </p:cNvSpPr>
          <p:nvPr>
            <p:ph type="sldNum" idx="12"/>
          </p:nvPr>
        </p:nvSpPr>
        <p:spPr>
          <a:xfrm>
            <a:off x="3870325" y="8926513"/>
            <a:ext cx="2960688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4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60688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Cpt S 317: Spring 2009</a:t>
            </a:r>
            <a:endParaRPr/>
          </a:p>
        </p:txBody>
      </p:sp>
      <p:sp>
        <p:nvSpPr>
          <p:cNvPr id="615" name="Google Shape;615;p43:notes"/>
          <p:cNvSpPr txBox="1">
            <a:spLocks noGrp="1"/>
          </p:cNvSpPr>
          <p:nvPr>
            <p:ph type="ftr" idx="11"/>
          </p:nvPr>
        </p:nvSpPr>
        <p:spPr>
          <a:xfrm>
            <a:off x="0" y="8926513"/>
            <a:ext cx="2960688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School of EECS, WSU</a:t>
            </a:r>
            <a:endParaRPr/>
          </a:p>
        </p:txBody>
      </p:sp>
      <p:sp>
        <p:nvSpPr>
          <p:cNvPr id="616" name="Google Shape;616;p43:notes"/>
          <p:cNvSpPr txBox="1">
            <a:spLocks noGrp="1"/>
          </p:cNvSpPr>
          <p:nvPr>
            <p:ph type="sldNum" idx="12"/>
          </p:nvPr>
        </p:nvSpPr>
        <p:spPr>
          <a:xfrm>
            <a:off x="3870325" y="8926513"/>
            <a:ext cx="2960688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42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43:notes"/>
          <p:cNvSpPr>
            <a:spLocks noGrp="1" noRot="1" noChangeAspect="1"/>
          </p:cNvSpPr>
          <p:nvPr>
            <p:ph type="sldImg" idx="3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8" name="Google Shape;618;p43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44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45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46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47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8" name="Google Shape;698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48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49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2" name="Google Shape;732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50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9" name="Google Shape;739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51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52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3" name="Google Shape;773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53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54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7" name="Google Shape;827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55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56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57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2" name="Google Shape;872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58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2" name="Google Shape;882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59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2" name="Google Shape;892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60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" name="Google Shape;902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61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9" name="Google Shape;909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62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6" name="Google Shape;916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63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5" name="Google Shape;925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64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4" name="Google Shape;934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65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1" name="Google Shape;941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66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9" name="Google Shape;949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67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7" name="Google Shape;957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68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6" name="Google Shape;966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69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3" name="Google Shape;973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70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0" name="Google Shape;980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71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7" name="Google Shape;987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72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4" name="Google Shape;994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73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1" name="Google Shape;1001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74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8" name="Google Shape;1008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75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6" name="Google Shape;1016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75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6" name="Google Shape;1016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87087992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75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6" name="Google Shape;1016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738767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75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6" name="Google Shape;1016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0308693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75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6" name="Google Shape;1016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80779594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76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3" name="Google Shape;1023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77:notes"/>
          <p:cNvSpPr txBox="1">
            <a:spLocks noGrp="1"/>
          </p:cNvSpPr>
          <p:nvPr>
            <p:ph type="body" idx="1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0" name="Google Shape;1030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mic Sans MS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mic Sans MS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mic Sans MS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mic Sans MS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mic Sans MS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mic Sans MS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mic Sans MS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9"/>
          <p:cNvSpPr txBox="1">
            <a:spLocks noGrp="1"/>
          </p:cNvSpPr>
          <p:nvPr>
            <p:ph type="dt" idx="10"/>
          </p:nvPr>
        </p:nvSpPr>
        <p:spPr>
          <a:xfrm>
            <a:off x="1524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9"/>
          <p:cNvSpPr txBox="1">
            <a:spLocks noGrp="1"/>
          </p:cNvSpPr>
          <p:nvPr>
            <p:ph type="ftr" idx="11"/>
          </p:nvPr>
        </p:nvSpPr>
        <p:spPr>
          <a:xfrm>
            <a:off x="3124200" y="65532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9"/>
          <p:cNvSpPr txBox="1">
            <a:spLocks noGrp="1"/>
          </p:cNvSpPr>
          <p:nvPr>
            <p:ph type="sldNum" idx="12"/>
          </p:nvPr>
        </p:nvSpPr>
        <p:spPr>
          <a:xfrm>
            <a:off x="70866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0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0"/>
          <p:cNvSpPr txBox="1">
            <a:spLocks noGrp="1"/>
          </p:cNvSpPr>
          <p:nvPr>
            <p:ph type="body" idx="1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80"/>
          <p:cNvSpPr txBox="1">
            <a:spLocks noGrp="1"/>
          </p:cNvSpPr>
          <p:nvPr>
            <p:ph type="dt" idx="10"/>
          </p:nvPr>
        </p:nvSpPr>
        <p:spPr>
          <a:xfrm>
            <a:off x="1524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0"/>
          <p:cNvSpPr txBox="1">
            <a:spLocks noGrp="1"/>
          </p:cNvSpPr>
          <p:nvPr>
            <p:ph type="ftr" idx="11"/>
          </p:nvPr>
        </p:nvSpPr>
        <p:spPr>
          <a:xfrm>
            <a:off x="3124200" y="65532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0"/>
          <p:cNvSpPr txBox="1">
            <a:spLocks noGrp="1"/>
          </p:cNvSpPr>
          <p:nvPr>
            <p:ph type="sldNum" idx="12"/>
          </p:nvPr>
        </p:nvSpPr>
        <p:spPr>
          <a:xfrm>
            <a:off x="70866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1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1"/>
          <p:cNvSpPr txBox="1">
            <a:spLocks noGrp="1"/>
          </p:cNvSpPr>
          <p:nvPr>
            <p:ph type="dt" idx="10"/>
          </p:nvPr>
        </p:nvSpPr>
        <p:spPr>
          <a:xfrm>
            <a:off x="1524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81"/>
          <p:cNvSpPr txBox="1">
            <a:spLocks noGrp="1"/>
          </p:cNvSpPr>
          <p:nvPr>
            <p:ph type="ftr" idx="11"/>
          </p:nvPr>
        </p:nvSpPr>
        <p:spPr>
          <a:xfrm>
            <a:off x="3124200" y="65532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1"/>
          <p:cNvSpPr txBox="1">
            <a:spLocks noGrp="1"/>
          </p:cNvSpPr>
          <p:nvPr>
            <p:ph type="sldNum" idx="12"/>
          </p:nvPr>
        </p:nvSpPr>
        <p:spPr>
          <a:xfrm>
            <a:off x="70866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2"/>
          <p:cNvSpPr txBox="1">
            <a:spLocks noGrp="1"/>
          </p:cNvSpPr>
          <p:nvPr>
            <p:ph type="dt" idx="10"/>
          </p:nvPr>
        </p:nvSpPr>
        <p:spPr>
          <a:xfrm>
            <a:off x="1524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2"/>
          <p:cNvSpPr txBox="1">
            <a:spLocks noGrp="1"/>
          </p:cNvSpPr>
          <p:nvPr>
            <p:ph type="ftr" idx="11"/>
          </p:nvPr>
        </p:nvSpPr>
        <p:spPr>
          <a:xfrm>
            <a:off x="3124200" y="65532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2"/>
          <p:cNvSpPr txBox="1">
            <a:spLocks noGrp="1"/>
          </p:cNvSpPr>
          <p:nvPr>
            <p:ph type="sldNum" idx="12"/>
          </p:nvPr>
        </p:nvSpPr>
        <p:spPr>
          <a:xfrm>
            <a:off x="70866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3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3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mic Sans MS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mic Sans MS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mic Sans MS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omic Sans MS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omic Sans MS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omic Sans MS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omic Sans MS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omic Sans MS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omic Sans MS"/>
              <a:buNone/>
              <a:defRPr sz="1400"/>
            </a:lvl9pPr>
          </a:lstStyle>
          <a:p>
            <a:endParaRPr/>
          </a:p>
        </p:txBody>
      </p:sp>
      <p:sp>
        <p:nvSpPr>
          <p:cNvPr id="39" name="Google Shape;39;p83"/>
          <p:cNvSpPr txBox="1">
            <a:spLocks noGrp="1"/>
          </p:cNvSpPr>
          <p:nvPr>
            <p:ph type="dt" idx="10"/>
          </p:nvPr>
        </p:nvSpPr>
        <p:spPr>
          <a:xfrm>
            <a:off x="1524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3"/>
          <p:cNvSpPr txBox="1">
            <a:spLocks noGrp="1"/>
          </p:cNvSpPr>
          <p:nvPr>
            <p:ph type="ftr" idx="11"/>
          </p:nvPr>
        </p:nvSpPr>
        <p:spPr>
          <a:xfrm>
            <a:off x="3124200" y="65532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3"/>
          <p:cNvSpPr txBox="1">
            <a:spLocks noGrp="1"/>
          </p:cNvSpPr>
          <p:nvPr>
            <p:ph type="sldNum" idx="12"/>
          </p:nvPr>
        </p:nvSpPr>
        <p:spPr>
          <a:xfrm>
            <a:off x="70866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4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4"/>
          <p:cNvSpPr txBox="1">
            <a:spLocks noGrp="1"/>
          </p:cNvSpPr>
          <p:nvPr>
            <p:ph type="body" idx="1"/>
          </p:nvPr>
        </p:nvSpPr>
        <p:spPr>
          <a:xfrm>
            <a:off x="152400" y="838200"/>
            <a:ext cx="4343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1400"/>
              <a:buNone/>
              <a:defRPr sz="2800"/>
            </a:lvl1pPr>
            <a:lvl2pPr marL="914400" lvl="1" indent="-228600" algn="l">
              <a:spcBef>
                <a:spcPts val="480"/>
              </a:spcBef>
              <a:spcAft>
                <a:spcPts val="0"/>
              </a:spcAft>
              <a:buSzPts val="1400"/>
              <a:buNone/>
              <a:defRPr sz="2400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5pPr>
            <a:lvl6pPr marL="2743200" lvl="5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5" name="Google Shape;45;p84"/>
          <p:cNvSpPr txBox="1">
            <a:spLocks noGrp="1"/>
          </p:cNvSpPr>
          <p:nvPr>
            <p:ph type="body" idx="2"/>
          </p:nvPr>
        </p:nvSpPr>
        <p:spPr>
          <a:xfrm>
            <a:off x="4648200" y="838200"/>
            <a:ext cx="4343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1400"/>
              <a:buNone/>
              <a:defRPr sz="2800"/>
            </a:lvl1pPr>
            <a:lvl2pPr marL="914400" lvl="1" indent="-228600" algn="l">
              <a:spcBef>
                <a:spcPts val="480"/>
              </a:spcBef>
              <a:spcAft>
                <a:spcPts val="0"/>
              </a:spcAft>
              <a:buSzPts val="1400"/>
              <a:buNone/>
              <a:defRPr sz="2400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5pPr>
            <a:lvl6pPr marL="2743200" lvl="5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6" name="Google Shape;46;p84"/>
          <p:cNvSpPr txBox="1">
            <a:spLocks noGrp="1"/>
          </p:cNvSpPr>
          <p:nvPr>
            <p:ph type="dt" idx="10"/>
          </p:nvPr>
        </p:nvSpPr>
        <p:spPr>
          <a:xfrm>
            <a:off x="1524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4"/>
          <p:cNvSpPr txBox="1">
            <a:spLocks noGrp="1"/>
          </p:cNvSpPr>
          <p:nvPr>
            <p:ph type="ftr" idx="11"/>
          </p:nvPr>
        </p:nvSpPr>
        <p:spPr>
          <a:xfrm>
            <a:off x="3124200" y="65532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4"/>
          <p:cNvSpPr txBox="1">
            <a:spLocks noGrp="1"/>
          </p:cNvSpPr>
          <p:nvPr>
            <p:ph type="sldNum" idx="12"/>
          </p:nvPr>
        </p:nvSpPr>
        <p:spPr>
          <a:xfrm>
            <a:off x="70866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mic Sans MS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mic Sans MS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mic Sans MS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mic Sans MS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mic Sans MS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mic Sans MS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mic Sans MS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mic Sans MS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8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400"/>
              <a:buNone/>
              <a:defRPr sz="24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53" name="Google Shape;53;p8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mic Sans MS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mic Sans MS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mic Sans MS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mic Sans MS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mic Sans MS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mic Sans MS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mic Sans MS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mic Sans MS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8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400"/>
              <a:buNone/>
              <a:defRPr sz="24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55" name="Google Shape;55;p85"/>
          <p:cNvSpPr txBox="1">
            <a:spLocks noGrp="1"/>
          </p:cNvSpPr>
          <p:nvPr>
            <p:ph type="dt" idx="10"/>
          </p:nvPr>
        </p:nvSpPr>
        <p:spPr>
          <a:xfrm>
            <a:off x="1524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5"/>
          <p:cNvSpPr txBox="1">
            <a:spLocks noGrp="1"/>
          </p:cNvSpPr>
          <p:nvPr>
            <p:ph type="ftr" idx="11"/>
          </p:nvPr>
        </p:nvSpPr>
        <p:spPr>
          <a:xfrm>
            <a:off x="3124200" y="65532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5"/>
          <p:cNvSpPr txBox="1">
            <a:spLocks noGrp="1"/>
          </p:cNvSpPr>
          <p:nvPr>
            <p:ph type="sldNum" idx="12"/>
          </p:nvPr>
        </p:nvSpPr>
        <p:spPr>
          <a:xfrm>
            <a:off x="70866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8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40"/>
              </a:spcBef>
              <a:spcAft>
                <a:spcPts val="0"/>
              </a:spcAft>
              <a:buSzPts val="1400"/>
              <a:buNone/>
              <a:defRPr sz="3200"/>
            </a:lvl1pPr>
            <a:lvl2pPr marL="914400" lvl="1" indent="-228600" algn="l">
              <a:spcBef>
                <a:spcPts val="560"/>
              </a:spcBef>
              <a:spcAft>
                <a:spcPts val="0"/>
              </a:spcAft>
              <a:buSzPts val="1400"/>
              <a:buNone/>
              <a:defRPr sz="2800"/>
            </a:lvl2pPr>
            <a:lvl3pPr marL="1371600" lvl="2" indent="-228600" algn="l">
              <a:spcBef>
                <a:spcPts val="480"/>
              </a:spcBef>
              <a:spcAft>
                <a:spcPts val="0"/>
              </a:spcAft>
              <a:buSzPts val="1400"/>
              <a:buNone/>
              <a:defRPr sz="2400"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5pPr>
            <a:lvl6pPr marL="2743200" lvl="5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>
            <a:endParaRPr/>
          </a:p>
        </p:txBody>
      </p:sp>
      <p:sp>
        <p:nvSpPr>
          <p:cNvPr id="61" name="Google Shape;61;p8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omic Sans MS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mic Sans MS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Comic Sans MS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Comic Sans MS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Comic Sans MS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Comic Sans MS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Comic Sans MS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Comic Sans MS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Comic Sans MS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86"/>
          <p:cNvSpPr txBox="1">
            <a:spLocks noGrp="1"/>
          </p:cNvSpPr>
          <p:nvPr>
            <p:ph type="dt" idx="10"/>
          </p:nvPr>
        </p:nvSpPr>
        <p:spPr>
          <a:xfrm>
            <a:off x="1524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6"/>
          <p:cNvSpPr txBox="1">
            <a:spLocks noGrp="1"/>
          </p:cNvSpPr>
          <p:nvPr>
            <p:ph type="ftr" idx="11"/>
          </p:nvPr>
        </p:nvSpPr>
        <p:spPr>
          <a:xfrm>
            <a:off x="3124200" y="65532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86"/>
          <p:cNvSpPr txBox="1">
            <a:spLocks noGrp="1"/>
          </p:cNvSpPr>
          <p:nvPr>
            <p:ph type="sldNum" idx="12"/>
          </p:nvPr>
        </p:nvSpPr>
        <p:spPr>
          <a:xfrm>
            <a:off x="70866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8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8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omic Sans MS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mic Sans MS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Comic Sans MS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Comic Sans MS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Comic Sans MS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Comic Sans MS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Comic Sans MS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Comic Sans MS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Comic Sans MS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87"/>
          <p:cNvSpPr txBox="1">
            <a:spLocks noGrp="1"/>
          </p:cNvSpPr>
          <p:nvPr>
            <p:ph type="dt" idx="10"/>
          </p:nvPr>
        </p:nvSpPr>
        <p:spPr>
          <a:xfrm>
            <a:off x="1524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87"/>
          <p:cNvSpPr txBox="1">
            <a:spLocks noGrp="1"/>
          </p:cNvSpPr>
          <p:nvPr>
            <p:ph type="ftr" idx="11"/>
          </p:nvPr>
        </p:nvSpPr>
        <p:spPr>
          <a:xfrm>
            <a:off x="3124200" y="65532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87"/>
          <p:cNvSpPr txBox="1">
            <a:spLocks noGrp="1"/>
          </p:cNvSpPr>
          <p:nvPr>
            <p:ph type="sldNum" idx="12"/>
          </p:nvPr>
        </p:nvSpPr>
        <p:spPr>
          <a:xfrm>
            <a:off x="70866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8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88"/>
          <p:cNvSpPr txBox="1">
            <a:spLocks noGrp="1"/>
          </p:cNvSpPr>
          <p:nvPr>
            <p:ph type="body" idx="1"/>
          </p:nvPr>
        </p:nvSpPr>
        <p:spPr>
          <a:xfrm rot="5400000">
            <a:off x="1828800" y="-838200"/>
            <a:ext cx="5486400" cy="88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88"/>
          <p:cNvSpPr txBox="1">
            <a:spLocks noGrp="1"/>
          </p:cNvSpPr>
          <p:nvPr>
            <p:ph type="dt" idx="10"/>
          </p:nvPr>
        </p:nvSpPr>
        <p:spPr>
          <a:xfrm>
            <a:off x="1524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8"/>
          <p:cNvSpPr txBox="1">
            <a:spLocks noGrp="1"/>
          </p:cNvSpPr>
          <p:nvPr>
            <p:ph type="ftr" idx="11"/>
          </p:nvPr>
        </p:nvSpPr>
        <p:spPr>
          <a:xfrm>
            <a:off x="3124200" y="65532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88"/>
          <p:cNvSpPr txBox="1">
            <a:spLocks noGrp="1"/>
          </p:cNvSpPr>
          <p:nvPr>
            <p:ph type="sldNum" idx="12"/>
          </p:nvPr>
        </p:nvSpPr>
        <p:spPr>
          <a:xfrm>
            <a:off x="70866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9"/>
          <p:cNvSpPr txBox="1">
            <a:spLocks noGrp="1"/>
          </p:cNvSpPr>
          <p:nvPr>
            <p:ph type="title"/>
          </p:nvPr>
        </p:nvSpPr>
        <p:spPr>
          <a:xfrm rot="5400000">
            <a:off x="4800600" y="2133600"/>
            <a:ext cx="61722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89"/>
          <p:cNvSpPr txBox="1">
            <a:spLocks noGrp="1"/>
          </p:cNvSpPr>
          <p:nvPr>
            <p:ph type="body" idx="1"/>
          </p:nvPr>
        </p:nvSpPr>
        <p:spPr>
          <a:xfrm rot="5400000">
            <a:off x="304800" y="0"/>
            <a:ext cx="6172200" cy="6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89"/>
          <p:cNvSpPr txBox="1">
            <a:spLocks noGrp="1"/>
          </p:cNvSpPr>
          <p:nvPr>
            <p:ph type="dt" idx="10"/>
          </p:nvPr>
        </p:nvSpPr>
        <p:spPr>
          <a:xfrm>
            <a:off x="1524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9"/>
          <p:cNvSpPr txBox="1">
            <a:spLocks noGrp="1"/>
          </p:cNvSpPr>
          <p:nvPr>
            <p:ph type="ftr" idx="11"/>
          </p:nvPr>
        </p:nvSpPr>
        <p:spPr>
          <a:xfrm>
            <a:off x="3124200" y="65532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89"/>
          <p:cNvSpPr txBox="1">
            <a:spLocks noGrp="1"/>
          </p:cNvSpPr>
          <p:nvPr>
            <p:ph type="sldNum" idx="12"/>
          </p:nvPr>
        </p:nvSpPr>
        <p:spPr>
          <a:xfrm>
            <a:off x="70866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8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11" name="Google Shape;11;p78"/>
          <p:cNvSpPr txBox="1">
            <a:spLocks noGrp="1"/>
          </p:cNvSpPr>
          <p:nvPr>
            <p:ph type="body" idx="1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64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914400" marR="0" lvl="1" indent="-228600" algn="l" rtl="0">
              <a:spcBef>
                <a:spcPts val="56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1371600" marR="0" lvl="2" indent="-228600" algn="l" rtl="0">
              <a:spcBef>
                <a:spcPts val="48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1828800" marR="0" lvl="3" indent="-228600" algn="l" rtl="0">
              <a:spcBef>
                <a:spcPts val="4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2743200" marR="0" lvl="5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3200400" marR="0" lvl="6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3657600" marR="0" lvl="7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4114800" marR="0" lvl="8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12" name="Google Shape;12;p78"/>
          <p:cNvSpPr txBox="1">
            <a:spLocks noGrp="1"/>
          </p:cNvSpPr>
          <p:nvPr>
            <p:ph type="dt" idx="10"/>
          </p:nvPr>
        </p:nvSpPr>
        <p:spPr>
          <a:xfrm>
            <a:off x="1524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64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l" rtl="0">
              <a:spcBef>
                <a:spcPts val="64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l" rtl="0">
              <a:spcBef>
                <a:spcPts val="64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l" rtl="0">
              <a:spcBef>
                <a:spcPts val="64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13" name="Google Shape;13;p78"/>
          <p:cNvSpPr txBox="1">
            <a:spLocks noGrp="1"/>
          </p:cNvSpPr>
          <p:nvPr>
            <p:ph type="ftr" idx="11"/>
          </p:nvPr>
        </p:nvSpPr>
        <p:spPr>
          <a:xfrm>
            <a:off x="3124200" y="65532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64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l" rtl="0">
              <a:spcBef>
                <a:spcPts val="64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l" rtl="0">
              <a:spcBef>
                <a:spcPts val="64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l" rtl="0">
              <a:spcBef>
                <a:spcPts val="64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14" name="Google Shape;14;p78"/>
          <p:cNvSpPr txBox="1">
            <a:spLocks noGrp="1"/>
          </p:cNvSpPr>
          <p:nvPr>
            <p:ph type="sldNum" idx="12"/>
          </p:nvPr>
        </p:nvSpPr>
        <p:spPr>
          <a:xfrm>
            <a:off x="70866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17.png"/><Relationship Id="rId4" Type="http://schemas.openxmlformats.org/officeDocument/2006/relationships/image" Target="../media/image23.png"/><Relationship Id="rId9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0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8.png"/><Relationship Id="rId11" Type="http://schemas.openxmlformats.org/officeDocument/2006/relationships/image" Target="../media/image3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5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5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jp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jp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685800" y="2982686"/>
            <a:ext cx="777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Theory of Computation</a:t>
            </a:r>
            <a:br>
              <a:rPr lang="en-US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CSE ( CET2008B)</a:t>
            </a:r>
            <a:br>
              <a:rPr lang="en-US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TY BTech</a:t>
            </a:r>
            <a:b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Unit III</a:t>
            </a:r>
            <a:br>
              <a:rPr lang="en-US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u="sng" dirty="0">
                <a:solidFill>
                  <a:srgbClr val="FFC000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CFG and PDA</a:t>
            </a:r>
            <a:endParaRPr sz="4400" u="sng" dirty="0">
              <a:solidFill>
                <a:srgbClr val="FFC000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</p:txBody>
      </p:sp>
      <p:pic>
        <p:nvPicPr>
          <p:cNvPr id="90" name="Google Shape;90;p1" descr="MIT WPU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81200" y="152400"/>
            <a:ext cx="4762500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457200" y="272142"/>
            <a:ext cx="7772400" cy="43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Unit- III</a:t>
            </a:r>
            <a:endParaRPr dirty="0"/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1028701" y="1224642"/>
            <a:ext cx="7543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200"/>
              <a:buFont typeface="Times New Roman"/>
              <a:buNone/>
            </a:pPr>
            <a:r>
              <a:rPr lang="en-US" dirty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 Free Grammar(CFG) and Pushdown Automata </a:t>
            </a:r>
            <a:endParaRPr dirty="0"/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rgbClr val="7030A0"/>
              </a:buClr>
              <a:buSzPts val="3200"/>
              <a:buFont typeface="Times New Roman"/>
              <a:buNone/>
            </a:pPr>
            <a:r>
              <a:rPr lang="en-US" dirty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3B1191A-7E42-414C-A995-9F8064AC5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9" y="2726379"/>
            <a:ext cx="8001002" cy="2215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098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Course Objectives &amp; Course Outcomes</a:t>
            </a:r>
            <a:endParaRPr/>
          </a:p>
        </p:txBody>
      </p:sp>
      <p:cxnSp>
        <p:nvCxnSpPr>
          <p:cNvPr id="96" name="Google Shape;96;p2"/>
          <p:cNvCxnSpPr/>
          <p:nvPr/>
        </p:nvCxnSpPr>
        <p:spPr>
          <a:xfrm>
            <a:off x="0" y="1143000"/>
            <a:ext cx="9144000" cy="1588"/>
          </a:xfrm>
          <a:prstGeom prst="straightConnector1">
            <a:avLst/>
          </a:prstGeom>
          <a:noFill/>
          <a:ln w="9525" cap="flat" cmpd="sng">
            <a:solidFill>
              <a:srgbClr val="00CB9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7" name="Google Shape;97;p2"/>
          <p:cNvSpPr/>
          <p:nvPr/>
        </p:nvSpPr>
        <p:spPr>
          <a:xfrm>
            <a:off x="0" y="1143000"/>
            <a:ext cx="9144000" cy="5468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Objectives</a:t>
            </a: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27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understand the basics of automata theory and its operations. </a:t>
            </a:r>
            <a:endParaRPr/>
          </a:p>
          <a:p>
            <a:pPr marL="0" marR="0" lvl="0" indent="-127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understand problem classification and problem solving by machines. </a:t>
            </a:r>
            <a:endParaRPr/>
          </a:p>
          <a:p>
            <a:pPr marL="0" marR="0" lvl="0" indent="-127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study computing machines by describing, classifying and comparing different types of computational models.</a:t>
            </a:r>
            <a:endParaRPr/>
          </a:p>
          <a:p>
            <a:pPr marL="0" marR="0" lvl="0" indent="-127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understand the fundamentals of decidability and computational complexity.</a:t>
            </a: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2000" b="1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1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Outcomes</a:t>
            </a: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27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After completion of this course students will be able:</a:t>
            </a:r>
            <a:endParaRPr/>
          </a:p>
          <a:p>
            <a:pPr marL="0" marR="0" lvl="0" indent="-127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construct finite state machines to solve problems in computing.</a:t>
            </a:r>
            <a:endParaRPr/>
          </a:p>
          <a:p>
            <a:pPr marL="0" marR="0" lvl="0" indent="-127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write mathematical expressions and syntax verification for the formal languages. </a:t>
            </a:r>
            <a:endParaRPr/>
          </a:p>
          <a:p>
            <a:pPr marL="0" marR="0" lvl="0" indent="-127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construct and analyze Push Down Automata and Turing Machine for formal languages.</a:t>
            </a:r>
            <a:endParaRPr/>
          </a:p>
          <a:p>
            <a:pPr marL="0" marR="0" lvl="0" indent="-127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express the understanding of decidability and complexity. </a:t>
            </a:r>
            <a:endParaRPr sz="2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5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800"/>
            <a:ext cx="1143000" cy="782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 Books &amp; Reference Books</a:t>
            </a:r>
            <a:endParaRPr/>
          </a:p>
        </p:txBody>
      </p:sp>
      <p:cxnSp>
        <p:nvCxnSpPr>
          <p:cNvPr id="104" name="Google Shape;104;p3"/>
          <p:cNvCxnSpPr/>
          <p:nvPr/>
        </p:nvCxnSpPr>
        <p:spPr>
          <a:xfrm>
            <a:off x="0" y="1143000"/>
            <a:ext cx="9144000" cy="1588"/>
          </a:xfrm>
          <a:prstGeom prst="straightConnector1">
            <a:avLst/>
          </a:prstGeom>
          <a:noFill/>
          <a:ln w="9525" cap="flat" cmpd="sng">
            <a:solidFill>
              <a:srgbClr val="00CB9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5" name="Google Shape;105;p3"/>
          <p:cNvSpPr/>
          <p:nvPr/>
        </p:nvSpPr>
        <p:spPr>
          <a:xfrm>
            <a:off x="0" y="1143000"/>
            <a:ext cx="9144000" cy="556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2921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Arial"/>
              <a:buNone/>
            </a:pPr>
            <a:endParaRPr sz="2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 Books</a:t>
            </a:r>
            <a:endParaRPr/>
          </a:p>
          <a:p>
            <a:pPr marL="0" marR="0" lvl="0" indent="-127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John C. Martin, Introduction to Language and Theory of Computation, TMH, 3rdEdition, ISBN: 978-0-07-066048-9.</a:t>
            </a:r>
            <a:endParaRPr/>
          </a:p>
          <a:p>
            <a:pPr marL="0" marR="0" lvl="0" indent="-127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Vivek Kulkarni, Theory of Computation, Oxford University Press, ISBN-13: 978-0-19-808458-7.</a:t>
            </a:r>
            <a:endParaRPr/>
          </a:p>
          <a:p>
            <a:pPr marL="514350" marR="0" lvl="0" indent="-51435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 Books</a:t>
            </a:r>
            <a:endParaRPr/>
          </a:p>
          <a:p>
            <a:pPr marL="0" marR="0" lvl="0" indent="-127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K.L.P Mishra,N. Chandrasekaran,Theory of Computer Science (Automata, Languages and Computation), Prentice Hall India, 2nd Edition.</a:t>
            </a:r>
            <a:endParaRPr/>
          </a:p>
          <a:p>
            <a:pPr marL="0" marR="0" lvl="0" indent="-127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Michael Sipser, Introduction to the Theory of Computation,CENGAGE Learning, 3rd Edition, ISBN:13:978-81-315-2529-6.</a:t>
            </a:r>
            <a:endParaRPr/>
          </a:p>
          <a:p>
            <a:pPr marL="0" marR="0" lvl="0" indent="-127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Daniel Cohen, Introduction to Computer Theory, Wiley India, 2nd Edition, ISBN: 9788126513345.</a:t>
            </a:r>
            <a:endParaRPr/>
          </a:p>
          <a:p>
            <a:pPr marL="0" marR="0" lvl="0" indent="-127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Kavi Mahesh, Theory of Computation: A Problem Solving Approach, 1st Edition, Wiley-India, ISBN: 978-81-265-3311-4.</a:t>
            </a:r>
            <a:endParaRPr/>
          </a:p>
        </p:txBody>
      </p:sp>
      <p:pic>
        <p:nvPicPr>
          <p:cNvPr id="106" name="Google Shape;10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4925"/>
            <a:ext cx="1143000" cy="782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 txBox="1">
            <a:spLocks noGrp="1"/>
          </p:cNvSpPr>
          <p:nvPr>
            <p:ph type="title"/>
          </p:nvPr>
        </p:nvSpPr>
        <p:spPr>
          <a:xfrm>
            <a:off x="1295400" y="457200"/>
            <a:ext cx="7162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</p:txBody>
      </p:sp>
      <p:sp>
        <p:nvSpPr>
          <p:cNvPr id="130" name="Google Shape;130;p6"/>
          <p:cNvSpPr txBox="1"/>
          <p:nvPr/>
        </p:nvSpPr>
        <p:spPr>
          <a:xfrm>
            <a:off x="838200" y="1752600"/>
            <a:ext cx="7848600" cy="2986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27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Finite Automata </a:t>
            </a: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accept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all regular languages and only regular languages 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mic Sans MS"/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27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simple languages are non regular: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-  	{a</a:t>
            </a:r>
            <a:r>
              <a:rPr lang="en-US" sz="20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0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n = 0, 1, 2, …}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-  	{w : w a is palindrome}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there is no finite automata that accepts them.</a:t>
            </a:r>
            <a:endParaRPr/>
          </a:p>
        </p:txBody>
      </p:sp>
      <p:sp>
        <p:nvSpPr>
          <p:cNvPr id="131" name="Google Shape;131;p6"/>
          <p:cNvSpPr txBox="1"/>
          <p:nvPr/>
        </p:nvSpPr>
        <p:spPr>
          <a:xfrm>
            <a:off x="441325" y="4648200"/>
            <a:ext cx="8093075" cy="892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203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Context-Free Languages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a larger class of languages that encompasses all regular languages and  many others, including the two above.</a:t>
            </a:r>
            <a:endParaRPr/>
          </a:p>
        </p:txBody>
      </p:sp>
      <p:pic>
        <p:nvPicPr>
          <p:cNvPr id="132" name="Google Shape;132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>
            <a:spLocks noGrp="1"/>
          </p:cNvSpPr>
          <p:nvPr>
            <p:ph type="body" idx="1"/>
          </p:nvPr>
        </p:nvSpPr>
        <p:spPr>
          <a:xfrm>
            <a:off x="152400" y="990600"/>
            <a:ext cx="88392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2133600" y="3886200"/>
            <a:ext cx="4876800" cy="22860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9" name="Google Shape;139;p7"/>
          <p:cNvSpPr txBox="1"/>
          <p:nvPr/>
        </p:nvSpPr>
        <p:spPr>
          <a:xfrm>
            <a:off x="2743200" y="4267200"/>
            <a:ext cx="3641725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Regular Languages</a:t>
            </a:r>
            <a:endParaRPr/>
          </a:p>
        </p:txBody>
      </p:sp>
      <p:pic>
        <p:nvPicPr>
          <p:cNvPr id="140" name="Google Shape;14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47800" y="2819400"/>
            <a:ext cx="257810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94300" y="2794000"/>
            <a:ext cx="1409700" cy="71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24200" y="5105400"/>
            <a:ext cx="952500" cy="3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76800" y="5029200"/>
            <a:ext cx="1308100" cy="4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7"/>
          <p:cNvSpPr/>
          <p:nvPr/>
        </p:nvSpPr>
        <p:spPr>
          <a:xfrm>
            <a:off x="685800" y="1219200"/>
            <a:ext cx="7848600" cy="5105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5" name="Google Shape;145;p7"/>
          <p:cNvSpPr txBox="1"/>
          <p:nvPr/>
        </p:nvSpPr>
        <p:spPr>
          <a:xfrm>
            <a:off x="2133600" y="1905000"/>
            <a:ext cx="4795838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Context-Free Languages</a:t>
            </a:r>
            <a:endParaRPr/>
          </a:p>
        </p:txBody>
      </p:sp>
      <p:sp>
        <p:nvSpPr>
          <p:cNvPr id="146" name="Google Shape;146;p7"/>
          <p:cNvSpPr txBox="1">
            <a:spLocks noGrp="1"/>
          </p:cNvSpPr>
          <p:nvPr>
            <p:ph type="title"/>
          </p:nvPr>
        </p:nvSpPr>
        <p:spPr>
          <a:xfrm>
            <a:off x="1371600" y="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Context-Free Languages and Regular Languages</a:t>
            </a:r>
            <a:endParaRPr/>
          </a:p>
        </p:txBody>
      </p:sp>
      <p:pic>
        <p:nvPicPr>
          <p:cNvPr id="147" name="Google Shape;147;p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Formal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Definition of a Grammar</a:t>
            </a:r>
            <a:endParaRPr/>
          </a:p>
        </p:txBody>
      </p:sp>
      <p:pic>
        <p:nvPicPr>
          <p:cNvPr id="153" name="Google Shape;153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3200" y="1447800"/>
            <a:ext cx="3035300" cy="55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8"/>
          <p:cNvSpPr txBox="1"/>
          <p:nvPr/>
        </p:nvSpPr>
        <p:spPr>
          <a:xfrm>
            <a:off x="228600" y="2667000"/>
            <a:ext cx="1881188" cy="1163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Set of </a:t>
            </a:r>
            <a:endParaRPr/>
          </a:p>
          <a:p>
            <a:pPr marL="0" marR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variables</a:t>
            </a:r>
            <a:endParaRPr/>
          </a:p>
        </p:txBody>
      </p:sp>
      <p:sp>
        <p:nvSpPr>
          <p:cNvPr id="155" name="Google Shape;155;p8"/>
          <p:cNvSpPr txBox="1"/>
          <p:nvPr/>
        </p:nvSpPr>
        <p:spPr>
          <a:xfrm>
            <a:off x="2362200" y="3581400"/>
            <a:ext cx="1878013" cy="1747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Set of </a:t>
            </a:r>
            <a:endParaRPr/>
          </a:p>
          <a:p>
            <a:pPr marL="0" marR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terminal </a:t>
            </a:r>
            <a:endParaRPr/>
          </a:p>
          <a:p>
            <a:pPr marL="0" marR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symbols</a:t>
            </a:r>
            <a:endParaRPr/>
          </a:p>
        </p:txBody>
      </p:sp>
      <p:sp>
        <p:nvSpPr>
          <p:cNvPr id="156" name="Google Shape;156;p8"/>
          <p:cNvSpPr txBox="1"/>
          <p:nvPr/>
        </p:nvSpPr>
        <p:spPr>
          <a:xfrm>
            <a:off x="4572000" y="3581400"/>
            <a:ext cx="1682750" cy="1163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Start </a:t>
            </a:r>
            <a:endParaRPr/>
          </a:p>
          <a:p>
            <a:pPr marL="0" marR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variable</a:t>
            </a:r>
            <a:endParaRPr/>
          </a:p>
        </p:txBody>
      </p:sp>
      <p:sp>
        <p:nvSpPr>
          <p:cNvPr id="157" name="Google Shape;157;p8"/>
          <p:cNvSpPr txBox="1"/>
          <p:nvPr/>
        </p:nvSpPr>
        <p:spPr>
          <a:xfrm>
            <a:off x="6629400" y="3581400"/>
            <a:ext cx="2401888" cy="1163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Set of </a:t>
            </a:r>
            <a:endParaRPr/>
          </a:p>
          <a:p>
            <a:pPr marL="0" marR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productions</a:t>
            </a:r>
            <a:endParaRPr/>
          </a:p>
        </p:txBody>
      </p:sp>
      <p:cxnSp>
        <p:nvCxnSpPr>
          <p:cNvPr id="158" name="Google Shape;158;p8"/>
          <p:cNvCxnSpPr/>
          <p:nvPr/>
        </p:nvCxnSpPr>
        <p:spPr>
          <a:xfrm rot="10800000" flipH="1">
            <a:off x="1752600" y="1981200"/>
            <a:ext cx="2057400" cy="838200"/>
          </a:xfrm>
          <a:prstGeom prst="straightConnector1">
            <a:avLst/>
          </a:prstGeom>
          <a:noFill/>
          <a:ln w="25400" cap="flat" cmpd="sng">
            <a:solidFill>
              <a:srgbClr val="0000FF"/>
            </a:solidFill>
            <a:prstDash val="solid"/>
            <a:round/>
            <a:headEnd type="none" w="med" len="med"/>
            <a:tailEnd type="stealth" w="lg" len="lg"/>
          </a:ln>
        </p:spPr>
      </p:cxnSp>
      <p:sp>
        <p:nvSpPr>
          <p:cNvPr id="159" name="Google Shape;159;p8"/>
          <p:cNvSpPr txBox="1"/>
          <p:nvPr/>
        </p:nvSpPr>
        <p:spPr>
          <a:xfrm>
            <a:off x="228600" y="1371600"/>
            <a:ext cx="2247900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Grammar:</a:t>
            </a:r>
            <a:endParaRPr/>
          </a:p>
        </p:txBody>
      </p:sp>
      <p:cxnSp>
        <p:nvCxnSpPr>
          <p:cNvPr id="160" name="Google Shape;160;p8"/>
          <p:cNvCxnSpPr/>
          <p:nvPr/>
        </p:nvCxnSpPr>
        <p:spPr>
          <a:xfrm rot="10800000" flipH="1">
            <a:off x="3200400" y="1981200"/>
            <a:ext cx="1143000" cy="1600200"/>
          </a:xfrm>
          <a:prstGeom prst="straightConnector1">
            <a:avLst/>
          </a:prstGeom>
          <a:noFill/>
          <a:ln w="25400" cap="flat" cmpd="sng">
            <a:solidFill>
              <a:srgbClr val="0000FF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161" name="Google Shape;161;p8"/>
          <p:cNvCxnSpPr/>
          <p:nvPr/>
        </p:nvCxnSpPr>
        <p:spPr>
          <a:xfrm rot="10800000">
            <a:off x="4876800" y="1981200"/>
            <a:ext cx="381000" cy="1676400"/>
          </a:xfrm>
          <a:prstGeom prst="straightConnector1">
            <a:avLst/>
          </a:prstGeom>
          <a:noFill/>
          <a:ln w="25400" cap="flat" cmpd="sng">
            <a:solidFill>
              <a:srgbClr val="0000FF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162" name="Google Shape;162;p8"/>
          <p:cNvCxnSpPr/>
          <p:nvPr/>
        </p:nvCxnSpPr>
        <p:spPr>
          <a:xfrm rot="10800000">
            <a:off x="5410200" y="1981200"/>
            <a:ext cx="1828800" cy="1600200"/>
          </a:xfrm>
          <a:prstGeom prst="straightConnector1">
            <a:avLst/>
          </a:prstGeom>
          <a:noFill/>
          <a:ln w="25400" cap="flat" cmpd="sng">
            <a:solidFill>
              <a:srgbClr val="0000FF"/>
            </a:solidFill>
            <a:prstDash val="solid"/>
            <a:round/>
            <a:headEnd type="none" w="med" len="med"/>
            <a:tailEnd type="stealth" w="lg" len="lg"/>
          </a:ln>
        </p:spPr>
      </p:cxnSp>
      <p:pic>
        <p:nvPicPr>
          <p:cNvPr id="163" name="Google Shape;163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0" y="4495800"/>
            <a:ext cx="3505200" cy="69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9"/>
          <p:cNvSpPr/>
          <p:nvPr/>
        </p:nvSpPr>
        <p:spPr>
          <a:xfrm>
            <a:off x="762000" y="1249363"/>
            <a:ext cx="2020888" cy="57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Grammar:</a:t>
            </a:r>
            <a:endParaRPr/>
          </a:p>
        </p:txBody>
      </p:sp>
      <p:sp>
        <p:nvSpPr>
          <p:cNvPr id="170" name="Google Shape;170;p9"/>
          <p:cNvSpPr txBox="1"/>
          <p:nvPr/>
        </p:nvSpPr>
        <p:spPr>
          <a:xfrm>
            <a:off x="898525" y="3454400"/>
            <a:ext cx="5114925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Language of the grammar:</a:t>
            </a:r>
            <a:endParaRPr/>
          </a:p>
        </p:txBody>
      </p:sp>
      <p:sp>
        <p:nvSpPr>
          <p:cNvPr id="171" name="Google Shape;171;p9"/>
          <p:cNvSpPr txBox="1">
            <a:spLocks noGrp="1"/>
          </p:cNvSpPr>
          <p:nvPr>
            <p:ph type="title"/>
          </p:nvPr>
        </p:nvSpPr>
        <p:spPr>
          <a:xfrm>
            <a:off x="1295400" y="228600"/>
            <a:ext cx="7620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Language for the Grammar</a:t>
            </a:r>
            <a:endParaRPr/>
          </a:p>
        </p:txBody>
      </p:sp>
      <p:pic>
        <p:nvPicPr>
          <p:cNvPr id="172" name="Google Shape;17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9"/>
          <p:cNvSpPr txBox="1"/>
          <p:nvPr/>
        </p:nvSpPr>
        <p:spPr>
          <a:xfrm>
            <a:off x="2743200" y="1752600"/>
            <a:ext cx="2133600" cy="1175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err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</a:t>
            </a:r>
            <a:r>
              <a:rPr lang="en-US" sz="3200" dirty="0" err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Wingdings" panose="05000000000000000000" pitchFamily="2" charset="2"/>
              </a:rPr>
              <a:t></a:t>
            </a:r>
            <a:r>
              <a:rPr lang="en-US" sz="3200" dirty="0" err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aSb</a:t>
            </a:r>
            <a:endParaRPr sz="3200" dirty="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 dirty="0" err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</a:t>
            </a:r>
            <a:r>
              <a:rPr lang="en-US" sz="3200" dirty="0" err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Wingdings" panose="05000000000000000000" pitchFamily="2" charset="2"/>
              </a:rPr>
              <a:t></a:t>
            </a:r>
            <a:r>
              <a:rPr lang="en-US" sz="3200" dirty="0" err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є</a:t>
            </a:r>
            <a:endParaRPr sz="3200" dirty="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"/>
          <p:cNvSpPr txBox="1">
            <a:spLocks noGrp="1"/>
          </p:cNvSpPr>
          <p:nvPr>
            <p:ph type="body" idx="1"/>
          </p:nvPr>
        </p:nvSpPr>
        <p:spPr>
          <a:xfrm>
            <a:off x="152400" y="838200"/>
            <a:ext cx="8839200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We write: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None/>
            </a:pP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Instead of: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None/>
            </a:pP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Generalizing: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None/>
            </a:pP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Trivially: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None/>
            </a:pP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None/>
            </a:pP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9" name="Google Shape;179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00" y="1066800"/>
            <a:ext cx="28448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00" y="3276600"/>
            <a:ext cx="8523288" cy="430213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0"/>
          <p:cNvSpPr txBox="1"/>
          <p:nvPr/>
        </p:nvSpPr>
        <p:spPr>
          <a:xfrm>
            <a:off x="2286000" y="2057400"/>
            <a:ext cx="6557963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C0099"/>
                </a:solidFill>
                <a:latin typeface="Comic Sans MS"/>
                <a:ea typeface="Comic Sans MS"/>
                <a:cs typeface="Comic Sans MS"/>
                <a:sym typeface="Comic Sans MS"/>
              </a:rPr>
              <a:t>for zero or more derivation steps</a:t>
            </a:r>
            <a:endParaRPr/>
          </a:p>
        </p:txBody>
      </p:sp>
      <p:sp>
        <p:nvSpPr>
          <p:cNvPr id="182" name="Google Shape;182;p10"/>
          <p:cNvSpPr txBox="1">
            <a:spLocks noGrp="1"/>
          </p:cNvSpPr>
          <p:nvPr>
            <p:ph type="title"/>
          </p:nvPr>
        </p:nvSpPr>
        <p:spPr>
          <a:xfrm>
            <a:off x="1143000" y="152400"/>
            <a:ext cx="7848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Convenient Notation</a:t>
            </a:r>
            <a:endParaRPr/>
          </a:p>
        </p:txBody>
      </p:sp>
      <p:pic>
        <p:nvPicPr>
          <p:cNvPr id="183" name="Google Shape;183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4800" y="4343400"/>
            <a:ext cx="5499100" cy="601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286000" y="5257800"/>
            <a:ext cx="16891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"/>
          <p:cNvSpPr txBox="1">
            <a:spLocks noGrp="1"/>
          </p:cNvSpPr>
          <p:nvPr>
            <p:ph type="title"/>
          </p:nvPr>
        </p:nvSpPr>
        <p:spPr>
          <a:xfrm>
            <a:off x="1524000" y="228600"/>
            <a:ext cx="69342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Formal</a:t>
            </a:r>
            <a:r>
              <a:rPr lang="en-US" sz="3200"/>
              <a:t> </a:t>
            </a:r>
            <a:r>
              <a:rPr lang="en-US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Definition-CFG</a:t>
            </a:r>
            <a:endParaRPr sz="32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11"/>
          <p:cNvSpPr txBox="1"/>
          <p:nvPr/>
        </p:nvSpPr>
        <p:spPr>
          <a:xfrm>
            <a:off x="609600" y="1447800"/>
            <a:ext cx="8001000" cy="526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Definition: </a:t>
            </a:r>
            <a:r>
              <a:rPr lang="en-US" sz="2400" dirty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context-free grammar is a 4-tuple (V, T, P, S),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where:</a:t>
            </a:r>
            <a:endParaRPr dirty="0"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524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set (each element in V is called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nonterminal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dirty="0"/>
          </a:p>
          <a:p>
            <a:pPr marL="0" marR="0" lvl="0" indent="-1524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Char char="•"/>
            </a:pPr>
            <a:r>
              <a:rPr lang="en-US" sz="24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an alphabet (each character in T is called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terminal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dirty="0"/>
          </a:p>
          <a:p>
            <a:pPr marL="0" marR="0" lvl="0" indent="-1524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 set of rules, is a subset of  V × (T ∪ V)*</a:t>
            </a:r>
            <a:endParaRPr dirty="0"/>
          </a:p>
          <a:p>
            <a:pPr marL="914400" marR="0" lvl="2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(α,β) ∈ P, we write production α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β</a:t>
            </a:r>
            <a:endParaRPr dirty="0"/>
          </a:p>
          <a:p>
            <a:pPr marL="914400" marR="0" lvl="2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2" indent="-1524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β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called a 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sentential form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2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endParaRPr sz="24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524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 symbol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is one of the symbols in V</a:t>
            </a:r>
            <a:endParaRPr dirty="0"/>
          </a:p>
        </p:txBody>
      </p:sp>
      <p:pic>
        <p:nvPicPr>
          <p:cNvPr id="192" name="Google Shape;192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33600" y="3733800"/>
            <a:ext cx="3035300" cy="55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5029200"/>
            <a:ext cx="1536700" cy="531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95600" y="5410200"/>
            <a:ext cx="1892300" cy="5318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0" name="Google Shape;200;p12"/>
          <p:cNvCxnSpPr/>
          <p:nvPr/>
        </p:nvCxnSpPr>
        <p:spPr>
          <a:xfrm rot="10800000" flipH="1">
            <a:off x="1905000" y="4267200"/>
            <a:ext cx="1295400" cy="685800"/>
          </a:xfrm>
          <a:prstGeom prst="straightConnector1">
            <a:avLst/>
          </a:prstGeom>
          <a:noFill/>
          <a:ln w="25400" cap="flat" cmpd="sng">
            <a:solidFill>
              <a:srgbClr val="0000FF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201" name="Google Shape;201;p12"/>
          <p:cNvCxnSpPr/>
          <p:nvPr/>
        </p:nvCxnSpPr>
        <p:spPr>
          <a:xfrm rot="10800000">
            <a:off x="3810000" y="4267200"/>
            <a:ext cx="0" cy="1066800"/>
          </a:xfrm>
          <a:prstGeom prst="straightConnector1">
            <a:avLst/>
          </a:prstGeom>
          <a:noFill/>
          <a:ln w="25400" cap="flat" cmpd="sng">
            <a:solidFill>
              <a:srgbClr val="0000FF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202" name="Google Shape;202;p12"/>
          <p:cNvCxnSpPr/>
          <p:nvPr/>
        </p:nvCxnSpPr>
        <p:spPr>
          <a:xfrm rot="10800000">
            <a:off x="4343400" y="4267200"/>
            <a:ext cx="2362200" cy="1066800"/>
          </a:xfrm>
          <a:prstGeom prst="straightConnector1">
            <a:avLst/>
          </a:prstGeom>
          <a:noFill/>
          <a:ln w="25400" cap="flat" cmpd="sng">
            <a:solidFill>
              <a:srgbClr val="0000FF"/>
            </a:solidFill>
            <a:prstDash val="solid"/>
            <a:round/>
            <a:headEnd type="none" w="med" len="med"/>
            <a:tailEnd type="stealth" w="lg" len="lg"/>
          </a:ln>
        </p:spPr>
      </p:cxnSp>
      <p:sp>
        <p:nvSpPr>
          <p:cNvPr id="203" name="Google Shape;203;p12"/>
          <p:cNvSpPr txBox="1"/>
          <p:nvPr/>
        </p:nvSpPr>
        <p:spPr>
          <a:xfrm>
            <a:off x="152400" y="5486400"/>
            <a:ext cx="1881188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variables</a:t>
            </a:r>
            <a:endParaRPr/>
          </a:p>
        </p:txBody>
      </p:sp>
      <p:sp>
        <p:nvSpPr>
          <p:cNvPr id="204" name="Google Shape;204;p12"/>
          <p:cNvSpPr txBox="1"/>
          <p:nvPr/>
        </p:nvSpPr>
        <p:spPr>
          <a:xfrm>
            <a:off x="2590800" y="5791200"/>
            <a:ext cx="1954213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terminals</a:t>
            </a:r>
            <a:endParaRPr/>
          </a:p>
        </p:txBody>
      </p:sp>
      <p:sp>
        <p:nvSpPr>
          <p:cNvPr id="205" name="Google Shape;205;p12"/>
          <p:cNvSpPr txBox="1"/>
          <p:nvPr/>
        </p:nvSpPr>
        <p:spPr>
          <a:xfrm>
            <a:off x="5486400" y="1524000"/>
            <a:ext cx="2401888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productions</a:t>
            </a:r>
            <a:endParaRPr/>
          </a:p>
        </p:txBody>
      </p:sp>
      <p:cxnSp>
        <p:nvCxnSpPr>
          <p:cNvPr id="206" name="Google Shape;206;p12"/>
          <p:cNvCxnSpPr/>
          <p:nvPr/>
        </p:nvCxnSpPr>
        <p:spPr>
          <a:xfrm flipH="1">
            <a:off x="4876800" y="2819400"/>
            <a:ext cx="1295400" cy="838200"/>
          </a:xfrm>
          <a:prstGeom prst="straightConnector1">
            <a:avLst/>
          </a:prstGeom>
          <a:noFill/>
          <a:ln w="25400" cap="flat" cmpd="sng">
            <a:solidFill>
              <a:srgbClr val="0000FF"/>
            </a:solidFill>
            <a:prstDash val="solid"/>
            <a:round/>
            <a:headEnd type="none" w="med" len="med"/>
            <a:tailEnd type="stealth" w="lg" len="lg"/>
          </a:ln>
        </p:spPr>
      </p:cxnSp>
      <p:sp>
        <p:nvSpPr>
          <p:cNvPr id="207" name="Google Shape;207;p12"/>
          <p:cNvSpPr txBox="1"/>
          <p:nvPr/>
        </p:nvSpPr>
        <p:spPr>
          <a:xfrm>
            <a:off x="5562600" y="5257800"/>
            <a:ext cx="2790825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start variable</a:t>
            </a:r>
            <a:endParaRPr/>
          </a:p>
        </p:txBody>
      </p:sp>
      <p:sp>
        <p:nvSpPr>
          <p:cNvPr id="208" name="Google Shape;208;p12"/>
          <p:cNvSpPr txBox="1"/>
          <p:nvPr/>
        </p:nvSpPr>
        <p:spPr>
          <a:xfrm>
            <a:off x="1219200" y="228600"/>
            <a:ext cx="76962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of Context-Free Grammar</a:t>
            </a:r>
            <a:endParaRPr/>
          </a:p>
        </p:txBody>
      </p:sp>
      <p:pic>
        <p:nvPicPr>
          <p:cNvPr id="209" name="Google Shape;209;p1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2"/>
          <p:cNvSpPr txBox="1"/>
          <p:nvPr/>
        </p:nvSpPr>
        <p:spPr>
          <a:xfrm>
            <a:off x="3886200" y="2133600"/>
            <a:ext cx="373380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P={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aSb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є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3"/>
          <p:cNvSpPr txBox="1">
            <a:spLocks noGrp="1"/>
          </p:cNvSpPr>
          <p:nvPr>
            <p:ph type="body" idx="1"/>
          </p:nvPr>
        </p:nvSpPr>
        <p:spPr>
          <a:xfrm>
            <a:off x="990600" y="1905000"/>
            <a:ext cx="76200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A language       is context-free</a:t>
            </a:r>
            <a:endParaRPr/>
          </a:p>
          <a:p>
            <a:pPr marL="342900" lvl="0" indent="-34290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if there is a context-free grammar       </a:t>
            </a:r>
            <a:endParaRPr/>
          </a:p>
          <a:p>
            <a:pPr marL="342900" lvl="0" indent="-34290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with </a:t>
            </a:r>
            <a:endParaRPr/>
          </a:p>
        </p:txBody>
      </p:sp>
      <p:pic>
        <p:nvPicPr>
          <p:cNvPr id="216" name="Google Shape;216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59200" y="2057400"/>
            <a:ext cx="330200" cy="3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46026" y="2819400"/>
            <a:ext cx="3937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09800" y="3505200"/>
            <a:ext cx="18796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3"/>
          <p:cNvSpPr txBox="1"/>
          <p:nvPr/>
        </p:nvSpPr>
        <p:spPr>
          <a:xfrm>
            <a:off x="1752600" y="457200"/>
            <a:ext cx="71628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Context-Free Language</a:t>
            </a:r>
            <a:endParaRPr/>
          </a:p>
        </p:txBody>
      </p:sp>
      <p:pic>
        <p:nvPicPr>
          <p:cNvPr id="220" name="Google Shape;220;p1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4"/>
          <p:cNvSpPr txBox="1"/>
          <p:nvPr/>
        </p:nvSpPr>
        <p:spPr>
          <a:xfrm>
            <a:off x="1066800" y="2514600"/>
            <a:ext cx="545854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since context-free grammar     </a:t>
            </a: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: </a:t>
            </a:r>
            <a:endParaRPr/>
          </a:p>
        </p:txBody>
      </p:sp>
      <p:pic>
        <p:nvPicPr>
          <p:cNvPr id="226" name="Google Shape;226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" y="1066800"/>
            <a:ext cx="4191000" cy="760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16700" y="2667000"/>
            <a:ext cx="6985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4"/>
          <p:cNvSpPr txBox="1"/>
          <p:nvPr/>
        </p:nvSpPr>
        <p:spPr>
          <a:xfrm>
            <a:off x="1066800" y="1905000"/>
            <a:ext cx="441499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context-free language</a:t>
            </a:r>
            <a:endParaRPr/>
          </a:p>
        </p:txBody>
      </p:sp>
      <p:sp>
        <p:nvSpPr>
          <p:cNvPr id="229" name="Google Shape;229;p14"/>
          <p:cNvSpPr txBox="1"/>
          <p:nvPr/>
        </p:nvSpPr>
        <p:spPr>
          <a:xfrm>
            <a:off x="1203325" y="4292600"/>
            <a:ext cx="173637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generates</a:t>
            </a:r>
            <a:endParaRPr/>
          </a:p>
        </p:txBody>
      </p:sp>
      <p:pic>
        <p:nvPicPr>
          <p:cNvPr id="230" name="Google Shape;230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05200" y="4343400"/>
            <a:ext cx="2514600" cy="61277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4"/>
          <p:cNvSpPr txBox="1"/>
          <p:nvPr/>
        </p:nvSpPr>
        <p:spPr>
          <a:xfrm>
            <a:off x="1295400" y="152400"/>
            <a:ext cx="76200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Context-Free Language-Example 1</a:t>
            </a:r>
            <a:endParaRPr/>
          </a:p>
        </p:txBody>
      </p:sp>
      <p:pic>
        <p:nvPicPr>
          <p:cNvPr id="232" name="Google Shape;232;p1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4"/>
          <p:cNvSpPr txBox="1"/>
          <p:nvPr/>
        </p:nvSpPr>
        <p:spPr>
          <a:xfrm>
            <a:off x="4267200" y="3352800"/>
            <a:ext cx="43434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aSb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є}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57700" y="3549650"/>
            <a:ext cx="228600" cy="52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3276600"/>
            <a:ext cx="4572000" cy="354013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5"/>
          <p:cNvSpPr txBox="1"/>
          <p:nvPr/>
        </p:nvSpPr>
        <p:spPr>
          <a:xfrm>
            <a:off x="304800" y="914400"/>
            <a:ext cx="343235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Context-free grammar     </a:t>
            </a: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:</a:t>
            </a:r>
            <a:endParaRPr/>
          </a:p>
        </p:txBody>
      </p:sp>
      <p:pic>
        <p:nvPicPr>
          <p:cNvPr id="241" name="Google Shape;241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13300" y="965200"/>
            <a:ext cx="3937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5"/>
          <p:cNvSpPr txBox="1"/>
          <p:nvPr/>
        </p:nvSpPr>
        <p:spPr>
          <a:xfrm>
            <a:off x="304800" y="2590800"/>
            <a:ext cx="368402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derivations:</a:t>
            </a:r>
            <a:endParaRPr/>
          </a:p>
        </p:txBody>
      </p:sp>
      <p:pic>
        <p:nvPicPr>
          <p:cNvPr id="243" name="Google Shape;243;p1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1000" y="4038600"/>
            <a:ext cx="6858000" cy="344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52600" y="5029200"/>
            <a:ext cx="14605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1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733800" y="4800600"/>
            <a:ext cx="3657600" cy="762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6" name="Google Shape;246;p15"/>
          <p:cNvCxnSpPr/>
          <p:nvPr/>
        </p:nvCxnSpPr>
        <p:spPr>
          <a:xfrm>
            <a:off x="304800" y="4648200"/>
            <a:ext cx="853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sp>
        <p:nvSpPr>
          <p:cNvPr id="247" name="Google Shape;247;p15"/>
          <p:cNvSpPr txBox="1"/>
          <p:nvPr/>
        </p:nvSpPr>
        <p:spPr>
          <a:xfrm>
            <a:off x="1828800" y="5791200"/>
            <a:ext cx="468750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Palindromes of even length</a:t>
            </a:r>
            <a:endParaRPr/>
          </a:p>
        </p:txBody>
      </p:sp>
      <p:sp>
        <p:nvSpPr>
          <p:cNvPr id="248" name="Google Shape;248;p15"/>
          <p:cNvSpPr txBox="1"/>
          <p:nvPr/>
        </p:nvSpPr>
        <p:spPr>
          <a:xfrm>
            <a:off x="1219200" y="152400"/>
            <a:ext cx="76962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Context-Free Language – Example 2</a:t>
            </a:r>
            <a:endParaRPr/>
          </a:p>
        </p:txBody>
      </p:sp>
      <p:pic>
        <p:nvPicPr>
          <p:cNvPr id="249" name="Google Shape;249;p1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5"/>
          <p:cNvSpPr txBox="1"/>
          <p:nvPr/>
        </p:nvSpPr>
        <p:spPr>
          <a:xfrm>
            <a:off x="2895600" y="1676400"/>
            <a:ext cx="43434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aSa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bSb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є}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6"/>
          <p:cNvSpPr txBox="1">
            <a:spLocks noGrp="1"/>
          </p:cNvSpPr>
          <p:nvPr>
            <p:ph type="title"/>
          </p:nvPr>
        </p:nvSpPr>
        <p:spPr>
          <a:xfrm>
            <a:off x="1371600" y="152400"/>
            <a:ext cx="7620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Derivation and Parse Trees</a:t>
            </a:r>
            <a:endParaRPr/>
          </a:p>
        </p:txBody>
      </p:sp>
      <p:sp>
        <p:nvSpPr>
          <p:cNvPr id="256" name="Google Shape;256;p16"/>
          <p:cNvSpPr txBox="1">
            <a:spLocks noGrp="1"/>
          </p:cNvSpPr>
          <p:nvPr>
            <p:ph type="body" idx="1"/>
          </p:nvPr>
        </p:nvSpPr>
        <p:spPr>
          <a:xfrm>
            <a:off x="0" y="990600"/>
            <a:ext cx="89916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257" name="Google Shape;257;p16"/>
          <p:cNvSpPr txBox="1"/>
          <p:nvPr/>
        </p:nvSpPr>
        <p:spPr>
          <a:xfrm>
            <a:off x="136525" y="1168400"/>
            <a:ext cx="8778875" cy="1040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 the following example grammar </a:t>
            </a:r>
            <a:endParaRPr/>
          </a:p>
          <a:p>
            <a:pPr marL="0" marR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5 productions:</a:t>
            </a:r>
            <a:endParaRPr/>
          </a:p>
        </p:txBody>
      </p:sp>
      <p:pic>
        <p:nvPicPr>
          <p:cNvPr id="258" name="Google Shape;258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6"/>
          <p:cNvSpPr txBox="1"/>
          <p:nvPr/>
        </p:nvSpPr>
        <p:spPr>
          <a:xfrm>
            <a:off x="609600" y="2667000"/>
            <a:ext cx="69342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32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32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	</a:t>
            </a:r>
            <a:r>
              <a:rPr lang="en-US" sz="3200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3200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3200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aaA</a:t>
            </a:r>
            <a:r>
              <a:rPr lang="en-US" sz="32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|ϵ		</a:t>
            </a:r>
            <a:r>
              <a:rPr lang="en-US" sz="3200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3200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3200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Bb</a:t>
            </a:r>
            <a:r>
              <a:rPr lang="en-US" sz="32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|ϵ	</a:t>
            </a:r>
            <a:endParaRPr sz="3200" dirty="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7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Leftmost and Rightmost Derivation</a:t>
            </a:r>
            <a:endParaRPr/>
          </a:p>
        </p:txBody>
      </p:sp>
      <p:pic>
        <p:nvPicPr>
          <p:cNvPr id="265" name="Google Shape;265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2460" y="3599655"/>
            <a:ext cx="7924800" cy="407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2960" y="5459412"/>
            <a:ext cx="7543800" cy="407988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7"/>
          <p:cNvSpPr txBox="1"/>
          <p:nvPr/>
        </p:nvSpPr>
        <p:spPr>
          <a:xfrm>
            <a:off x="529272" y="2697162"/>
            <a:ext cx="771717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C0099"/>
                </a:solidFill>
                <a:latin typeface="Comic Sans MS"/>
                <a:ea typeface="Comic Sans MS"/>
                <a:cs typeface="Comic Sans MS"/>
                <a:sym typeface="Comic Sans MS"/>
              </a:rPr>
              <a:t>Leftmost derivation: for the string aab</a:t>
            </a:r>
            <a:endParaRPr sz="3200">
              <a:solidFill>
                <a:srgbClr val="CC0099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68" name="Google Shape;268;p17"/>
          <p:cNvSpPr txBox="1"/>
          <p:nvPr/>
        </p:nvSpPr>
        <p:spPr>
          <a:xfrm>
            <a:off x="571500" y="4518024"/>
            <a:ext cx="788709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C0099"/>
                </a:solidFill>
                <a:latin typeface="Comic Sans MS"/>
                <a:ea typeface="Comic Sans MS"/>
                <a:cs typeface="Comic Sans MS"/>
                <a:sym typeface="Comic Sans MS"/>
              </a:rPr>
              <a:t>Rightmost derivation: for the string aab</a:t>
            </a:r>
            <a:endParaRPr sz="3200">
              <a:solidFill>
                <a:srgbClr val="CC0099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69" name="Google Shape;269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7"/>
          <p:cNvSpPr txBox="1"/>
          <p:nvPr/>
        </p:nvSpPr>
        <p:spPr>
          <a:xfrm>
            <a:off x="304800" y="914400"/>
            <a:ext cx="8534400" cy="1766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 the following example grammar </a:t>
            </a:r>
            <a:endParaRPr dirty="0"/>
          </a:p>
          <a:p>
            <a:pPr marL="0" marR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5 productions:</a:t>
            </a:r>
            <a:endParaRPr dirty="0"/>
          </a:p>
          <a:p>
            <a:pPr marL="0" marR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32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32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	</a:t>
            </a:r>
            <a:r>
              <a:rPr lang="en-US" sz="3200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3200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3200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aaA</a:t>
            </a:r>
            <a:r>
              <a:rPr lang="en-US" sz="32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|ϵ		</a:t>
            </a:r>
            <a:r>
              <a:rPr lang="en-US" sz="3200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3200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3200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Bb</a:t>
            </a:r>
            <a:r>
              <a:rPr lang="en-US" sz="32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|ϵ	</a:t>
            </a:r>
            <a:endParaRPr sz="3200" dirty="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8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Leftmost and Rightmost Derivation</a:t>
            </a:r>
            <a:endParaRPr/>
          </a:p>
        </p:txBody>
      </p:sp>
      <p:pic>
        <p:nvPicPr>
          <p:cNvPr id="276" name="Google Shape;276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2133600"/>
            <a:ext cx="7924800" cy="407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3429000"/>
            <a:ext cx="7543800" cy="4079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8" name="Google Shape;278;p18"/>
          <p:cNvGrpSpPr/>
          <p:nvPr/>
        </p:nvGrpSpPr>
        <p:grpSpPr>
          <a:xfrm>
            <a:off x="3505200" y="4038600"/>
            <a:ext cx="4495800" cy="2667000"/>
            <a:chOff x="1632" y="1392"/>
            <a:chExt cx="3648" cy="2880"/>
          </a:xfrm>
        </p:grpSpPr>
        <p:sp>
          <p:nvSpPr>
            <p:cNvPr id="279" name="Google Shape;279;p18"/>
            <p:cNvSpPr/>
            <p:nvPr/>
          </p:nvSpPr>
          <p:spPr>
            <a:xfrm>
              <a:off x="3408" y="1392"/>
              <a:ext cx="384" cy="384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280" name="Google Shape;280;p18"/>
            <p:cNvCxnSpPr/>
            <p:nvPr/>
          </p:nvCxnSpPr>
          <p:spPr>
            <a:xfrm flipH="1">
              <a:off x="2688" y="1728"/>
              <a:ext cx="768" cy="384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lg" len="lg"/>
            </a:ln>
          </p:spPr>
        </p:cxnSp>
        <p:cxnSp>
          <p:nvCxnSpPr>
            <p:cNvPr id="281" name="Google Shape;281;p18"/>
            <p:cNvCxnSpPr/>
            <p:nvPr/>
          </p:nvCxnSpPr>
          <p:spPr>
            <a:xfrm>
              <a:off x="3744" y="1728"/>
              <a:ext cx="816" cy="43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lg" len="lg"/>
            </a:ln>
          </p:spPr>
        </p:cxnSp>
        <p:pic>
          <p:nvPicPr>
            <p:cNvPr id="282" name="Google Shape;282;p1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512" y="1436"/>
              <a:ext cx="191" cy="2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18"/>
            <p:cNvSpPr/>
            <p:nvPr/>
          </p:nvSpPr>
          <p:spPr>
            <a:xfrm>
              <a:off x="2448" y="2112"/>
              <a:ext cx="384" cy="384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284" name="Google Shape;284;p18"/>
            <p:cNvSpPr/>
            <p:nvPr/>
          </p:nvSpPr>
          <p:spPr>
            <a:xfrm>
              <a:off x="4464" y="2112"/>
              <a:ext cx="384" cy="384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pic>
          <p:nvPicPr>
            <p:cNvPr id="285" name="Google Shape;285;p18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560" y="2208"/>
              <a:ext cx="208" cy="2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6" name="Google Shape;286;p18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2496" y="2208"/>
              <a:ext cx="208" cy="232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87" name="Google Shape;287;p18"/>
            <p:cNvCxnSpPr/>
            <p:nvPr/>
          </p:nvCxnSpPr>
          <p:spPr>
            <a:xfrm flipH="1">
              <a:off x="1920" y="2448"/>
              <a:ext cx="576" cy="57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lg" len="lg"/>
            </a:ln>
          </p:spPr>
        </p:cxnSp>
        <p:cxnSp>
          <p:nvCxnSpPr>
            <p:cNvPr id="288" name="Google Shape;288;p18"/>
            <p:cNvCxnSpPr/>
            <p:nvPr/>
          </p:nvCxnSpPr>
          <p:spPr>
            <a:xfrm>
              <a:off x="2640" y="2496"/>
              <a:ext cx="0" cy="52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lg" len="lg"/>
            </a:ln>
          </p:spPr>
        </p:cxnSp>
        <p:sp>
          <p:nvSpPr>
            <p:cNvPr id="289" name="Google Shape;289;p18"/>
            <p:cNvSpPr/>
            <p:nvPr/>
          </p:nvSpPr>
          <p:spPr>
            <a:xfrm>
              <a:off x="1632" y="3024"/>
              <a:ext cx="384" cy="384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290" name="Google Shape;290;p18"/>
            <p:cNvSpPr/>
            <p:nvPr/>
          </p:nvSpPr>
          <p:spPr>
            <a:xfrm>
              <a:off x="2448" y="3024"/>
              <a:ext cx="384" cy="384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291" name="Google Shape;291;p18"/>
            <p:cNvSpPr/>
            <p:nvPr/>
          </p:nvSpPr>
          <p:spPr>
            <a:xfrm>
              <a:off x="3216" y="3024"/>
              <a:ext cx="384" cy="384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292" name="Google Shape;292;p18"/>
            <p:cNvCxnSpPr/>
            <p:nvPr/>
          </p:nvCxnSpPr>
          <p:spPr>
            <a:xfrm>
              <a:off x="2784" y="2448"/>
              <a:ext cx="576" cy="57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lg" len="lg"/>
            </a:ln>
          </p:spPr>
        </p:cxnSp>
        <p:pic>
          <p:nvPicPr>
            <p:cNvPr id="293" name="Google Shape;293;p18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728" y="3120"/>
              <a:ext cx="167" cy="1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4" name="Google Shape;294;p18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2544" y="3120"/>
              <a:ext cx="167" cy="1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5" name="Google Shape;295;p18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312" y="3072"/>
              <a:ext cx="208" cy="2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6" name="Google Shape;296;p18"/>
            <p:cNvSpPr/>
            <p:nvPr/>
          </p:nvSpPr>
          <p:spPr>
            <a:xfrm>
              <a:off x="4032" y="3024"/>
              <a:ext cx="384" cy="384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pic>
          <p:nvPicPr>
            <p:cNvPr id="297" name="Google Shape;297;p18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128" y="3072"/>
              <a:ext cx="208" cy="2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8" name="Google Shape;298;p18"/>
            <p:cNvSpPr/>
            <p:nvPr/>
          </p:nvSpPr>
          <p:spPr>
            <a:xfrm>
              <a:off x="4896" y="3024"/>
              <a:ext cx="384" cy="384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pic>
          <p:nvPicPr>
            <p:cNvPr id="299" name="Google Shape;299;p18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016" y="3065"/>
              <a:ext cx="159" cy="247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00" name="Google Shape;300;p18"/>
            <p:cNvCxnSpPr/>
            <p:nvPr/>
          </p:nvCxnSpPr>
          <p:spPr>
            <a:xfrm flipH="1">
              <a:off x="4272" y="2496"/>
              <a:ext cx="288" cy="52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lg" len="lg"/>
            </a:ln>
          </p:spPr>
        </p:cxnSp>
        <p:cxnSp>
          <p:nvCxnSpPr>
            <p:cNvPr id="301" name="Google Shape;301;p18"/>
            <p:cNvCxnSpPr/>
            <p:nvPr/>
          </p:nvCxnSpPr>
          <p:spPr>
            <a:xfrm>
              <a:off x="4800" y="2448"/>
              <a:ext cx="288" cy="57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lg" len="lg"/>
            </a:ln>
          </p:spPr>
        </p:cxnSp>
        <p:sp>
          <p:nvSpPr>
            <p:cNvPr id="302" name="Google Shape;302;p18"/>
            <p:cNvSpPr/>
            <p:nvPr/>
          </p:nvSpPr>
          <p:spPr>
            <a:xfrm>
              <a:off x="3216" y="3888"/>
              <a:ext cx="384" cy="384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303" name="Google Shape;303;p18"/>
            <p:cNvCxnSpPr/>
            <p:nvPr/>
          </p:nvCxnSpPr>
          <p:spPr>
            <a:xfrm>
              <a:off x="3408" y="3408"/>
              <a:ext cx="0" cy="48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lg" len="lg"/>
            </a:ln>
          </p:spPr>
        </p:cxnSp>
        <p:sp>
          <p:nvSpPr>
            <p:cNvPr id="304" name="Google Shape;304;p18"/>
            <p:cNvSpPr/>
            <p:nvPr/>
          </p:nvSpPr>
          <p:spPr>
            <a:xfrm>
              <a:off x="4032" y="3888"/>
              <a:ext cx="384" cy="384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305" name="Google Shape;305;p18"/>
            <p:cNvCxnSpPr/>
            <p:nvPr/>
          </p:nvCxnSpPr>
          <p:spPr>
            <a:xfrm>
              <a:off x="4224" y="3408"/>
              <a:ext cx="0" cy="48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lg" len="lg"/>
            </a:ln>
          </p:spPr>
        </p:cxnSp>
      </p:grpSp>
      <p:sp>
        <p:nvSpPr>
          <p:cNvPr id="306" name="Google Shape;306;p18"/>
          <p:cNvSpPr txBox="1"/>
          <p:nvPr/>
        </p:nvSpPr>
        <p:spPr>
          <a:xfrm>
            <a:off x="381000" y="4648200"/>
            <a:ext cx="3048000" cy="1163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Give same </a:t>
            </a:r>
            <a:endParaRPr/>
          </a:p>
          <a:p>
            <a:pPr marL="0" marR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derivation tree</a:t>
            </a:r>
            <a:endParaRPr/>
          </a:p>
        </p:txBody>
      </p:sp>
      <p:sp>
        <p:nvSpPr>
          <p:cNvPr id="307" name="Google Shape;307;p18"/>
          <p:cNvSpPr txBox="1"/>
          <p:nvPr/>
        </p:nvSpPr>
        <p:spPr>
          <a:xfrm>
            <a:off x="76200" y="1600200"/>
            <a:ext cx="4103688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C0099"/>
                </a:solidFill>
                <a:latin typeface="Comic Sans MS"/>
                <a:ea typeface="Comic Sans MS"/>
                <a:cs typeface="Comic Sans MS"/>
                <a:sym typeface="Comic Sans MS"/>
              </a:rPr>
              <a:t>Leftmost derivation:</a:t>
            </a:r>
            <a:endParaRPr/>
          </a:p>
        </p:txBody>
      </p:sp>
      <p:sp>
        <p:nvSpPr>
          <p:cNvPr id="308" name="Google Shape;308;p18"/>
          <p:cNvSpPr txBox="1"/>
          <p:nvPr/>
        </p:nvSpPr>
        <p:spPr>
          <a:xfrm>
            <a:off x="0" y="2819400"/>
            <a:ext cx="4271963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C0099"/>
                </a:solidFill>
                <a:latin typeface="Comic Sans MS"/>
                <a:ea typeface="Comic Sans MS"/>
                <a:cs typeface="Comic Sans MS"/>
                <a:sym typeface="Comic Sans MS"/>
              </a:rPr>
              <a:t>Rightmost derivation:</a:t>
            </a:r>
            <a:endParaRPr/>
          </a:p>
        </p:txBody>
      </p:sp>
      <p:pic>
        <p:nvPicPr>
          <p:cNvPr id="309" name="Google Shape;309;p18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8"/>
          <p:cNvSpPr txBox="1"/>
          <p:nvPr/>
        </p:nvSpPr>
        <p:spPr>
          <a:xfrm>
            <a:off x="609600" y="914400"/>
            <a:ext cx="69342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32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32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	</a:t>
            </a:r>
            <a:r>
              <a:rPr lang="en-US" sz="3200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3200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3200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aaA</a:t>
            </a:r>
            <a:r>
              <a:rPr lang="en-US" sz="32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|ϵ		</a:t>
            </a:r>
            <a:r>
              <a:rPr lang="en-US" sz="3200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3200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3200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Bb</a:t>
            </a:r>
            <a:r>
              <a:rPr lang="en-US" sz="32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|ϵ	</a:t>
            </a:r>
            <a:endParaRPr sz="3200" dirty="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1" name="Google Shape;311;p18"/>
          <p:cNvSpPr txBox="1"/>
          <p:nvPr/>
        </p:nvSpPr>
        <p:spPr>
          <a:xfrm>
            <a:off x="5486400" y="6197025"/>
            <a:ext cx="4572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ϵ</a:t>
            </a:r>
            <a:endParaRPr sz="32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12" name="Google Shape;312;p18"/>
          <p:cNvSpPr txBox="1"/>
          <p:nvPr/>
        </p:nvSpPr>
        <p:spPr>
          <a:xfrm>
            <a:off x="6477000" y="6172200"/>
            <a:ext cx="4572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ϵ</a:t>
            </a:r>
            <a:endParaRPr sz="32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"/>
          <p:cNvSpPr txBox="1"/>
          <p:nvPr/>
        </p:nvSpPr>
        <p:spPr>
          <a:xfrm>
            <a:off x="1524000" y="204788"/>
            <a:ext cx="74676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 Free Language for a CFG</a:t>
            </a:r>
            <a:endParaRPr sz="3200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318" name="Google Shape;31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9"/>
          <p:cNvSpPr txBox="1"/>
          <p:nvPr/>
        </p:nvSpPr>
        <p:spPr>
          <a:xfrm>
            <a:off x="838200" y="1066800"/>
            <a:ext cx="7086600" cy="4450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CFL generated for the given CFG.</a:t>
            </a:r>
            <a:endParaRPr dirty="0"/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aSb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ab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04800" algn="l" rtl="0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L(G)={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 baseline="30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400" baseline="30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 n&gt;=1}</a:t>
            </a:r>
            <a:endParaRPr dirty="0"/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	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aB|bA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a|aS|bAA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b|bS|aBB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L(G)={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x|x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containing equal no of a’s and b’s}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0"/>
          <p:cNvSpPr txBox="1"/>
          <p:nvPr/>
        </p:nvSpPr>
        <p:spPr>
          <a:xfrm>
            <a:off x="1524000" y="204788"/>
            <a:ext cx="74676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CFG for a CFL</a:t>
            </a:r>
            <a:endParaRPr sz="3200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325" name="Google Shape;325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0"/>
          <p:cNvSpPr txBox="1"/>
          <p:nvPr/>
        </p:nvSpPr>
        <p:spPr>
          <a:xfrm>
            <a:off x="838200" y="1066800"/>
            <a:ext cx="7086600" cy="474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	Write the grammar for generating strings over Σ={a}, containing any(zero or more) number of a’s.</a:t>
            </a:r>
            <a:endParaRPr dirty="0"/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S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|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ϵ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	Find the CFG represented by the RE (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a+b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)*</a:t>
            </a:r>
            <a:endParaRPr dirty="0"/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S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ϵ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	Write the grammar for all strings consisting of a’s and b’s with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atleast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 a’s.</a:t>
            </a:r>
            <a:endParaRPr dirty="0"/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AaAaA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aA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ϵ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1"/>
          <p:cNvSpPr txBox="1"/>
          <p:nvPr/>
        </p:nvSpPr>
        <p:spPr>
          <a:xfrm>
            <a:off x="1524000" y="204788"/>
            <a:ext cx="74676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Ambiguous Grammar</a:t>
            </a:r>
            <a:endParaRPr sz="3200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32" name="Google Shape;332;p21"/>
          <p:cNvSpPr txBox="1"/>
          <p:nvPr/>
        </p:nvSpPr>
        <p:spPr>
          <a:xfrm>
            <a:off x="762000" y="1143000"/>
            <a:ext cx="8221663" cy="3354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A context-free grammar        is ambiguous</a:t>
            </a:r>
            <a:endParaRPr sz="3200" b="1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there is a string                   which has: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two different derivation trees</a:t>
            </a:r>
            <a:endParaRPr/>
          </a:p>
          <a:p>
            <a:pPr marL="0" marR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</a:t>
            </a: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or</a:t>
            </a:r>
            <a:endParaRPr/>
          </a:p>
          <a:p>
            <a:pPr marL="0" marR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two leftmost derivations</a:t>
            </a:r>
            <a:endParaRPr/>
          </a:p>
        </p:txBody>
      </p:sp>
      <p:pic>
        <p:nvPicPr>
          <p:cNvPr id="333" name="Google Shape;333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54700" y="1200150"/>
            <a:ext cx="3937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1828800"/>
            <a:ext cx="1879600" cy="531813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1"/>
          <p:cNvSpPr txBox="1"/>
          <p:nvPr/>
        </p:nvSpPr>
        <p:spPr>
          <a:xfrm>
            <a:off x="1219200" y="5486400"/>
            <a:ext cx="6954838" cy="895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0099"/>
                </a:solidFill>
                <a:latin typeface="Comic Sans MS"/>
                <a:ea typeface="Comic Sans MS"/>
                <a:cs typeface="Comic Sans MS"/>
                <a:sym typeface="Comic Sans MS"/>
              </a:rPr>
              <a:t>(Two different derivation trees give two 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0099"/>
                </a:solidFill>
                <a:latin typeface="Comic Sans MS"/>
                <a:ea typeface="Comic Sans MS"/>
                <a:cs typeface="Comic Sans MS"/>
                <a:sym typeface="Comic Sans MS"/>
              </a:rPr>
              <a:t>  different leftmost derivations and vice-versa)</a:t>
            </a:r>
            <a:endParaRPr/>
          </a:p>
        </p:txBody>
      </p:sp>
      <p:pic>
        <p:nvPicPr>
          <p:cNvPr id="336" name="Google Shape;336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1" name="Google Shape;341;p22"/>
          <p:cNvGrpSpPr/>
          <p:nvPr/>
        </p:nvGrpSpPr>
        <p:grpSpPr>
          <a:xfrm>
            <a:off x="762000" y="2971800"/>
            <a:ext cx="7620000" cy="3429000"/>
            <a:chOff x="702" y="2574"/>
            <a:chExt cx="4098" cy="1485"/>
          </a:xfrm>
        </p:grpSpPr>
        <p:sp>
          <p:nvSpPr>
            <p:cNvPr id="342" name="Google Shape;342;p22"/>
            <p:cNvSpPr/>
            <p:nvPr/>
          </p:nvSpPr>
          <p:spPr>
            <a:xfrm>
              <a:off x="4110" y="2574"/>
              <a:ext cx="240" cy="201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pic>
          <p:nvPicPr>
            <p:cNvPr id="343" name="Google Shape;343;p2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136" y="2624"/>
              <a:ext cx="139" cy="1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4" name="Google Shape;344;p22"/>
            <p:cNvSpPr/>
            <p:nvPr/>
          </p:nvSpPr>
          <p:spPr>
            <a:xfrm>
              <a:off x="4560" y="2976"/>
              <a:ext cx="240" cy="201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pic>
          <p:nvPicPr>
            <p:cNvPr id="345" name="Google Shape;345;p2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590" y="3026"/>
              <a:ext cx="139" cy="1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22"/>
            <p:cNvSpPr/>
            <p:nvPr/>
          </p:nvSpPr>
          <p:spPr>
            <a:xfrm>
              <a:off x="3660" y="2976"/>
              <a:ext cx="240" cy="201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pic>
          <p:nvPicPr>
            <p:cNvPr id="347" name="Google Shape;347;p2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686" y="3026"/>
              <a:ext cx="139" cy="1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22"/>
            <p:cNvSpPr/>
            <p:nvPr/>
          </p:nvSpPr>
          <p:spPr>
            <a:xfrm>
              <a:off x="4110" y="2976"/>
              <a:ext cx="240" cy="201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49" name="Google Shape;349;p22"/>
            <p:cNvSpPr/>
            <p:nvPr/>
          </p:nvSpPr>
          <p:spPr>
            <a:xfrm>
              <a:off x="3180" y="3831"/>
              <a:ext cx="240" cy="201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50" name="Google Shape;350;p22"/>
            <p:cNvSpPr/>
            <p:nvPr/>
          </p:nvSpPr>
          <p:spPr>
            <a:xfrm>
              <a:off x="4140" y="3831"/>
              <a:ext cx="240" cy="201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pic>
          <p:nvPicPr>
            <p:cNvPr id="351" name="Google Shape;351;p2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720" y="3479"/>
              <a:ext cx="114" cy="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2" name="Google Shape;352;p2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240" y="3906"/>
              <a:ext cx="104" cy="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3" name="Google Shape;353;p2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200" y="3881"/>
              <a:ext cx="104" cy="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4" name="Google Shape;354;p22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200" y="3026"/>
              <a:ext cx="84" cy="7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55" name="Google Shape;355;p22"/>
            <p:cNvCxnSpPr/>
            <p:nvPr/>
          </p:nvCxnSpPr>
          <p:spPr>
            <a:xfrm flipH="1">
              <a:off x="3870" y="2725"/>
              <a:ext cx="270" cy="27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lg" len="lg"/>
            </a:ln>
          </p:spPr>
        </p:cxnSp>
        <p:cxnSp>
          <p:nvCxnSpPr>
            <p:cNvPr id="356" name="Google Shape;356;p22"/>
            <p:cNvCxnSpPr/>
            <p:nvPr/>
          </p:nvCxnSpPr>
          <p:spPr>
            <a:xfrm>
              <a:off x="4320" y="2725"/>
              <a:ext cx="300" cy="27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lg" len="lg"/>
            </a:ln>
          </p:spPr>
        </p:cxnSp>
        <p:cxnSp>
          <p:nvCxnSpPr>
            <p:cNvPr id="357" name="Google Shape;357;p22"/>
            <p:cNvCxnSpPr/>
            <p:nvPr/>
          </p:nvCxnSpPr>
          <p:spPr>
            <a:xfrm>
              <a:off x="4230" y="2775"/>
              <a:ext cx="0" cy="20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lg" len="lg"/>
            </a:ln>
          </p:spPr>
        </p:cxnSp>
        <p:cxnSp>
          <p:nvCxnSpPr>
            <p:cNvPr id="358" name="Google Shape;358;p22"/>
            <p:cNvCxnSpPr/>
            <p:nvPr/>
          </p:nvCxnSpPr>
          <p:spPr>
            <a:xfrm>
              <a:off x="4680" y="3177"/>
              <a:ext cx="0" cy="25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lg" len="lg"/>
            </a:ln>
          </p:spPr>
        </p:cxnSp>
        <p:cxnSp>
          <p:nvCxnSpPr>
            <p:cNvPr id="359" name="Google Shape;359;p22"/>
            <p:cNvCxnSpPr/>
            <p:nvPr/>
          </p:nvCxnSpPr>
          <p:spPr>
            <a:xfrm flipH="1">
              <a:off x="3360" y="3152"/>
              <a:ext cx="330" cy="27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lg" len="lg"/>
            </a:ln>
          </p:spPr>
        </p:cxnSp>
        <p:cxnSp>
          <p:nvCxnSpPr>
            <p:cNvPr id="360" name="Google Shape;360;p22"/>
            <p:cNvCxnSpPr/>
            <p:nvPr/>
          </p:nvCxnSpPr>
          <p:spPr>
            <a:xfrm>
              <a:off x="3780" y="3177"/>
              <a:ext cx="0" cy="25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lg" len="lg"/>
            </a:ln>
          </p:spPr>
        </p:cxnSp>
        <p:cxnSp>
          <p:nvCxnSpPr>
            <p:cNvPr id="361" name="Google Shape;361;p22"/>
            <p:cNvCxnSpPr/>
            <p:nvPr/>
          </p:nvCxnSpPr>
          <p:spPr>
            <a:xfrm>
              <a:off x="3840" y="3152"/>
              <a:ext cx="360" cy="30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lg" len="lg"/>
            </a:ln>
          </p:spPr>
        </p:cxnSp>
        <p:cxnSp>
          <p:nvCxnSpPr>
            <p:cNvPr id="362" name="Google Shape;362;p22"/>
            <p:cNvCxnSpPr/>
            <p:nvPr/>
          </p:nvCxnSpPr>
          <p:spPr>
            <a:xfrm>
              <a:off x="3300" y="3630"/>
              <a:ext cx="0" cy="20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lg" len="lg"/>
            </a:ln>
          </p:spPr>
        </p:cxnSp>
        <p:cxnSp>
          <p:nvCxnSpPr>
            <p:cNvPr id="363" name="Google Shape;363;p22"/>
            <p:cNvCxnSpPr/>
            <p:nvPr/>
          </p:nvCxnSpPr>
          <p:spPr>
            <a:xfrm>
              <a:off x="4260" y="3630"/>
              <a:ext cx="0" cy="20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lg" len="lg"/>
            </a:ln>
          </p:spPr>
        </p:cxnSp>
        <p:sp>
          <p:nvSpPr>
            <p:cNvPr id="364" name="Google Shape;364;p22"/>
            <p:cNvSpPr/>
            <p:nvPr/>
          </p:nvSpPr>
          <p:spPr>
            <a:xfrm>
              <a:off x="4140" y="3429"/>
              <a:ext cx="240" cy="201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pic>
          <p:nvPicPr>
            <p:cNvPr id="365" name="Google Shape;365;p2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166" y="3479"/>
              <a:ext cx="139" cy="1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6" name="Google Shape;366;p22"/>
            <p:cNvSpPr/>
            <p:nvPr/>
          </p:nvSpPr>
          <p:spPr>
            <a:xfrm>
              <a:off x="3180" y="3429"/>
              <a:ext cx="240" cy="201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pic>
          <p:nvPicPr>
            <p:cNvPr id="367" name="Google Shape;367;p2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206" y="3479"/>
              <a:ext cx="139" cy="1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22"/>
            <p:cNvSpPr/>
            <p:nvPr/>
          </p:nvSpPr>
          <p:spPr>
            <a:xfrm>
              <a:off x="3660" y="3429"/>
              <a:ext cx="240" cy="201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69" name="Google Shape;369;p22"/>
            <p:cNvSpPr/>
            <p:nvPr/>
          </p:nvSpPr>
          <p:spPr>
            <a:xfrm>
              <a:off x="4560" y="3429"/>
              <a:ext cx="240" cy="201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pic>
          <p:nvPicPr>
            <p:cNvPr id="370" name="Google Shape;370;p2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620" y="3479"/>
              <a:ext cx="104" cy="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22"/>
            <p:cNvSpPr/>
            <p:nvPr/>
          </p:nvSpPr>
          <p:spPr>
            <a:xfrm>
              <a:off x="1152" y="2601"/>
              <a:ext cx="240" cy="201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pic>
          <p:nvPicPr>
            <p:cNvPr id="372" name="Google Shape;372;p2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78" y="2651"/>
              <a:ext cx="139" cy="1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3" name="Google Shape;373;p22"/>
            <p:cNvSpPr/>
            <p:nvPr/>
          </p:nvSpPr>
          <p:spPr>
            <a:xfrm>
              <a:off x="1602" y="3003"/>
              <a:ext cx="240" cy="201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pic>
          <p:nvPicPr>
            <p:cNvPr id="374" name="Google Shape;374;p2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632" y="3053"/>
              <a:ext cx="139" cy="1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22"/>
            <p:cNvSpPr/>
            <p:nvPr/>
          </p:nvSpPr>
          <p:spPr>
            <a:xfrm>
              <a:off x="702" y="3003"/>
              <a:ext cx="240" cy="201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pic>
          <p:nvPicPr>
            <p:cNvPr id="376" name="Google Shape;376;p2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28" y="3053"/>
              <a:ext cx="139" cy="1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7" name="Google Shape;377;p22"/>
            <p:cNvSpPr/>
            <p:nvPr/>
          </p:nvSpPr>
          <p:spPr>
            <a:xfrm>
              <a:off x="1152" y="3003"/>
              <a:ext cx="240" cy="201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78" name="Google Shape;378;p22"/>
            <p:cNvSpPr/>
            <p:nvPr/>
          </p:nvSpPr>
          <p:spPr>
            <a:xfrm>
              <a:off x="2112" y="3456"/>
              <a:ext cx="240" cy="201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pic>
          <p:nvPicPr>
            <p:cNvPr id="379" name="Google Shape;379;p2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138" y="3506"/>
              <a:ext cx="139" cy="1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0" name="Google Shape;380;p22"/>
            <p:cNvSpPr/>
            <p:nvPr/>
          </p:nvSpPr>
          <p:spPr>
            <a:xfrm>
              <a:off x="1152" y="3456"/>
              <a:ext cx="240" cy="201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pic>
          <p:nvPicPr>
            <p:cNvPr id="381" name="Google Shape;381;p2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78" y="3506"/>
              <a:ext cx="139" cy="1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2" name="Google Shape;382;p22"/>
            <p:cNvSpPr/>
            <p:nvPr/>
          </p:nvSpPr>
          <p:spPr>
            <a:xfrm>
              <a:off x="1632" y="3456"/>
              <a:ext cx="240" cy="201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83" name="Google Shape;383;p22"/>
            <p:cNvSpPr/>
            <p:nvPr/>
          </p:nvSpPr>
          <p:spPr>
            <a:xfrm>
              <a:off x="702" y="3456"/>
              <a:ext cx="240" cy="201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84" name="Google Shape;384;p22"/>
            <p:cNvSpPr/>
            <p:nvPr/>
          </p:nvSpPr>
          <p:spPr>
            <a:xfrm>
              <a:off x="1152" y="3858"/>
              <a:ext cx="240" cy="201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85" name="Google Shape;385;p22"/>
            <p:cNvSpPr/>
            <p:nvPr/>
          </p:nvSpPr>
          <p:spPr>
            <a:xfrm>
              <a:off x="2112" y="3858"/>
              <a:ext cx="240" cy="201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pic>
          <p:nvPicPr>
            <p:cNvPr id="386" name="Google Shape;386;p2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242" y="3053"/>
              <a:ext cx="114" cy="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7" name="Google Shape;387;p2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62" y="3531"/>
              <a:ext cx="104" cy="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8" name="Google Shape;388;p2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212" y="3933"/>
              <a:ext cx="104" cy="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9" name="Google Shape;389;p2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172" y="3908"/>
              <a:ext cx="104" cy="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0" name="Google Shape;390;p22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692" y="3531"/>
              <a:ext cx="84" cy="7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91" name="Google Shape;391;p22"/>
            <p:cNvCxnSpPr/>
            <p:nvPr/>
          </p:nvCxnSpPr>
          <p:spPr>
            <a:xfrm flipH="1">
              <a:off x="912" y="2752"/>
              <a:ext cx="270" cy="27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lg" len="lg"/>
            </a:ln>
          </p:spPr>
        </p:cxnSp>
        <p:cxnSp>
          <p:nvCxnSpPr>
            <p:cNvPr id="392" name="Google Shape;392;p22"/>
            <p:cNvCxnSpPr/>
            <p:nvPr/>
          </p:nvCxnSpPr>
          <p:spPr>
            <a:xfrm>
              <a:off x="1362" y="2752"/>
              <a:ext cx="300" cy="27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lg" len="lg"/>
            </a:ln>
          </p:spPr>
        </p:cxnSp>
        <p:cxnSp>
          <p:nvCxnSpPr>
            <p:cNvPr id="393" name="Google Shape;393;p22"/>
            <p:cNvCxnSpPr/>
            <p:nvPr/>
          </p:nvCxnSpPr>
          <p:spPr>
            <a:xfrm>
              <a:off x="1272" y="2802"/>
              <a:ext cx="0" cy="20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lg" len="lg"/>
            </a:ln>
          </p:spPr>
        </p:cxnSp>
        <p:cxnSp>
          <p:nvCxnSpPr>
            <p:cNvPr id="394" name="Google Shape;394;p22"/>
            <p:cNvCxnSpPr/>
            <p:nvPr/>
          </p:nvCxnSpPr>
          <p:spPr>
            <a:xfrm>
              <a:off x="822" y="3204"/>
              <a:ext cx="0" cy="25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lg" len="lg"/>
            </a:ln>
          </p:spPr>
        </p:cxnSp>
        <p:cxnSp>
          <p:nvCxnSpPr>
            <p:cNvPr id="395" name="Google Shape;395;p22"/>
            <p:cNvCxnSpPr/>
            <p:nvPr/>
          </p:nvCxnSpPr>
          <p:spPr>
            <a:xfrm flipH="1">
              <a:off x="1332" y="3179"/>
              <a:ext cx="330" cy="27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lg" len="lg"/>
            </a:ln>
          </p:spPr>
        </p:cxnSp>
        <p:cxnSp>
          <p:nvCxnSpPr>
            <p:cNvPr id="396" name="Google Shape;396;p22"/>
            <p:cNvCxnSpPr/>
            <p:nvPr/>
          </p:nvCxnSpPr>
          <p:spPr>
            <a:xfrm>
              <a:off x="1752" y="3204"/>
              <a:ext cx="0" cy="25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lg" len="lg"/>
            </a:ln>
          </p:spPr>
        </p:cxnSp>
        <p:cxnSp>
          <p:nvCxnSpPr>
            <p:cNvPr id="397" name="Google Shape;397;p22"/>
            <p:cNvCxnSpPr/>
            <p:nvPr/>
          </p:nvCxnSpPr>
          <p:spPr>
            <a:xfrm>
              <a:off x="1812" y="3179"/>
              <a:ext cx="360" cy="30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lg" len="lg"/>
            </a:ln>
          </p:spPr>
        </p:cxnSp>
        <p:cxnSp>
          <p:nvCxnSpPr>
            <p:cNvPr id="398" name="Google Shape;398;p22"/>
            <p:cNvCxnSpPr/>
            <p:nvPr/>
          </p:nvCxnSpPr>
          <p:spPr>
            <a:xfrm>
              <a:off x="1272" y="3657"/>
              <a:ext cx="0" cy="20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lg" len="lg"/>
            </a:ln>
          </p:spPr>
        </p:cxnSp>
        <p:cxnSp>
          <p:nvCxnSpPr>
            <p:cNvPr id="399" name="Google Shape;399;p22"/>
            <p:cNvCxnSpPr/>
            <p:nvPr/>
          </p:nvCxnSpPr>
          <p:spPr>
            <a:xfrm>
              <a:off x="2232" y="3657"/>
              <a:ext cx="0" cy="20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lg" len="lg"/>
            </a:ln>
          </p:spPr>
        </p:cxnSp>
      </p:grpSp>
      <p:sp>
        <p:nvSpPr>
          <p:cNvPr id="400" name="Google Shape;400;p22"/>
          <p:cNvSpPr txBox="1"/>
          <p:nvPr/>
        </p:nvSpPr>
        <p:spPr>
          <a:xfrm>
            <a:off x="227013" y="2392363"/>
            <a:ext cx="1435100" cy="57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string </a:t>
            </a:r>
            <a:endParaRPr/>
          </a:p>
        </p:txBody>
      </p:sp>
      <p:pic>
        <p:nvPicPr>
          <p:cNvPr id="401" name="Google Shape;401;p2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74813" y="2532063"/>
            <a:ext cx="1676400" cy="341312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2"/>
          <p:cNvSpPr txBox="1"/>
          <p:nvPr/>
        </p:nvSpPr>
        <p:spPr>
          <a:xfrm>
            <a:off x="3505200" y="2392363"/>
            <a:ext cx="4816475" cy="57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has two derivation trees</a:t>
            </a:r>
            <a:endParaRPr/>
          </a:p>
        </p:txBody>
      </p:sp>
      <p:grpSp>
        <p:nvGrpSpPr>
          <p:cNvPr id="403" name="Google Shape;403;p22"/>
          <p:cNvGrpSpPr/>
          <p:nvPr/>
        </p:nvGrpSpPr>
        <p:grpSpPr>
          <a:xfrm>
            <a:off x="1524000" y="1143000"/>
            <a:ext cx="6400800" cy="762000"/>
            <a:chOff x="624" y="912"/>
            <a:chExt cx="4032" cy="480"/>
          </a:xfrm>
        </p:grpSpPr>
        <p:pic>
          <p:nvPicPr>
            <p:cNvPr id="404" name="Google Shape;404;p22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20" y="1008"/>
              <a:ext cx="3849" cy="3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5" name="Google Shape;405;p22"/>
            <p:cNvSpPr/>
            <p:nvPr/>
          </p:nvSpPr>
          <p:spPr>
            <a:xfrm>
              <a:off x="624" y="912"/>
              <a:ext cx="4032" cy="48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sp>
        <p:nvSpPr>
          <p:cNvPr id="406" name="Google Shape;406;p22"/>
          <p:cNvSpPr txBox="1"/>
          <p:nvPr/>
        </p:nvSpPr>
        <p:spPr>
          <a:xfrm>
            <a:off x="60325" y="-127000"/>
            <a:ext cx="184150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07" name="Google Shape;407;p22"/>
          <p:cNvSpPr txBox="1"/>
          <p:nvPr/>
        </p:nvSpPr>
        <p:spPr>
          <a:xfrm>
            <a:off x="1219200" y="204788"/>
            <a:ext cx="77724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Ambiguous Grammar – An Example</a:t>
            </a:r>
            <a:endParaRPr sz="3200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408" name="Google Shape;408;p2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0" y="0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3"/>
          <p:cNvSpPr txBox="1"/>
          <p:nvPr/>
        </p:nvSpPr>
        <p:spPr>
          <a:xfrm>
            <a:off x="228600" y="2925763"/>
            <a:ext cx="1435100" cy="57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string </a:t>
            </a:r>
            <a:endParaRPr/>
          </a:p>
        </p:txBody>
      </p:sp>
      <p:pic>
        <p:nvPicPr>
          <p:cNvPr id="414" name="Google Shape;414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6400" y="3065463"/>
            <a:ext cx="1676400" cy="341312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3"/>
          <p:cNvSpPr txBox="1"/>
          <p:nvPr/>
        </p:nvSpPr>
        <p:spPr>
          <a:xfrm>
            <a:off x="3506788" y="2925763"/>
            <a:ext cx="5637212" cy="57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has two leftmost derivations</a:t>
            </a:r>
            <a:endParaRPr/>
          </a:p>
        </p:txBody>
      </p:sp>
      <p:pic>
        <p:nvPicPr>
          <p:cNvPr id="416" name="Google Shape;416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5403850"/>
            <a:ext cx="6934200" cy="122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600" y="3875088"/>
            <a:ext cx="6248400" cy="12303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8" name="Google Shape;418;p23"/>
          <p:cNvGrpSpPr/>
          <p:nvPr/>
        </p:nvGrpSpPr>
        <p:grpSpPr>
          <a:xfrm>
            <a:off x="1219200" y="1401763"/>
            <a:ext cx="6400800" cy="762000"/>
            <a:chOff x="624" y="912"/>
            <a:chExt cx="4032" cy="480"/>
          </a:xfrm>
        </p:grpSpPr>
        <p:pic>
          <p:nvPicPr>
            <p:cNvPr id="419" name="Google Shape;419;p2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20" y="1008"/>
              <a:ext cx="3849" cy="3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0" name="Google Shape;420;p23"/>
            <p:cNvSpPr/>
            <p:nvPr/>
          </p:nvSpPr>
          <p:spPr>
            <a:xfrm>
              <a:off x="624" y="912"/>
              <a:ext cx="4032" cy="48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sp>
        <p:nvSpPr>
          <p:cNvPr id="421" name="Google Shape;421;p23"/>
          <p:cNvSpPr txBox="1"/>
          <p:nvPr/>
        </p:nvSpPr>
        <p:spPr>
          <a:xfrm>
            <a:off x="1295400" y="204788"/>
            <a:ext cx="76962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Ambiguous Grammar – An Example</a:t>
            </a:r>
            <a:endParaRPr sz="3200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422" name="Google Shape;422;p2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" name="Google Shape;427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3075" y="2413000"/>
            <a:ext cx="253365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57800" y="2743200"/>
            <a:ext cx="2971800" cy="214630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24"/>
          <p:cNvSpPr txBox="1"/>
          <p:nvPr/>
        </p:nvSpPr>
        <p:spPr>
          <a:xfrm>
            <a:off x="381000" y="1066800"/>
            <a:ext cx="2325688" cy="1163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Ambiguous </a:t>
            </a:r>
            <a:endParaRPr/>
          </a:p>
          <a:p>
            <a:pPr marL="0" marR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Grammar</a:t>
            </a:r>
            <a:endParaRPr/>
          </a:p>
        </p:txBody>
      </p:sp>
      <p:sp>
        <p:nvSpPr>
          <p:cNvPr id="430" name="Google Shape;430;p24"/>
          <p:cNvSpPr txBox="1"/>
          <p:nvPr/>
        </p:nvSpPr>
        <p:spPr>
          <a:xfrm>
            <a:off x="5410200" y="1371600"/>
            <a:ext cx="3124200" cy="1163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Non-Ambiguous</a:t>
            </a:r>
            <a:endParaRPr/>
          </a:p>
          <a:p>
            <a:pPr marL="0" marR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Grammar</a:t>
            </a:r>
            <a:endParaRPr/>
          </a:p>
        </p:txBody>
      </p:sp>
      <p:sp>
        <p:nvSpPr>
          <p:cNvPr id="431" name="Google Shape;431;p24"/>
          <p:cNvSpPr txBox="1"/>
          <p:nvPr/>
        </p:nvSpPr>
        <p:spPr>
          <a:xfrm>
            <a:off x="5377657" y="809241"/>
            <a:ext cx="2119313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Equivalent</a:t>
            </a:r>
            <a:endParaRPr/>
          </a:p>
        </p:txBody>
      </p:sp>
      <p:sp>
        <p:nvSpPr>
          <p:cNvPr id="432" name="Google Shape;432;p24"/>
          <p:cNvSpPr txBox="1"/>
          <p:nvPr/>
        </p:nvSpPr>
        <p:spPr>
          <a:xfrm>
            <a:off x="4897438" y="5160963"/>
            <a:ext cx="4033837" cy="1163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generates the same </a:t>
            </a:r>
            <a:endParaRPr/>
          </a:p>
          <a:p>
            <a:pPr marL="0" marR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language</a:t>
            </a:r>
            <a:endParaRPr/>
          </a:p>
        </p:txBody>
      </p:sp>
      <p:sp>
        <p:nvSpPr>
          <p:cNvPr id="433" name="Google Shape;433;p24"/>
          <p:cNvSpPr txBox="1"/>
          <p:nvPr/>
        </p:nvSpPr>
        <p:spPr>
          <a:xfrm>
            <a:off x="212725" y="204788"/>
            <a:ext cx="877887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Removing Ambiguity</a:t>
            </a:r>
            <a:endParaRPr sz="3600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434" name="Google Shape;434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Google Shape;439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" y="228600"/>
            <a:ext cx="7543800" cy="962025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25"/>
          <p:cNvSpPr/>
          <p:nvPr/>
        </p:nvSpPr>
        <p:spPr>
          <a:xfrm>
            <a:off x="5181600" y="1219200"/>
            <a:ext cx="533400" cy="533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441" name="Google Shape;441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57800" y="1295400"/>
            <a:ext cx="354013" cy="3683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25"/>
          <p:cNvSpPr/>
          <p:nvPr/>
        </p:nvSpPr>
        <p:spPr>
          <a:xfrm>
            <a:off x="4038600" y="2209800"/>
            <a:ext cx="533400" cy="533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443" name="Google Shape;443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14800" y="2286000"/>
            <a:ext cx="354013" cy="368300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25"/>
          <p:cNvSpPr/>
          <p:nvPr/>
        </p:nvSpPr>
        <p:spPr>
          <a:xfrm>
            <a:off x="6324600" y="2209800"/>
            <a:ext cx="533400" cy="533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445" name="Google Shape;445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77000" y="2286000"/>
            <a:ext cx="315913" cy="368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6" name="Google Shape;446;p25"/>
          <p:cNvCxnSpPr/>
          <p:nvPr/>
        </p:nvCxnSpPr>
        <p:spPr>
          <a:xfrm flipH="1">
            <a:off x="4343400" y="1600200"/>
            <a:ext cx="8382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447" name="Google Shape;447;p25"/>
          <p:cNvCxnSpPr/>
          <p:nvPr/>
        </p:nvCxnSpPr>
        <p:spPr>
          <a:xfrm>
            <a:off x="5715000" y="1600200"/>
            <a:ext cx="8382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lg" len="lg"/>
          </a:ln>
        </p:spPr>
      </p:cxnSp>
      <p:sp>
        <p:nvSpPr>
          <p:cNvPr id="448" name="Google Shape;448;p25"/>
          <p:cNvSpPr/>
          <p:nvPr/>
        </p:nvSpPr>
        <p:spPr>
          <a:xfrm>
            <a:off x="5181600" y="2209800"/>
            <a:ext cx="533400" cy="533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449" name="Google Shape;449;p2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34000" y="2362200"/>
            <a:ext cx="290513" cy="2905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0" name="Google Shape;450;p25"/>
          <p:cNvCxnSpPr/>
          <p:nvPr/>
        </p:nvCxnSpPr>
        <p:spPr>
          <a:xfrm>
            <a:off x="5486400" y="1752600"/>
            <a:ext cx="0" cy="457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lg" len="lg"/>
          </a:ln>
        </p:spPr>
      </p:cxnSp>
      <p:sp>
        <p:nvSpPr>
          <p:cNvPr id="451" name="Google Shape;451;p25"/>
          <p:cNvSpPr/>
          <p:nvPr/>
        </p:nvSpPr>
        <p:spPr>
          <a:xfrm>
            <a:off x="5791200" y="3352800"/>
            <a:ext cx="533400" cy="533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452" name="Google Shape;452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3600" y="3429000"/>
            <a:ext cx="315913" cy="36830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25"/>
          <p:cNvSpPr/>
          <p:nvPr/>
        </p:nvSpPr>
        <p:spPr>
          <a:xfrm>
            <a:off x="6934200" y="3352800"/>
            <a:ext cx="533400" cy="533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454" name="Google Shape;454;p2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24700" y="3530600"/>
            <a:ext cx="214313" cy="239713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25"/>
          <p:cNvSpPr/>
          <p:nvPr/>
        </p:nvSpPr>
        <p:spPr>
          <a:xfrm>
            <a:off x="8077200" y="3352800"/>
            <a:ext cx="533400" cy="533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456" name="Google Shape;456;p2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204200" y="3429000"/>
            <a:ext cx="368300" cy="3683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25"/>
          <p:cNvSpPr/>
          <p:nvPr/>
        </p:nvSpPr>
        <p:spPr>
          <a:xfrm>
            <a:off x="5791200" y="4572000"/>
            <a:ext cx="533400" cy="533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458" name="Google Shape;458;p2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18200" y="4648200"/>
            <a:ext cx="368300" cy="368300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25"/>
          <p:cNvSpPr/>
          <p:nvPr/>
        </p:nvSpPr>
        <p:spPr>
          <a:xfrm>
            <a:off x="5791200" y="5791200"/>
            <a:ext cx="533400" cy="533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460" name="Google Shape;460;p2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969000" y="5911850"/>
            <a:ext cx="265113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25"/>
          <p:cNvSpPr/>
          <p:nvPr/>
        </p:nvSpPr>
        <p:spPr>
          <a:xfrm>
            <a:off x="4038600" y="3352800"/>
            <a:ext cx="533400" cy="533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462" name="Google Shape;462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91000" y="3429000"/>
            <a:ext cx="315913" cy="36830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25"/>
          <p:cNvSpPr/>
          <p:nvPr/>
        </p:nvSpPr>
        <p:spPr>
          <a:xfrm>
            <a:off x="4038600" y="4572000"/>
            <a:ext cx="533400" cy="533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464" name="Google Shape;464;p2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65600" y="4648200"/>
            <a:ext cx="368300" cy="3683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25"/>
          <p:cNvSpPr/>
          <p:nvPr/>
        </p:nvSpPr>
        <p:spPr>
          <a:xfrm>
            <a:off x="4038600" y="5791200"/>
            <a:ext cx="533400" cy="533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466" name="Google Shape;466;p2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16400" y="5911850"/>
            <a:ext cx="265113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25"/>
          <p:cNvSpPr/>
          <p:nvPr/>
        </p:nvSpPr>
        <p:spPr>
          <a:xfrm>
            <a:off x="8077200" y="4572000"/>
            <a:ext cx="533400" cy="533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468" name="Google Shape;468;p2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255000" y="4692650"/>
            <a:ext cx="265113" cy="279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9" name="Google Shape;469;p25"/>
          <p:cNvCxnSpPr/>
          <p:nvPr/>
        </p:nvCxnSpPr>
        <p:spPr>
          <a:xfrm>
            <a:off x="4267200" y="2743200"/>
            <a:ext cx="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470" name="Google Shape;470;p25"/>
          <p:cNvCxnSpPr/>
          <p:nvPr/>
        </p:nvCxnSpPr>
        <p:spPr>
          <a:xfrm>
            <a:off x="4267200" y="3886200"/>
            <a:ext cx="0" cy="68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471" name="Google Shape;471;p25"/>
          <p:cNvCxnSpPr/>
          <p:nvPr/>
        </p:nvCxnSpPr>
        <p:spPr>
          <a:xfrm>
            <a:off x="4267200" y="5105400"/>
            <a:ext cx="0" cy="68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472" name="Google Shape;472;p25"/>
          <p:cNvCxnSpPr/>
          <p:nvPr/>
        </p:nvCxnSpPr>
        <p:spPr>
          <a:xfrm flipH="1">
            <a:off x="6096000" y="2667000"/>
            <a:ext cx="304800" cy="68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473" name="Google Shape;473;p25"/>
          <p:cNvCxnSpPr/>
          <p:nvPr/>
        </p:nvCxnSpPr>
        <p:spPr>
          <a:xfrm>
            <a:off x="6705600" y="2743200"/>
            <a:ext cx="4572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474" name="Google Shape;474;p25"/>
          <p:cNvCxnSpPr/>
          <p:nvPr/>
        </p:nvCxnSpPr>
        <p:spPr>
          <a:xfrm>
            <a:off x="6858000" y="2590800"/>
            <a:ext cx="129540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475" name="Google Shape;475;p25"/>
          <p:cNvCxnSpPr/>
          <p:nvPr/>
        </p:nvCxnSpPr>
        <p:spPr>
          <a:xfrm>
            <a:off x="6096000" y="3886200"/>
            <a:ext cx="0" cy="68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476" name="Google Shape;476;p25"/>
          <p:cNvCxnSpPr/>
          <p:nvPr/>
        </p:nvCxnSpPr>
        <p:spPr>
          <a:xfrm>
            <a:off x="6096000" y="5105400"/>
            <a:ext cx="0" cy="68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477" name="Google Shape;477;p25"/>
          <p:cNvCxnSpPr/>
          <p:nvPr/>
        </p:nvCxnSpPr>
        <p:spPr>
          <a:xfrm>
            <a:off x="8382000" y="3886200"/>
            <a:ext cx="0" cy="68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lg" len="lg"/>
          </a:ln>
        </p:spPr>
      </p:cxnSp>
      <p:pic>
        <p:nvPicPr>
          <p:cNvPr id="478" name="Google Shape;478;p2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28600" y="1524000"/>
            <a:ext cx="2971800" cy="2182812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25"/>
          <p:cNvSpPr txBox="1"/>
          <p:nvPr/>
        </p:nvSpPr>
        <p:spPr>
          <a:xfrm>
            <a:off x="152400" y="3886200"/>
            <a:ext cx="3657600" cy="2653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Unique derivation tree and leftmost derivation</a:t>
            </a:r>
            <a:endParaRPr sz="3200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For the string a+a*a</a:t>
            </a:r>
            <a:endParaRPr sz="3200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480" name="Google Shape;480;p25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0" y="50555"/>
            <a:ext cx="10668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6"/>
          <p:cNvSpPr txBox="1">
            <a:spLocks noGrp="1"/>
          </p:cNvSpPr>
          <p:nvPr>
            <p:ph type="title"/>
          </p:nvPr>
        </p:nvSpPr>
        <p:spPr>
          <a:xfrm>
            <a:off x="1143000" y="152400"/>
            <a:ext cx="7848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Simplification of Context Free Grammar</a:t>
            </a:r>
            <a:endParaRPr/>
          </a:p>
        </p:txBody>
      </p:sp>
      <p:sp>
        <p:nvSpPr>
          <p:cNvPr id="486" name="Google Shape;486;p26"/>
          <p:cNvSpPr txBox="1">
            <a:spLocks noGrp="1"/>
          </p:cNvSpPr>
          <p:nvPr>
            <p:ph type="body" idx="1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CFG G can be simplified  as:</a:t>
            </a:r>
            <a:endParaRPr dirty="0"/>
          </a:p>
          <a:p>
            <a:pPr marL="514350" lvl="0" indent="-514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variable and terminal of the CFG should appear in the derivation if at least one word in the L(G).</a:t>
            </a:r>
            <a:endParaRPr dirty="0"/>
          </a:p>
          <a:p>
            <a:pPr marL="514350" lvl="0" indent="-514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should not be any production of the form A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where A and B are both non-terminals.</a:t>
            </a:r>
            <a:endParaRPr dirty="0"/>
          </a:p>
          <a:p>
            <a:pPr marL="514350" lvl="0" indent="-361950" algn="l" rtl="0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lvl="0" indent="-51435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Simplification techniques are: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1.Removal of Useless Symbols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2.Removal of Unit Productions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3.Elimination of ∈ production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87" name="Google Shape;487;p26"/>
          <p:cNvSpPr txBox="1">
            <a:spLocks noGrp="1"/>
          </p:cNvSpPr>
          <p:nvPr>
            <p:ph type="sldNum" idx="12"/>
          </p:nvPr>
        </p:nvSpPr>
        <p:spPr>
          <a:xfrm>
            <a:off x="70866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pic>
        <p:nvPicPr>
          <p:cNvPr id="488" name="Google Shape;488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7"/>
          <p:cNvSpPr txBox="1">
            <a:spLocks noGrp="1"/>
          </p:cNvSpPr>
          <p:nvPr>
            <p:ph type="title"/>
          </p:nvPr>
        </p:nvSpPr>
        <p:spPr>
          <a:xfrm>
            <a:off x="1066800" y="152400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Removal of Useless symbol</a:t>
            </a:r>
            <a:endParaRPr/>
          </a:p>
        </p:txBody>
      </p:sp>
      <p:sp>
        <p:nvSpPr>
          <p:cNvPr id="494" name="Google Shape;494;p27"/>
          <p:cNvSpPr txBox="1">
            <a:spLocks noGrp="1"/>
          </p:cNvSpPr>
          <p:nvPr>
            <p:ph type="body" idx="1"/>
          </p:nvPr>
        </p:nvSpPr>
        <p:spPr>
          <a:xfrm>
            <a:off x="381000" y="11430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Ex.1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Consider the following grammar: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G={ (S,A),(1,0),P,S}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P consists of the following productions: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0|0 S 1|1 S 0|A|S S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Simplify the grammar by removing the useless symbols if any.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 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 as A is useless symbol.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0|0 S 1|1 S 0|S S</a:t>
            </a:r>
            <a:endParaRPr sz="24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5" name="Google Shape;495;p27"/>
          <p:cNvSpPr txBox="1">
            <a:spLocks noGrp="1"/>
          </p:cNvSpPr>
          <p:nvPr>
            <p:ph type="sldNum" idx="12"/>
          </p:nvPr>
        </p:nvSpPr>
        <p:spPr>
          <a:xfrm>
            <a:off x="70866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pic>
        <p:nvPicPr>
          <p:cNvPr id="496" name="Google Shape;496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8"/>
          <p:cNvSpPr txBox="1">
            <a:spLocks noGrp="1"/>
          </p:cNvSpPr>
          <p:nvPr>
            <p:ph type="title"/>
          </p:nvPr>
        </p:nvSpPr>
        <p:spPr>
          <a:xfrm>
            <a:off x="1066800" y="152400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Removal of Useless symbol</a:t>
            </a:r>
            <a:endParaRPr/>
          </a:p>
        </p:txBody>
      </p:sp>
      <p:sp>
        <p:nvSpPr>
          <p:cNvPr id="502" name="Google Shape;502;p28"/>
          <p:cNvSpPr txBox="1">
            <a:spLocks noGrp="1"/>
          </p:cNvSpPr>
          <p:nvPr>
            <p:ph type="body" idx="1"/>
          </p:nvPr>
        </p:nvSpPr>
        <p:spPr>
          <a:xfrm>
            <a:off x="381000" y="11430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Ex.2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Consider the following grammar: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G={ (S,A,B),(a),(1,0),P,S}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P consists of the following productions: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B | a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4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Simplify the grammar by removing the useless symbols if any.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is useless, Remove B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| a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3" name="Google Shape;503;p28"/>
          <p:cNvSpPr txBox="1">
            <a:spLocks noGrp="1"/>
          </p:cNvSpPr>
          <p:nvPr>
            <p:ph type="sldNum" idx="12"/>
          </p:nvPr>
        </p:nvSpPr>
        <p:spPr>
          <a:xfrm>
            <a:off x="70866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pic>
        <p:nvPicPr>
          <p:cNvPr id="504" name="Google Shape;504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9"/>
          <p:cNvSpPr txBox="1">
            <a:spLocks noGrp="1"/>
          </p:cNvSpPr>
          <p:nvPr>
            <p:ph type="title"/>
          </p:nvPr>
        </p:nvSpPr>
        <p:spPr>
          <a:xfrm>
            <a:off x="1295400" y="152400"/>
            <a:ext cx="7696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Removal of Unit Production</a:t>
            </a:r>
            <a:endParaRPr/>
          </a:p>
        </p:txBody>
      </p:sp>
      <p:sp>
        <p:nvSpPr>
          <p:cNvPr id="510" name="Google Shape;510;p29"/>
          <p:cNvSpPr txBox="1">
            <a:spLocks noGrp="1"/>
          </p:cNvSpPr>
          <p:nvPr>
            <p:ph type="body" idx="1"/>
          </p:nvPr>
        </p:nvSpPr>
        <p:spPr>
          <a:xfrm>
            <a:off x="304800" y="990600"/>
            <a:ext cx="86868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production rule of the form A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where A and B are both non-terminals is called a unit production.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the other productions (including ∈ productions) are non-unit productions.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Ex.1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Consider the following grammar: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G={ (A,B),(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),P,A}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P consists of :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B, 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b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Simplify the grammar by removing the unit productions if any.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eliminating unit production A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a|b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1" name="Google Shape;511;p29"/>
          <p:cNvSpPr txBox="1">
            <a:spLocks noGrp="1"/>
          </p:cNvSpPr>
          <p:nvPr>
            <p:ph type="sldNum" idx="12"/>
          </p:nvPr>
        </p:nvSpPr>
        <p:spPr>
          <a:xfrm>
            <a:off x="70866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pic>
        <p:nvPicPr>
          <p:cNvPr id="512" name="Google Shape;512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0"/>
          <p:cNvSpPr txBox="1">
            <a:spLocks noGrp="1"/>
          </p:cNvSpPr>
          <p:nvPr>
            <p:ph type="title"/>
          </p:nvPr>
        </p:nvSpPr>
        <p:spPr>
          <a:xfrm>
            <a:off x="1295400" y="152400"/>
            <a:ext cx="7696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Removal of Unit Production</a:t>
            </a:r>
            <a:endParaRPr/>
          </a:p>
        </p:txBody>
      </p:sp>
      <p:sp>
        <p:nvSpPr>
          <p:cNvPr id="518" name="Google Shape;518;p30"/>
          <p:cNvSpPr txBox="1">
            <a:spLocks noGrp="1"/>
          </p:cNvSpPr>
          <p:nvPr>
            <p:ph type="body" idx="1"/>
          </p:nvPr>
        </p:nvSpPr>
        <p:spPr>
          <a:xfrm>
            <a:off x="304800" y="990600"/>
            <a:ext cx="86868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Ex.2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 the following grammar: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| X b | a Y a | b | a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 | X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Simplify the grammar by removing the unit productions if any.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Simplified grammar is: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Yb |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aYa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b | aa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19" name="Google Shape;519;p30"/>
          <p:cNvSpPr txBox="1">
            <a:spLocks noGrp="1"/>
          </p:cNvSpPr>
          <p:nvPr>
            <p:ph type="sldNum" idx="12"/>
          </p:nvPr>
        </p:nvSpPr>
        <p:spPr>
          <a:xfrm>
            <a:off x="70866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pic>
        <p:nvPicPr>
          <p:cNvPr id="520" name="Google Shape;520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1"/>
          <p:cNvSpPr txBox="1">
            <a:spLocks noGrp="1"/>
          </p:cNvSpPr>
          <p:nvPr>
            <p:ph type="title"/>
          </p:nvPr>
        </p:nvSpPr>
        <p:spPr>
          <a:xfrm>
            <a:off x="1295400" y="152400"/>
            <a:ext cx="7696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Removal of ∈ - Production</a:t>
            </a:r>
            <a:endParaRPr/>
          </a:p>
        </p:txBody>
      </p:sp>
      <p:sp>
        <p:nvSpPr>
          <p:cNvPr id="526" name="Google Shape;526;p31"/>
          <p:cNvSpPr txBox="1">
            <a:spLocks noGrp="1"/>
          </p:cNvSpPr>
          <p:nvPr>
            <p:ph type="body" idx="1"/>
          </p:nvPr>
        </p:nvSpPr>
        <p:spPr>
          <a:xfrm>
            <a:off x="304800" y="990600"/>
            <a:ext cx="86868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production of the form A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∈ where A is non-terminal is known as ∈ - Production.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Ex.1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 the following grammar,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S a | b S b | ∈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Simplify the grammar by eliminating ∈ - Productions  if any.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Simplified grammar is G’: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aSa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bSb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aa | bb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G’=G-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ϵ rules.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L(G’)=L(G)-{ϵ}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27" name="Google Shape;527;p31"/>
          <p:cNvSpPr txBox="1">
            <a:spLocks noGrp="1"/>
          </p:cNvSpPr>
          <p:nvPr>
            <p:ph type="sldNum" idx="12"/>
          </p:nvPr>
        </p:nvSpPr>
        <p:spPr>
          <a:xfrm>
            <a:off x="70866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pic>
        <p:nvPicPr>
          <p:cNvPr id="528" name="Google Shape;528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2"/>
          <p:cNvSpPr txBox="1">
            <a:spLocks noGrp="1"/>
          </p:cNvSpPr>
          <p:nvPr>
            <p:ph type="title"/>
          </p:nvPr>
        </p:nvSpPr>
        <p:spPr>
          <a:xfrm>
            <a:off x="1295400" y="152400"/>
            <a:ext cx="7696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Removal of ∈ - Production</a:t>
            </a:r>
            <a:endParaRPr/>
          </a:p>
        </p:txBody>
      </p:sp>
      <p:sp>
        <p:nvSpPr>
          <p:cNvPr id="534" name="Google Shape;534;p32"/>
          <p:cNvSpPr txBox="1">
            <a:spLocks noGrp="1"/>
          </p:cNvSpPr>
          <p:nvPr>
            <p:ph type="body" idx="1"/>
          </p:nvPr>
        </p:nvSpPr>
        <p:spPr>
          <a:xfrm>
            <a:off x="304800" y="990600"/>
            <a:ext cx="86868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Ex.2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 the following grammar,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| X b | a Y a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| ∈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X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Simplify the grammar by eliminating ∈ - Productions  if any.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Simplified grammar is: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| X b | a Y a | b | aa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 | X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35" name="Google Shape;535;p32"/>
          <p:cNvSpPr txBox="1">
            <a:spLocks noGrp="1"/>
          </p:cNvSpPr>
          <p:nvPr>
            <p:ph type="sldNum" idx="12"/>
          </p:nvPr>
        </p:nvSpPr>
        <p:spPr>
          <a:xfrm>
            <a:off x="70866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pic>
        <p:nvPicPr>
          <p:cNvPr id="536" name="Google Shape;536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33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Chomsky Hierarchy</a:t>
            </a:r>
            <a:endParaRPr/>
          </a:p>
        </p:txBody>
      </p:sp>
      <p:sp>
        <p:nvSpPr>
          <p:cNvPr id="542" name="Google Shape;542;p33"/>
          <p:cNvSpPr txBox="1">
            <a:spLocks noGrp="1"/>
          </p:cNvSpPr>
          <p:nvPr>
            <p:ph type="body" idx="1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31115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lvl="0" indent="-514350" algn="l" rtl="0">
              <a:spcBef>
                <a:spcPts val="640"/>
              </a:spcBef>
              <a:spcAft>
                <a:spcPts val="0"/>
              </a:spcAft>
              <a:buClr>
                <a:srgbClr val="7030A0"/>
              </a:buClr>
              <a:buSzPts val="3200"/>
              <a:buFont typeface="Comic Sans MS"/>
              <a:buAutoNum type="arabicPeriod"/>
            </a:pPr>
            <a:r>
              <a:rPr lang="en-US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0 grammar 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(Unrestricted Grammar)</a:t>
            </a:r>
            <a:endParaRPr/>
          </a:p>
          <a:p>
            <a:pPr marL="514350" lvl="0" indent="-514350" algn="l" rtl="0">
              <a:spcBef>
                <a:spcPts val="640"/>
              </a:spcBef>
              <a:spcAft>
                <a:spcPts val="0"/>
              </a:spcAft>
              <a:buClr>
                <a:srgbClr val="7030A0"/>
              </a:buClr>
              <a:buSzPts val="3200"/>
              <a:buFont typeface="Comic Sans MS"/>
              <a:buAutoNum type="arabicPeriod"/>
            </a:pPr>
            <a:r>
              <a:rPr lang="en-US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1 grammar 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(Context Sensitive Grammar)</a:t>
            </a:r>
            <a:endParaRPr/>
          </a:p>
          <a:p>
            <a:pPr marL="514350" lvl="0" indent="-514350" algn="l" rtl="0">
              <a:spcBef>
                <a:spcPts val="640"/>
              </a:spcBef>
              <a:spcAft>
                <a:spcPts val="0"/>
              </a:spcAft>
              <a:buClr>
                <a:srgbClr val="7030A0"/>
              </a:buClr>
              <a:buSzPts val="3200"/>
              <a:buFont typeface="Comic Sans MS"/>
              <a:buAutoNum type="arabicPeriod"/>
            </a:pPr>
            <a:r>
              <a:rPr lang="en-US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2 grammar 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(Context Free Grammar)</a:t>
            </a:r>
            <a:endParaRPr/>
          </a:p>
          <a:p>
            <a:pPr marL="514350" lvl="0" indent="-514350" algn="l" rtl="0">
              <a:spcBef>
                <a:spcPts val="640"/>
              </a:spcBef>
              <a:spcAft>
                <a:spcPts val="0"/>
              </a:spcAft>
              <a:buClr>
                <a:srgbClr val="7030A0"/>
              </a:buClr>
              <a:buSzPts val="3200"/>
              <a:buFont typeface="Comic Sans MS"/>
              <a:buAutoNum type="arabicPeriod"/>
            </a:pPr>
            <a:r>
              <a:rPr lang="en-US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3 grammar 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(Regular Grammar)</a:t>
            </a:r>
            <a:endParaRPr/>
          </a:p>
        </p:txBody>
      </p:sp>
      <p:pic>
        <p:nvPicPr>
          <p:cNvPr id="543" name="Google Shape;543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34"/>
          <p:cNvSpPr txBox="1">
            <a:spLocks noGrp="1"/>
          </p:cNvSpPr>
          <p:nvPr>
            <p:ph type="title"/>
          </p:nvPr>
        </p:nvSpPr>
        <p:spPr>
          <a:xfrm>
            <a:off x="1143000" y="152400"/>
            <a:ext cx="7848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Chomsky Hierarchy</a:t>
            </a:r>
            <a:endParaRPr/>
          </a:p>
        </p:txBody>
      </p:sp>
      <p:sp>
        <p:nvSpPr>
          <p:cNvPr id="549" name="Google Shape;549;p34"/>
          <p:cNvSpPr txBox="1">
            <a:spLocks noGrp="1"/>
          </p:cNvSpPr>
          <p:nvPr>
            <p:ph type="body" idx="1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3 grammar: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It is also called as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regular grammar.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A 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α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Recognized by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FSM.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types of Regular Grammar are:</a:t>
            </a:r>
            <a:endParaRPr dirty="0"/>
          </a:p>
          <a:p>
            <a:pPr marL="45720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 Linear Grammar    2. Right Linear Grammar</a:t>
            </a:r>
            <a:endParaRPr dirty="0"/>
          </a:p>
          <a:p>
            <a:pPr marL="457200" lvl="0" indent="-304800" algn="l" rtl="0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rgbClr val="7030A0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2 grammar: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It is also called as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 free grammar.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A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α      where  A is NT and α is sentential form.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Start symbol of the Grammar can also appear on RHS.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Recognized by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PDA(Pushdown Automata)</a:t>
            </a:r>
            <a:endParaRPr dirty="0"/>
          </a:p>
        </p:txBody>
      </p:sp>
      <p:pic>
        <p:nvPicPr>
          <p:cNvPr id="550" name="Google Shape;550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5"/>
          <p:cNvSpPr txBox="1">
            <a:spLocks noGrp="1"/>
          </p:cNvSpPr>
          <p:nvPr>
            <p:ph type="title"/>
          </p:nvPr>
        </p:nvSpPr>
        <p:spPr>
          <a:xfrm>
            <a:off x="1676400" y="152400"/>
            <a:ext cx="7315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Chomsky Hierarchy</a:t>
            </a:r>
            <a:endParaRPr/>
          </a:p>
        </p:txBody>
      </p:sp>
      <p:sp>
        <p:nvSpPr>
          <p:cNvPr id="556" name="Google Shape;556;p35"/>
          <p:cNvSpPr txBox="1">
            <a:spLocks noGrp="1"/>
          </p:cNvSpPr>
          <p:nvPr>
            <p:ph type="body" idx="1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1 grammar: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It is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 sensitive grammar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context dependent.</a:t>
            </a:r>
            <a:endParaRPr dirty="0"/>
          </a:p>
          <a:p>
            <a:pPr marL="514350" lvl="0" indent="-514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α 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β   where length of  β is at least as much as the length of α except 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∈.</a:t>
            </a:r>
            <a:endParaRPr dirty="0"/>
          </a:p>
          <a:p>
            <a:pPr marL="514350" lvl="0" indent="-514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rule 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∈ is allowed only if start symbol S does not appear on RHS.</a:t>
            </a:r>
            <a:endParaRPr dirty="0"/>
          </a:p>
          <a:p>
            <a:pPr marL="514350" lvl="0" indent="-514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Productions are of the form </a:t>
            </a:r>
            <a:endParaRPr dirty="0"/>
          </a:p>
          <a:p>
            <a:pPr marL="514350" lvl="0" indent="-51435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α</a:t>
            </a:r>
            <a:r>
              <a:rPr lang="en-US" sz="24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Aα</a:t>
            </a:r>
            <a:r>
              <a:rPr lang="en-US" sz="24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α1 β α</a:t>
            </a:r>
            <a:r>
              <a:rPr lang="en-US" sz="24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(β  ≠ ∈)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Recognized by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TM(Turing Machine).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7" name="Google Shape;557;p35"/>
          <p:cNvSpPr txBox="1">
            <a:spLocks noGrp="1"/>
          </p:cNvSpPr>
          <p:nvPr>
            <p:ph type="sldNum" idx="12"/>
          </p:nvPr>
        </p:nvSpPr>
        <p:spPr>
          <a:xfrm>
            <a:off x="70866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pic>
        <p:nvPicPr>
          <p:cNvPr id="558" name="Google Shape;558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36"/>
          <p:cNvSpPr txBox="1">
            <a:spLocks noGrp="1"/>
          </p:cNvSpPr>
          <p:nvPr>
            <p:ph type="title"/>
          </p:nvPr>
        </p:nvSpPr>
        <p:spPr>
          <a:xfrm>
            <a:off x="1295400" y="152400"/>
            <a:ext cx="7696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Chomsky Hierarchy</a:t>
            </a:r>
            <a:endParaRPr/>
          </a:p>
        </p:txBody>
      </p:sp>
      <p:sp>
        <p:nvSpPr>
          <p:cNvPr id="564" name="Google Shape;564;p36"/>
          <p:cNvSpPr txBox="1">
            <a:spLocks noGrp="1"/>
          </p:cNvSpPr>
          <p:nvPr>
            <p:ph type="body" idx="1"/>
          </p:nvPr>
        </p:nvSpPr>
        <p:spPr>
          <a:xfrm>
            <a:off x="228600" y="1219200"/>
            <a:ext cx="87630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0 grammar: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It is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unrestricted grammar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is no restriction on production.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α 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β      (α ≠ ∈)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Recognized by TM(Turing machines)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languages are known as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Recursively Enumerable Languages.</a:t>
            </a:r>
            <a:endParaRPr sz="24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5" name="Google Shape;565;p36"/>
          <p:cNvSpPr txBox="1">
            <a:spLocks noGrp="1"/>
          </p:cNvSpPr>
          <p:nvPr>
            <p:ph type="sldNum" idx="12"/>
          </p:nvPr>
        </p:nvSpPr>
        <p:spPr>
          <a:xfrm>
            <a:off x="70866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pic>
        <p:nvPicPr>
          <p:cNvPr id="566" name="Google Shape;566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7"/>
          <p:cNvSpPr txBox="1">
            <a:spLocks noGrp="1"/>
          </p:cNvSpPr>
          <p:nvPr>
            <p:ph type="title"/>
          </p:nvPr>
        </p:nvSpPr>
        <p:spPr>
          <a:xfrm>
            <a:off x="3048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 Forms</a:t>
            </a:r>
            <a:endParaRPr/>
          </a:p>
        </p:txBody>
      </p:sp>
      <p:sp>
        <p:nvSpPr>
          <p:cNvPr id="572" name="Google Shape;572;p37"/>
          <p:cNvSpPr txBox="1">
            <a:spLocks noGrp="1"/>
          </p:cNvSpPr>
          <p:nvPr>
            <p:ph type="body" idx="1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certain standard ways of writing CFG.</a:t>
            </a:r>
            <a:endParaRPr/>
          </a:p>
          <a:p>
            <a:pPr marL="457200" lvl="0" indent="-4572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satisfy certain restrictions on the productions in the CFG.</a:t>
            </a:r>
            <a:endParaRPr/>
          </a:p>
          <a:p>
            <a:pPr marL="457200" lvl="0" indent="-4572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Then the G is said to be in </a:t>
            </a: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 forms.</a:t>
            </a:r>
            <a:endParaRPr/>
          </a:p>
          <a:p>
            <a:pPr marL="457200" lvl="0" indent="-457200" algn="l" rtl="0">
              <a:spcBef>
                <a:spcPts val="40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l" rtl="0">
              <a:spcBef>
                <a:spcPts val="560"/>
              </a:spcBef>
              <a:spcAft>
                <a:spcPts val="0"/>
              </a:spcAft>
              <a:buClr>
                <a:srgbClr val="7030A0"/>
              </a:buClr>
              <a:buSzPts val="2800"/>
              <a:buFont typeface="Times New Roman"/>
              <a:buAutoNum type="arabicPeriod"/>
            </a:pPr>
            <a:r>
              <a:rPr lang="en-US" sz="28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Chomsky Normal Form (CNF)</a:t>
            </a:r>
            <a:endParaRPr/>
          </a:p>
          <a:p>
            <a:pPr marL="457200" lvl="0" indent="-457200" algn="l" rtl="0">
              <a:spcBef>
                <a:spcPts val="560"/>
              </a:spcBef>
              <a:spcAft>
                <a:spcPts val="0"/>
              </a:spcAft>
              <a:buClr>
                <a:srgbClr val="7030A0"/>
              </a:buClr>
              <a:buSzPts val="2800"/>
              <a:buFont typeface="Times New Roman"/>
              <a:buAutoNum type="arabicPeriod"/>
            </a:pPr>
            <a:r>
              <a:rPr lang="en-US" sz="28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Greibach Normal Form (GNF)</a:t>
            </a:r>
            <a:endParaRPr/>
          </a:p>
          <a:p>
            <a:pPr marL="457200" lvl="0" indent="-457200" algn="l" rtl="0">
              <a:spcBef>
                <a:spcPts val="400"/>
              </a:spcBef>
              <a:spcAft>
                <a:spcPts val="0"/>
              </a:spcAft>
              <a:buNone/>
            </a:pPr>
            <a:endParaRPr sz="2000"/>
          </a:p>
        </p:txBody>
      </p:sp>
      <p:pic>
        <p:nvPicPr>
          <p:cNvPr id="573" name="Google Shape;573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38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Chomsky Normal Form(CNF)</a:t>
            </a:r>
            <a:endParaRPr/>
          </a:p>
        </p:txBody>
      </p:sp>
      <p:sp>
        <p:nvSpPr>
          <p:cNvPr id="579" name="Google Shape;579;p38"/>
          <p:cNvSpPr txBox="1">
            <a:spLocks noGrp="1"/>
          </p:cNvSpPr>
          <p:nvPr>
            <p:ph type="body" idx="1"/>
          </p:nvPr>
        </p:nvSpPr>
        <p:spPr>
          <a:xfrm>
            <a:off x="1112520" y="1371600"/>
            <a:ext cx="78486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CFG is in CNF if every production is of the form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A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a,  where A is NT and a is T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A 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BC where A,B and C are NTs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 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∈ 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in G if ∈ belongs to L(G).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∈ is in L(G),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assume that S does not appear on the RHS of any production.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 G is : 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S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AB|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∈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A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B 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580" name="Google Shape;580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9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Construction of G in CNF</a:t>
            </a:r>
            <a:endParaRPr/>
          </a:p>
        </p:txBody>
      </p:sp>
      <p:sp>
        <p:nvSpPr>
          <p:cNvPr id="587" name="Google Shape;587;p39"/>
          <p:cNvSpPr txBox="1">
            <a:spLocks noGrp="1"/>
          </p:cNvSpPr>
          <p:nvPr>
            <p:ph type="body" idx="1"/>
          </p:nvPr>
        </p:nvSpPr>
        <p:spPr>
          <a:xfrm>
            <a:off x="152400" y="16764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1. Elimination of null productions and unit productions using              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previous method.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Let the G is (V,T,P,S)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2. Elimination of terminals on RHS.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3. Restricting the number of variables on RHS.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None/>
            </a:pPr>
            <a:endParaRPr sz="2000"/>
          </a:p>
        </p:txBody>
      </p:sp>
      <p:pic>
        <p:nvPicPr>
          <p:cNvPr id="588" name="Google Shape;588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40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 to CNF</a:t>
            </a:r>
            <a:endParaRPr/>
          </a:p>
        </p:txBody>
      </p:sp>
      <p:sp>
        <p:nvSpPr>
          <p:cNvPr id="594" name="Google Shape;594;p40"/>
          <p:cNvSpPr txBox="1">
            <a:spLocks noGrp="1"/>
          </p:cNvSpPr>
          <p:nvPr>
            <p:ph type="body" idx="1"/>
          </p:nvPr>
        </p:nvSpPr>
        <p:spPr>
          <a:xfrm>
            <a:off x="152400" y="838200"/>
            <a:ext cx="8534400" cy="5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Convert to CNF,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aSa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bSb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a | b | aa | bb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Adding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 can rewrite the grammar as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ASA|BSB|a|b|AA|BB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ASA and 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BSB are not in CNF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ASA we can write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</a:t>
            </a:r>
            <a:r>
              <a:rPr lang="en-US" sz="24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R</a:t>
            </a:r>
            <a:r>
              <a:rPr lang="en-US" sz="24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BSB we can write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</a:t>
            </a:r>
            <a:r>
              <a:rPr lang="en-US" sz="24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R</a:t>
            </a:r>
            <a:r>
              <a:rPr lang="en-US" sz="24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SB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Grammar in CNF is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</a:t>
            </a:r>
            <a:r>
              <a:rPr lang="en-US" sz="24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|BR</a:t>
            </a:r>
            <a:r>
              <a:rPr lang="en-US" sz="24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|a|b|AA|BB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SA, R</a:t>
            </a:r>
            <a:r>
              <a:rPr lang="en-US" sz="24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SB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95" name="Google Shape;595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41"/>
          <p:cNvSpPr txBox="1">
            <a:spLocks noGrp="1"/>
          </p:cNvSpPr>
          <p:nvPr>
            <p:ph type="title"/>
          </p:nvPr>
        </p:nvSpPr>
        <p:spPr>
          <a:xfrm>
            <a:off x="152400" y="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 to CNF</a:t>
            </a:r>
            <a:endParaRPr/>
          </a:p>
        </p:txBody>
      </p:sp>
      <p:sp>
        <p:nvSpPr>
          <p:cNvPr id="601" name="Google Shape;601;p41"/>
          <p:cNvSpPr txBox="1">
            <a:spLocks noGrp="1"/>
          </p:cNvSpPr>
          <p:nvPr>
            <p:ph type="body" idx="1"/>
          </p:nvPr>
        </p:nvSpPr>
        <p:spPr>
          <a:xfrm>
            <a:off x="1371600" y="609600"/>
            <a:ext cx="73152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Convert to CNF, 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bA|aB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bAA|aS|a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aBB|bS|b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R</a:t>
            </a:r>
            <a:r>
              <a:rPr lang="en-US" sz="24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 R</a:t>
            </a:r>
            <a:r>
              <a:rPr lang="en-US" sz="24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Rewriting the grammar,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</a:t>
            </a:r>
            <a:r>
              <a:rPr lang="en-US" sz="24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A| R</a:t>
            </a:r>
            <a:r>
              <a:rPr lang="en-US" sz="24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B, 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</a:t>
            </a:r>
            <a:r>
              <a:rPr lang="en-US" sz="24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AA| R</a:t>
            </a:r>
            <a:r>
              <a:rPr lang="en-US" sz="24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S|a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BB| R</a:t>
            </a:r>
            <a:r>
              <a:rPr lang="en-US" sz="24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S|b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 R</a:t>
            </a:r>
            <a:r>
              <a:rPr lang="en-US" sz="24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AA and B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</a:t>
            </a:r>
            <a:r>
              <a:rPr lang="en-US" sz="24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BB are not in CNF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Converted grammar in CNF is 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A| R</a:t>
            </a:r>
            <a:r>
              <a:rPr lang="en-US" sz="24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B, 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 R</a:t>
            </a:r>
            <a:r>
              <a:rPr lang="en-US" sz="24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S|a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R</a:t>
            </a:r>
            <a:r>
              <a:rPr lang="en-US" sz="24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AA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 R</a:t>
            </a:r>
            <a:r>
              <a:rPr lang="en-US" sz="24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S|b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R</a:t>
            </a:r>
            <a:r>
              <a:rPr lang="en-US" sz="24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BB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 R</a:t>
            </a:r>
            <a:r>
              <a:rPr lang="en-US" sz="24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02" name="Google Shape;602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42"/>
          <p:cNvSpPr/>
          <p:nvPr/>
        </p:nvSpPr>
        <p:spPr>
          <a:xfrm>
            <a:off x="3657600" y="2819400"/>
            <a:ext cx="160020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→ αX</a:t>
            </a:r>
            <a:endParaRPr/>
          </a:p>
        </p:txBody>
      </p:sp>
      <p:sp>
        <p:nvSpPr>
          <p:cNvPr id="609" name="Google Shape;609;p42"/>
          <p:cNvSpPr txBox="1"/>
          <p:nvPr/>
        </p:nvSpPr>
        <p:spPr>
          <a:xfrm>
            <a:off x="152400" y="1524000"/>
            <a:ext cx="8839200" cy="157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context free grammar is said to be in Greibach Normal Form if all productions are in the following form:</a:t>
            </a:r>
            <a:endParaRPr/>
          </a:p>
        </p:txBody>
      </p:sp>
      <p:sp>
        <p:nvSpPr>
          <p:cNvPr id="610" name="Google Shape;610;p42"/>
          <p:cNvSpPr txBox="1"/>
          <p:nvPr/>
        </p:nvSpPr>
        <p:spPr>
          <a:xfrm>
            <a:off x="1447800" y="3581400"/>
            <a:ext cx="6477000" cy="2849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is a non terminal symbols</a:t>
            </a:r>
            <a:endParaRPr/>
          </a:p>
          <a:p>
            <a:pPr marL="0" marR="0" lvl="0" indent="-2032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α is a terminal symbol</a:t>
            </a:r>
            <a:endParaRPr/>
          </a:p>
          <a:p>
            <a:pPr marL="0" marR="0" lvl="0" indent="-2032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X is a sequence of non terminal symbols. </a:t>
            </a:r>
            <a:endParaRPr/>
          </a:p>
          <a:p>
            <a:pPr marL="0" marR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It may be empty.</a:t>
            </a:r>
            <a:endParaRPr/>
          </a:p>
        </p:txBody>
      </p:sp>
      <p:sp>
        <p:nvSpPr>
          <p:cNvPr id="611" name="Google Shape;611;p42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Greibach Normal Form</a:t>
            </a:r>
            <a:endParaRPr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12" name="Google Shape;612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43"/>
          <p:cNvSpPr txBox="1">
            <a:spLocks noGrp="1"/>
          </p:cNvSpPr>
          <p:nvPr>
            <p:ph type="sldNum" idx="12"/>
          </p:nvPr>
        </p:nvSpPr>
        <p:spPr>
          <a:xfrm>
            <a:off x="70866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42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43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Closure properties of CFL</a:t>
            </a:r>
            <a:endParaRPr/>
          </a:p>
        </p:txBody>
      </p:sp>
      <p:sp>
        <p:nvSpPr>
          <p:cNvPr id="622" name="Google Shape;622;p43"/>
          <p:cNvSpPr txBox="1">
            <a:spLocks noGrp="1"/>
          </p:cNvSpPr>
          <p:nvPr>
            <p:ph type="body" idx="1"/>
          </p:nvPr>
        </p:nvSpPr>
        <p:spPr>
          <a:xfrm>
            <a:off x="1447800" y="990600"/>
            <a:ext cx="75438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CFLs are closed under: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Union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Concatenation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Kleene closure operator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Substitution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Homomorphism, inverse homomorphism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Reversal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CFLs are </a:t>
            </a:r>
            <a:r>
              <a:rPr lang="en-US" sz="2800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</a:t>
            </a:r>
            <a:r>
              <a:rPr lang="en-US" sz="28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closed under: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Intersection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Difference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Complementation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>
              <a:solidFill>
                <a:srgbClr val="FF0000"/>
              </a:solidFill>
            </a:endParaRPr>
          </a:p>
        </p:txBody>
      </p:sp>
      <p:pic>
        <p:nvPicPr>
          <p:cNvPr id="623" name="Google Shape;623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4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Push Down Automata</a:t>
            </a:r>
            <a:endParaRPr/>
          </a:p>
        </p:txBody>
      </p:sp>
      <p:pic>
        <p:nvPicPr>
          <p:cNvPr id="629" name="Google Shape;629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45"/>
          <p:cNvSpPr txBox="1"/>
          <p:nvPr/>
        </p:nvSpPr>
        <p:spPr>
          <a:xfrm>
            <a:off x="2133600" y="609600"/>
            <a:ext cx="47371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Context-Free Languages</a:t>
            </a:r>
            <a:endParaRPr/>
          </a:p>
        </p:txBody>
      </p:sp>
      <p:cxnSp>
        <p:nvCxnSpPr>
          <p:cNvPr id="635" name="Google Shape;635;p45"/>
          <p:cNvCxnSpPr/>
          <p:nvPr/>
        </p:nvCxnSpPr>
        <p:spPr>
          <a:xfrm flipH="1">
            <a:off x="2514600" y="1371600"/>
            <a:ext cx="1219200" cy="1371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lg" len="lg"/>
            <a:tailEnd type="triangle" w="lg" len="lg"/>
          </a:ln>
        </p:spPr>
      </p:cxnSp>
      <p:cxnSp>
        <p:nvCxnSpPr>
          <p:cNvPr id="636" name="Google Shape;636;p45"/>
          <p:cNvCxnSpPr/>
          <p:nvPr/>
        </p:nvCxnSpPr>
        <p:spPr>
          <a:xfrm>
            <a:off x="4953000" y="1371600"/>
            <a:ext cx="1447800" cy="1295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lg" len="lg"/>
            <a:tailEnd type="triangle" w="lg" len="lg"/>
          </a:ln>
        </p:spPr>
      </p:cxnSp>
      <p:sp>
        <p:nvSpPr>
          <p:cNvPr id="637" name="Google Shape;637;p45"/>
          <p:cNvSpPr txBox="1"/>
          <p:nvPr/>
        </p:nvSpPr>
        <p:spPr>
          <a:xfrm>
            <a:off x="5638800" y="2743200"/>
            <a:ext cx="2022475" cy="1163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Pushdown</a:t>
            </a:r>
            <a:endParaRPr/>
          </a:p>
          <a:p>
            <a:pPr marL="0" marR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Automata</a:t>
            </a:r>
            <a:endParaRPr/>
          </a:p>
        </p:txBody>
      </p:sp>
      <p:sp>
        <p:nvSpPr>
          <p:cNvPr id="638" name="Google Shape;638;p45"/>
          <p:cNvSpPr txBox="1"/>
          <p:nvPr/>
        </p:nvSpPr>
        <p:spPr>
          <a:xfrm>
            <a:off x="304800" y="2667000"/>
            <a:ext cx="2757488" cy="1163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Context-Free</a:t>
            </a:r>
            <a:endParaRPr/>
          </a:p>
          <a:p>
            <a:pPr marL="0" marR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Grammars</a:t>
            </a:r>
            <a:endParaRPr/>
          </a:p>
        </p:txBody>
      </p:sp>
      <p:sp>
        <p:nvSpPr>
          <p:cNvPr id="639" name="Google Shape;639;p45"/>
          <p:cNvSpPr/>
          <p:nvPr/>
        </p:nvSpPr>
        <p:spPr>
          <a:xfrm>
            <a:off x="5334000" y="5105400"/>
            <a:ext cx="2286000" cy="990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40" name="Google Shape;640;p45"/>
          <p:cNvSpPr/>
          <p:nvPr/>
        </p:nvSpPr>
        <p:spPr>
          <a:xfrm>
            <a:off x="8001000" y="4953000"/>
            <a:ext cx="533400" cy="1524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641" name="Google Shape;641;p45"/>
          <p:cNvCxnSpPr/>
          <p:nvPr/>
        </p:nvCxnSpPr>
        <p:spPr>
          <a:xfrm>
            <a:off x="8001000" y="5257800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642" name="Google Shape;642;p45"/>
          <p:cNvCxnSpPr/>
          <p:nvPr/>
        </p:nvCxnSpPr>
        <p:spPr>
          <a:xfrm>
            <a:off x="8001000" y="5562600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643" name="Google Shape;643;p45"/>
          <p:cNvCxnSpPr/>
          <p:nvPr/>
        </p:nvCxnSpPr>
        <p:spPr>
          <a:xfrm>
            <a:off x="8001000" y="5867400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644" name="Google Shape;644;p45"/>
          <p:cNvCxnSpPr/>
          <p:nvPr/>
        </p:nvCxnSpPr>
        <p:spPr>
          <a:xfrm>
            <a:off x="8001000" y="6172200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645" name="Google Shape;645;p45"/>
          <p:cNvCxnSpPr/>
          <p:nvPr/>
        </p:nvCxnSpPr>
        <p:spPr>
          <a:xfrm>
            <a:off x="7620000" y="5638800"/>
            <a:ext cx="381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lg" len="lg"/>
            <a:tailEnd type="triangle" w="lg" len="lg"/>
          </a:ln>
        </p:spPr>
      </p:cxnSp>
      <p:sp>
        <p:nvSpPr>
          <p:cNvPr id="646" name="Google Shape;646;p45"/>
          <p:cNvSpPr txBox="1"/>
          <p:nvPr/>
        </p:nvSpPr>
        <p:spPr>
          <a:xfrm>
            <a:off x="7620000" y="4343400"/>
            <a:ext cx="1211263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stack</a:t>
            </a:r>
            <a:endParaRPr/>
          </a:p>
        </p:txBody>
      </p:sp>
      <p:sp>
        <p:nvSpPr>
          <p:cNvPr id="647" name="Google Shape;647;p45"/>
          <p:cNvSpPr txBox="1"/>
          <p:nvPr/>
        </p:nvSpPr>
        <p:spPr>
          <a:xfrm>
            <a:off x="5410200" y="5334000"/>
            <a:ext cx="2152650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automaton</a:t>
            </a:r>
            <a:endParaRPr/>
          </a:p>
        </p:txBody>
      </p:sp>
      <p:pic>
        <p:nvPicPr>
          <p:cNvPr id="648" name="Google Shape;648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46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Pushdown</a:t>
            </a:r>
            <a:r>
              <a:rPr lang="en-US"/>
              <a:t> </a:t>
            </a:r>
            <a:r>
              <a:rPr lang="en-US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Automaton - PDA</a:t>
            </a:r>
            <a:endParaRPr/>
          </a:p>
        </p:txBody>
      </p:sp>
      <p:sp>
        <p:nvSpPr>
          <p:cNvPr id="654" name="Google Shape;654;p46"/>
          <p:cNvSpPr/>
          <p:nvPr/>
        </p:nvSpPr>
        <p:spPr>
          <a:xfrm>
            <a:off x="1066800" y="3581400"/>
            <a:ext cx="3886200" cy="2667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55" name="Google Shape;655;p46"/>
          <p:cNvSpPr/>
          <p:nvPr/>
        </p:nvSpPr>
        <p:spPr>
          <a:xfrm>
            <a:off x="1676400" y="4419600"/>
            <a:ext cx="381000" cy="3810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56" name="Google Shape;656;p46"/>
          <p:cNvSpPr/>
          <p:nvPr/>
        </p:nvSpPr>
        <p:spPr>
          <a:xfrm>
            <a:off x="2743200" y="5410200"/>
            <a:ext cx="381000" cy="3810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57" name="Google Shape;657;p46"/>
          <p:cNvSpPr/>
          <p:nvPr/>
        </p:nvSpPr>
        <p:spPr>
          <a:xfrm>
            <a:off x="2667000" y="4191000"/>
            <a:ext cx="381000" cy="3810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58" name="Google Shape;658;p46"/>
          <p:cNvSpPr/>
          <p:nvPr/>
        </p:nvSpPr>
        <p:spPr>
          <a:xfrm>
            <a:off x="3886200" y="5486400"/>
            <a:ext cx="381000" cy="3810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659" name="Google Shape;659;p46"/>
          <p:cNvCxnSpPr/>
          <p:nvPr/>
        </p:nvCxnSpPr>
        <p:spPr>
          <a:xfrm rot="10800000" flipH="1">
            <a:off x="2057400" y="4419600"/>
            <a:ext cx="609600" cy="152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660" name="Google Shape;660;p46"/>
          <p:cNvCxnSpPr/>
          <p:nvPr/>
        </p:nvCxnSpPr>
        <p:spPr>
          <a:xfrm>
            <a:off x="1371600" y="4648200"/>
            <a:ext cx="304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lg" len="lg"/>
          </a:ln>
        </p:spPr>
      </p:cxnSp>
      <p:sp>
        <p:nvSpPr>
          <p:cNvPr id="661" name="Google Shape;661;p46"/>
          <p:cNvSpPr/>
          <p:nvPr/>
        </p:nvSpPr>
        <p:spPr>
          <a:xfrm>
            <a:off x="3810000" y="5410200"/>
            <a:ext cx="533400" cy="533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662" name="Google Shape;662;p46"/>
          <p:cNvCxnSpPr/>
          <p:nvPr/>
        </p:nvCxnSpPr>
        <p:spPr>
          <a:xfrm>
            <a:off x="3124200" y="5638800"/>
            <a:ext cx="685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lg" len="lg"/>
          </a:ln>
        </p:spPr>
      </p:cxnSp>
      <p:sp>
        <p:nvSpPr>
          <p:cNvPr id="663" name="Google Shape;663;p46"/>
          <p:cNvSpPr/>
          <p:nvPr/>
        </p:nvSpPr>
        <p:spPr>
          <a:xfrm>
            <a:off x="1981200" y="5257800"/>
            <a:ext cx="381000" cy="3810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664" name="Google Shape;664;p46"/>
          <p:cNvCxnSpPr/>
          <p:nvPr/>
        </p:nvCxnSpPr>
        <p:spPr>
          <a:xfrm>
            <a:off x="2362200" y="5562600"/>
            <a:ext cx="381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665" name="Google Shape;665;p46"/>
          <p:cNvCxnSpPr/>
          <p:nvPr/>
        </p:nvCxnSpPr>
        <p:spPr>
          <a:xfrm>
            <a:off x="2895600" y="4572000"/>
            <a:ext cx="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666" name="Google Shape;666;p46"/>
          <p:cNvCxnSpPr/>
          <p:nvPr/>
        </p:nvCxnSpPr>
        <p:spPr>
          <a:xfrm>
            <a:off x="1905000" y="4800600"/>
            <a:ext cx="152400" cy="457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lg" len="lg"/>
          </a:ln>
        </p:spPr>
      </p:cxnSp>
      <p:sp>
        <p:nvSpPr>
          <p:cNvPr id="667" name="Google Shape;667;p46"/>
          <p:cNvSpPr/>
          <p:nvPr/>
        </p:nvSpPr>
        <p:spPr>
          <a:xfrm>
            <a:off x="2971800" y="4102100"/>
            <a:ext cx="800100" cy="495300"/>
          </a:xfrm>
          <a:custGeom>
            <a:avLst/>
            <a:gdLst/>
            <a:ahLst/>
            <a:cxnLst/>
            <a:rect l="l" t="t" r="r" b="b"/>
            <a:pathLst>
              <a:path w="504" h="312" extrusionOk="0">
                <a:moveTo>
                  <a:pt x="0" y="104"/>
                </a:moveTo>
                <a:cubicBezTo>
                  <a:pt x="152" y="52"/>
                  <a:pt x="304" y="0"/>
                  <a:pt x="384" y="8"/>
                </a:cubicBezTo>
                <a:cubicBezTo>
                  <a:pt x="464" y="16"/>
                  <a:pt x="472" y="104"/>
                  <a:pt x="480" y="152"/>
                </a:cubicBezTo>
                <a:cubicBezTo>
                  <a:pt x="488" y="200"/>
                  <a:pt x="504" y="280"/>
                  <a:pt x="432" y="296"/>
                </a:cubicBezTo>
                <a:cubicBezTo>
                  <a:pt x="360" y="312"/>
                  <a:pt x="204" y="280"/>
                  <a:pt x="48" y="248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68" name="Google Shape;668;p46"/>
          <p:cNvSpPr/>
          <p:nvPr/>
        </p:nvSpPr>
        <p:spPr>
          <a:xfrm>
            <a:off x="6705600" y="2895600"/>
            <a:ext cx="685800" cy="3352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69" name="Google Shape;669;p46"/>
          <p:cNvSpPr/>
          <p:nvPr/>
        </p:nvSpPr>
        <p:spPr>
          <a:xfrm>
            <a:off x="914400" y="1905000"/>
            <a:ext cx="4191000" cy="533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670" name="Google Shape;670;p46"/>
          <p:cNvCxnSpPr/>
          <p:nvPr/>
        </p:nvCxnSpPr>
        <p:spPr>
          <a:xfrm>
            <a:off x="1295400" y="1905000"/>
            <a:ext cx="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671" name="Google Shape;671;p46"/>
          <p:cNvCxnSpPr/>
          <p:nvPr/>
        </p:nvCxnSpPr>
        <p:spPr>
          <a:xfrm>
            <a:off x="1676400" y="1905000"/>
            <a:ext cx="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672" name="Google Shape;672;p46"/>
          <p:cNvCxnSpPr/>
          <p:nvPr/>
        </p:nvCxnSpPr>
        <p:spPr>
          <a:xfrm>
            <a:off x="2057400" y="1905000"/>
            <a:ext cx="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673" name="Google Shape;673;p46"/>
          <p:cNvCxnSpPr/>
          <p:nvPr/>
        </p:nvCxnSpPr>
        <p:spPr>
          <a:xfrm>
            <a:off x="2438400" y="1905000"/>
            <a:ext cx="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674" name="Google Shape;674;p46"/>
          <p:cNvCxnSpPr/>
          <p:nvPr/>
        </p:nvCxnSpPr>
        <p:spPr>
          <a:xfrm>
            <a:off x="2819400" y="1905000"/>
            <a:ext cx="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675" name="Google Shape;675;p46"/>
          <p:cNvCxnSpPr/>
          <p:nvPr/>
        </p:nvCxnSpPr>
        <p:spPr>
          <a:xfrm>
            <a:off x="3200400" y="1905000"/>
            <a:ext cx="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676" name="Google Shape;676;p46"/>
          <p:cNvCxnSpPr/>
          <p:nvPr/>
        </p:nvCxnSpPr>
        <p:spPr>
          <a:xfrm>
            <a:off x="3581400" y="1905000"/>
            <a:ext cx="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677" name="Google Shape;677;p46"/>
          <p:cNvCxnSpPr/>
          <p:nvPr/>
        </p:nvCxnSpPr>
        <p:spPr>
          <a:xfrm>
            <a:off x="3962400" y="1905000"/>
            <a:ext cx="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678" name="Google Shape;678;p46"/>
          <p:cNvCxnSpPr/>
          <p:nvPr/>
        </p:nvCxnSpPr>
        <p:spPr>
          <a:xfrm>
            <a:off x="4343400" y="1905000"/>
            <a:ext cx="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679" name="Google Shape;679;p46"/>
          <p:cNvCxnSpPr/>
          <p:nvPr/>
        </p:nvCxnSpPr>
        <p:spPr>
          <a:xfrm>
            <a:off x="4724400" y="1905000"/>
            <a:ext cx="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680" name="Google Shape;680;p46"/>
          <p:cNvCxnSpPr/>
          <p:nvPr/>
        </p:nvCxnSpPr>
        <p:spPr>
          <a:xfrm>
            <a:off x="6705600" y="5943600"/>
            <a:ext cx="685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681" name="Google Shape;681;p46"/>
          <p:cNvCxnSpPr/>
          <p:nvPr/>
        </p:nvCxnSpPr>
        <p:spPr>
          <a:xfrm>
            <a:off x="6705600" y="5638800"/>
            <a:ext cx="685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682" name="Google Shape;682;p46"/>
          <p:cNvCxnSpPr/>
          <p:nvPr/>
        </p:nvCxnSpPr>
        <p:spPr>
          <a:xfrm>
            <a:off x="6705600" y="5334000"/>
            <a:ext cx="685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683" name="Google Shape;683;p46"/>
          <p:cNvCxnSpPr/>
          <p:nvPr/>
        </p:nvCxnSpPr>
        <p:spPr>
          <a:xfrm>
            <a:off x="6705600" y="5029200"/>
            <a:ext cx="685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684" name="Google Shape;684;p46"/>
          <p:cNvCxnSpPr/>
          <p:nvPr/>
        </p:nvCxnSpPr>
        <p:spPr>
          <a:xfrm>
            <a:off x="6705600" y="4724400"/>
            <a:ext cx="685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685" name="Google Shape;685;p46"/>
          <p:cNvCxnSpPr/>
          <p:nvPr/>
        </p:nvCxnSpPr>
        <p:spPr>
          <a:xfrm>
            <a:off x="6705600" y="4419600"/>
            <a:ext cx="685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686" name="Google Shape;686;p46"/>
          <p:cNvCxnSpPr/>
          <p:nvPr/>
        </p:nvCxnSpPr>
        <p:spPr>
          <a:xfrm>
            <a:off x="6705600" y="4114800"/>
            <a:ext cx="685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687" name="Google Shape;687;p46"/>
          <p:cNvCxnSpPr/>
          <p:nvPr/>
        </p:nvCxnSpPr>
        <p:spPr>
          <a:xfrm>
            <a:off x="6705600" y="3810000"/>
            <a:ext cx="685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688" name="Google Shape;688;p46"/>
          <p:cNvCxnSpPr/>
          <p:nvPr/>
        </p:nvCxnSpPr>
        <p:spPr>
          <a:xfrm>
            <a:off x="6705600" y="3505200"/>
            <a:ext cx="685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689" name="Google Shape;689;p46"/>
          <p:cNvCxnSpPr/>
          <p:nvPr/>
        </p:nvCxnSpPr>
        <p:spPr>
          <a:xfrm>
            <a:off x="6705600" y="3200400"/>
            <a:ext cx="685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690" name="Google Shape;690;p46"/>
          <p:cNvCxnSpPr/>
          <p:nvPr/>
        </p:nvCxnSpPr>
        <p:spPr>
          <a:xfrm>
            <a:off x="2971800" y="2438400"/>
            <a:ext cx="0" cy="1143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691" name="Google Shape;691;p46"/>
          <p:cNvCxnSpPr/>
          <p:nvPr/>
        </p:nvCxnSpPr>
        <p:spPr>
          <a:xfrm rot="10800000">
            <a:off x="4953000" y="4876800"/>
            <a:ext cx="1752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triangle" w="lg" len="lg"/>
            <a:tailEnd type="triangle" w="lg" len="lg"/>
          </a:ln>
        </p:spPr>
      </p:cxnSp>
      <p:sp>
        <p:nvSpPr>
          <p:cNvPr id="692" name="Google Shape;692;p46"/>
          <p:cNvSpPr txBox="1"/>
          <p:nvPr/>
        </p:nvSpPr>
        <p:spPr>
          <a:xfrm>
            <a:off x="1905000" y="1066800"/>
            <a:ext cx="2574925" cy="658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Input String</a:t>
            </a:r>
            <a:endParaRPr/>
          </a:p>
        </p:txBody>
      </p:sp>
      <p:sp>
        <p:nvSpPr>
          <p:cNvPr id="693" name="Google Shape;693;p46"/>
          <p:cNvSpPr txBox="1"/>
          <p:nvPr/>
        </p:nvSpPr>
        <p:spPr>
          <a:xfrm>
            <a:off x="6400800" y="2133600"/>
            <a:ext cx="1295400" cy="658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Stack</a:t>
            </a:r>
            <a:endParaRPr/>
          </a:p>
        </p:txBody>
      </p:sp>
      <p:sp>
        <p:nvSpPr>
          <p:cNvPr id="694" name="Google Shape;694;p46"/>
          <p:cNvSpPr txBox="1"/>
          <p:nvPr/>
        </p:nvSpPr>
        <p:spPr>
          <a:xfrm>
            <a:off x="1066800" y="3581400"/>
            <a:ext cx="1479550" cy="658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States</a:t>
            </a:r>
            <a:endParaRPr/>
          </a:p>
        </p:txBody>
      </p:sp>
      <p:pic>
        <p:nvPicPr>
          <p:cNvPr id="695" name="Google Shape;695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47"/>
          <p:cNvSpPr/>
          <p:nvPr/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</a:t>
            </a:r>
            <a:r>
              <a:rPr lang="en-US" sz="36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3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</a:t>
            </a:r>
            <a:r>
              <a:rPr lang="en-US" sz="36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3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Symbol</a:t>
            </a:r>
            <a:endParaRPr/>
          </a:p>
        </p:txBody>
      </p:sp>
      <p:sp>
        <p:nvSpPr>
          <p:cNvPr id="701" name="Google Shape;701;p47"/>
          <p:cNvSpPr/>
          <p:nvPr/>
        </p:nvSpPr>
        <p:spPr>
          <a:xfrm>
            <a:off x="1981200" y="2590800"/>
            <a:ext cx="838200" cy="1828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702" name="Google Shape;702;p47"/>
          <p:cNvCxnSpPr/>
          <p:nvPr/>
        </p:nvCxnSpPr>
        <p:spPr>
          <a:xfrm>
            <a:off x="1981200" y="30480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703" name="Google Shape;703;p47"/>
          <p:cNvCxnSpPr/>
          <p:nvPr/>
        </p:nvCxnSpPr>
        <p:spPr>
          <a:xfrm>
            <a:off x="1981200" y="35052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704" name="Google Shape;704;p47"/>
          <p:cNvCxnSpPr/>
          <p:nvPr/>
        </p:nvCxnSpPr>
        <p:spPr>
          <a:xfrm>
            <a:off x="1981200" y="39624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sp>
        <p:nvSpPr>
          <p:cNvPr id="705" name="Google Shape;705;p47"/>
          <p:cNvSpPr txBox="1"/>
          <p:nvPr/>
        </p:nvSpPr>
        <p:spPr>
          <a:xfrm>
            <a:off x="1752600" y="1905000"/>
            <a:ext cx="1295400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Stack</a:t>
            </a:r>
            <a:endParaRPr/>
          </a:p>
        </p:txBody>
      </p:sp>
      <p:pic>
        <p:nvPicPr>
          <p:cNvPr id="706" name="Google Shape;706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0" y="3962400"/>
            <a:ext cx="2286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47"/>
          <p:cNvSpPr/>
          <p:nvPr/>
        </p:nvSpPr>
        <p:spPr>
          <a:xfrm>
            <a:off x="5638800" y="2667000"/>
            <a:ext cx="838200" cy="1828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708" name="Google Shape;708;p47"/>
          <p:cNvCxnSpPr/>
          <p:nvPr/>
        </p:nvCxnSpPr>
        <p:spPr>
          <a:xfrm>
            <a:off x="5638800" y="31242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709" name="Google Shape;709;p47"/>
          <p:cNvCxnSpPr/>
          <p:nvPr/>
        </p:nvCxnSpPr>
        <p:spPr>
          <a:xfrm>
            <a:off x="5638800" y="35814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710" name="Google Shape;710;p47"/>
          <p:cNvCxnSpPr/>
          <p:nvPr/>
        </p:nvCxnSpPr>
        <p:spPr>
          <a:xfrm>
            <a:off x="5638800" y="40386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sp>
        <p:nvSpPr>
          <p:cNvPr id="711" name="Google Shape;711;p47"/>
          <p:cNvSpPr txBox="1"/>
          <p:nvPr/>
        </p:nvSpPr>
        <p:spPr>
          <a:xfrm>
            <a:off x="5410200" y="1981200"/>
            <a:ext cx="1295400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Stack</a:t>
            </a:r>
            <a:endParaRPr/>
          </a:p>
        </p:txBody>
      </p:sp>
      <p:pic>
        <p:nvPicPr>
          <p:cNvPr id="712" name="Google Shape;712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49950" y="4133850"/>
            <a:ext cx="215900" cy="228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13" name="Google Shape;713;p47"/>
          <p:cNvCxnSpPr/>
          <p:nvPr/>
        </p:nvCxnSpPr>
        <p:spPr>
          <a:xfrm rot="10800000">
            <a:off x="2971800" y="4267200"/>
            <a:ext cx="990600" cy="9144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714" name="Google Shape;714;p47"/>
          <p:cNvCxnSpPr/>
          <p:nvPr/>
        </p:nvCxnSpPr>
        <p:spPr>
          <a:xfrm rot="10800000" flipH="1">
            <a:off x="4343400" y="4267200"/>
            <a:ext cx="1219200" cy="9144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stealth" w="lg" len="lg"/>
          </a:ln>
        </p:spPr>
      </p:cxnSp>
      <p:sp>
        <p:nvSpPr>
          <p:cNvPr id="715" name="Google Shape;715;p47"/>
          <p:cNvSpPr txBox="1"/>
          <p:nvPr/>
        </p:nvSpPr>
        <p:spPr>
          <a:xfrm>
            <a:off x="2057400" y="5181600"/>
            <a:ext cx="1554163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bottom</a:t>
            </a:r>
            <a:endParaRPr/>
          </a:p>
        </p:txBody>
      </p:sp>
      <p:sp>
        <p:nvSpPr>
          <p:cNvPr id="716" name="Google Shape;716;p47"/>
          <p:cNvSpPr txBox="1"/>
          <p:nvPr/>
        </p:nvSpPr>
        <p:spPr>
          <a:xfrm>
            <a:off x="3657600" y="5181600"/>
            <a:ext cx="2879725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special symbol</a:t>
            </a:r>
            <a:endParaRPr/>
          </a:p>
        </p:txBody>
      </p:sp>
      <p:cxnSp>
        <p:nvCxnSpPr>
          <p:cNvPr id="717" name="Google Shape;717;p47"/>
          <p:cNvCxnSpPr/>
          <p:nvPr/>
        </p:nvCxnSpPr>
        <p:spPr>
          <a:xfrm>
            <a:off x="1447800" y="4191000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lg" len="lg"/>
          </a:ln>
        </p:spPr>
      </p:cxnSp>
      <p:sp>
        <p:nvSpPr>
          <p:cNvPr id="718" name="Google Shape;718;p47"/>
          <p:cNvSpPr txBox="1"/>
          <p:nvPr/>
        </p:nvSpPr>
        <p:spPr>
          <a:xfrm>
            <a:off x="212725" y="3606800"/>
            <a:ext cx="1211263" cy="1163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stack</a:t>
            </a:r>
            <a:endParaRPr/>
          </a:p>
          <a:p>
            <a:pPr marL="0" marR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head</a:t>
            </a:r>
            <a:endParaRPr/>
          </a:p>
        </p:txBody>
      </p:sp>
      <p:cxnSp>
        <p:nvCxnSpPr>
          <p:cNvPr id="719" name="Google Shape;719;p47"/>
          <p:cNvCxnSpPr/>
          <p:nvPr/>
        </p:nvCxnSpPr>
        <p:spPr>
          <a:xfrm rot="10800000">
            <a:off x="6477000" y="4191000"/>
            <a:ext cx="609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lg" len="lg"/>
          </a:ln>
        </p:spPr>
      </p:cxnSp>
      <p:sp>
        <p:nvSpPr>
          <p:cNvPr id="720" name="Google Shape;720;p47"/>
          <p:cNvSpPr txBox="1"/>
          <p:nvPr/>
        </p:nvSpPr>
        <p:spPr>
          <a:xfrm>
            <a:off x="7239000" y="3886200"/>
            <a:ext cx="808038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top</a:t>
            </a:r>
            <a:endParaRPr/>
          </a:p>
        </p:txBody>
      </p:sp>
      <p:sp>
        <p:nvSpPr>
          <p:cNvPr id="721" name="Google Shape;721;p47"/>
          <p:cNvSpPr txBox="1"/>
          <p:nvPr/>
        </p:nvSpPr>
        <p:spPr>
          <a:xfrm>
            <a:off x="2286000" y="5791200"/>
            <a:ext cx="3598863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Appears at time 0</a:t>
            </a:r>
            <a:endParaRPr/>
          </a:p>
        </p:txBody>
      </p:sp>
      <p:pic>
        <p:nvPicPr>
          <p:cNvPr id="722" name="Google Shape;722;p4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48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Formal definition of PDA</a:t>
            </a:r>
            <a:endParaRPr/>
          </a:p>
        </p:txBody>
      </p:sp>
      <p:sp>
        <p:nvSpPr>
          <p:cNvPr id="728" name="Google Shape;728;p48"/>
          <p:cNvSpPr txBox="1">
            <a:spLocks noGrp="1"/>
          </p:cNvSpPr>
          <p:nvPr>
            <p:ph type="body" idx="1"/>
          </p:nvPr>
        </p:nvSpPr>
        <p:spPr>
          <a:xfrm>
            <a:off x="1143000" y="838200"/>
            <a:ext cx="78486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The PDA is as: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A =(Q,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Σ, Г ,δ,q</a:t>
            </a:r>
            <a:r>
              <a:rPr lang="en-US" sz="24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,Z</a:t>
            </a:r>
            <a:r>
              <a:rPr lang="en-US" sz="24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,F)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 : A finite set of states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Σ : A finite set of input symbols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 : A finite stack alphabet or pushdown symbols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δ : the transition function 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 X(Σ U {ϵ } ) X Г to the set of finite subsets of     Q X Г*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sz="24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start state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en-US" sz="24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the start symbol(pushdown symbol)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: the set of accepting state or final states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None/>
            </a:pPr>
            <a:endParaRPr sz="2000"/>
          </a:p>
        </p:txBody>
      </p:sp>
      <p:pic>
        <p:nvPicPr>
          <p:cNvPr id="729" name="Google Shape;729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49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Transition Function</a:t>
            </a:r>
            <a:endParaRPr/>
          </a:p>
        </p:txBody>
      </p:sp>
      <p:sp>
        <p:nvSpPr>
          <p:cNvPr id="735" name="Google Shape;735;p49"/>
          <p:cNvSpPr txBox="1">
            <a:spLocks noGrp="1"/>
          </p:cNvSpPr>
          <p:nvPr>
            <p:ph type="body" idx="1"/>
          </p:nvPr>
        </p:nvSpPr>
        <p:spPr>
          <a:xfrm>
            <a:off x="1143000" y="1524000"/>
            <a:ext cx="80010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δ  :</a:t>
            </a:r>
            <a:r>
              <a:rPr lang="en-US" sz="2400">
                <a:solidFill>
                  <a:schemeClr val="dk1"/>
                </a:solidFill>
              </a:rPr>
              <a:t>The transition function is a triple </a:t>
            </a:r>
            <a:r>
              <a:rPr lang="en-US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δ(q,a,x)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where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1. 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state in Q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2.  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either an input symbol in Σ or a =ϵ, the empty string, 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3. 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 stack symbol, that is a member of Г.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output of δ is a finite set of pairs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(p,ɤ )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the new state and 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ɤ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the string of stack symbols that replaces x at the top of the stack.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736" name="Google Shape;736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50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Instantaneous Description of a PDA</a:t>
            </a:r>
            <a:endParaRPr/>
          </a:p>
        </p:txBody>
      </p:sp>
      <p:sp>
        <p:nvSpPr>
          <p:cNvPr id="742" name="Google Shape;742;p50"/>
          <p:cNvSpPr txBox="1">
            <a:spLocks noGrp="1"/>
          </p:cNvSpPr>
          <p:nvPr>
            <p:ph type="body" idx="1"/>
          </p:nvPr>
        </p:nvSpPr>
        <p:spPr>
          <a:xfrm>
            <a:off x="807720" y="1676400"/>
            <a:ext cx="8229600" cy="55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configuration of a PDA by a </a:t>
            </a: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triple (q,w,ɤ)   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</a:t>
            </a:r>
            <a:endParaRPr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mic Sans MS"/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the state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the remaining input 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ɤ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the stack contents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show the top of the stack at the left end of ɤ and the bottom at the right end.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Such a triple is called an </a:t>
            </a:r>
            <a:r>
              <a:rPr lang="en-US" sz="2800" b="1">
                <a:solidFill>
                  <a:schemeClr val="dk1"/>
                </a:solidFill>
              </a:rPr>
              <a:t>Instantaneous Description </a:t>
            </a:r>
            <a:r>
              <a:rPr lang="en-US" sz="2800">
                <a:solidFill>
                  <a:schemeClr val="dk1"/>
                </a:solidFill>
              </a:rPr>
              <a:t>or </a:t>
            </a:r>
            <a:r>
              <a:rPr lang="en-US" sz="2800" b="1">
                <a:solidFill>
                  <a:schemeClr val="dk1"/>
                </a:solidFill>
              </a:rPr>
              <a:t>ID</a:t>
            </a:r>
            <a:r>
              <a:rPr lang="en-US" sz="2800">
                <a:solidFill>
                  <a:schemeClr val="dk1"/>
                </a:solidFill>
              </a:rPr>
              <a:t> of a PDA.</a:t>
            </a:r>
            <a:endParaRPr/>
          </a:p>
        </p:txBody>
      </p:sp>
      <p:pic>
        <p:nvPicPr>
          <p:cNvPr id="743" name="Google Shape;743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51"/>
          <p:cNvSpPr/>
          <p:nvPr/>
        </p:nvSpPr>
        <p:spPr>
          <a:xfrm>
            <a:off x="838200" y="4648200"/>
            <a:ext cx="838200" cy="1981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749" name="Google Shape;749;p51"/>
          <p:cNvCxnSpPr/>
          <p:nvPr/>
        </p:nvCxnSpPr>
        <p:spPr>
          <a:xfrm>
            <a:off x="838200" y="51816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pic>
        <p:nvPicPr>
          <p:cNvPr id="750" name="Google Shape;750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" y="4724400"/>
            <a:ext cx="254000" cy="355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1" name="Google Shape;751;p51"/>
          <p:cNvCxnSpPr/>
          <p:nvPr/>
        </p:nvCxnSpPr>
        <p:spPr>
          <a:xfrm rot="10800000">
            <a:off x="1676400" y="4953000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lg" len="lg"/>
          </a:ln>
        </p:spPr>
      </p:cxnSp>
      <p:sp>
        <p:nvSpPr>
          <p:cNvPr id="752" name="Google Shape;752;p51"/>
          <p:cNvSpPr txBox="1"/>
          <p:nvPr/>
        </p:nvSpPr>
        <p:spPr>
          <a:xfrm>
            <a:off x="2286000" y="4724400"/>
            <a:ext cx="808038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top</a:t>
            </a:r>
            <a:endParaRPr/>
          </a:p>
        </p:txBody>
      </p:sp>
      <p:sp>
        <p:nvSpPr>
          <p:cNvPr id="753" name="Google Shape;753;p51"/>
          <p:cNvSpPr txBox="1"/>
          <p:nvPr/>
        </p:nvSpPr>
        <p:spPr>
          <a:xfrm>
            <a:off x="685800" y="4038600"/>
            <a:ext cx="1211263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stack</a:t>
            </a:r>
            <a:endParaRPr/>
          </a:p>
        </p:txBody>
      </p:sp>
      <p:sp>
        <p:nvSpPr>
          <p:cNvPr id="754" name="Google Shape;754;p51"/>
          <p:cNvSpPr/>
          <p:nvPr/>
        </p:nvSpPr>
        <p:spPr>
          <a:xfrm>
            <a:off x="3735388" y="4810125"/>
            <a:ext cx="1847850" cy="1077913"/>
          </a:xfrm>
          <a:prstGeom prst="rightArrow">
            <a:avLst>
              <a:gd name="adj1" fmla="val 50000"/>
              <a:gd name="adj2" fmla="val 42857"/>
            </a:avLst>
          </a:prstGeom>
          <a:solidFill>
            <a:schemeClr val="accent1">
              <a:alpha val="49803"/>
            </a:schemeClr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Replace</a:t>
            </a:r>
            <a:endParaRPr/>
          </a:p>
        </p:txBody>
      </p:sp>
      <p:cxnSp>
        <p:nvCxnSpPr>
          <p:cNvPr id="755" name="Google Shape;755;p51"/>
          <p:cNvCxnSpPr/>
          <p:nvPr/>
        </p:nvCxnSpPr>
        <p:spPr>
          <a:xfrm>
            <a:off x="838200" y="57150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756" name="Google Shape;756;p51"/>
          <p:cNvCxnSpPr/>
          <p:nvPr/>
        </p:nvCxnSpPr>
        <p:spPr>
          <a:xfrm>
            <a:off x="838200" y="61722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pic>
        <p:nvPicPr>
          <p:cNvPr id="757" name="Google Shape;757;p5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3000" y="5791200"/>
            <a:ext cx="2159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8" name="Google Shape;758;p5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3000" y="5257800"/>
            <a:ext cx="254000" cy="3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9" name="Google Shape;759;p5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43000" y="6172200"/>
            <a:ext cx="239713" cy="430213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51"/>
          <p:cNvSpPr/>
          <p:nvPr/>
        </p:nvSpPr>
        <p:spPr>
          <a:xfrm>
            <a:off x="6248400" y="4648200"/>
            <a:ext cx="838200" cy="1981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761" name="Google Shape;761;p51"/>
          <p:cNvCxnSpPr/>
          <p:nvPr/>
        </p:nvCxnSpPr>
        <p:spPr>
          <a:xfrm>
            <a:off x="6248400" y="51816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762" name="Google Shape;762;p51"/>
          <p:cNvCxnSpPr/>
          <p:nvPr/>
        </p:nvCxnSpPr>
        <p:spPr>
          <a:xfrm>
            <a:off x="6248400" y="57150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763" name="Google Shape;763;p51"/>
          <p:cNvCxnSpPr/>
          <p:nvPr/>
        </p:nvCxnSpPr>
        <p:spPr>
          <a:xfrm>
            <a:off x="6248400" y="61722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pic>
        <p:nvPicPr>
          <p:cNvPr id="764" name="Google Shape;764;p5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53200" y="5791200"/>
            <a:ext cx="2159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5" name="Google Shape;765;p5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3200" y="5257800"/>
            <a:ext cx="254000" cy="3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6" name="Google Shape;766;p5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53200" y="6172200"/>
            <a:ext cx="239713" cy="430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767" name="Google Shape;767;p5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53200" y="4800600"/>
            <a:ext cx="239713" cy="279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68" name="Google Shape;768;p51"/>
          <p:cNvCxnSpPr/>
          <p:nvPr/>
        </p:nvCxnSpPr>
        <p:spPr>
          <a:xfrm rot="10800000">
            <a:off x="7086600" y="4876800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lg" len="lg"/>
          </a:ln>
        </p:spPr>
      </p:cxnSp>
      <p:sp>
        <p:nvSpPr>
          <p:cNvPr id="769" name="Google Shape;769;p51"/>
          <p:cNvSpPr txBox="1"/>
          <p:nvPr/>
        </p:nvSpPr>
        <p:spPr>
          <a:xfrm>
            <a:off x="1752600" y="838200"/>
            <a:ext cx="48006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δ(q, a, b) = (q, c)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70" name="Google Shape;770;p5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52"/>
          <p:cNvSpPr/>
          <p:nvPr/>
        </p:nvSpPr>
        <p:spPr>
          <a:xfrm>
            <a:off x="4030663" y="4810125"/>
            <a:ext cx="1171575" cy="1077913"/>
          </a:xfrm>
          <a:prstGeom prst="rightArrow">
            <a:avLst>
              <a:gd name="adj1" fmla="val 50000"/>
              <a:gd name="adj2" fmla="val 27172"/>
            </a:avLst>
          </a:prstGeom>
          <a:solidFill>
            <a:schemeClr val="accent1">
              <a:alpha val="49803"/>
            </a:schemeClr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Push</a:t>
            </a:r>
            <a:endParaRPr/>
          </a:p>
        </p:txBody>
      </p:sp>
      <p:sp>
        <p:nvSpPr>
          <p:cNvPr id="776" name="Google Shape;776;p52"/>
          <p:cNvSpPr/>
          <p:nvPr/>
        </p:nvSpPr>
        <p:spPr>
          <a:xfrm>
            <a:off x="838200" y="4648200"/>
            <a:ext cx="838200" cy="1981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777" name="Google Shape;777;p52"/>
          <p:cNvCxnSpPr/>
          <p:nvPr/>
        </p:nvCxnSpPr>
        <p:spPr>
          <a:xfrm>
            <a:off x="838200" y="51816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pic>
        <p:nvPicPr>
          <p:cNvPr id="778" name="Google Shape;778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" y="4724400"/>
            <a:ext cx="254000" cy="355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79" name="Google Shape;779;p52"/>
          <p:cNvCxnSpPr/>
          <p:nvPr/>
        </p:nvCxnSpPr>
        <p:spPr>
          <a:xfrm>
            <a:off x="838200" y="57150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780" name="Google Shape;780;p52"/>
          <p:cNvCxnSpPr/>
          <p:nvPr/>
        </p:nvCxnSpPr>
        <p:spPr>
          <a:xfrm>
            <a:off x="838200" y="61722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pic>
        <p:nvPicPr>
          <p:cNvPr id="781" name="Google Shape;781;p5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3000" y="5791200"/>
            <a:ext cx="2159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2" name="Google Shape;782;p5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3000" y="5257800"/>
            <a:ext cx="254000" cy="3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3" name="Google Shape;783;p5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43000" y="6172200"/>
            <a:ext cx="239713" cy="430213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52"/>
          <p:cNvSpPr/>
          <p:nvPr/>
        </p:nvSpPr>
        <p:spPr>
          <a:xfrm>
            <a:off x="6248400" y="4114800"/>
            <a:ext cx="838200" cy="2514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785" name="Google Shape;785;p52"/>
          <p:cNvCxnSpPr/>
          <p:nvPr/>
        </p:nvCxnSpPr>
        <p:spPr>
          <a:xfrm>
            <a:off x="6248400" y="51816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786" name="Google Shape;786;p52"/>
          <p:cNvCxnSpPr/>
          <p:nvPr/>
        </p:nvCxnSpPr>
        <p:spPr>
          <a:xfrm>
            <a:off x="6248400" y="57150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787" name="Google Shape;787;p52"/>
          <p:cNvCxnSpPr/>
          <p:nvPr/>
        </p:nvCxnSpPr>
        <p:spPr>
          <a:xfrm>
            <a:off x="6248400" y="61722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pic>
        <p:nvPicPr>
          <p:cNvPr id="788" name="Google Shape;788;p5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53200" y="5791200"/>
            <a:ext cx="2159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9" name="Google Shape;789;p5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3200" y="5257800"/>
            <a:ext cx="254000" cy="3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0" name="Google Shape;790;p5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53200" y="6172200"/>
            <a:ext cx="239713" cy="430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791" name="Google Shape;791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3200" y="4724400"/>
            <a:ext cx="254000" cy="355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92" name="Google Shape;792;p52"/>
          <p:cNvCxnSpPr/>
          <p:nvPr/>
        </p:nvCxnSpPr>
        <p:spPr>
          <a:xfrm>
            <a:off x="6248400" y="46482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pic>
        <p:nvPicPr>
          <p:cNvPr id="793" name="Google Shape;793;p5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53200" y="4267200"/>
            <a:ext cx="239713" cy="279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94" name="Google Shape;794;p52"/>
          <p:cNvCxnSpPr/>
          <p:nvPr/>
        </p:nvCxnSpPr>
        <p:spPr>
          <a:xfrm rot="10800000">
            <a:off x="1676400" y="4953000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lg" len="lg"/>
          </a:ln>
        </p:spPr>
      </p:cxnSp>
      <p:sp>
        <p:nvSpPr>
          <p:cNvPr id="795" name="Google Shape;795;p52"/>
          <p:cNvSpPr txBox="1"/>
          <p:nvPr/>
        </p:nvSpPr>
        <p:spPr>
          <a:xfrm>
            <a:off x="2286000" y="4724400"/>
            <a:ext cx="808038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top</a:t>
            </a:r>
            <a:endParaRPr/>
          </a:p>
        </p:txBody>
      </p:sp>
      <p:sp>
        <p:nvSpPr>
          <p:cNvPr id="796" name="Google Shape;796;p52"/>
          <p:cNvSpPr txBox="1"/>
          <p:nvPr/>
        </p:nvSpPr>
        <p:spPr>
          <a:xfrm>
            <a:off x="685800" y="4038600"/>
            <a:ext cx="1211263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stack</a:t>
            </a:r>
            <a:endParaRPr/>
          </a:p>
        </p:txBody>
      </p:sp>
      <p:cxnSp>
        <p:nvCxnSpPr>
          <p:cNvPr id="797" name="Google Shape;797;p52"/>
          <p:cNvCxnSpPr/>
          <p:nvPr/>
        </p:nvCxnSpPr>
        <p:spPr>
          <a:xfrm rot="10800000">
            <a:off x="7086600" y="4419600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lg" len="lg"/>
          </a:ln>
        </p:spPr>
      </p:cxnSp>
      <p:sp>
        <p:nvSpPr>
          <p:cNvPr id="798" name="Google Shape;798;p52"/>
          <p:cNvSpPr txBox="1"/>
          <p:nvPr/>
        </p:nvSpPr>
        <p:spPr>
          <a:xfrm>
            <a:off x="1752600" y="838200"/>
            <a:ext cx="48006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δ(q, a, b) = (q, cb)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99" name="Google Shape;799;p5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53"/>
          <p:cNvSpPr/>
          <p:nvPr/>
        </p:nvSpPr>
        <p:spPr>
          <a:xfrm>
            <a:off x="4137025" y="4810125"/>
            <a:ext cx="928688" cy="1077913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>
              <a:alpha val="49803"/>
            </a:schemeClr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Pop</a:t>
            </a:r>
            <a:endParaRPr/>
          </a:p>
        </p:txBody>
      </p:sp>
      <p:sp>
        <p:nvSpPr>
          <p:cNvPr id="805" name="Google Shape;805;p53"/>
          <p:cNvSpPr/>
          <p:nvPr/>
        </p:nvSpPr>
        <p:spPr>
          <a:xfrm>
            <a:off x="838200" y="4648200"/>
            <a:ext cx="838200" cy="1981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806" name="Google Shape;806;p53"/>
          <p:cNvCxnSpPr/>
          <p:nvPr/>
        </p:nvCxnSpPr>
        <p:spPr>
          <a:xfrm>
            <a:off x="838200" y="51816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pic>
        <p:nvPicPr>
          <p:cNvPr id="807" name="Google Shape;807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" y="4724400"/>
            <a:ext cx="254000" cy="355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8" name="Google Shape;808;p53"/>
          <p:cNvCxnSpPr/>
          <p:nvPr/>
        </p:nvCxnSpPr>
        <p:spPr>
          <a:xfrm>
            <a:off x="838200" y="57150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809" name="Google Shape;809;p53"/>
          <p:cNvCxnSpPr/>
          <p:nvPr/>
        </p:nvCxnSpPr>
        <p:spPr>
          <a:xfrm>
            <a:off x="838200" y="61722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pic>
        <p:nvPicPr>
          <p:cNvPr id="810" name="Google Shape;810;p5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3000" y="5791200"/>
            <a:ext cx="2159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1" name="Google Shape;811;p5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3000" y="5257800"/>
            <a:ext cx="254000" cy="3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2" name="Google Shape;812;p5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43000" y="6172200"/>
            <a:ext cx="239713" cy="430213"/>
          </a:xfrm>
          <a:prstGeom prst="rect">
            <a:avLst/>
          </a:prstGeom>
          <a:noFill/>
          <a:ln>
            <a:noFill/>
          </a:ln>
        </p:spPr>
      </p:pic>
      <p:sp>
        <p:nvSpPr>
          <p:cNvPr id="813" name="Google Shape;813;p53"/>
          <p:cNvSpPr/>
          <p:nvPr/>
        </p:nvSpPr>
        <p:spPr>
          <a:xfrm>
            <a:off x="6248400" y="5181600"/>
            <a:ext cx="838200" cy="1447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814" name="Google Shape;814;p53"/>
          <p:cNvCxnSpPr/>
          <p:nvPr/>
        </p:nvCxnSpPr>
        <p:spPr>
          <a:xfrm>
            <a:off x="6248400" y="57150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815" name="Google Shape;815;p53"/>
          <p:cNvCxnSpPr/>
          <p:nvPr/>
        </p:nvCxnSpPr>
        <p:spPr>
          <a:xfrm>
            <a:off x="6248400" y="61722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pic>
        <p:nvPicPr>
          <p:cNvPr id="816" name="Google Shape;816;p5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53200" y="5791200"/>
            <a:ext cx="2159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7" name="Google Shape;817;p5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3200" y="5257800"/>
            <a:ext cx="254000" cy="3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8" name="Google Shape;818;p5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53200" y="6172200"/>
            <a:ext cx="239713" cy="4302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9" name="Google Shape;819;p53"/>
          <p:cNvCxnSpPr/>
          <p:nvPr/>
        </p:nvCxnSpPr>
        <p:spPr>
          <a:xfrm rot="10800000">
            <a:off x="1676400" y="4953000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lg" len="lg"/>
          </a:ln>
        </p:spPr>
      </p:cxnSp>
      <p:sp>
        <p:nvSpPr>
          <p:cNvPr id="820" name="Google Shape;820;p53"/>
          <p:cNvSpPr txBox="1"/>
          <p:nvPr/>
        </p:nvSpPr>
        <p:spPr>
          <a:xfrm>
            <a:off x="2286000" y="4724400"/>
            <a:ext cx="808038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top</a:t>
            </a:r>
            <a:endParaRPr/>
          </a:p>
        </p:txBody>
      </p:sp>
      <p:sp>
        <p:nvSpPr>
          <p:cNvPr id="821" name="Google Shape;821;p53"/>
          <p:cNvSpPr txBox="1"/>
          <p:nvPr/>
        </p:nvSpPr>
        <p:spPr>
          <a:xfrm>
            <a:off x="685800" y="4038600"/>
            <a:ext cx="1211263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stack</a:t>
            </a:r>
            <a:endParaRPr/>
          </a:p>
        </p:txBody>
      </p:sp>
      <p:cxnSp>
        <p:nvCxnSpPr>
          <p:cNvPr id="822" name="Google Shape;822;p53"/>
          <p:cNvCxnSpPr/>
          <p:nvPr/>
        </p:nvCxnSpPr>
        <p:spPr>
          <a:xfrm rot="10800000">
            <a:off x="7086600" y="5410200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lg" len="lg"/>
          </a:ln>
        </p:spPr>
      </p:cxnSp>
      <p:sp>
        <p:nvSpPr>
          <p:cNvPr id="823" name="Google Shape;823;p53"/>
          <p:cNvSpPr txBox="1"/>
          <p:nvPr/>
        </p:nvSpPr>
        <p:spPr>
          <a:xfrm>
            <a:off x="1752600" y="838200"/>
            <a:ext cx="48006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δ(q, a, b) = (q,</a:t>
            </a:r>
            <a:r>
              <a:rPr lang="en-US"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ϵ</a:t>
            </a:r>
            <a:r>
              <a:rPr lang="en-US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24" name="Google Shape;824;p5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54"/>
          <p:cNvSpPr/>
          <p:nvPr/>
        </p:nvSpPr>
        <p:spPr>
          <a:xfrm>
            <a:off x="3459163" y="4810125"/>
            <a:ext cx="2478087" cy="1077913"/>
          </a:xfrm>
          <a:prstGeom prst="rightArrow">
            <a:avLst>
              <a:gd name="adj1" fmla="val 50000"/>
              <a:gd name="adj2" fmla="val 57474"/>
            </a:avLst>
          </a:prstGeom>
          <a:solidFill>
            <a:schemeClr val="accent1">
              <a:alpha val="49803"/>
            </a:schemeClr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No Change</a:t>
            </a:r>
            <a:endParaRPr/>
          </a:p>
        </p:txBody>
      </p:sp>
      <p:sp>
        <p:nvSpPr>
          <p:cNvPr id="830" name="Google Shape;830;p54"/>
          <p:cNvSpPr/>
          <p:nvPr/>
        </p:nvSpPr>
        <p:spPr>
          <a:xfrm>
            <a:off x="838200" y="4648200"/>
            <a:ext cx="838200" cy="1981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831" name="Google Shape;831;p54"/>
          <p:cNvCxnSpPr/>
          <p:nvPr/>
        </p:nvCxnSpPr>
        <p:spPr>
          <a:xfrm>
            <a:off x="838200" y="51816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pic>
        <p:nvPicPr>
          <p:cNvPr id="832" name="Google Shape;832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" y="4724400"/>
            <a:ext cx="254000" cy="355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3" name="Google Shape;833;p54"/>
          <p:cNvCxnSpPr/>
          <p:nvPr/>
        </p:nvCxnSpPr>
        <p:spPr>
          <a:xfrm>
            <a:off x="838200" y="57150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834" name="Google Shape;834;p54"/>
          <p:cNvCxnSpPr/>
          <p:nvPr/>
        </p:nvCxnSpPr>
        <p:spPr>
          <a:xfrm>
            <a:off x="838200" y="61722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pic>
        <p:nvPicPr>
          <p:cNvPr id="835" name="Google Shape;835;p5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3000" y="5791200"/>
            <a:ext cx="2159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6" name="Google Shape;836;p5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3000" y="5257800"/>
            <a:ext cx="254000" cy="3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7" name="Google Shape;837;p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43000" y="6172200"/>
            <a:ext cx="239713" cy="430213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54"/>
          <p:cNvSpPr/>
          <p:nvPr/>
        </p:nvSpPr>
        <p:spPr>
          <a:xfrm>
            <a:off x="6248400" y="4648200"/>
            <a:ext cx="838200" cy="1981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839" name="Google Shape;839;p54"/>
          <p:cNvCxnSpPr/>
          <p:nvPr/>
        </p:nvCxnSpPr>
        <p:spPr>
          <a:xfrm>
            <a:off x="6248400" y="51816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840" name="Google Shape;840;p54"/>
          <p:cNvCxnSpPr/>
          <p:nvPr/>
        </p:nvCxnSpPr>
        <p:spPr>
          <a:xfrm>
            <a:off x="6248400" y="57150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841" name="Google Shape;841;p54"/>
          <p:cNvCxnSpPr/>
          <p:nvPr/>
        </p:nvCxnSpPr>
        <p:spPr>
          <a:xfrm>
            <a:off x="6248400" y="61722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pic>
        <p:nvPicPr>
          <p:cNvPr id="842" name="Google Shape;842;p5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53200" y="5791200"/>
            <a:ext cx="2159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5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3200" y="5257800"/>
            <a:ext cx="254000" cy="3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p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53200" y="6172200"/>
            <a:ext cx="239713" cy="430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45" name="Google Shape;845;p5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46850" y="4745038"/>
            <a:ext cx="252413" cy="3921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46" name="Google Shape;846;p54"/>
          <p:cNvCxnSpPr/>
          <p:nvPr/>
        </p:nvCxnSpPr>
        <p:spPr>
          <a:xfrm rot="10800000">
            <a:off x="1676400" y="4953000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lg" len="lg"/>
          </a:ln>
        </p:spPr>
      </p:cxnSp>
      <p:sp>
        <p:nvSpPr>
          <p:cNvPr id="847" name="Google Shape;847;p54"/>
          <p:cNvSpPr txBox="1"/>
          <p:nvPr/>
        </p:nvSpPr>
        <p:spPr>
          <a:xfrm>
            <a:off x="2286000" y="4724400"/>
            <a:ext cx="808038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top</a:t>
            </a:r>
            <a:endParaRPr/>
          </a:p>
        </p:txBody>
      </p:sp>
      <p:sp>
        <p:nvSpPr>
          <p:cNvPr id="848" name="Google Shape;848;p54"/>
          <p:cNvSpPr txBox="1"/>
          <p:nvPr/>
        </p:nvSpPr>
        <p:spPr>
          <a:xfrm>
            <a:off x="685800" y="4038600"/>
            <a:ext cx="1211263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stack</a:t>
            </a:r>
            <a:endParaRPr/>
          </a:p>
        </p:txBody>
      </p:sp>
      <p:cxnSp>
        <p:nvCxnSpPr>
          <p:cNvPr id="849" name="Google Shape;849;p54"/>
          <p:cNvCxnSpPr/>
          <p:nvPr/>
        </p:nvCxnSpPr>
        <p:spPr>
          <a:xfrm rot="10800000">
            <a:off x="7086600" y="4876800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lg" len="lg"/>
          </a:ln>
        </p:spPr>
      </p:cxnSp>
      <p:sp>
        <p:nvSpPr>
          <p:cNvPr id="850" name="Google Shape;850;p54"/>
          <p:cNvSpPr txBox="1"/>
          <p:nvPr/>
        </p:nvSpPr>
        <p:spPr>
          <a:xfrm>
            <a:off x="1752600" y="838200"/>
            <a:ext cx="48006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δ(q, a, b) = (q,</a:t>
            </a:r>
            <a:r>
              <a:rPr lang="en-US"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</a:t>
            </a:r>
            <a:r>
              <a:rPr lang="en-US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51" name="Google Shape;851;p5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55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PDA Example</a:t>
            </a:r>
            <a:endParaRPr sz="28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57" name="Google Shape;857;p55"/>
          <p:cNvGraphicFramePr/>
          <p:nvPr/>
        </p:nvGraphicFramePr>
        <p:xfrm>
          <a:off x="1752600" y="2534920"/>
          <a:ext cx="6096000" cy="2494340"/>
        </p:xfrm>
        <a:graphic>
          <a:graphicData uri="http://schemas.openxmlformats.org/drawingml/2006/table">
            <a:tbl>
              <a:tblPr firstRow="1" bandRow="1">
                <a:noFill/>
                <a:tableStyleId>{86452A58-667A-46C3-B5ED-EDB33580B556}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Move no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State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input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stack symbol 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Move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,aZ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,aa)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∈)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∈)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∈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="1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Z</a:t>
                      </a:r>
                      <a:r>
                        <a:rPr lang="en-US" sz="1800" b="1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18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58" name="Google Shape;858;p55"/>
          <p:cNvSpPr/>
          <p:nvPr/>
        </p:nvSpPr>
        <p:spPr>
          <a:xfrm>
            <a:off x="457200" y="1066800"/>
            <a:ext cx="8229600" cy="110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=(Q,Σ, Г ,δ,q</a:t>
            </a:r>
            <a:r>
              <a:rPr lang="en-US" sz="3200" b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,Z</a:t>
            </a:r>
            <a:r>
              <a:rPr lang="en-US" sz="3200" b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,F)</a:t>
            </a:r>
            <a:endParaRPr/>
          </a:p>
          <a:p>
            <a:pPr marL="0" marR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Q={q</a:t>
            </a:r>
            <a:r>
              <a:rPr lang="en-US" sz="28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q</a:t>
            </a:r>
            <a:r>
              <a:rPr lang="en-US" sz="28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28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US" sz="28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 Σ={a,b}, Г={Z</a:t>
            </a:r>
            <a:r>
              <a:rPr lang="en-US" sz="28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a}, F={q</a:t>
            </a:r>
            <a:r>
              <a:rPr lang="en-US" sz="28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 δ as below </a:t>
            </a:r>
            <a:endParaRPr/>
          </a:p>
        </p:txBody>
      </p:sp>
      <p:pic>
        <p:nvPicPr>
          <p:cNvPr id="859" name="Google Shape;859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56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Acceptance by PDA using final state</a:t>
            </a:r>
            <a:endParaRPr sz="28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65" name="Google Shape;865;p56"/>
          <p:cNvGraphicFramePr/>
          <p:nvPr/>
        </p:nvGraphicFramePr>
        <p:xfrm>
          <a:off x="1752600" y="1066800"/>
          <a:ext cx="6096000" cy="2494340"/>
        </p:xfrm>
        <a:graphic>
          <a:graphicData uri="http://schemas.openxmlformats.org/drawingml/2006/table">
            <a:tbl>
              <a:tblPr firstRow="1" bandRow="1">
                <a:noFill/>
                <a:tableStyleId>{86452A58-667A-46C3-B5ED-EDB33580B556}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Move no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State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input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stack symbol 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Move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,aZ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,aa)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∈)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∈)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∈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="1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Z</a:t>
                      </a:r>
                      <a:r>
                        <a:rPr lang="en-US" sz="1800" b="1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18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66" name="Google Shape;866;p56"/>
          <p:cNvSpPr/>
          <p:nvPr/>
        </p:nvSpPr>
        <p:spPr>
          <a:xfrm>
            <a:off x="1219200" y="3758625"/>
            <a:ext cx="74676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the string </a:t>
            </a:r>
            <a:r>
              <a:rPr lang="en-US" sz="3200" b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aabb </a:t>
            </a:r>
            <a:endParaRPr/>
          </a:p>
        </p:txBody>
      </p:sp>
      <p:pic>
        <p:nvPicPr>
          <p:cNvPr id="867" name="Google Shape;867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p56"/>
          <p:cNvSpPr txBox="1"/>
          <p:nvPr/>
        </p:nvSpPr>
        <p:spPr>
          <a:xfrm>
            <a:off x="1066800" y="4267201"/>
            <a:ext cx="2514600" cy="249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(q</a:t>
            </a:r>
            <a:r>
              <a:rPr lang="en-US" sz="2600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0,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abb</a:t>
            </a:r>
            <a:r>
              <a:rPr lang="en-US" sz="2600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,</a:t>
            </a:r>
            <a:r>
              <a:rPr lang="en-US" sz="26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US" sz="2600" b="1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Ⱶ 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(q</a:t>
            </a:r>
            <a:r>
              <a:rPr lang="en-US" sz="2600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0,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bb</a:t>
            </a:r>
            <a:r>
              <a:rPr lang="en-US" sz="2600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,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</a:t>
            </a:r>
            <a:r>
              <a:rPr lang="en-US" sz="2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US" sz="2600" b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Ⱶ 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(q</a:t>
            </a:r>
            <a:r>
              <a:rPr lang="en-US" sz="2600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0,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600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,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aa</a:t>
            </a:r>
            <a:r>
              <a:rPr lang="en-US" sz="2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US" sz="2600" b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Ⱶ 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(q</a:t>
            </a:r>
            <a:r>
              <a:rPr lang="en-US" sz="2600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600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,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</a:t>
            </a:r>
            <a:r>
              <a:rPr lang="en-US" sz="2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US" sz="2600" b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Ⱶ 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(q</a:t>
            </a:r>
            <a:r>
              <a:rPr lang="en-US" sz="2600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∈</a:t>
            </a:r>
            <a:r>
              <a:rPr lang="en-US" sz="26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US" sz="2600" b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 sz="26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Ⱶ 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(q</a:t>
            </a:r>
            <a:r>
              <a:rPr lang="en-US" sz="2600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2,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∈</a:t>
            </a:r>
            <a:r>
              <a:rPr lang="en-US" sz="26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US" sz="2600" b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/>
          </a:p>
        </p:txBody>
      </p:sp>
      <p:sp>
        <p:nvSpPr>
          <p:cNvPr id="869" name="Google Shape;869;p56"/>
          <p:cNvSpPr txBox="1"/>
          <p:nvPr/>
        </p:nvSpPr>
        <p:spPr>
          <a:xfrm>
            <a:off x="3581400" y="4267200"/>
            <a:ext cx="2514600" cy="249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 </a:t>
            </a:r>
            <a:r>
              <a:rPr lang="en-US" sz="2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aabb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accepted, as final state q2 is reached on reading string </a:t>
            </a:r>
            <a:r>
              <a:rPr lang="en-US" sz="2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aabb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completely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7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Rejection by PDA</a:t>
            </a:r>
            <a:endParaRPr sz="28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75" name="Google Shape;875;p57"/>
          <p:cNvGraphicFramePr/>
          <p:nvPr/>
        </p:nvGraphicFramePr>
        <p:xfrm>
          <a:off x="1752600" y="1066800"/>
          <a:ext cx="6096000" cy="2494340"/>
        </p:xfrm>
        <a:graphic>
          <a:graphicData uri="http://schemas.openxmlformats.org/drawingml/2006/table">
            <a:tbl>
              <a:tblPr firstRow="1" bandRow="1">
                <a:noFill/>
                <a:tableStyleId>{86452A58-667A-46C3-B5ED-EDB33580B556}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Move no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State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input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stack symbol 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Move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,aZ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,aa)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∈)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∈)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∈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="1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Z</a:t>
                      </a:r>
                      <a:r>
                        <a:rPr lang="en-US" sz="1800" b="1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18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76" name="Google Shape;876;p57"/>
          <p:cNvSpPr/>
          <p:nvPr/>
        </p:nvSpPr>
        <p:spPr>
          <a:xfrm>
            <a:off x="1219200" y="3758625"/>
            <a:ext cx="74676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the string </a:t>
            </a:r>
            <a:r>
              <a:rPr lang="en-US" sz="3200" b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aabbb </a:t>
            </a:r>
            <a:endParaRPr sz="3200" b="1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77" name="Google Shape;877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57"/>
          <p:cNvSpPr txBox="1"/>
          <p:nvPr/>
        </p:nvSpPr>
        <p:spPr>
          <a:xfrm>
            <a:off x="1066800" y="4267201"/>
            <a:ext cx="2514600" cy="20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(q</a:t>
            </a:r>
            <a:r>
              <a:rPr lang="en-US" sz="2600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0,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abbb</a:t>
            </a:r>
            <a:r>
              <a:rPr lang="en-US" sz="2600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,</a:t>
            </a:r>
            <a:r>
              <a:rPr lang="en-US" sz="26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US" sz="2600" b="1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Ⱶ 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(q</a:t>
            </a:r>
            <a:r>
              <a:rPr lang="en-US" sz="2600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0,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bbb</a:t>
            </a:r>
            <a:r>
              <a:rPr lang="en-US" sz="2600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,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</a:t>
            </a:r>
            <a:r>
              <a:rPr lang="en-US" sz="2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US" sz="2600" b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Ⱶ 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(q</a:t>
            </a:r>
            <a:r>
              <a:rPr lang="en-US" sz="2600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0,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bb</a:t>
            </a:r>
            <a:r>
              <a:rPr lang="en-US" sz="2600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,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aa</a:t>
            </a:r>
            <a:r>
              <a:rPr lang="en-US" sz="2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US" sz="2600" b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Ⱶ 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(q</a:t>
            </a:r>
            <a:r>
              <a:rPr lang="en-US" sz="2600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600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,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</a:t>
            </a:r>
            <a:r>
              <a:rPr lang="en-US" sz="2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US" sz="2600" b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Ⱶ 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(q</a:t>
            </a:r>
            <a:r>
              <a:rPr lang="en-US" sz="2600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6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US" sz="2600" b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 sz="26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9" name="Google Shape;879;p57"/>
          <p:cNvSpPr txBox="1"/>
          <p:nvPr/>
        </p:nvSpPr>
        <p:spPr>
          <a:xfrm>
            <a:off x="3581400" y="4267200"/>
            <a:ext cx="5105400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 </a:t>
            </a:r>
            <a:r>
              <a:rPr lang="en-US" sz="2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aabbb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rejected as q</a:t>
            </a:r>
            <a:r>
              <a:rPr lang="en-US" sz="2600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not final state and string </a:t>
            </a:r>
            <a:r>
              <a:rPr lang="en-US" sz="2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aabbb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not read completely.</a:t>
            </a:r>
            <a:endParaRPr sz="2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58"/>
          <p:cNvSpPr txBox="1">
            <a:spLocks noGrp="1"/>
          </p:cNvSpPr>
          <p:nvPr>
            <p:ph type="title"/>
          </p:nvPr>
        </p:nvSpPr>
        <p:spPr>
          <a:xfrm>
            <a:off x="1066800" y="152400"/>
            <a:ext cx="7924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Acceptance by PDA using null store or empty store or empty stack</a:t>
            </a:r>
            <a:endParaRPr sz="28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85" name="Google Shape;885;p58"/>
          <p:cNvGraphicFramePr/>
          <p:nvPr/>
        </p:nvGraphicFramePr>
        <p:xfrm>
          <a:off x="1752600" y="1066800"/>
          <a:ext cx="6096000" cy="2494340"/>
        </p:xfrm>
        <a:graphic>
          <a:graphicData uri="http://schemas.openxmlformats.org/drawingml/2006/table">
            <a:tbl>
              <a:tblPr firstRow="1" bandRow="1">
                <a:noFill/>
                <a:tableStyleId>{86452A58-667A-46C3-B5ED-EDB33580B556}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Move no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State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input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stack symbol 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Move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,aZ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,aa)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∈)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∈)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∈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="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US" sz="1800" b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</a:t>
                      </a: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∈</a:t>
                      </a:r>
                      <a:r>
                        <a:rPr lang="en-US" sz="1800" b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1800" b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86" name="Google Shape;886;p58"/>
          <p:cNvSpPr/>
          <p:nvPr/>
        </p:nvSpPr>
        <p:spPr>
          <a:xfrm>
            <a:off x="1219200" y="3758625"/>
            <a:ext cx="74676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the string </a:t>
            </a:r>
            <a:r>
              <a:rPr lang="en-US" sz="3200" b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aabb </a:t>
            </a:r>
            <a:endParaRPr/>
          </a:p>
        </p:txBody>
      </p:sp>
      <p:pic>
        <p:nvPicPr>
          <p:cNvPr id="887" name="Google Shape;887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  <p:sp>
        <p:nvSpPr>
          <p:cNvPr id="888" name="Google Shape;888;p58"/>
          <p:cNvSpPr txBox="1"/>
          <p:nvPr/>
        </p:nvSpPr>
        <p:spPr>
          <a:xfrm>
            <a:off x="1066800" y="4267201"/>
            <a:ext cx="2514600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(q</a:t>
            </a:r>
            <a:r>
              <a:rPr lang="en-US" sz="2600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0,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abb</a:t>
            </a:r>
            <a:r>
              <a:rPr lang="en-US" sz="2600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,</a:t>
            </a:r>
            <a:r>
              <a:rPr lang="en-US" sz="26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US" sz="2600" b="1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Ⱶ 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(q</a:t>
            </a:r>
            <a:r>
              <a:rPr lang="en-US" sz="2600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0,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bb</a:t>
            </a:r>
            <a:r>
              <a:rPr lang="en-US" sz="2600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,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</a:t>
            </a:r>
            <a:r>
              <a:rPr lang="en-US" sz="2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US" sz="2600" b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Ⱶ 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(q</a:t>
            </a:r>
            <a:r>
              <a:rPr lang="en-US" sz="2600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0,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600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,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aa</a:t>
            </a:r>
            <a:r>
              <a:rPr lang="en-US" sz="2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US" sz="2600" b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Ⱶ 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(q</a:t>
            </a:r>
            <a:r>
              <a:rPr lang="en-US" sz="2600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600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,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</a:t>
            </a:r>
            <a:r>
              <a:rPr lang="en-US" sz="2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US" sz="2600" b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Ⱶ 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(q</a:t>
            </a:r>
            <a:r>
              <a:rPr lang="en-US" sz="2600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∈</a:t>
            </a:r>
            <a:r>
              <a:rPr lang="en-US" sz="26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US" sz="2600" b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 sz="26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Ⱶ 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(q</a:t>
            </a:r>
            <a:r>
              <a:rPr lang="en-US" sz="2600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</a:t>
            </a:r>
            <a:r>
              <a:rPr lang="en-US" sz="2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∈</a:t>
            </a:r>
            <a:r>
              <a:rPr lang="en-US" sz="2600" baseline="-25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,</a:t>
            </a:r>
            <a:r>
              <a:rPr lang="en-US" sz="2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∈</a:t>
            </a:r>
            <a:r>
              <a:rPr lang="en-US" sz="2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 sz="26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9" name="Google Shape;889;p58"/>
          <p:cNvSpPr txBox="1"/>
          <p:nvPr/>
        </p:nvSpPr>
        <p:spPr>
          <a:xfrm>
            <a:off x="3581400" y="4267200"/>
            <a:ext cx="2514600" cy="20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 </a:t>
            </a:r>
            <a:r>
              <a:rPr lang="en-US" sz="2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aabb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accepted, as stack is empty on reading string </a:t>
            </a:r>
            <a:r>
              <a:rPr lang="en-US" sz="2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aabb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completely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9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Rejection by PDA</a:t>
            </a:r>
            <a:endParaRPr sz="28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95" name="Google Shape;895;p59"/>
          <p:cNvGraphicFramePr/>
          <p:nvPr/>
        </p:nvGraphicFramePr>
        <p:xfrm>
          <a:off x="1752600" y="1066800"/>
          <a:ext cx="6096000" cy="2494340"/>
        </p:xfrm>
        <a:graphic>
          <a:graphicData uri="http://schemas.openxmlformats.org/drawingml/2006/table">
            <a:tbl>
              <a:tblPr firstRow="1" bandRow="1">
                <a:noFill/>
                <a:tableStyleId>{86452A58-667A-46C3-B5ED-EDB33580B556}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Move no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State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input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stack symbol 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Move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,aZ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,aa)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∈)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∈)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∈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="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US" sz="1800" b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</a:t>
                      </a: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∈</a:t>
                      </a:r>
                      <a:r>
                        <a:rPr lang="en-US" sz="1800" b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1800" b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96" name="Google Shape;896;p59"/>
          <p:cNvSpPr/>
          <p:nvPr/>
        </p:nvSpPr>
        <p:spPr>
          <a:xfrm>
            <a:off x="1219200" y="3758625"/>
            <a:ext cx="74676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the string </a:t>
            </a:r>
            <a:r>
              <a:rPr lang="en-US" sz="3200" b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aabbb </a:t>
            </a:r>
            <a:endParaRPr sz="3200" b="1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97" name="Google Shape;897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  <p:sp>
        <p:nvSpPr>
          <p:cNvPr id="898" name="Google Shape;898;p59"/>
          <p:cNvSpPr txBox="1"/>
          <p:nvPr/>
        </p:nvSpPr>
        <p:spPr>
          <a:xfrm>
            <a:off x="1066800" y="4267201"/>
            <a:ext cx="2514600" cy="20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(q</a:t>
            </a:r>
            <a:r>
              <a:rPr lang="en-US" sz="2600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0,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abbb</a:t>
            </a:r>
            <a:r>
              <a:rPr lang="en-US" sz="2600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,</a:t>
            </a:r>
            <a:r>
              <a:rPr lang="en-US" sz="26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US" sz="2600" b="1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Ⱶ 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(q</a:t>
            </a:r>
            <a:r>
              <a:rPr lang="en-US" sz="2600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0,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bbb</a:t>
            </a:r>
            <a:r>
              <a:rPr lang="en-US" sz="2600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,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</a:t>
            </a:r>
            <a:r>
              <a:rPr lang="en-US" sz="2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US" sz="2600" b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Ⱶ 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(q</a:t>
            </a:r>
            <a:r>
              <a:rPr lang="en-US" sz="2600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0,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bb</a:t>
            </a:r>
            <a:r>
              <a:rPr lang="en-US" sz="2600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,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aa</a:t>
            </a:r>
            <a:r>
              <a:rPr lang="en-US" sz="2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US" sz="2600" b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Ⱶ 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(q</a:t>
            </a:r>
            <a:r>
              <a:rPr lang="en-US" sz="2600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600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,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</a:t>
            </a:r>
            <a:r>
              <a:rPr lang="en-US" sz="2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US" sz="2600" b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Ⱶ 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(q</a:t>
            </a:r>
            <a:r>
              <a:rPr lang="en-US" sz="2600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6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US" sz="2600" b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 sz="26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9" name="Google Shape;899;p59"/>
          <p:cNvSpPr txBox="1"/>
          <p:nvPr/>
        </p:nvSpPr>
        <p:spPr>
          <a:xfrm>
            <a:off x="3581400" y="4267200"/>
            <a:ext cx="5105400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 </a:t>
            </a:r>
            <a:r>
              <a:rPr lang="en-US" sz="2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aabbb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rejected as string </a:t>
            </a:r>
            <a:r>
              <a:rPr lang="en-US" sz="2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aabbb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not read completely and stack is not empty.</a:t>
            </a:r>
            <a:endParaRPr sz="2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60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Acceptance by PDA</a:t>
            </a:r>
            <a:endParaRPr/>
          </a:p>
        </p:txBody>
      </p:sp>
      <p:sp>
        <p:nvSpPr>
          <p:cNvPr id="905" name="Google Shape;905;p60"/>
          <p:cNvSpPr txBox="1">
            <a:spLocks noGrp="1"/>
          </p:cNvSpPr>
          <p:nvPr>
            <p:ph type="body" idx="1"/>
          </p:nvPr>
        </p:nvSpPr>
        <p:spPr>
          <a:xfrm>
            <a:off x="152400" y="1219200"/>
            <a:ext cx="89916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Acceptance of input strings by PDA can be defined in terms of </a:t>
            </a:r>
            <a:r>
              <a:rPr lang="en-US" sz="2400" b="1">
                <a:solidFill>
                  <a:srgbClr val="0066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states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in terms of  </a:t>
            </a:r>
            <a:r>
              <a:rPr lang="en-US" sz="2400" b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PDS(pushdown store).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A= (Q,Σ, Г ,δ,q</a:t>
            </a:r>
            <a:r>
              <a:rPr lang="en-US" sz="24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,Z</a:t>
            </a:r>
            <a:r>
              <a:rPr lang="en-US" sz="24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,F) be a PDA.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66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set accepted by final state is defined by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66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T(A) ={w ϵ Σ* | (q</a:t>
            </a:r>
            <a:r>
              <a:rPr lang="en-US" sz="2400" b="1" baseline="-25000">
                <a:solidFill>
                  <a:srgbClr val="0066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0,</a:t>
            </a:r>
            <a:r>
              <a:rPr lang="en-US" sz="2400" b="1">
                <a:solidFill>
                  <a:srgbClr val="0066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w,Z</a:t>
            </a:r>
            <a:r>
              <a:rPr lang="en-US" sz="2400" b="1" baseline="-25000">
                <a:solidFill>
                  <a:srgbClr val="0066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400" b="1">
                <a:solidFill>
                  <a:srgbClr val="0066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) Ⱶ * (q</a:t>
            </a:r>
            <a:r>
              <a:rPr lang="en-US" sz="2400" b="1" baseline="-25000">
                <a:solidFill>
                  <a:srgbClr val="0066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,</a:t>
            </a:r>
            <a:r>
              <a:rPr lang="en-US" sz="2400" b="1">
                <a:solidFill>
                  <a:srgbClr val="0066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ʌ, α ) for some  q</a:t>
            </a:r>
            <a:r>
              <a:rPr lang="en-US" sz="2400" b="1" baseline="-25000">
                <a:solidFill>
                  <a:srgbClr val="0066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-US" sz="2400" b="1">
                <a:solidFill>
                  <a:srgbClr val="0066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ϵ F and α ϵ Г*}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set accepted by null store(or empty store)is defined by 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N(A) = {w ϵ Σ* | (q</a:t>
            </a:r>
            <a:r>
              <a:rPr lang="en-US" sz="2400" b="1" baseline="-250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0,</a:t>
            </a:r>
            <a:r>
              <a:rPr lang="en-US" sz="2400" b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w,Z</a:t>
            </a:r>
            <a:r>
              <a:rPr lang="en-US" sz="2400" b="1" baseline="-250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400" b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) Ⱶ * (q</a:t>
            </a:r>
            <a:r>
              <a:rPr lang="en-US" sz="2400" b="1" baseline="-250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,</a:t>
            </a:r>
            <a:r>
              <a:rPr lang="en-US" sz="2400" b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ʌ, ʌ ) for some  q</a:t>
            </a:r>
            <a:r>
              <a:rPr lang="en-US" sz="2400" b="1" baseline="-250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ϵ Q }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None/>
            </a:pPr>
            <a:endParaRPr sz="2000" b="1"/>
          </a:p>
        </p:txBody>
      </p:sp>
      <p:pic>
        <p:nvPicPr>
          <p:cNvPr id="906" name="Google Shape;906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61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PDA for L={a</a:t>
            </a:r>
            <a:r>
              <a:rPr lang="en-US" baseline="300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baseline="300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US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 n&gt;0 }</a:t>
            </a:r>
            <a:endParaRPr/>
          </a:p>
        </p:txBody>
      </p:sp>
      <p:sp>
        <p:nvSpPr>
          <p:cNvPr id="912" name="Google Shape;912;p61"/>
          <p:cNvSpPr txBox="1">
            <a:spLocks noGrp="1"/>
          </p:cNvSpPr>
          <p:nvPr>
            <p:ph type="body" idx="1"/>
          </p:nvPr>
        </p:nvSpPr>
        <p:spPr>
          <a:xfrm>
            <a:off x="685800" y="838200"/>
            <a:ext cx="84582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Logic: 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A= (Q, Σ,  Г , δ, q</a:t>
            </a:r>
            <a:r>
              <a:rPr lang="en-US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Z</a:t>
            </a:r>
            <a:r>
              <a:rPr lang="en-US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F)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Q={q</a:t>
            </a:r>
            <a:r>
              <a:rPr lang="en-US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,q</a:t>
            </a:r>
            <a:r>
              <a:rPr lang="en-US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Σ={a,b},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Г={a,Z</a:t>
            </a:r>
            <a:r>
              <a:rPr lang="en-US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F={q</a:t>
            </a:r>
            <a:r>
              <a:rPr lang="en-US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PDA.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13" name="Google Shape;913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62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(Transition Function)  by </a:t>
            </a: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State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</a:t>
            </a:r>
            <a:endParaRPr sz="28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19" name="Google Shape;919;p62"/>
          <p:cNvGraphicFramePr/>
          <p:nvPr/>
        </p:nvGraphicFramePr>
        <p:xfrm>
          <a:off x="1752600" y="1066800"/>
          <a:ext cx="6096000" cy="2494340"/>
        </p:xfrm>
        <a:graphic>
          <a:graphicData uri="http://schemas.openxmlformats.org/drawingml/2006/table">
            <a:tbl>
              <a:tblPr firstRow="1" bandRow="1">
                <a:noFill/>
                <a:tableStyleId>{86452A58-667A-46C3-B5ED-EDB33580B556}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Move no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State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input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stack symbol 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Move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,aZ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,aa)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∈)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∈)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∈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="1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Z</a:t>
                      </a:r>
                      <a:r>
                        <a:rPr lang="en-US" sz="1800" b="1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20" name="Google Shape;920;p62"/>
          <p:cNvSpPr/>
          <p:nvPr/>
        </p:nvSpPr>
        <p:spPr>
          <a:xfrm>
            <a:off x="1219200" y="3758625"/>
            <a:ext cx="74676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Acceptance of a string </a:t>
            </a:r>
            <a:r>
              <a:rPr lang="en-US" sz="3200" b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aabb </a:t>
            </a:r>
            <a:endParaRPr/>
          </a:p>
        </p:txBody>
      </p:sp>
      <p:graphicFrame>
        <p:nvGraphicFramePr>
          <p:cNvPr id="921" name="Google Shape;921;p62"/>
          <p:cNvGraphicFramePr/>
          <p:nvPr/>
        </p:nvGraphicFramePr>
        <p:xfrm>
          <a:off x="1752600" y="4419600"/>
          <a:ext cx="4343400" cy="1920250"/>
        </p:xfrm>
        <a:graphic>
          <a:graphicData uri="http://schemas.openxmlformats.org/drawingml/2006/table">
            <a:tbl>
              <a:tblPr firstRow="1" bandRow="1">
                <a:noFill/>
                <a:tableStyleId>{9D2C699C-AF08-48FC-999A-9FD76AF26519}</a:tableStyleId>
              </a:tblPr>
              <a:tblGrid>
                <a:gridCol w="434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47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2400" baseline="-250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</a:t>
                      </a:r>
                      <a:r>
                        <a:rPr lang="en-US" sz="24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4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US" sz="24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abb</a:t>
                      </a:r>
                      <a:r>
                        <a:rPr lang="en-US" sz="2400" baseline="-250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,</a:t>
                      </a: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400" b="1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</a:t>
                      </a:r>
                      <a:r>
                        <a:rPr lang="en-US" sz="2400" b="1" baseline="-250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2400" b="1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Ⱶ </a:t>
                      </a:r>
                      <a:r>
                        <a:rPr lang="en-US" sz="24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2400" baseline="-250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</a:t>
                      </a:r>
                      <a:r>
                        <a:rPr lang="en-US" sz="24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4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US" sz="24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bb</a:t>
                      </a:r>
                      <a:r>
                        <a:rPr lang="en-US" sz="2400" baseline="-250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,</a:t>
                      </a:r>
                      <a:r>
                        <a:rPr lang="en-US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</a:t>
                      </a:r>
                      <a:r>
                        <a:rPr lang="en-US" sz="24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</a:t>
                      </a:r>
                      <a:r>
                        <a:rPr lang="en-US" sz="2400" b="1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2400" b="1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Ⱶ </a:t>
                      </a:r>
                      <a:r>
                        <a:rPr lang="en-US" sz="24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2400" baseline="-250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</a:t>
                      </a:r>
                      <a:r>
                        <a:rPr lang="en-US" sz="24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4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r>
                        <a:rPr lang="en-US" sz="24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r>
                        <a:rPr lang="en-US" sz="2400" baseline="-250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,</a:t>
                      </a:r>
                      <a:r>
                        <a:rPr lang="en-US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aa</a:t>
                      </a:r>
                      <a:r>
                        <a:rPr lang="en-US" sz="24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</a:t>
                      </a:r>
                      <a:r>
                        <a:rPr lang="en-US" sz="2400" b="1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2400" b="1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Ⱶ </a:t>
                      </a:r>
                      <a:r>
                        <a:rPr lang="en-US" sz="24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2400" baseline="-250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</a:t>
                      </a:r>
                      <a:r>
                        <a:rPr lang="en-US" sz="24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4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r>
                        <a:rPr lang="en-US" sz="2400" baseline="-250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,</a:t>
                      </a:r>
                      <a:r>
                        <a:rPr lang="en-US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</a:t>
                      </a:r>
                      <a:r>
                        <a:rPr lang="en-US" sz="24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</a:t>
                      </a:r>
                      <a:r>
                        <a:rPr lang="en-US" sz="2400" b="1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2400" b="1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Ⱶ </a:t>
                      </a:r>
                      <a:r>
                        <a:rPr lang="en-US" sz="24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2400" baseline="-250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</a:t>
                      </a:r>
                      <a:r>
                        <a:rPr lang="en-US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∈</a:t>
                      </a:r>
                      <a:r>
                        <a:rPr lang="en-US" sz="2400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400" baseline="-250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r>
                        <a:rPr lang="en-US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4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</a:t>
                      </a:r>
                      <a:r>
                        <a:rPr lang="en-US" sz="2400" b="1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2400" b="1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922" name="Google Shape;922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63"/>
          <p:cNvSpPr txBox="1">
            <a:spLocks noGrp="1"/>
          </p:cNvSpPr>
          <p:nvPr>
            <p:ph type="title"/>
          </p:nvPr>
        </p:nvSpPr>
        <p:spPr>
          <a:xfrm>
            <a:off x="1295400" y="152400"/>
            <a:ext cx="7696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(Transition Function)  by </a:t>
            </a: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Empty stack or Empty store or Null stack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</a:t>
            </a:r>
            <a:endParaRPr sz="28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28" name="Google Shape;928;p63"/>
          <p:cNvGraphicFramePr/>
          <p:nvPr/>
        </p:nvGraphicFramePr>
        <p:xfrm>
          <a:off x="1752600" y="1143000"/>
          <a:ext cx="6096000" cy="2494340"/>
        </p:xfrm>
        <a:graphic>
          <a:graphicData uri="http://schemas.openxmlformats.org/drawingml/2006/table">
            <a:tbl>
              <a:tblPr firstRow="1" bandRow="1">
                <a:noFill/>
                <a:tableStyleId>{86452A58-667A-46C3-B5ED-EDB33580B556}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Move no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State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input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stack symbol 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Move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,aZ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,aa)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∈)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∈)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∈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="1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∈)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29" name="Google Shape;929;p63"/>
          <p:cNvSpPr/>
          <p:nvPr/>
        </p:nvSpPr>
        <p:spPr>
          <a:xfrm>
            <a:off x="1219200" y="3758625"/>
            <a:ext cx="74676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Acceptance of a string </a:t>
            </a:r>
            <a:r>
              <a:rPr lang="en-US" sz="3200" b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aabb</a:t>
            </a:r>
            <a:endParaRPr sz="3200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aphicFrame>
        <p:nvGraphicFramePr>
          <p:cNvPr id="930" name="Google Shape;930;p63"/>
          <p:cNvGraphicFramePr/>
          <p:nvPr/>
        </p:nvGraphicFramePr>
        <p:xfrm>
          <a:off x="1752600" y="4419600"/>
          <a:ext cx="4343400" cy="2286010"/>
        </p:xfrm>
        <a:graphic>
          <a:graphicData uri="http://schemas.openxmlformats.org/drawingml/2006/table">
            <a:tbl>
              <a:tblPr firstRow="1" bandRow="1">
                <a:noFill/>
                <a:tableStyleId>{9D2C699C-AF08-48FC-999A-9FD76AF26519}</a:tableStyleId>
              </a:tblPr>
              <a:tblGrid>
                <a:gridCol w="434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47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2400" baseline="-250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</a:t>
                      </a:r>
                      <a:r>
                        <a:rPr lang="en-US" sz="24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4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US" sz="24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abb</a:t>
                      </a:r>
                      <a:r>
                        <a:rPr lang="en-US" sz="2400" baseline="-250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,</a:t>
                      </a: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400" b="1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</a:t>
                      </a:r>
                      <a:r>
                        <a:rPr lang="en-US" sz="2400" b="1" baseline="-250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2400" b="1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Ⱶ </a:t>
                      </a:r>
                      <a:r>
                        <a:rPr lang="en-US" sz="24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2400" baseline="-250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</a:t>
                      </a:r>
                      <a:r>
                        <a:rPr lang="en-US" sz="24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4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US" sz="24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bb</a:t>
                      </a:r>
                      <a:r>
                        <a:rPr lang="en-US" sz="2400" baseline="-250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,</a:t>
                      </a:r>
                      <a:r>
                        <a:rPr lang="en-US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</a:t>
                      </a:r>
                      <a:r>
                        <a:rPr lang="en-US" sz="24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</a:t>
                      </a:r>
                      <a:r>
                        <a:rPr lang="en-US" sz="2400" b="1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2400" b="1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Ⱶ </a:t>
                      </a:r>
                      <a:r>
                        <a:rPr lang="en-US" sz="24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2400" baseline="-250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</a:t>
                      </a:r>
                      <a:r>
                        <a:rPr lang="en-US" sz="24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4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r>
                        <a:rPr lang="en-US" sz="24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r>
                        <a:rPr lang="en-US" sz="2400" baseline="-250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,</a:t>
                      </a:r>
                      <a:r>
                        <a:rPr lang="en-US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aa</a:t>
                      </a:r>
                      <a:r>
                        <a:rPr lang="en-US" sz="24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</a:t>
                      </a:r>
                      <a:r>
                        <a:rPr lang="en-US" sz="2400" b="1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2400" b="1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Ⱶ </a:t>
                      </a:r>
                      <a:r>
                        <a:rPr lang="en-US" sz="24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2400" baseline="-250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</a:t>
                      </a:r>
                      <a:r>
                        <a:rPr lang="en-US" sz="24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4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r>
                        <a:rPr lang="en-US" sz="2400" baseline="-250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,</a:t>
                      </a:r>
                      <a:r>
                        <a:rPr lang="en-US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</a:t>
                      </a:r>
                      <a:r>
                        <a:rPr lang="en-US" sz="24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</a:t>
                      </a:r>
                      <a:r>
                        <a:rPr lang="en-US" sz="2400" b="1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2400" b="1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Ⱶ </a:t>
                      </a:r>
                      <a:r>
                        <a:rPr lang="en-US" sz="24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2400" baseline="-250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</a:t>
                      </a:r>
                      <a:r>
                        <a:rPr lang="en-US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∈</a:t>
                      </a:r>
                      <a:r>
                        <a:rPr lang="en-US" sz="2400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400" baseline="-250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r>
                        <a:rPr lang="en-US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4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</a:t>
                      </a:r>
                      <a:r>
                        <a:rPr lang="en-US" sz="2400" b="1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2400" b="1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Ⱶ </a:t>
                      </a:r>
                      <a:r>
                        <a:rPr lang="en-US" sz="24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2400" baseline="-250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</a:t>
                      </a:r>
                      <a:r>
                        <a:rPr lang="en-US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∈</a:t>
                      </a:r>
                      <a:r>
                        <a:rPr lang="en-US" sz="2400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400" baseline="-250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r>
                        <a:rPr lang="en-US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∈</a:t>
                      </a:r>
                      <a:r>
                        <a:rPr lang="en-US" sz="2400" b="1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931" name="Google Shape;931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64"/>
          <p:cNvSpPr txBox="1">
            <a:spLocks noGrp="1"/>
          </p:cNvSpPr>
          <p:nvPr>
            <p:ph type="title"/>
          </p:nvPr>
        </p:nvSpPr>
        <p:spPr>
          <a:xfrm>
            <a:off x="1295400" y="152400"/>
            <a:ext cx="76962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Ex: PDA to accept language of palindromes with the marker. i.e. L={xcx</a:t>
            </a:r>
            <a:r>
              <a:rPr lang="en-US" sz="2800" baseline="300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x ∈ {a,b}*}</a:t>
            </a:r>
            <a:r>
              <a:rPr lang="en-US" sz="2800"/>
              <a:t> </a:t>
            </a:r>
            <a:endParaRPr/>
          </a:p>
        </p:txBody>
      </p:sp>
      <p:sp>
        <p:nvSpPr>
          <p:cNvPr id="937" name="Google Shape;937;p64"/>
          <p:cNvSpPr txBox="1">
            <a:spLocks noGrp="1"/>
          </p:cNvSpPr>
          <p:nvPr>
            <p:ph type="body" idx="1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A= (Q, Σ,  Г , δ, q</a:t>
            </a:r>
            <a:r>
              <a:rPr lang="en-US" sz="28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Z</a:t>
            </a:r>
            <a:r>
              <a:rPr lang="en-US" sz="28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F) is a PDA.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Q={q</a:t>
            </a:r>
            <a:r>
              <a:rPr lang="en-US" sz="28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,q</a:t>
            </a:r>
            <a:r>
              <a:rPr lang="en-US" sz="28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,q</a:t>
            </a:r>
            <a:r>
              <a:rPr lang="en-US" sz="28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Σ={a,b,c},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Г={a,b,Z</a:t>
            </a:r>
            <a:r>
              <a:rPr lang="en-US" sz="28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F={q</a:t>
            </a:r>
            <a:r>
              <a:rPr lang="en-US" sz="28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38" name="Google Shape;938;p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65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(Transition Function)  by </a:t>
            </a: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State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</a:t>
            </a:r>
            <a:endParaRPr sz="28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4" name="Google Shape;944;p65"/>
          <p:cNvSpPr txBox="1">
            <a:spLocks noGrp="1"/>
          </p:cNvSpPr>
          <p:nvPr>
            <p:ph type="body" idx="1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945" name="Google Shape;945;p65"/>
          <p:cNvGraphicFramePr/>
          <p:nvPr/>
        </p:nvGraphicFramePr>
        <p:xfrm>
          <a:off x="1752600" y="1143000"/>
          <a:ext cx="6096000" cy="5090290"/>
        </p:xfrm>
        <a:graphic>
          <a:graphicData uri="http://schemas.openxmlformats.org/drawingml/2006/table">
            <a:tbl>
              <a:tblPr firstRow="1" bandRow="1">
                <a:noFill/>
                <a:tableStyleId>{86452A58-667A-46C3-B5ED-EDB33580B556}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Move no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State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input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stack symbol 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Move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,aZ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,bZ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,aa)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,bb)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ab)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ba)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,Z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18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,a)</a:t>
                      </a:r>
                      <a:endParaRPr sz="18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,b)</a:t>
                      </a:r>
                      <a:endParaRPr sz="18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∈)</a:t>
                      </a:r>
                      <a:endParaRPr sz="18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∈)</a:t>
                      </a:r>
                      <a:endParaRPr sz="18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∈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="1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Z</a:t>
                      </a:r>
                      <a:r>
                        <a:rPr lang="en-US" sz="1800" b="1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946" name="Google Shape;946;p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66"/>
          <p:cNvSpPr txBox="1">
            <a:spLocks noGrp="1"/>
          </p:cNvSpPr>
          <p:nvPr>
            <p:ph type="title"/>
          </p:nvPr>
        </p:nvSpPr>
        <p:spPr>
          <a:xfrm>
            <a:off x="1219200" y="1524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(Transition Function)  by </a:t>
            </a: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Empty stack or Empty store or Null stack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</a:t>
            </a:r>
            <a:endParaRPr sz="28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2" name="Google Shape;952;p66"/>
          <p:cNvSpPr txBox="1">
            <a:spLocks noGrp="1"/>
          </p:cNvSpPr>
          <p:nvPr>
            <p:ph type="body" idx="1"/>
          </p:nvPr>
        </p:nvSpPr>
        <p:spPr>
          <a:xfrm>
            <a:off x="152400" y="10668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953" name="Google Shape;953;p66"/>
          <p:cNvGraphicFramePr/>
          <p:nvPr/>
        </p:nvGraphicFramePr>
        <p:xfrm>
          <a:off x="1752600" y="1143000"/>
          <a:ext cx="6096000" cy="5090290"/>
        </p:xfrm>
        <a:graphic>
          <a:graphicData uri="http://schemas.openxmlformats.org/drawingml/2006/table">
            <a:tbl>
              <a:tblPr firstRow="1" bandRow="1">
                <a:noFill/>
                <a:tableStyleId>{86452A58-667A-46C3-B5ED-EDB33580B556}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Move no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State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input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stack symbol 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Move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,aZ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,bZ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,aa)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,bb)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ab)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ba)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,Z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18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,a)</a:t>
                      </a:r>
                      <a:endParaRPr sz="18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,b)</a:t>
                      </a:r>
                      <a:endParaRPr sz="18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∈)</a:t>
                      </a:r>
                      <a:endParaRPr sz="18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∈)</a:t>
                      </a:r>
                      <a:endParaRPr sz="18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∈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(q</a:t>
                      </a:r>
                      <a:r>
                        <a:rPr lang="en-US" sz="1800" b="1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∈</a:t>
                      </a: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954" name="Google Shape;954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67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for practice</a:t>
            </a:r>
            <a:endParaRPr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0" name="Google Shape;960;p67"/>
          <p:cNvSpPr txBox="1">
            <a:spLocks noGrp="1"/>
          </p:cNvSpPr>
          <p:nvPr>
            <p:ph type="body" idx="1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Times New Roman"/>
              <a:buAutoNum type="arabicPeriod"/>
            </a:pPr>
            <a:r>
              <a:rPr lang="en-US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PDA for L={a</a:t>
            </a:r>
            <a:r>
              <a:rPr lang="en-US" baseline="30000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baseline="30000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2n </a:t>
            </a:r>
            <a:r>
              <a:rPr lang="en-US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 n&gt;0}</a:t>
            </a:r>
            <a:endParaRPr dirty="0"/>
          </a:p>
          <a:p>
            <a:pPr marL="514350" lvl="0" indent="-514350" algn="l" rtl="0">
              <a:spcBef>
                <a:spcPts val="64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Times New Roman"/>
              <a:buAutoNum type="arabicPeriod"/>
            </a:pPr>
            <a:r>
              <a:rPr lang="en-US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PDA for L={</a:t>
            </a:r>
            <a:r>
              <a:rPr lang="en-US" dirty="0" err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baseline="30000" dirty="0" err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dirty="0" err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baseline="30000" dirty="0" err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dirty="0" err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baseline="30000" dirty="0" err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 dirty="0" err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baseline="30000" dirty="0" err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 baseline="30000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 n, m&gt;0 }</a:t>
            </a:r>
            <a:endParaRPr dirty="0"/>
          </a:p>
          <a:p>
            <a:pPr marL="514350" lvl="0" indent="-514350" algn="l" rtl="0">
              <a:spcBef>
                <a:spcPts val="64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Times New Roman"/>
              <a:buAutoNum type="arabicPeriod"/>
            </a:pPr>
            <a:r>
              <a:rPr lang="en-US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PDA for L={</a:t>
            </a:r>
            <a:r>
              <a:rPr lang="en-US" dirty="0" err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baseline="30000" dirty="0" err="1">
                <a:solidFill>
                  <a:srgbClr val="0070C0"/>
                </a:solidFill>
                <a:latin typeface="Times New Roman"/>
                <a:cs typeface="Times New Roman"/>
                <a:sym typeface="Times New Roman"/>
              </a:rPr>
              <a:t>n</a:t>
            </a:r>
            <a:r>
              <a:rPr lang="en-US" dirty="0" err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baseline="30000" dirty="0" err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 dirty="0" err="1">
                <a:solidFill>
                  <a:srgbClr val="0070C0"/>
                </a:solidFill>
                <a:latin typeface="Times New Roman"/>
                <a:cs typeface="Times New Roman"/>
                <a:sym typeface="Times New Roman"/>
              </a:rPr>
              <a:t>c</a:t>
            </a:r>
            <a:r>
              <a:rPr lang="en-US" baseline="30000" dirty="0" err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 baseline="30000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 m, n&gt;0}</a:t>
            </a:r>
            <a:endParaRPr dirty="0"/>
          </a:p>
          <a:p>
            <a:pPr marL="514350" lvl="0" indent="-514350" algn="l" rtl="0">
              <a:spcBef>
                <a:spcPts val="64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1" name="Google Shape;961;p67"/>
          <p:cNvSpPr txBox="1">
            <a:spLocks noGrp="1"/>
          </p:cNvSpPr>
          <p:nvPr>
            <p:ph type="dt" idx="10"/>
          </p:nvPr>
        </p:nvSpPr>
        <p:spPr>
          <a:xfrm>
            <a:off x="1524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2" name="Google Shape;962;p67"/>
          <p:cNvSpPr txBox="1">
            <a:spLocks noGrp="1"/>
          </p:cNvSpPr>
          <p:nvPr>
            <p:ph type="ftr" idx="11"/>
          </p:nvPr>
        </p:nvSpPr>
        <p:spPr>
          <a:xfrm>
            <a:off x="3124200" y="65532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3" name="Google Shape;963;p67"/>
          <p:cNvSpPr txBox="1">
            <a:spLocks noGrp="1"/>
          </p:cNvSpPr>
          <p:nvPr>
            <p:ph type="sldNum" idx="12"/>
          </p:nvPr>
        </p:nvSpPr>
        <p:spPr>
          <a:xfrm>
            <a:off x="70866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66</a:t>
            </a:fld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68"/>
          <p:cNvSpPr txBox="1">
            <a:spLocks noGrp="1"/>
          </p:cNvSpPr>
          <p:nvPr>
            <p:ph type="title"/>
          </p:nvPr>
        </p:nvSpPr>
        <p:spPr>
          <a:xfrm>
            <a:off x="1066800" y="152400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Deterministic and non-deterministic PDA</a:t>
            </a:r>
            <a:endParaRPr/>
          </a:p>
        </p:txBody>
      </p:sp>
      <p:sp>
        <p:nvSpPr>
          <p:cNvPr id="969" name="Google Shape;969;p68"/>
          <p:cNvSpPr txBox="1">
            <a:spLocks noGrp="1"/>
          </p:cNvSpPr>
          <p:nvPr>
            <p:ph type="body" idx="1"/>
          </p:nvPr>
        </p:nvSpPr>
        <p:spPr>
          <a:xfrm>
            <a:off x="152400" y="1600200"/>
            <a:ext cx="88392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DPDA: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transition function is :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Q X Σ X Г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Q X Г*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 δ(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q,a,Z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is either empty or a singleton.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δ(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q,a,Z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≠ Ø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NPDA: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Q X Σ U {ϵ } X Г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finite subsets of Q X Г*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 δ(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q,a,Z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 = {(p1,ɤ1) ,(p2, ɤ2)…..(pm,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ɤm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)}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70" name="Google Shape;970;p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69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DPDA and NPDA</a:t>
            </a:r>
            <a:endParaRPr/>
          </a:p>
        </p:txBody>
      </p:sp>
      <p:pic>
        <p:nvPicPr>
          <p:cNvPr id="976" name="Google Shape;976;p6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743200" y="2301875"/>
            <a:ext cx="4022725" cy="402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7" name="Google Shape;977;p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70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NPDA and DPDA</a:t>
            </a:r>
            <a:endParaRPr/>
          </a:p>
        </p:txBody>
      </p:sp>
      <p:sp>
        <p:nvSpPr>
          <p:cNvPr id="983" name="Google Shape;983;p70"/>
          <p:cNvSpPr txBox="1">
            <a:spLocks noGrp="1"/>
          </p:cNvSpPr>
          <p:nvPr>
            <p:ph type="body" idx="1"/>
          </p:nvPr>
        </p:nvSpPr>
        <p:spPr>
          <a:xfrm>
            <a:off x="152400" y="1752600"/>
            <a:ext cx="8839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every NPDA, there may not exist an equivalent DPDA.</a:t>
            </a:r>
            <a:endParaRPr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NPDA can accept any CFL, while DPDA is a special case of NPDA that accepts only a subset of the CFLs accepted by the NPDA. </a:t>
            </a:r>
            <a:endParaRPr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Thus, DPDA is less powerful than NPDA. 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84" name="Google Shape;984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71"/>
          <p:cNvSpPr txBox="1">
            <a:spLocks noGrp="1"/>
          </p:cNvSpPr>
          <p:nvPr>
            <p:ph type="title"/>
          </p:nvPr>
        </p:nvSpPr>
        <p:spPr>
          <a:xfrm>
            <a:off x="1219200" y="152400"/>
            <a:ext cx="77724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NPDA to accept language of palindromes without  the marker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800"/>
          </a:p>
        </p:txBody>
      </p:sp>
      <p:sp>
        <p:nvSpPr>
          <p:cNvPr id="990" name="Google Shape;990;p71"/>
          <p:cNvSpPr txBox="1">
            <a:spLocks noGrp="1"/>
          </p:cNvSpPr>
          <p:nvPr>
            <p:ph type="body" idx="1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A= (Q, Σ,  Г , δ, q</a:t>
            </a:r>
            <a:r>
              <a:rPr lang="en-US" sz="28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Z</a:t>
            </a:r>
            <a:r>
              <a:rPr lang="en-US" sz="28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F) is a PDA.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Q={q</a:t>
            </a:r>
            <a:r>
              <a:rPr lang="en-US" sz="28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,q</a:t>
            </a:r>
            <a:r>
              <a:rPr lang="en-US" sz="28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,q</a:t>
            </a:r>
            <a:r>
              <a:rPr lang="en-US" sz="28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Σ={a,b},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Г={a,b,Z</a:t>
            </a:r>
            <a:r>
              <a:rPr lang="en-US" sz="28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F={q</a:t>
            </a:r>
            <a:r>
              <a:rPr lang="en-US" sz="28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91" name="Google Shape;991;p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72"/>
          <p:cNvSpPr txBox="1">
            <a:spLocks noGrp="1"/>
          </p:cNvSpPr>
          <p:nvPr>
            <p:ph type="title"/>
          </p:nvPr>
        </p:nvSpPr>
        <p:spPr>
          <a:xfrm>
            <a:off x="1295400" y="152400"/>
            <a:ext cx="7696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NPDA to accept language of all palindrome strings</a:t>
            </a:r>
            <a:endParaRPr sz="2800"/>
          </a:p>
        </p:txBody>
      </p:sp>
      <p:graphicFrame>
        <p:nvGraphicFramePr>
          <p:cNvPr id="997" name="Google Shape;997;p72"/>
          <p:cNvGraphicFramePr/>
          <p:nvPr/>
        </p:nvGraphicFramePr>
        <p:xfrm>
          <a:off x="609600" y="1524000"/>
          <a:ext cx="7543775" cy="4821050"/>
        </p:xfrm>
        <a:graphic>
          <a:graphicData uri="http://schemas.openxmlformats.org/drawingml/2006/table">
            <a:tbl>
              <a:tblPr firstRow="1" bandRow="1">
                <a:noFill/>
                <a:tableStyleId>{86452A58-667A-46C3-B5ED-EDB33580B556}</a:tableStyleId>
              </a:tblPr>
              <a:tblGrid>
                <a:gridCol w="150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1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Move no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State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input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stack symbol 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Move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{(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,a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), (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Z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)}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{(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,b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), (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Z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)}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{(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,aa),(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,a)}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{(q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,ba), 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,a)}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{(q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ab), 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,b)}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{(q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bb), 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,b)}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∈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{(q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,Z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)}</a:t>
                      </a:r>
                      <a:endParaRPr sz="18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∈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{(q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,a)}</a:t>
                      </a:r>
                      <a:endParaRPr sz="18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∈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{(q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,b)}</a:t>
                      </a:r>
                      <a:endParaRPr sz="18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{(q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∈)}</a:t>
                      </a:r>
                      <a:endParaRPr sz="18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{(q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∈)}</a:t>
                      </a:r>
                      <a:endParaRPr sz="18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∈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{(q</a:t>
                      </a:r>
                      <a:r>
                        <a:rPr lang="en-US" sz="1800" b="1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Z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)}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998" name="Google Shape;998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73"/>
          <p:cNvSpPr txBox="1">
            <a:spLocks noGrp="1"/>
          </p:cNvSpPr>
          <p:nvPr>
            <p:ph type="body" idx="1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Theorem: 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L is a CFL then we can construct a PDA A accepting L by empty store </a:t>
            </a:r>
            <a:r>
              <a:rPr lang="en-US" sz="20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L=N(A).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Proof: 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 construct A by making use of productions in G.</a:t>
            </a:r>
            <a:endParaRPr sz="2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L=L(G)  where G=(V, T, P, S) is a CFG. 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construct PDA A as 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A= (Q, Σ,  Г , δ, q, Z</a:t>
            </a:r>
            <a:r>
              <a:rPr lang="en-US" sz="20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,F)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where Σ=T 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 is (V U T)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US" sz="20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S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= Ф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  is defined as 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000" b="1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δ(q, ∈, A) = {(q, α ) | A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α  is in P}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000" b="1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δ(q, a, a) = {(q, ∈ ) } for every a in Σ. 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4" name="Google Shape;1004;p73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CFG to PDA</a:t>
            </a:r>
            <a:endParaRPr/>
          </a:p>
        </p:txBody>
      </p:sp>
      <p:pic>
        <p:nvPicPr>
          <p:cNvPr id="1005" name="Google Shape;1005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74"/>
          <p:cNvSpPr txBox="1">
            <a:spLocks noGrp="1"/>
          </p:cNvSpPr>
          <p:nvPr>
            <p:ph type="body" idx="1"/>
          </p:nvPr>
        </p:nvSpPr>
        <p:spPr>
          <a:xfrm>
            <a:off x="533400" y="1066800"/>
            <a:ext cx="84582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.Construct a PDA for the CFG 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S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0BB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B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0S | 1S |0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Test whether 010</a:t>
            </a:r>
            <a:r>
              <a:rPr lang="en-US" sz="2000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in N(A).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construct PDA A as 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= (Q, Σ,  Г , δ, q, Z</a:t>
            </a:r>
            <a:r>
              <a:rPr lang="en-US" sz="20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,F)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= {q}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Σ = {0,1}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 =  {S, B, 0, 1}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US" sz="20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S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= Ф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1" name="Google Shape;1011;p74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CFG to PDA</a:t>
            </a:r>
            <a:endParaRPr/>
          </a:p>
        </p:txBody>
      </p:sp>
      <p:pic>
        <p:nvPicPr>
          <p:cNvPr id="1012" name="Google Shape;1012;p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13" name="Google Shape;1013;p74"/>
          <p:cNvGraphicFramePr/>
          <p:nvPr/>
        </p:nvGraphicFramePr>
        <p:xfrm>
          <a:off x="2514600" y="4038600"/>
          <a:ext cx="6096000" cy="2123490"/>
        </p:xfrm>
        <a:graphic>
          <a:graphicData uri="http://schemas.openxmlformats.org/drawingml/2006/table">
            <a:tbl>
              <a:tblPr firstRow="1" bandRow="1">
                <a:noFill/>
                <a:tableStyleId>{86452A58-667A-46C3-B5ED-EDB33580B556}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Move no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State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input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stack symbol 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Move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∈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{(q,0BB)}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∈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{(q,0S), (q,1S), (q,0)}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{(q, ∈)}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{(q,∈)}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75"/>
          <p:cNvSpPr txBox="1">
            <a:spLocks noGrp="1"/>
          </p:cNvSpPr>
          <p:nvPr>
            <p:ph type="body" idx="1"/>
          </p:nvPr>
        </p:nvSpPr>
        <p:spPr>
          <a:xfrm>
            <a:off x="1371600" y="1143000"/>
            <a:ext cx="76200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.Construct a PDA for the CFG 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S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0BB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B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0S | 1S |0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Test whether 010</a:t>
            </a:r>
            <a:r>
              <a:rPr lang="en-US" sz="2000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in N(A).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Convert the grammar 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US" sz="2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aSb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A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US" sz="2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bSa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|S| ∈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 PDA that accepts the same language by empty stack.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9" name="Google Shape;1019;p75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CFG to PDA</a:t>
            </a:r>
            <a:endParaRPr/>
          </a:p>
        </p:txBody>
      </p:sp>
      <p:pic>
        <p:nvPicPr>
          <p:cNvPr id="1020" name="Google Shape;1020;p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75"/>
          <p:cNvSpPr txBox="1">
            <a:spLocks noGrp="1"/>
          </p:cNvSpPr>
          <p:nvPr>
            <p:ph type="body" idx="1"/>
          </p:nvPr>
        </p:nvSpPr>
        <p:spPr>
          <a:xfrm>
            <a:off x="435428" y="934811"/>
            <a:ext cx="8634144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spcBef>
                <a:spcPts val="0"/>
              </a:spcBef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the given PDA A = ({q</a:t>
            </a:r>
            <a:r>
              <a:rPr lang="en-US" sz="20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,q</a:t>
            </a:r>
            <a:r>
              <a:rPr lang="en-US" sz="20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 {0,1}, {X, Zo}, δ, q</a:t>
            </a:r>
            <a:r>
              <a:rPr lang="en-US" sz="20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Zo)</a:t>
            </a:r>
          </a:p>
          <a:p>
            <a:pPr marL="342900" lvl="0" indent="-342900">
              <a:spcBef>
                <a:spcPts val="0"/>
              </a:spcBef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δ as:</a:t>
            </a:r>
          </a:p>
          <a:p>
            <a:pPr marL="342900" lvl="0" indent="-342900">
              <a:spcBef>
                <a:spcPts val="0"/>
              </a:spcBef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δ(q0,0,Z0) = (q0,XZo)  (1a)</a:t>
            </a:r>
          </a:p>
          <a:p>
            <a:pPr marL="342900" lvl="0" indent="-342900">
              <a:spcBef>
                <a:spcPts val="0"/>
              </a:spcBef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δ(q0,0,X) = (q0,XX)    (1b) </a:t>
            </a:r>
          </a:p>
          <a:p>
            <a:pPr marL="342900" lvl="0" indent="-342900">
              <a:spcBef>
                <a:spcPts val="0"/>
              </a:spcBef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δ(q0,1,X) = (q1,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∈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    (2a)</a:t>
            </a:r>
          </a:p>
          <a:p>
            <a:pPr marL="342900" lvl="0" indent="-342900">
              <a:spcBef>
                <a:spcPts val="0"/>
              </a:spcBef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δ(q1,1,X) = (q1,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∈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    (2b)</a:t>
            </a:r>
          </a:p>
          <a:p>
            <a:pPr marL="342900" lvl="0" indent="-342900">
              <a:spcBef>
                <a:spcPts val="0"/>
              </a:spcBef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δ(q1,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∈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,X) = (q1,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∈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    (2c)</a:t>
            </a:r>
          </a:p>
          <a:p>
            <a:pPr marL="342900" lvl="0" indent="-342900">
              <a:spcBef>
                <a:spcPts val="0"/>
              </a:spcBef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δ(q1,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∈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,Zo) = (q1,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∈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   (2d)</a:t>
            </a:r>
          </a:p>
          <a:p>
            <a:pPr marL="342900" lvl="0" indent="-342900">
              <a:spcBef>
                <a:spcPts val="0"/>
              </a:spcBef>
            </a:pPr>
            <a:endParaRPr lang="en-US"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>
              <a:spcBef>
                <a:spcPts val="0"/>
              </a:spcBef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convert into CFG as follows</a:t>
            </a:r>
          </a:p>
          <a:p>
            <a:pPr marL="342900" lvl="0" indent="-342900">
              <a:spcBef>
                <a:spcPts val="0"/>
              </a:spcBef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Σ = {0,1}  (same as sigma from the PDA)</a:t>
            </a:r>
          </a:p>
          <a:p>
            <a:pPr marL="342900" lvl="0" indent="-342900">
              <a:spcBef>
                <a:spcPts val="0"/>
              </a:spcBef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Define Start Symbol "S".</a:t>
            </a:r>
          </a:p>
          <a:p>
            <a:pPr marL="342900" lvl="0" indent="-342900">
              <a:spcBef>
                <a:spcPts val="0"/>
              </a:spcBef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[</a:t>
            </a:r>
            <a:r>
              <a:rPr lang="en-US" sz="2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pXq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where p&amp; q are states in Q and X is from Г</a:t>
            </a:r>
          </a:p>
          <a:p>
            <a:pPr marL="342900" lvl="0" indent="-342900">
              <a:spcBef>
                <a:spcPts val="0"/>
              </a:spcBef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= (S, [q0,X,q0], [q0,X,q1], [q1,X,q0], [q1,X,q1], [q0,Zo,q0], [q0,Zo,q1], [q1,Zo,q0], [q1,Zo,q1])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9" name="Google Shape;1019;p75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PDA to CFG </a:t>
            </a:r>
            <a:endParaRPr dirty="0"/>
          </a:p>
        </p:txBody>
      </p:sp>
      <p:pic>
        <p:nvPicPr>
          <p:cNvPr id="1020" name="Google Shape;1020;p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507777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75"/>
          <p:cNvSpPr txBox="1">
            <a:spLocks noGrp="1"/>
          </p:cNvSpPr>
          <p:nvPr>
            <p:ph type="body" idx="1"/>
          </p:nvPr>
        </p:nvSpPr>
        <p:spPr>
          <a:xfrm>
            <a:off x="435428" y="934811"/>
            <a:ext cx="8634144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spcBef>
                <a:spcPts val="0"/>
              </a:spcBef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the productions the rules are </a:t>
            </a:r>
          </a:p>
          <a:p>
            <a:pPr marL="342900" lvl="0" indent="-342900">
              <a:spcBef>
                <a:spcPts val="0"/>
              </a:spcBef>
            </a:pPr>
            <a:endParaRPr lang="en-US"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indent="-342900">
              <a:spcBef>
                <a:spcPts val="0"/>
              </a:spcBef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For starting symbol S we write productions S 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[q0,Zo,p]   </a:t>
            </a:r>
          </a:p>
          <a:p>
            <a:pPr marL="342900" lvl="0" indent="-342900">
              <a:spcBef>
                <a:spcPts val="0"/>
              </a:spcBef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 </a:t>
            </a:r>
          </a:p>
          <a:p>
            <a:pPr marL="342900" lvl="0" indent="-342900">
              <a:spcBef>
                <a:spcPts val="0"/>
              </a:spcBef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[q0,Zo,q0]   </a:t>
            </a:r>
          </a:p>
          <a:p>
            <a:pPr marL="342900" lvl="0" indent="-342900">
              <a:spcBef>
                <a:spcPts val="0"/>
              </a:spcBef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[q0,Zo,q1] </a:t>
            </a:r>
          </a:p>
          <a:p>
            <a:pPr marL="342900" lvl="0" indent="-342900">
              <a:spcBef>
                <a:spcPts val="0"/>
              </a:spcBef>
            </a:pPr>
            <a:endParaRPr lang="en-US"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>
              <a:spcBef>
                <a:spcPts val="0"/>
              </a:spcBef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Now, We will derive forward, only building productions for variables that can be derived.</a:t>
            </a:r>
          </a:p>
          <a:p>
            <a:pPr marL="342900" lvl="0" indent="-342900">
              <a:spcBef>
                <a:spcPts val="0"/>
              </a:spcBef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 δ(q0,a,X) = (r, y</a:t>
            </a:r>
            <a:r>
              <a:rPr lang="en-US" sz="20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0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0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0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r>
              <a:rPr lang="en-US" sz="2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000" baseline="-25000" dirty="0" err="1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k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 </a:t>
            </a:r>
          </a:p>
          <a:p>
            <a:pPr marL="342900" lvl="0" indent="-342900">
              <a:spcBef>
                <a:spcPts val="0"/>
              </a:spcBef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(q0 X </a:t>
            </a:r>
            <a:r>
              <a:rPr lang="en-US" sz="2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000" baseline="-25000" dirty="0" err="1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k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a [r y1 r1], [r1 y2 r2], [r2 y3 r3], ….. [rk-1 </a:t>
            </a:r>
            <a:r>
              <a:rPr lang="en-US" sz="2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yk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rk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],</a:t>
            </a:r>
          </a:p>
          <a:p>
            <a:pPr marL="342900" lvl="0" indent="-342900">
              <a:spcBef>
                <a:spcPts val="0"/>
              </a:spcBef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For all states r1,r2,……</a:t>
            </a:r>
            <a:r>
              <a:rPr lang="en-US" sz="2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rk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 </a:t>
            </a:r>
            <a:endParaRPr lang="en-US"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>
              <a:spcBef>
                <a:spcPts val="0"/>
              </a:spcBef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δ(q0,a,X) = (r,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∈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  then 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[q0 X r]  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</a:p>
          <a:p>
            <a:pPr marL="342900" lvl="0" indent="-342900">
              <a:spcBef>
                <a:spcPts val="0"/>
              </a:spcBef>
            </a:pPr>
            <a:endParaRPr lang="en-US"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indent="-342900">
              <a:spcBef>
                <a:spcPts val="0"/>
              </a:spcBef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δ(q0,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∈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,X) = (r,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∈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then 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[q0 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  r]  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∈</a:t>
            </a:r>
          </a:p>
          <a:p>
            <a:pPr marL="342900" lvl="0" indent="-342900">
              <a:spcBef>
                <a:spcPts val="0"/>
              </a:spcBef>
            </a:pPr>
            <a:endParaRPr lang="en-US"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9" name="Google Shape;1019;p75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PDA to CFG </a:t>
            </a:r>
            <a:endParaRPr dirty="0"/>
          </a:p>
        </p:txBody>
      </p:sp>
      <p:pic>
        <p:nvPicPr>
          <p:cNvPr id="1020" name="Google Shape;1020;p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2316092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75"/>
          <p:cNvSpPr txBox="1">
            <a:spLocks noGrp="1"/>
          </p:cNvSpPr>
          <p:nvPr>
            <p:ph type="body" idx="1"/>
          </p:nvPr>
        </p:nvSpPr>
        <p:spPr>
          <a:xfrm>
            <a:off x="435428" y="934811"/>
            <a:ext cx="8634144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spcBef>
                <a:spcPts val="0"/>
              </a:spcBef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</a:p>
          <a:p>
            <a:pPr marL="342900" lvl="0" indent="-342900">
              <a:spcBef>
                <a:spcPts val="0"/>
              </a:spcBef>
            </a:pPr>
            <a:endParaRPr lang="en-US"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>
              <a:spcBef>
                <a:spcPts val="0"/>
              </a:spcBef>
            </a:pPr>
            <a:endParaRPr lang="en-US"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>
              <a:spcBef>
                <a:spcPts val="0"/>
              </a:spcBef>
            </a:pPr>
            <a:endParaRPr lang="en-US"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9" name="Google Shape;1019;p75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PDA to CFG </a:t>
            </a:r>
            <a:endParaRPr dirty="0"/>
          </a:p>
        </p:txBody>
      </p:sp>
      <p:pic>
        <p:nvPicPr>
          <p:cNvPr id="1020" name="Google Shape;1020;p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8424F34-3535-4FDB-A434-C403536F76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465611" y="400522"/>
            <a:ext cx="45737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832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75"/>
          <p:cNvSpPr txBox="1">
            <a:spLocks noGrp="1"/>
          </p:cNvSpPr>
          <p:nvPr>
            <p:ph type="body" idx="1"/>
          </p:nvPr>
        </p:nvSpPr>
        <p:spPr>
          <a:xfrm>
            <a:off x="435428" y="934811"/>
            <a:ext cx="8634144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spcBef>
                <a:spcPts val="0"/>
              </a:spcBef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Solution:</a:t>
            </a:r>
          </a:p>
          <a:p>
            <a:pPr marL="342900" lvl="0" indent="-342900">
              <a:spcBef>
                <a:spcPts val="0"/>
              </a:spcBef>
            </a:pPr>
            <a:endParaRPr lang="en-US"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>
              <a:spcBef>
                <a:spcPts val="0"/>
              </a:spcBef>
            </a:pPr>
            <a:endParaRPr lang="en-US"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>
              <a:spcBef>
                <a:spcPts val="0"/>
              </a:spcBef>
            </a:pPr>
            <a:endParaRPr lang="en-US"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9" name="Google Shape;1019;p75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39200" cy="507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PDA to CFG </a:t>
            </a:r>
            <a:endParaRPr dirty="0"/>
          </a:p>
        </p:txBody>
      </p:sp>
      <p:pic>
        <p:nvPicPr>
          <p:cNvPr id="1020" name="Google Shape;1020;p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55"/>
            <a:ext cx="1143000" cy="782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B46BD86-92CF-472A-8EC2-212094B067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4229" y="551609"/>
            <a:ext cx="6276541" cy="594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09273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76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</a:t>
            </a:r>
            <a:endParaRPr/>
          </a:p>
        </p:txBody>
      </p:sp>
      <p:sp>
        <p:nvSpPr>
          <p:cNvPr id="1026" name="Google Shape;1026;p76"/>
          <p:cNvSpPr txBox="1">
            <a:spLocks noGrp="1"/>
          </p:cNvSpPr>
          <p:nvPr>
            <p:ph type="body" idx="1"/>
          </p:nvPr>
        </p:nvSpPr>
        <p:spPr>
          <a:xfrm>
            <a:off x="571500" y="1436915"/>
            <a:ext cx="83820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 Free Grammar (CFG) is of great practical importance. 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used for the following purposes-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defining programming languages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parsing the program by constructing a syntax tree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translation of programming languages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describing arithmetic expressions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construction of compilers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27" name="Google Shape;1027;p7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394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77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3" name="Google Shape;1033;p77"/>
          <p:cNvSpPr txBox="1">
            <a:spLocks noGrp="1"/>
          </p:cNvSpPr>
          <p:nvPr>
            <p:ph type="body" idx="1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Thank You…!!!</a:t>
            </a:r>
            <a:endParaRPr sz="4000"/>
          </a:p>
        </p:txBody>
      </p:sp>
      <p:sp>
        <p:nvSpPr>
          <p:cNvPr id="1034" name="Google Shape;1034;p77"/>
          <p:cNvSpPr txBox="1">
            <a:spLocks noGrp="1"/>
          </p:cNvSpPr>
          <p:nvPr>
            <p:ph type="sldNum" idx="12"/>
          </p:nvPr>
        </p:nvSpPr>
        <p:spPr>
          <a:xfrm>
            <a:off x="70866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80</a:t>
            </a:fld>
            <a:endParaRPr/>
          </a:p>
        </p:txBody>
      </p:sp>
      <p:pic>
        <p:nvPicPr>
          <p:cNvPr id="1035" name="Google Shape;1035;p7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394"/>
            <a:ext cx="1143000" cy="78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lass">
  <a:themeElements>
    <a:clrScheme name="clas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5533</Words>
  <Application>Microsoft Office PowerPoint</Application>
  <PresentationFormat>On-screen Show (4:3)</PresentationFormat>
  <Paragraphs>1082</Paragraphs>
  <Slides>80</Slides>
  <Notes>80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7" baseType="lpstr">
      <vt:lpstr>Arial</vt:lpstr>
      <vt:lpstr>Calibri</vt:lpstr>
      <vt:lpstr>Comic Sans MS</vt:lpstr>
      <vt:lpstr>Noto Sans Symbols</vt:lpstr>
      <vt:lpstr>Times New Roman</vt:lpstr>
      <vt:lpstr>Wingdings</vt:lpstr>
      <vt:lpstr>class</vt:lpstr>
      <vt:lpstr>Theory of Computation CSE ( CET2008B)  TY BTech  Unit III CFG and PDA</vt:lpstr>
      <vt:lpstr> Unit- III</vt:lpstr>
      <vt:lpstr>       Course Objectives &amp; Course Outcomes</vt:lpstr>
      <vt:lpstr>Text Books &amp; Reference Books</vt:lpstr>
      <vt:lpstr>Introduction</vt:lpstr>
      <vt:lpstr>Context-Free Languages and Regular Languages</vt:lpstr>
      <vt:lpstr>Formal Definition of a Grammar</vt:lpstr>
      <vt:lpstr>Language for the Grammar</vt:lpstr>
      <vt:lpstr>A Convenient Notation</vt:lpstr>
      <vt:lpstr>Formal Definition-CFG</vt:lpstr>
      <vt:lpstr>PowerPoint Presentation</vt:lpstr>
      <vt:lpstr>PowerPoint Presentation</vt:lpstr>
      <vt:lpstr>PowerPoint Presentation</vt:lpstr>
      <vt:lpstr>PowerPoint Presentation</vt:lpstr>
      <vt:lpstr>Derivation and Parse Trees</vt:lpstr>
      <vt:lpstr>Leftmost and Rightmost Derivation</vt:lpstr>
      <vt:lpstr>Leftmost and Rightmost Derivation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Simplification of Context Free Grammar</vt:lpstr>
      <vt:lpstr>Removal of Useless symbol</vt:lpstr>
      <vt:lpstr>Removal of Useless symbol</vt:lpstr>
      <vt:lpstr>Removal of Unit Production</vt:lpstr>
      <vt:lpstr>Removal of Unit Production</vt:lpstr>
      <vt:lpstr>Removal of ∈ - Production</vt:lpstr>
      <vt:lpstr>Removal of ∈ - Production</vt:lpstr>
      <vt:lpstr>Chomsky Hierarchy</vt:lpstr>
      <vt:lpstr>Chomsky Hierarchy</vt:lpstr>
      <vt:lpstr>Chomsky Hierarchy</vt:lpstr>
      <vt:lpstr>Chomsky Hierarchy</vt:lpstr>
      <vt:lpstr>Normal Forms</vt:lpstr>
      <vt:lpstr>Chomsky Normal Form(CNF)</vt:lpstr>
      <vt:lpstr>Construction of G in CNF</vt:lpstr>
      <vt:lpstr>Reduce to CNF</vt:lpstr>
      <vt:lpstr>Reduce to CNF</vt:lpstr>
      <vt:lpstr>Greibach Normal Form</vt:lpstr>
      <vt:lpstr>Closure properties of CFL</vt:lpstr>
      <vt:lpstr>Push Down Automata</vt:lpstr>
      <vt:lpstr>PowerPoint Presentation</vt:lpstr>
      <vt:lpstr>Pushdown Automaton - PDA</vt:lpstr>
      <vt:lpstr>PowerPoint Presentation</vt:lpstr>
      <vt:lpstr>Formal definition of PDA</vt:lpstr>
      <vt:lpstr>Transition Function</vt:lpstr>
      <vt:lpstr>Instantaneous Description of a PDA</vt:lpstr>
      <vt:lpstr>PowerPoint Presentation</vt:lpstr>
      <vt:lpstr>PowerPoint Presentation</vt:lpstr>
      <vt:lpstr>PowerPoint Presentation</vt:lpstr>
      <vt:lpstr>PowerPoint Presentation</vt:lpstr>
      <vt:lpstr>A PDA Example</vt:lpstr>
      <vt:lpstr>Acceptance by PDA using final state</vt:lpstr>
      <vt:lpstr>Rejection by PDA</vt:lpstr>
      <vt:lpstr>Acceptance by PDA using null store or empty store or empty stack</vt:lpstr>
      <vt:lpstr>Rejection by PDA</vt:lpstr>
      <vt:lpstr>Acceptance by PDA</vt:lpstr>
      <vt:lpstr>PDA for L={anbn | n&gt;0 }</vt:lpstr>
      <vt:lpstr>δ (Transition Function)  by Final State is </vt:lpstr>
      <vt:lpstr>δ (Transition Function)  by Empty stack or Empty store or Null stack is </vt:lpstr>
      <vt:lpstr>Ex: PDA to accept language of palindromes with the marker. i.e. L={xcxr | x ∈ {a,b}*} </vt:lpstr>
      <vt:lpstr>δ (Transition Function)  by Final State is </vt:lpstr>
      <vt:lpstr>δ (Transition Function)  by Empty stack or Empty store or Null stack is </vt:lpstr>
      <vt:lpstr>Examples for practice</vt:lpstr>
      <vt:lpstr>Deterministic and non-deterministic PDA</vt:lpstr>
      <vt:lpstr>DPDA and NPDA</vt:lpstr>
      <vt:lpstr>NPDA and DPDA</vt:lpstr>
      <vt:lpstr>NPDA to accept language of palindromes without  the marker.</vt:lpstr>
      <vt:lpstr>NPDA to accept language of all palindrome strings</vt:lpstr>
      <vt:lpstr>CFG to PDA</vt:lpstr>
      <vt:lpstr>CFG to PDA</vt:lpstr>
      <vt:lpstr>CFG to PDA</vt:lpstr>
      <vt:lpstr>PDA to CFG </vt:lpstr>
      <vt:lpstr>PDA to CFG </vt:lpstr>
      <vt:lpstr>PDA to CFG </vt:lpstr>
      <vt:lpstr>PDA to CFG </vt:lpstr>
      <vt:lpstr>Applications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Theory of Computation TY BTech</dc:title>
  <dc:creator>Costas Busch</dc:creator>
  <cp:lastModifiedBy>Sheetal Girase</cp:lastModifiedBy>
  <cp:revision>13</cp:revision>
  <dcterms:created xsi:type="dcterms:W3CDTF">2000-08-31T01:12:33Z</dcterms:created>
  <dcterms:modified xsi:type="dcterms:W3CDTF">2024-12-06T05:21:21Z</dcterms:modified>
</cp:coreProperties>
</file>