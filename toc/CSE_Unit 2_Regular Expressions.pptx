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89" r:id="rId2"/>
    <p:sldId id="390" r:id="rId3"/>
    <p:sldId id="257" r:id="rId4"/>
    <p:sldId id="379" r:id="rId5"/>
    <p:sldId id="391" r:id="rId6"/>
    <p:sldId id="376" r:id="rId7"/>
    <p:sldId id="386" r:id="rId8"/>
    <p:sldId id="303" r:id="rId9"/>
    <p:sldId id="302" r:id="rId10"/>
    <p:sldId id="381" r:id="rId11"/>
    <p:sldId id="383" r:id="rId12"/>
    <p:sldId id="388" r:id="rId13"/>
    <p:sldId id="306" r:id="rId14"/>
    <p:sldId id="394" r:id="rId15"/>
    <p:sldId id="400" r:id="rId16"/>
    <p:sldId id="401" r:id="rId17"/>
    <p:sldId id="325" r:id="rId18"/>
    <p:sldId id="326" r:id="rId19"/>
    <p:sldId id="327" r:id="rId20"/>
    <p:sldId id="328" r:id="rId21"/>
    <p:sldId id="329" r:id="rId22"/>
    <p:sldId id="330" r:id="rId23"/>
    <p:sldId id="385" r:id="rId24"/>
    <p:sldId id="396" r:id="rId25"/>
    <p:sldId id="332" r:id="rId26"/>
    <p:sldId id="334" r:id="rId27"/>
    <p:sldId id="336" r:id="rId28"/>
    <p:sldId id="339" r:id="rId29"/>
    <p:sldId id="374" r:id="rId30"/>
    <p:sldId id="403" r:id="rId31"/>
    <p:sldId id="404" r:id="rId32"/>
    <p:sldId id="405" r:id="rId33"/>
    <p:sldId id="406" r:id="rId34"/>
    <p:sldId id="407" r:id="rId35"/>
    <p:sldId id="408" r:id="rId36"/>
    <p:sldId id="409" r:id="rId37"/>
    <p:sldId id="410" r:id="rId38"/>
    <p:sldId id="411" r:id="rId39"/>
    <p:sldId id="412" r:id="rId40"/>
    <p:sldId id="413" r:id="rId41"/>
    <p:sldId id="414" r:id="rId42"/>
    <p:sldId id="415" r:id="rId43"/>
    <p:sldId id="416" r:id="rId44"/>
    <p:sldId id="417" r:id="rId45"/>
    <p:sldId id="418" r:id="rId46"/>
    <p:sldId id="419" r:id="rId47"/>
    <p:sldId id="420" r:id="rId48"/>
    <p:sldId id="421" r:id="rId49"/>
    <p:sldId id="422" r:id="rId50"/>
    <p:sldId id="423" r:id="rId51"/>
    <p:sldId id="424" r:id="rId52"/>
    <p:sldId id="425" r:id="rId53"/>
    <p:sldId id="426" r:id="rId54"/>
    <p:sldId id="427" r:id="rId55"/>
    <p:sldId id="428" r:id="rId56"/>
    <p:sldId id="429" r:id="rId57"/>
    <p:sldId id="430" r:id="rId58"/>
    <p:sldId id="431" r:id="rId59"/>
    <p:sldId id="432" r:id="rId60"/>
    <p:sldId id="433" r:id="rId61"/>
  </p:sldIdLst>
  <p:sldSz cx="10693400" cy="75565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290" y="-84"/>
      </p:cViewPr>
      <p:guideLst>
        <p:guide orient="horz" pos="2035"/>
        <p:guide pos="30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DAA08-EC3C-48DC-A861-8BE576887D53}" type="datetimeFigureOut">
              <a:rPr lang="en-US" smtClean="0"/>
              <a:pPr/>
              <a:t>7/2/2019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41388" y="801688"/>
            <a:ext cx="5673725" cy="4010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080000"/>
            <a:ext cx="6045200" cy="4811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49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518AF7-F4AA-46C9-A973-8AAF70DB9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014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518AF7-F4AA-46C9-A973-8AAF70DB919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73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Cpt S 317: Spring 2009</a:t>
            </a:r>
          </a:p>
        </p:txBody>
      </p:sp>
      <p:sp>
        <p:nvSpPr>
          <p:cNvPr id="348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smtClean="0">
                <a:latin typeface="Arial" charset="0"/>
              </a:rPr>
              <a:t>School of EECS, WSU</a:t>
            </a:r>
          </a:p>
        </p:txBody>
      </p:sp>
      <p:sp>
        <p:nvSpPr>
          <p:cNvPr id="348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944A5E-4B63-4D04-B787-FF86800315BD}" type="slidenum">
              <a:rPr lang="en-US" smtClean="0">
                <a:latin typeface="Arial" charset="0"/>
              </a:rPr>
              <a:pPr/>
              <a:t>11</a:t>
            </a:fld>
            <a:endParaRPr lang="en-US" smtClean="0">
              <a:latin typeface="Arial" charset="0"/>
            </a:endParaRPr>
          </a:p>
        </p:txBody>
      </p:sp>
      <p:sp>
        <p:nvSpPr>
          <p:cNvPr id="348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>
              <a:latin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pPr marL="254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70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pPr marL="254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70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1" y="1737995"/>
            <a:ext cx="465162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pPr marL="254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70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pPr marL="254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pPr marL="254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337" y="693599"/>
            <a:ext cx="9218723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0070B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4132" y="1741016"/>
            <a:ext cx="958513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1" y="7027545"/>
            <a:ext cx="245948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798365" y="6948705"/>
            <a:ext cx="287554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25400">
              <a:lnSpc>
                <a:spcPts val="1410"/>
              </a:lnSpc>
            </a:pPr>
            <a:fld id="{81D60167-4931-47E6-BA6A-407CBD079E47}" type="slidenum">
              <a:rPr dirty="0"/>
              <a:pPr marL="25400">
                <a:lnSpc>
                  <a:spcPts val="141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0900" y="3549650"/>
            <a:ext cx="9585133" cy="1508105"/>
          </a:xfrm>
        </p:spPr>
        <p:txBody>
          <a:bodyPr/>
          <a:lstStyle/>
          <a:p>
            <a:pPr algn="ctr"/>
            <a:r>
              <a:rPr lang="en-US" sz="4000" spc="-10" dirty="0">
                <a:solidFill>
                  <a:srgbClr val="0070BF"/>
                </a:solidFill>
                <a:latin typeface="Times New Roman"/>
                <a:ea typeface="+mj-ea"/>
                <a:cs typeface="Times New Roman"/>
              </a:rPr>
              <a:t>Module II </a:t>
            </a:r>
            <a:endParaRPr lang="en-US" sz="4000" spc="-10" dirty="0" smtClean="0">
              <a:solidFill>
                <a:srgbClr val="0070BF"/>
              </a:solidFill>
              <a:latin typeface="Times New Roman"/>
              <a:ea typeface="+mj-ea"/>
              <a:cs typeface="Times New Roman"/>
            </a:endParaRPr>
          </a:p>
          <a:p>
            <a:pPr algn="ctr"/>
            <a:r>
              <a:rPr lang="en-US" sz="4000" spc="-10" dirty="0" smtClean="0">
                <a:solidFill>
                  <a:srgbClr val="0070BF"/>
                </a:solidFill>
                <a:latin typeface="Times New Roman"/>
                <a:ea typeface="+mj-ea"/>
                <a:cs typeface="Times New Roman"/>
              </a:rPr>
              <a:t>Regular </a:t>
            </a:r>
            <a:r>
              <a:rPr lang="en-US" sz="4000" spc="-10" dirty="0">
                <a:solidFill>
                  <a:srgbClr val="0070BF"/>
                </a:solidFill>
                <a:latin typeface="Times New Roman"/>
                <a:ea typeface="+mj-ea"/>
                <a:cs typeface="Times New Roman"/>
              </a:rPr>
              <a:t>Expression</a:t>
            </a:r>
          </a:p>
          <a:p>
            <a:endParaRPr lang="en-US" dirty="0"/>
          </a:p>
        </p:txBody>
      </p:sp>
      <p:sp>
        <p:nvSpPr>
          <p:cNvPr id="4" name="object 4"/>
          <p:cNvSpPr>
            <a:spLocks noGrp="1"/>
          </p:cNvSpPr>
          <p:nvPr>
            <p:ph type="title"/>
          </p:nvPr>
        </p:nvSpPr>
        <p:spPr>
          <a:xfrm>
            <a:off x="737337" y="693599"/>
            <a:ext cx="9218723" cy="19416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07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300" y="474328"/>
            <a:ext cx="7733560" cy="615553"/>
          </a:xfrm>
        </p:spPr>
        <p:txBody>
          <a:bodyPr/>
          <a:lstStyle/>
          <a:p>
            <a:r>
              <a:rPr lang="en-US" spc="-10" dirty="0"/>
              <a:t>Syllabus and Planner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859118"/>
              </p:ext>
            </p:extLst>
          </p:nvPr>
        </p:nvGraphicFramePr>
        <p:xfrm>
          <a:off x="546101" y="1644649"/>
          <a:ext cx="94488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799"/>
                <a:gridCol w="6553200"/>
                <a:gridCol w="1828801"/>
              </a:tblGrid>
              <a:tr h="354978">
                <a:tc>
                  <a:txBody>
                    <a:bodyPr/>
                    <a:lstStyle/>
                    <a:p>
                      <a:r>
                        <a:rPr lang="en-US" dirty="0" smtClean="0"/>
                        <a:t>Lecture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Topic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Book</a:t>
                      </a:r>
                      <a:endParaRPr lang="en-US" dirty="0"/>
                    </a:p>
                  </a:txBody>
                  <a:tcPr/>
                </a:tc>
              </a:tr>
              <a:tr h="875288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Formal definition and Construction of Regular Expression of the given Language,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T1,T2</a:t>
                      </a:r>
                      <a:endParaRPr lang="en-US" dirty="0"/>
                    </a:p>
                  </a:txBody>
                  <a:tcPr/>
                </a:tc>
              </a:tr>
              <a:tr h="875288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Identities of Regular Expressions Construction of Regular Expression of the given Language,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T1,T2</a:t>
                      </a:r>
                      <a:endParaRPr lang="en-US" dirty="0"/>
                    </a:p>
                  </a:txBody>
                  <a:tcPr/>
                </a:tc>
              </a:tr>
              <a:tr h="612702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Construction of Language from the RE,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T2</a:t>
                      </a:r>
                      <a:endParaRPr lang="en-US" dirty="0"/>
                    </a:p>
                  </a:txBody>
                  <a:tcPr/>
                </a:tc>
              </a:tr>
              <a:tr h="875288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FA and RE, DFA to RE Using Arden’s Theorem, Closure properties of RLs, Applications of Regular Expressions,</a:t>
                      </a:r>
                      <a:endParaRPr lang="en-US" dirty="0" smtClean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T2,R3</a:t>
                      </a:r>
                      <a:endParaRPr lang="en-US" dirty="0"/>
                    </a:p>
                  </a:txBody>
                  <a:tcPr/>
                </a:tc>
              </a:tr>
              <a:tr h="61270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RE to DFA (RE to e-NFA to DFA and RE to DFA Direct Method),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T2,R3</a:t>
                      </a:r>
                      <a:endParaRPr lang="en-US" dirty="0"/>
                    </a:p>
                  </a:txBody>
                  <a:tcPr/>
                </a:tc>
              </a:tr>
              <a:tr h="612702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Pumping Lemma for RL, 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12702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Interconversion between Left Linear and Right linear Grammar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object 4"/>
          <p:cNvSpPr/>
          <p:nvPr/>
        </p:nvSpPr>
        <p:spPr>
          <a:xfrm>
            <a:off x="170735" y="224361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636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3900" y="693599"/>
            <a:ext cx="793347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Text Books </a:t>
            </a:r>
            <a:r>
              <a:rPr dirty="0"/>
              <a:t>&amp; </a:t>
            </a:r>
            <a:r>
              <a:rPr spc="-10" dirty="0"/>
              <a:t>Reference</a:t>
            </a:r>
            <a:r>
              <a:rPr spc="-90" dirty="0"/>
              <a:t> </a:t>
            </a:r>
            <a:r>
              <a:rPr spc="-5" dirty="0"/>
              <a:t>Books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4132" y="1741015"/>
            <a:ext cx="9346390" cy="56339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28955" indent="-422909" algn="just">
              <a:lnSpc>
                <a:spcPct val="100000"/>
              </a:lnSpc>
              <a:spcBef>
                <a:spcPts val="475"/>
              </a:spcBef>
              <a:buFont typeface="Arial"/>
              <a:buChar char="•"/>
              <a:tabLst>
                <a:tab pos="528955" algn="l"/>
                <a:tab pos="529590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Text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Books</a:t>
            </a:r>
            <a:endParaRPr sz="1800" dirty="0">
              <a:latin typeface="Times New Roman"/>
              <a:cs typeface="Times New Roman"/>
            </a:endParaRPr>
          </a:p>
          <a:p>
            <a:pPr marL="871855" marR="387350" lvl="1" indent="-401955" algn="just">
              <a:lnSpc>
                <a:spcPct val="101400"/>
              </a:lnSpc>
              <a:spcBef>
                <a:spcPts val="345"/>
              </a:spcBef>
              <a:buFont typeface="Trebuchet MS"/>
              <a:buAutoNum type="arabicPeriod"/>
              <a:tabLst>
                <a:tab pos="414655" algn="l"/>
                <a:tab pos="415290" algn="l"/>
              </a:tabLst>
            </a:pPr>
            <a:r>
              <a:rPr spc="-5" dirty="0">
                <a:latin typeface="Times New Roman"/>
                <a:cs typeface="Times New Roman"/>
              </a:rPr>
              <a:t>Michael Sipser “Introduction to the Theory </a:t>
            </a:r>
            <a:r>
              <a:rPr dirty="0">
                <a:latin typeface="Times New Roman"/>
                <a:cs typeface="Times New Roman"/>
              </a:rPr>
              <a:t>of </a:t>
            </a:r>
            <a:r>
              <a:rPr spc="-5" dirty="0">
                <a:latin typeface="Times New Roman"/>
                <a:cs typeface="Times New Roman"/>
              </a:rPr>
              <a:t>Computation”  CENGAGE Learning, </a:t>
            </a:r>
            <a:r>
              <a:rPr spc="15" dirty="0">
                <a:latin typeface="Times New Roman"/>
                <a:cs typeface="Times New Roman"/>
              </a:rPr>
              <a:t>3</a:t>
            </a:r>
            <a:r>
              <a:rPr spc="22" baseline="30092" dirty="0">
                <a:latin typeface="Times New Roman"/>
                <a:cs typeface="Times New Roman"/>
              </a:rPr>
              <a:t>rd </a:t>
            </a:r>
            <a:r>
              <a:rPr spc="-5" dirty="0">
                <a:latin typeface="Times New Roman"/>
                <a:cs typeface="Times New Roman"/>
              </a:rPr>
              <a:t>Edition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ISBN-13:978-81-315-2529-6</a:t>
            </a:r>
          </a:p>
          <a:p>
            <a:pPr marL="871855" marR="491490" lvl="1" indent="-401955" algn="just">
              <a:lnSpc>
                <a:spcPct val="101400"/>
              </a:lnSpc>
              <a:spcBef>
                <a:spcPts val="345"/>
              </a:spcBef>
              <a:buFont typeface="Trebuchet MS"/>
              <a:buAutoNum type="arabicPeriod"/>
              <a:tabLst>
                <a:tab pos="414655" algn="l"/>
                <a:tab pos="415290" algn="l"/>
              </a:tabLst>
            </a:pPr>
            <a:r>
              <a:rPr spc="-5" dirty="0">
                <a:latin typeface="Times New Roman"/>
                <a:cs typeface="Times New Roman"/>
              </a:rPr>
              <a:t>Vivek Kulkarni, “Theory </a:t>
            </a:r>
            <a:r>
              <a:rPr dirty="0">
                <a:latin typeface="Times New Roman"/>
                <a:cs typeface="Times New Roman"/>
              </a:rPr>
              <a:t>of </a:t>
            </a:r>
            <a:r>
              <a:rPr spc="-5" dirty="0">
                <a:latin typeface="Times New Roman"/>
                <a:cs typeface="Times New Roman"/>
              </a:rPr>
              <a:t>Computation”, Oxford University  </a:t>
            </a:r>
            <a:r>
              <a:rPr spc="-5" dirty="0" smtClean="0">
                <a:latin typeface="Times New Roman"/>
                <a:cs typeface="Times New Roman"/>
              </a:rPr>
              <a:t>Press,</a:t>
            </a:r>
            <a:r>
              <a:rPr lang="en-US" spc="-5" dirty="0" smtClean="0">
                <a:latin typeface="Times New Roman"/>
                <a:cs typeface="Times New Roman"/>
              </a:rPr>
              <a:t> </a:t>
            </a:r>
            <a:r>
              <a:rPr sz="1800" dirty="0" smtClean="0">
                <a:latin typeface="Times New Roman"/>
                <a:cs typeface="Times New Roman"/>
              </a:rPr>
              <a:t>ISBN-13</a:t>
            </a:r>
            <a:r>
              <a:rPr sz="1800">
                <a:latin typeface="Times New Roman"/>
                <a:cs typeface="Times New Roman"/>
              </a:rPr>
              <a:t>:</a:t>
            </a:r>
            <a:r>
              <a:rPr sz="1800" spc="-5">
                <a:latin typeface="Times New Roman"/>
                <a:cs typeface="Times New Roman"/>
              </a:rPr>
              <a:t> </a:t>
            </a:r>
            <a:r>
              <a:rPr sz="1800" smtClean="0">
                <a:latin typeface="Times New Roman"/>
                <a:cs typeface="Times New Roman"/>
              </a:rPr>
              <a:t>978-0-19-808458-7</a:t>
            </a:r>
            <a:endParaRPr lang="en-US" sz="1800" dirty="0" smtClean="0">
              <a:latin typeface="Times New Roman"/>
              <a:cs typeface="Times New Roman"/>
            </a:endParaRPr>
          </a:p>
          <a:p>
            <a:pPr marL="871855" marR="491490" lvl="1" indent="-401955" algn="just">
              <a:lnSpc>
                <a:spcPct val="101400"/>
              </a:lnSpc>
              <a:spcBef>
                <a:spcPts val="345"/>
              </a:spcBef>
              <a:buFont typeface="Trebuchet MS"/>
              <a:buAutoNum type="arabicPeriod"/>
              <a:tabLst>
                <a:tab pos="414655" algn="l"/>
                <a:tab pos="415290" algn="l"/>
              </a:tabLst>
            </a:pPr>
            <a:endParaRPr sz="1800" dirty="0">
              <a:latin typeface="Times New Roman"/>
              <a:cs typeface="Times New Roman"/>
            </a:endParaRPr>
          </a:p>
          <a:p>
            <a:pPr marL="586105" indent="-480059" algn="just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586105" algn="l"/>
                <a:tab pos="586740" algn="l"/>
              </a:tabLst>
            </a:pPr>
            <a:r>
              <a:rPr sz="1800" b="1" spc="-5" dirty="0">
                <a:latin typeface="Times New Roman"/>
                <a:cs typeface="Times New Roman"/>
              </a:rPr>
              <a:t>Reference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Times New Roman"/>
                <a:cs typeface="Times New Roman"/>
              </a:rPr>
              <a:t>Books</a:t>
            </a:r>
            <a:endParaRPr sz="1800" dirty="0">
              <a:latin typeface="Times New Roman"/>
              <a:cs typeface="Times New Roman"/>
            </a:endParaRPr>
          </a:p>
          <a:p>
            <a:pPr marL="986155" marR="81915" lvl="1" indent="-516255" algn="just">
              <a:lnSpc>
                <a:spcPct val="105300"/>
              </a:lnSpc>
              <a:spcBef>
                <a:spcPts val="850"/>
              </a:spcBef>
              <a:buFont typeface="Trebuchet MS"/>
              <a:buAutoNum type="arabicPeriod"/>
              <a:tabLst>
                <a:tab pos="528955" algn="l"/>
                <a:tab pos="529590" algn="l"/>
              </a:tabLst>
            </a:pPr>
            <a:r>
              <a:rPr spc="-5" dirty="0">
                <a:latin typeface="Times New Roman"/>
                <a:cs typeface="Times New Roman"/>
              </a:rPr>
              <a:t>Hopcroft Ulman, “Introduction To Automata Theory, Languages  And Computations”, Pearson Education Asia, </a:t>
            </a:r>
            <a:r>
              <a:rPr spc="25" dirty="0">
                <a:latin typeface="Times New Roman"/>
                <a:cs typeface="Times New Roman"/>
              </a:rPr>
              <a:t>2</a:t>
            </a:r>
            <a:r>
              <a:rPr spc="37" baseline="30092" dirty="0">
                <a:latin typeface="Times New Roman"/>
                <a:cs typeface="Times New Roman"/>
              </a:rPr>
              <a:t>nd</a:t>
            </a:r>
            <a:r>
              <a:rPr spc="-30" baseline="30092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Edition</a:t>
            </a:r>
            <a:endParaRPr dirty="0">
              <a:latin typeface="Times New Roman"/>
              <a:cs typeface="Times New Roman"/>
            </a:endParaRPr>
          </a:p>
          <a:p>
            <a:pPr marL="986155" marR="1111885" lvl="1" indent="-516255" algn="just">
              <a:lnSpc>
                <a:spcPct val="105300"/>
              </a:lnSpc>
              <a:spcBef>
                <a:spcPts val="850"/>
              </a:spcBef>
              <a:buFont typeface="Trebuchet MS"/>
              <a:buAutoNum type="arabicPeriod"/>
              <a:tabLst>
                <a:tab pos="528955" algn="l"/>
                <a:tab pos="529590" algn="l"/>
              </a:tabLst>
            </a:pPr>
            <a:r>
              <a:rPr spc="-5" dirty="0">
                <a:latin typeface="Times New Roman"/>
                <a:cs typeface="Times New Roman"/>
              </a:rPr>
              <a:t>Daniel. A. Cohen, “Introduction to Computer Theory”  Wiley-India,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ISBN:978-81-265-1334-5</a:t>
            </a:r>
          </a:p>
          <a:p>
            <a:pPr marL="986155" marR="5080" lvl="1" indent="-516255" algn="just">
              <a:lnSpc>
                <a:spcPct val="106500"/>
              </a:lnSpc>
              <a:spcBef>
                <a:spcPts val="825"/>
              </a:spcBef>
              <a:buFont typeface="Trebuchet MS"/>
              <a:buAutoNum type="arabicPeriod"/>
              <a:tabLst>
                <a:tab pos="529590" algn="l"/>
              </a:tabLst>
            </a:pPr>
            <a:r>
              <a:rPr spc="-5" dirty="0">
                <a:latin typeface="Times New Roman"/>
                <a:cs typeface="Times New Roman"/>
              </a:rPr>
              <a:t>K.L.P Mishra </a:t>
            </a:r>
            <a:r>
              <a:rPr dirty="0">
                <a:latin typeface="Times New Roman"/>
                <a:cs typeface="Times New Roman"/>
              </a:rPr>
              <a:t>,N. </a:t>
            </a:r>
            <a:r>
              <a:rPr spc="-5" dirty="0">
                <a:latin typeface="Times New Roman"/>
                <a:cs typeface="Times New Roman"/>
              </a:rPr>
              <a:t>Chandrasekaran </a:t>
            </a:r>
            <a:r>
              <a:rPr dirty="0">
                <a:latin typeface="Times New Roman"/>
                <a:cs typeface="Times New Roman"/>
              </a:rPr>
              <a:t>,“Theory </a:t>
            </a:r>
            <a:r>
              <a:rPr spc="-5" dirty="0">
                <a:latin typeface="Times New Roman"/>
                <a:cs typeface="Times New Roman"/>
              </a:rPr>
              <a:t>Of Computer Science  </a:t>
            </a:r>
            <a:r>
              <a:rPr dirty="0">
                <a:latin typeface="Times New Roman"/>
                <a:cs typeface="Times New Roman"/>
              </a:rPr>
              <a:t>(Automata, </a:t>
            </a:r>
            <a:r>
              <a:rPr spc="-5" dirty="0">
                <a:latin typeface="Times New Roman"/>
                <a:cs typeface="Times New Roman"/>
              </a:rPr>
              <a:t>Languages and Computation)”, Prentice Hall </a:t>
            </a:r>
            <a:r>
              <a:rPr spc="10" dirty="0">
                <a:latin typeface="Times New Roman"/>
                <a:cs typeface="Times New Roman"/>
              </a:rPr>
              <a:t>India,2</a:t>
            </a:r>
            <a:r>
              <a:rPr spc="15" baseline="30092" dirty="0">
                <a:latin typeface="Times New Roman"/>
                <a:cs typeface="Times New Roman"/>
              </a:rPr>
              <a:t>nd 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pc="-5" dirty="0">
                <a:latin typeface="Times New Roman"/>
                <a:cs typeface="Times New Roman"/>
              </a:rPr>
              <a:t>Edition</a:t>
            </a:r>
            <a:endParaRPr dirty="0">
              <a:latin typeface="Times New Roman"/>
              <a:cs typeface="Times New Roman"/>
            </a:endParaRPr>
          </a:p>
          <a:p>
            <a:pPr marL="986155" marR="520700" lvl="1" indent="-516255" algn="just">
              <a:lnSpc>
                <a:spcPct val="105300"/>
              </a:lnSpc>
              <a:spcBef>
                <a:spcPts val="850"/>
              </a:spcBef>
              <a:buFont typeface="Trebuchet MS"/>
              <a:buAutoNum type="arabicPeriod"/>
              <a:tabLst>
                <a:tab pos="528955" algn="l"/>
                <a:tab pos="529590" algn="l"/>
              </a:tabLst>
            </a:pPr>
            <a:r>
              <a:rPr spc="-5" dirty="0">
                <a:latin typeface="Times New Roman"/>
                <a:cs typeface="Times New Roman"/>
              </a:rPr>
              <a:t>John C. Martin, “Introduction to Language and Theory </a:t>
            </a:r>
            <a:r>
              <a:rPr dirty="0">
                <a:latin typeface="Times New Roman"/>
                <a:cs typeface="Times New Roman"/>
              </a:rPr>
              <a:t>of  </a:t>
            </a:r>
            <a:r>
              <a:rPr spc="-5" dirty="0">
                <a:latin typeface="Times New Roman"/>
                <a:cs typeface="Times New Roman"/>
              </a:rPr>
              <a:t>Computation”, TMH, </a:t>
            </a:r>
            <a:r>
              <a:rPr spc="15" dirty="0">
                <a:latin typeface="Times New Roman"/>
                <a:cs typeface="Times New Roman"/>
              </a:rPr>
              <a:t>3</a:t>
            </a:r>
            <a:r>
              <a:rPr spc="22" baseline="30092" dirty="0">
                <a:latin typeface="Times New Roman"/>
                <a:cs typeface="Times New Roman"/>
              </a:rPr>
              <a:t>rd  </a:t>
            </a:r>
            <a:r>
              <a:rPr spc="-5" dirty="0">
                <a:latin typeface="Times New Roman"/>
                <a:cs typeface="Times New Roman"/>
              </a:rPr>
              <a:t>Edition </a:t>
            </a:r>
            <a:r>
              <a:rPr dirty="0">
                <a:latin typeface="Times New Roman"/>
                <a:cs typeface="Times New Roman"/>
              </a:rPr>
              <a:t>ISBN: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978-0-07-066048-9</a:t>
            </a:r>
          </a:p>
          <a:p>
            <a:pPr marL="986155" marR="591820" lvl="1" indent="-516255" algn="just">
              <a:lnSpc>
                <a:spcPts val="2140"/>
              </a:lnSpc>
              <a:spcBef>
                <a:spcPts val="1410"/>
              </a:spcBef>
              <a:buFont typeface="Trebuchet MS"/>
              <a:buAutoNum type="arabicPeriod"/>
              <a:tabLst>
                <a:tab pos="528955" algn="l"/>
                <a:tab pos="529590" algn="l"/>
              </a:tabLst>
            </a:pPr>
            <a:r>
              <a:rPr spc="-5" dirty="0">
                <a:latin typeface="Times New Roman"/>
                <a:cs typeface="Times New Roman"/>
              </a:rPr>
              <a:t>Kavi Mahesh, “Theory </a:t>
            </a:r>
            <a:r>
              <a:rPr dirty="0">
                <a:latin typeface="Times New Roman"/>
                <a:cs typeface="Times New Roman"/>
              </a:rPr>
              <a:t>of </a:t>
            </a:r>
            <a:r>
              <a:rPr spc="-5" dirty="0">
                <a:latin typeface="Times New Roman"/>
                <a:cs typeface="Times New Roman"/>
              </a:rPr>
              <a:t>Computation: </a:t>
            </a:r>
            <a:r>
              <a:rPr dirty="0">
                <a:latin typeface="Times New Roman"/>
                <a:cs typeface="Times New Roman"/>
              </a:rPr>
              <a:t>A </a:t>
            </a:r>
            <a:r>
              <a:rPr spc="-5" dirty="0">
                <a:latin typeface="Times New Roman"/>
                <a:cs typeface="Times New Roman"/>
              </a:rPr>
              <a:t>Problem Solving  Approach”, Wiley-India, </a:t>
            </a:r>
            <a:r>
              <a:rPr dirty="0">
                <a:latin typeface="Times New Roman"/>
                <a:cs typeface="Times New Roman"/>
              </a:rPr>
              <a:t>ISBN: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978-81-265-3311-4</a:t>
            </a:r>
          </a:p>
        </p:txBody>
      </p:sp>
      <p:sp>
        <p:nvSpPr>
          <p:cNvPr id="4" name="object 4"/>
          <p:cNvSpPr/>
          <p:nvPr/>
        </p:nvSpPr>
        <p:spPr>
          <a:xfrm>
            <a:off x="170735" y="224361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3900" y="349250"/>
            <a:ext cx="8038360" cy="615553"/>
          </a:xfrm>
        </p:spPr>
        <p:txBody>
          <a:bodyPr/>
          <a:lstStyle/>
          <a:p>
            <a:r>
              <a:rPr lang="en-US" spc="-10" dirty="0"/>
              <a:t>What is Regular expression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77517" y="1353820"/>
            <a:ext cx="9369783" cy="6155531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kern="12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Regular </a:t>
            </a:r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expressions are short notations that can denote complex and infinite regular languages.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kern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In arithmetic, we can use the operations + and × to build up expressions such as </a:t>
            </a:r>
          </a:p>
          <a:p>
            <a:pPr algn="just"/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	(5 + 3) × 4 </a:t>
            </a: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    The value of the arithmetic expression is the number 32. </a:t>
            </a:r>
          </a:p>
          <a:p>
            <a:pPr algn="just"/>
            <a:endParaRPr lang="en-US" sz="2000" kern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Similarly, we can use the regular operations to build up expressions describing languages, which are called </a:t>
            </a:r>
            <a:r>
              <a:rPr lang="en-US" sz="2000" b="1" kern="1200" dirty="0">
                <a:latin typeface="Times New Roman" pitchFamily="18" charset="0"/>
                <a:cs typeface="Times New Roman" pitchFamily="18" charset="0"/>
              </a:rPr>
              <a:t>regular expressions</a:t>
            </a:r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	Example : </a:t>
            </a:r>
            <a:r>
              <a:rPr lang="en-US" sz="2000" b="1" kern="1200" dirty="0">
                <a:latin typeface="Times New Roman" pitchFamily="18" charset="0"/>
                <a:cs typeface="Times New Roman" pitchFamily="18" charset="0"/>
              </a:rPr>
              <a:t>(0 ∪ 1)0∗.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kern="12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kern="1200" dirty="0">
                <a:latin typeface="Times New Roman" pitchFamily="18" charset="0"/>
                <a:cs typeface="Times New Roman" pitchFamily="18" charset="0"/>
              </a:rPr>
              <a:t>value of a regular expression is a </a:t>
            </a:r>
            <a:r>
              <a:rPr lang="en-US" sz="2000" kern="1200" dirty="0" smtClean="0">
                <a:latin typeface="Times New Roman" pitchFamily="18" charset="0"/>
                <a:cs typeface="Times New Roman" pitchFamily="18" charset="0"/>
              </a:rPr>
              <a:t>language: </a:t>
            </a:r>
          </a:p>
          <a:p>
            <a:pPr marL="342900" indent="-342900" algn="just"/>
            <a:r>
              <a:rPr lang="en-US" sz="2000" b="1" kern="12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kern="1200" dirty="0" smtClean="0">
                <a:latin typeface="Times New Roman" pitchFamily="18" charset="0"/>
                <a:cs typeface="Times New Roman" pitchFamily="18" charset="0"/>
              </a:rPr>
              <a:t>language of consisting </a:t>
            </a:r>
            <a:r>
              <a:rPr lang="en-US" b="1" kern="1200" dirty="0">
                <a:latin typeface="Times New Roman" pitchFamily="18" charset="0"/>
                <a:cs typeface="Times New Roman" pitchFamily="18" charset="0"/>
              </a:rPr>
              <a:t>of all strings starting with a 0 or a 1 followed by any number of 0s.</a:t>
            </a:r>
          </a:p>
          <a:p>
            <a:pPr algn="just"/>
            <a:endParaRPr lang="en-US" sz="2000" b="1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dirty="0" smtClean="0"/>
          </a:p>
          <a:p>
            <a:pPr algn="just"/>
            <a:endParaRPr lang="en-US" sz="2000" b="1" dirty="0"/>
          </a:p>
        </p:txBody>
      </p:sp>
      <p:sp>
        <p:nvSpPr>
          <p:cNvPr id="5" name="object 4"/>
          <p:cNvSpPr/>
          <p:nvPr/>
        </p:nvSpPr>
        <p:spPr>
          <a:xfrm>
            <a:off x="170735" y="224361"/>
            <a:ext cx="1213565" cy="1115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1500" y="693599"/>
            <a:ext cx="8114560" cy="615553"/>
          </a:xfrm>
        </p:spPr>
        <p:txBody>
          <a:bodyPr/>
          <a:lstStyle/>
          <a:p>
            <a:r>
              <a:rPr lang="en-US" spc="-10" dirty="0" smtClean="0"/>
              <a:t>Definition of a Regular Expression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99" y="1873250"/>
            <a:ext cx="8610601" cy="486287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Regular expressions over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Σ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include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letters, ∅(empty set) and </a:t>
            </a:r>
            <a:r>
              <a:rPr lang="el-GR" sz="2400" b="1" dirty="0" smtClean="0">
                <a:latin typeface="Times New Roman" pitchFamily="18" charset="0"/>
                <a:cs typeface="Times New Roman" pitchFamily="18" charset="0"/>
              </a:rPr>
              <a:t>ε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(empty string of length zero).</a:t>
            </a:r>
          </a:p>
          <a:p>
            <a:pPr marL="342900" indent="-34290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Every symbol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 € Σ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is a regular expression over Σ.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If R1 and R2 are regular expressions over Σ, then so are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(R1+R2),(R1.R2) and (R1)*</a:t>
            </a: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[Where  ‘+’ indicates union,</a:t>
            </a:r>
          </a:p>
          <a:p>
            <a:pPr marL="342900" indent="-3429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      ‘.’ indicates concatenation,</a:t>
            </a:r>
          </a:p>
          <a:p>
            <a:pPr marL="342900" indent="-34290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      ‘*’ indicates closure or repetitive concatenation]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4. Regular expressions are only those that are obtained using rules1-3.</a:t>
            </a:r>
          </a:p>
          <a:p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100" y="2730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6300" y="501650"/>
            <a:ext cx="7916765" cy="615553"/>
          </a:xfrm>
        </p:spPr>
        <p:txBody>
          <a:bodyPr/>
          <a:lstStyle/>
          <a:p>
            <a:r>
              <a:rPr lang="en-US" sz="4000" spc="-10" dirty="0">
                <a:solidFill>
                  <a:srgbClr val="0070BF"/>
                </a:solidFill>
                <a:latin typeface="Times New Roman"/>
                <a:ea typeface="+mj-ea"/>
                <a:cs typeface="Times New Roman"/>
              </a:rPr>
              <a:t>Operators  of </a:t>
            </a:r>
            <a:r>
              <a:rPr lang="en-US" sz="4000" spc="-10" dirty="0" smtClean="0">
                <a:solidFill>
                  <a:srgbClr val="0070BF"/>
                </a:solidFill>
                <a:latin typeface="Times New Roman"/>
                <a:ea typeface="+mj-ea"/>
                <a:cs typeface="Times New Roman"/>
              </a:rPr>
              <a:t>RE</a:t>
            </a:r>
            <a:endParaRPr lang="en-US" sz="4000" spc="-10" dirty="0">
              <a:solidFill>
                <a:srgbClr val="0070BF"/>
              </a:solidFill>
              <a:latin typeface="Times New Roman"/>
              <a:ea typeface="+mj-ea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841500" y="2025650"/>
            <a:ext cx="7086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:Closure</a:t>
            </a:r>
          </a:p>
          <a:p>
            <a:pPr marL="971550" lvl="1" indent="-514350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if r = a* then L(r) = (€,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a,aa,aaa,aaaa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,….)</a:t>
            </a:r>
          </a:p>
          <a:p>
            <a:pPr marL="971550" lvl="1" indent="-514350">
              <a:buFont typeface="+mj-lt"/>
              <a:buAutoNum type="arabicPeriod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 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:Concatenation</a:t>
            </a:r>
          </a:p>
          <a:p>
            <a:pPr marL="971550" lvl="1" indent="-514350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if r =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L(r) = (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971550" lvl="1" indent="-514350">
              <a:buFont typeface="+mj-lt"/>
              <a:buAutoNum type="arabicPeriod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  The </a:t>
            </a:r>
            <a:r>
              <a:rPr 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:Union</a:t>
            </a:r>
          </a:p>
          <a:p>
            <a:pPr marL="971550" lvl="1" indent="-514350"/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if r =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then L(r) = (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9" name="object 4"/>
          <p:cNvSpPr/>
          <p:nvPr/>
        </p:nvSpPr>
        <p:spPr>
          <a:xfrm>
            <a:off x="170735" y="224361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9100" y="5302250"/>
            <a:ext cx="7620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86565" indent="-586565"/>
            <a:r>
              <a:rPr lang="en-US" sz="2800" dirty="0" smtClean="0"/>
              <a:t> 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654050"/>
            <a:ext cx="8190760" cy="1231106"/>
          </a:xfrm>
        </p:spPr>
        <p:txBody>
          <a:bodyPr/>
          <a:lstStyle/>
          <a:p>
            <a:r>
              <a:rPr lang="en-US" spc="-10" dirty="0"/>
              <a:t>Example2:</a:t>
            </a:r>
            <a:br>
              <a:rPr lang="en-US" spc="-10" dirty="0"/>
            </a:br>
            <a:endParaRPr lang="en-US" spc="-1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4300" y="2101850"/>
            <a:ext cx="8526365" cy="4267200"/>
          </a:xfrm>
        </p:spPr>
        <p:txBody>
          <a:bodyPr/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alphabet Σ be the standard 26 letters {a, b, . . . , z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 = {good, bad} and B = {boy, girl},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∪ B = {good, bad, boy, girl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},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◦ B = {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goodboy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goodgirl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badboy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badgirl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A∗ = {ε, good, bad,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goodgood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badgood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badbad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goodgoodgood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goodgoodbad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goodbadgood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goodbadbad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. . . }.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0735" y="224361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885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700" y="577850"/>
            <a:ext cx="8241030" cy="609599"/>
          </a:xfrm>
        </p:spPr>
        <p:txBody>
          <a:bodyPr>
            <a:noAutofit/>
          </a:bodyPr>
          <a:lstStyle/>
          <a:p>
            <a:r>
              <a:rPr lang="en-US" spc="-10" dirty="0"/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4865" y="1540939"/>
            <a:ext cx="8394390" cy="2154436"/>
          </a:xfrm>
        </p:spPr>
        <p:txBody>
          <a:bodyPr/>
          <a:lstStyle/>
          <a:p>
            <a:pPr marL="586565" indent="-586565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stands for either a or b (parallel)</a:t>
            </a:r>
          </a:p>
          <a:p>
            <a:pPr marL="586565" indent="-586565">
              <a:buFont typeface="+mj-lt"/>
              <a:buAutoNum type="arabicPeriod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stands for a followed by b (series)</a:t>
            </a:r>
          </a:p>
          <a:p>
            <a:pPr marL="586565" indent="-586565">
              <a:buFont typeface="+mj-lt"/>
              <a:buAutoNum type="arabicPeriod"/>
            </a:pP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“a*” stands for any no of occurrences of a(Closure).</a:t>
            </a:r>
          </a:p>
        </p:txBody>
      </p:sp>
      <p:sp>
        <p:nvSpPr>
          <p:cNvPr id="4" name="Oval 3"/>
          <p:cNvSpPr/>
          <p:nvPr/>
        </p:nvSpPr>
        <p:spPr>
          <a:xfrm>
            <a:off x="1158452" y="4785783"/>
            <a:ext cx="740912" cy="6344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r>
              <a:rPr lang="en-US" sz="2700" dirty="0">
                <a:solidFill>
                  <a:schemeClr val="tx1"/>
                </a:solidFill>
              </a:rPr>
              <a:t>q</a:t>
            </a:r>
            <a:r>
              <a:rPr lang="en-US" sz="2700" baseline="-25000" dirty="0">
                <a:solidFill>
                  <a:schemeClr val="tx1"/>
                </a:solidFill>
              </a:rPr>
              <a:t>0</a:t>
            </a:r>
            <a:endParaRPr lang="el-GR" sz="2700" baseline="-250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029797" y="4785783"/>
            <a:ext cx="740912" cy="6344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r>
              <a:rPr lang="en-US" sz="2700" dirty="0">
                <a:solidFill>
                  <a:schemeClr val="tx1"/>
                </a:solidFill>
              </a:rPr>
              <a:t>q</a:t>
            </a:r>
            <a:r>
              <a:rPr lang="en-US" sz="2700" baseline="-25000" dirty="0">
                <a:solidFill>
                  <a:schemeClr val="tx1"/>
                </a:solidFill>
              </a:rPr>
              <a:t>1</a:t>
            </a:r>
            <a:endParaRPr lang="el-GR" sz="2700" baseline="-25000" dirty="0">
              <a:solidFill>
                <a:schemeClr val="tx1"/>
              </a:solidFill>
            </a:endParaRPr>
          </a:p>
        </p:txBody>
      </p:sp>
      <p:cxnSp>
        <p:nvCxnSpPr>
          <p:cNvPr id="6" name="Shape 14"/>
          <p:cNvCxnSpPr>
            <a:stCxn id="4" idx="0"/>
            <a:endCxn id="5" idx="0"/>
          </p:cNvCxnSpPr>
          <p:nvPr/>
        </p:nvCxnSpPr>
        <p:spPr>
          <a:xfrm rot="5400000" flipH="1" flipV="1">
            <a:off x="2464634" y="3850111"/>
            <a:ext cx="1750" cy="1871345"/>
          </a:xfrm>
          <a:prstGeom prst="curvedConnector3">
            <a:avLst>
              <a:gd name="adj1" fmla="val 14395466"/>
            </a:avLst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16903" y="4114095"/>
            <a:ext cx="394939" cy="566961"/>
          </a:xfrm>
          <a:prstGeom prst="rect">
            <a:avLst/>
          </a:prstGeom>
          <a:noFill/>
          <a:ln>
            <a:noFill/>
          </a:ln>
        </p:spPr>
        <p:txBody>
          <a:bodyPr wrap="none" lIns="104278" tIns="52139" rIns="104278" bIns="52139" rtlCol="0">
            <a:spAutoFit/>
          </a:bodyPr>
          <a:lstStyle/>
          <a:p>
            <a:r>
              <a:rPr lang="en-US" sz="3000" dirty="0"/>
              <a:t>a</a:t>
            </a:r>
            <a:endParaRPr lang="el-GR" sz="3000" dirty="0"/>
          </a:p>
        </p:txBody>
      </p:sp>
      <p:sp>
        <p:nvSpPr>
          <p:cNvPr id="18" name="TextBox 17"/>
          <p:cNvSpPr txBox="1"/>
          <p:nvPr/>
        </p:nvSpPr>
        <p:spPr>
          <a:xfrm>
            <a:off x="2227792" y="5709356"/>
            <a:ext cx="412571" cy="566961"/>
          </a:xfrm>
          <a:prstGeom prst="rect">
            <a:avLst/>
          </a:prstGeom>
          <a:noFill/>
          <a:ln>
            <a:noFill/>
          </a:ln>
        </p:spPr>
        <p:txBody>
          <a:bodyPr wrap="none" lIns="104278" tIns="52139" rIns="104278" bIns="52139" rtlCol="0">
            <a:spAutoFit/>
          </a:bodyPr>
          <a:lstStyle/>
          <a:p>
            <a:r>
              <a:rPr lang="en-US" sz="3000" dirty="0"/>
              <a:t>b</a:t>
            </a:r>
            <a:endParaRPr lang="el-GR" sz="3000" dirty="0"/>
          </a:p>
        </p:txBody>
      </p:sp>
      <p:cxnSp>
        <p:nvCxnSpPr>
          <p:cNvPr id="19" name="Shape 14"/>
          <p:cNvCxnSpPr>
            <a:stCxn id="4" idx="4"/>
            <a:endCxn id="5" idx="4"/>
          </p:cNvCxnSpPr>
          <p:nvPr/>
        </p:nvCxnSpPr>
        <p:spPr>
          <a:xfrm rot="16200000" flipH="1">
            <a:off x="2464634" y="4484517"/>
            <a:ext cx="1750" cy="1871345"/>
          </a:xfrm>
          <a:prstGeom prst="curvedConnector3">
            <a:avLst>
              <a:gd name="adj1" fmla="val 14395466"/>
            </a:avLst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722919" y="4785783"/>
            <a:ext cx="740912" cy="6344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r>
              <a:rPr lang="en-US" sz="2700" dirty="0">
                <a:solidFill>
                  <a:schemeClr val="tx1"/>
                </a:solidFill>
              </a:rPr>
              <a:t>q</a:t>
            </a:r>
            <a:r>
              <a:rPr lang="en-US" sz="2700" baseline="-25000" dirty="0">
                <a:solidFill>
                  <a:schemeClr val="tx1"/>
                </a:solidFill>
              </a:rPr>
              <a:t>0</a:t>
            </a:r>
            <a:endParaRPr lang="el-GR" sz="2700" baseline="-25000" dirty="0">
              <a:solidFill>
                <a:schemeClr val="tx1"/>
              </a:solidFill>
            </a:endParaRPr>
          </a:p>
        </p:txBody>
      </p:sp>
      <p:sp>
        <p:nvSpPr>
          <p:cNvPr id="29" name="Oval 28"/>
          <p:cNvSpPr/>
          <p:nvPr/>
        </p:nvSpPr>
        <p:spPr>
          <a:xfrm>
            <a:off x="6059594" y="4785783"/>
            <a:ext cx="740912" cy="6344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r>
              <a:rPr lang="en-US" sz="2700" dirty="0">
                <a:solidFill>
                  <a:schemeClr val="tx1"/>
                </a:solidFill>
              </a:rPr>
              <a:t>q</a:t>
            </a:r>
            <a:r>
              <a:rPr lang="en-US" sz="2700" baseline="-25000" dirty="0">
                <a:solidFill>
                  <a:schemeClr val="tx1"/>
                </a:solidFill>
              </a:rPr>
              <a:t>1</a:t>
            </a:r>
            <a:endParaRPr lang="el-GR" sz="2700" baseline="-25000" dirty="0">
              <a:solidFill>
                <a:schemeClr val="tx1"/>
              </a:solidFill>
            </a:endParaRPr>
          </a:p>
        </p:txBody>
      </p:sp>
      <p:sp>
        <p:nvSpPr>
          <p:cNvPr id="30" name="Oval 29"/>
          <p:cNvSpPr/>
          <p:nvPr/>
        </p:nvSpPr>
        <p:spPr>
          <a:xfrm>
            <a:off x="7307157" y="4806174"/>
            <a:ext cx="740912" cy="6344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r>
              <a:rPr lang="en-US" sz="2700" dirty="0">
                <a:solidFill>
                  <a:schemeClr val="tx1"/>
                </a:solidFill>
              </a:rPr>
              <a:t>q</a:t>
            </a:r>
            <a:r>
              <a:rPr lang="en-US" sz="2700" baseline="-25000" dirty="0">
                <a:solidFill>
                  <a:schemeClr val="tx1"/>
                </a:solidFill>
              </a:rPr>
              <a:t>2</a:t>
            </a:r>
            <a:endParaRPr lang="el-GR" sz="2700" baseline="-250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>
            <a:stCxn id="21" idx="6"/>
            <a:endCxn id="29" idx="2"/>
          </p:cNvCxnSpPr>
          <p:nvPr/>
        </p:nvCxnSpPr>
        <p:spPr>
          <a:xfrm>
            <a:off x="5463831" y="5102987"/>
            <a:ext cx="595763" cy="1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9" idx="6"/>
          </p:cNvCxnSpPr>
          <p:nvPr/>
        </p:nvCxnSpPr>
        <p:spPr>
          <a:xfrm>
            <a:off x="6800505" y="5102987"/>
            <a:ext cx="478633" cy="203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524923" y="4701823"/>
            <a:ext cx="394939" cy="566961"/>
          </a:xfrm>
          <a:prstGeom prst="rect">
            <a:avLst/>
          </a:prstGeom>
          <a:noFill/>
          <a:ln>
            <a:noFill/>
          </a:ln>
        </p:spPr>
        <p:txBody>
          <a:bodyPr wrap="none" lIns="104278" tIns="52139" rIns="104278" bIns="52139" rtlCol="0">
            <a:spAutoFit/>
          </a:bodyPr>
          <a:lstStyle/>
          <a:p>
            <a:r>
              <a:rPr lang="en-US" sz="3000" dirty="0"/>
              <a:t>a</a:t>
            </a:r>
            <a:endParaRPr lang="el-GR" sz="3000" dirty="0"/>
          </a:p>
        </p:txBody>
      </p:sp>
      <p:sp>
        <p:nvSpPr>
          <p:cNvPr id="37" name="TextBox 36"/>
          <p:cNvSpPr txBox="1"/>
          <p:nvPr/>
        </p:nvSpPr>
        <p:spPr>
          <a:xfrm>
            <a:off x="6869700" y="4724722"/>
            <a:ext cx="412571" cy="566961"/>
          </a:xfrm>
          <a:prstGeom prst="rect">
            <a:avLst/>
          </a:prstGeom>
          <a:noFill/>
          <a:ln>
            <a:noFill/>
          </a:ln>
        </p:spPr>
        <p:txBody>
          <a:bodyPr wrap="none" lIns="104278" tIns="52139" rIns="104278" bIns="52139" rtlCol="0">
            <a:spAutoFit/>
          </a:bodyPr>
          <a:lstStyle/>
          <a:p>
            <a:r>
              <a:rPr lang="en-US" sz="3000" dirty="0"/>
              <a:t>b</a:t>
            </a:r>
            <a:endParaRPr lang="el-GR" sz="3000" dirty="0"/>
          </a:p>
        </p:txBody>
      </p:sp>
      <p:sp>
        <p:nvSpPr>
          <p:cNvPr id="38" name="Oval 37"/>
          <p:cNvSpPr/>
          <p:nvPr/>
        </p:nvSpPr>
        <p:spPr>
          <a:xfrm>
            <a:off x="8911167" y="4785783"/>
            <a:ext cx="740912" cy="6344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278" tIns="52139" rIns="104278" bIns="52139" rtlCol="0" anchor="ctr"/>
          <a:lstStyle/>
          <a:p>
            <a:pPr algn="ctr"/>
            <a:r>
              <a:rPr lang="en-US" sz="2700" dirty="0">
                <a:solidFill>
                  <a:schemeClr val="tx1"/>
                </a:solidFill>
              </a:rPr>
              <a:t>q</a:t>
            </a:r>
            <a:r>
              <a:rPr lang="en-US" sz="2700" baseline="-25000" dirty="0">
                <a:solidFill>
                  <a:schemeClr val="tx1"/>
                </a:solidFill>
              </a:rPr>
              <a:t>0</a:t>
            </a:r>
            <a:endParaRPr lang="el-GR" sz="2700" baseline="-25000" dirty="0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45836" y="4198056"/>
            <a:ext cx="403419" cy="566961"/>
          </a:xfrm>
          <a:prstGeom prst="rect">
            <a:avLst/>
          </a:prstGeom>
          <a:noFill/>
          <a:ln>
            <a:noFill/>
          </a:ln>
        </p:spPr>
        <p:txBody>
          <a:bodyPr wrap="square" lIns="104278" tIns="52139" rIns="104278" bIns="52139" rtlCol="0">
            <a:spAutoFit/>
          </a:bodyPr>
          <a:lstStyle/>
          <a:p>
            <a:r>
              <a:rPr lang="en-US" sz="3000" dirty="0"/>
              <a:t>a</a:t>
            </a:r>
            <a:endParaRPr lang="el-GR" sz="3000" dirty="0"/>
          </a:p>
        </p:txBody>
      </p:sp>
      <p:cxnSp>
        <p:nvCxnSpPr>
          <p:cNvPr id="48" name="Shape 14"/>
          <p:cNvCxnSpPr/>
          <p:nvPr/>
        </p:nvCxnSpPr>
        <p:spPr>
          <a:xfrm rot="5400000" flipH="1" flipV="1">
            <a:off x="9261355" y="4692629"/>
            <a:ext cx="1750" cy="523903"/>
          </a:xfrm>
          <a:prstGeom prst="curvedConnector3">
            <a:avLst>
              <a:gd name="adj1" fmla="val 30174632"/>
            </a:avLst>
          </a:prstGeom>
          <a:ln w="317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97613" y="6455648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(1)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919862" y="627098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(2)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040855" y="6276317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(3)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5300" y="302610"/>
            <a:ext cx="8393430" cy="479495"/>
          </a:xfrm>
        </p:spPr>
        <p:txBody>
          <a:bodyPr>
            <a:noAutofit/>
          </a:bodyPr>
          <a:lstStyle/>
          <a:p>
            <a:r>
              <a:rPr lang="en-US" sz="3600" spc="-10" dirty="0"/>
              <a:t>Precedence of Regular Expression operators</a:t>
            </a:r>
            <a:br>
              <a:rPr lang="en-US" sz="3600" spc="-10" dirty="0"/>
            </a:br>
            <a:endParaRPr lang="en-US" sz="3600" spc="-1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900" y="1339850"/>
            <a:ext cx="8926830" cy="5628922"/>
          </a:xfrm>
        </p:spPr>
        <p:txBody>
          <a:bodyPr>
            <a:normAutofit/>
          </a:bodyPr>
          <a:lstStyle/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:Closure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:Concatenation</a:t>
            </a:r>
          </a:p>
          <a:p>
            <a:pPr lvl="1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 :Union</a:t>
            </a:r>
          </a:p>
          <a:p>
            <a:pPr lvl="1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</a:t>
            </a:r>
          </a:p>
          <a:p>
            <a:pPr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01*+1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grouped as  (0(1*))+1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plus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strings consisting of a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any no of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1’s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(01)*+1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strings consisting of 1 plus zero or more occurrences of 01.</a:t>
            </a:r>
          </a:p>
          <a:p>
            <a:pPr>
              <a:buNone/>
            </a:pP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0(1*+1)</a:t>
            </a:r>
          </a:p>
          <a:p>
            <a:pPr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all strings starting with 0 followed by any no of 1’s.</a:t>
            </a:r>
          </a:p>
        </p:txBody>
      </p:sp>
      <p:sp>
        <p:nvSpPr>
          <p:cNvPr id="4" name="object 4"/>
          <p:cNvSpPr/>
          <p:nvPr/>
        </p:nvSpPr>
        <p:spPr>
          <a:xfrm>
            <a:off x="170735" y="224361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4900" y="393700"/>
            <a:ext cx="8012430" cy="453040"/>
          </a:xfrm>
        </p:spPr>
        <p:txBody>
          <a:bodyPr>
            <a:noAutofit/>
          </a:bodyPr>
          <a:lstStyle/>
          <a:p>
            <a:r>
              <a:rPr lang="en-US" sz="3600" dirty="0"/>
              <a:t>Identities of 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7565" y="1416050"/>
            <a:ext cx="8703865" cy="5715000"/>
          </a:xfrm>
        </p:spPr>
        <p:txBody>
          <a:bodyPr>
            <a:normAutofit/>
          </a:bodyPr>
          <a:lstStyle/>
          <a:p>
            <a:pPr marL="586565" indent="-586565">
              <a:buFont typeface="+mj-lt"/>
              <a:buAutoNum type="arabicPeriod"/>
            </a:pP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 U 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</a:p>
          <a:p>
            <a:pPr marL="586565" indent="-586565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Adding the empty language to any other language will not change it.</a:t>
            </a:r>
          </a:p>
          <a:p>
            <a:pPr marL="586565" indent="-586565">
              <a:buAutoNum type="arabicPeriod" startAt="2"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>
              <a:buAutoNum type="arabicPeriod" startAt="2"/>
            </a:pP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Φ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R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if R = 0, then L(R) = {0} but L(R ◦ ∅) = ∅.</a:t>
            </a:r>
          </a:p>
          <a:p>
            <a:pPr marL="586565" indent="-586565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	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 R =R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=R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/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Joining the empty string to any string will not change it</a:t>
            </a:r>
          </a:p>
          <a:p>
            <a:pPr marL="586565" indent="-586565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€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*=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€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*=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€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pt-BR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86565" indent="-586565"/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	R + R =  R</a:t>
            </a:r>
          </a:p>
          <a:p>
            <a:pPr marL="586565" indent="-586565"/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	R*R *= R*</a:t>
            </a:r>
          </a:p>
          <a:p>
            <a:pPr marL="586565" indent="-586565"/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	RR* = R*R</a:t>
            </a:r>
          </a:p>
          <a:p>
            <a:pPr marL="586565" indent="-586565"/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	(R*)=R*</a:t>
            </a:r>
          </a:p>
          <a:p>
            <a:pPr marL="586565" indent="-586565"/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	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€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RR *= R*=</a:t>
            </a:r>
            <a:r>
              <a:rPr lang="el-G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€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+R*</a:t>
            </a:r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  <a:p>
            <a:pPr marL="586565" indent="-586565"/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	(PQ*)P = P(QP)*</a:t>
            </a:r>
          </a:p>
          <a:p>
            <a:pPr marL="586565" indent="-586565"/>
            <a:r>
              <a:rPr lang="pt-BR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	(P + Q)* = (P*Q*)* = (p*+Q*)*</a:t>
            </a:r>
          </a:p>
          <a:p>
            <a:pPr marL="586565" indent="-586565"/>
            <a:r>
              <a:rPr lang="pt-BR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	(P+Q)R=PR+QR   and R(P+Q)=RP+RQ</a:t>
            </a:r>
          </a:p>
          <a:p>
            <a:pPr marL="586565" indent="-586565">
              <a:buFont typeface="+mj-lt"/>
              <a:buAutoNum type="arabicPeriod"/>
            </a:pPr>
            <a:endParaRPr lang="pt-BR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  <a:noFill/>
        </p:spPr>
        <p:txBody>
          <a:bodyPr lIns="104278" tIns="52139" rIns="104278" bIns="52139"/>
          <a:lstStyle/>
          <a:p>
            <a:fld id="{586DE76C-AA0E-4C27-992B-E421D468ABF1}" type="slidenum">
              <a:rPr lang="en-US" smtClean="0">
                <a:latin typeface="Arial" charset="0"/>
              </a:rPr>
              <a:pPr/>
              <a:t>11</a:t>
            </a:fld>
            <a:endParaRPr lang="en-US" smtClean="0">
              <a:latin typeface="Arial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1612900" y="693599"/>
            <a:ext cx="8343160" cy="615553"/>
          </a:xfrm>
        </p:spPr>
        <p:txBody>
          <a:bodyPr/>
          <a:lstStyle/>
          <a:p>
            <a:pPr eaLnBrk="1" hangingPunct="1"/>
            <a:r>
              <a:rPr lang="en-US" dirty="0" smtClean="0"/>
              <a:t>Examples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84300" y="2101850"/>
            <a:ext cx="8754965" cy="4902881"/>
          </a:xfrm>
        </p:spPr>
        <p:txBody>
          <a:bodyPr/>
          <a:lstStyle/>
          <a:p>
            <a:pPr marL="695188" indent="-695188">
              <a:lnSpc>
                <a:spcPct val="90000"/>
              </a:lnSpc>
            </a:pPr>
            <a:r>
              <a:rPr lang="en-US" sz="3200" dirty="0" smtClean="0"/>
              <a:t>True or False?</a:t>
            </a:r>
          </a:p>
          <a:p>
            <a:pPr marL="695188" indent="-695188">
              <a:lnSpc>
                <a:spcPct val="90000"/>
              </a:lnSpc>
            </a:pPr>
            <a:endParaRPr lang="en-US" sz="3200" dirty="0" smtClean="0"/>
          </a:p>
          <a:p>
            <a:pPr marL="695188" indent="-695188">
              <a:lnSpc>
                <a:spcPct val="90000"/>
              </a:lnSpc>
            </a:pPr>
            <a:r>
              <a:rPr lang="en-US" sz="3200" dirty="0" smtClean="0"/>
              <a:t>Let R and S be two regular expressions. Then:</a:t>
            </a:r>
          </a:p>
          <a:p>
            <a:pPr marL="695188" indent="-695188">
              <a:lnSpc>
                <a:spcPct val="90000"/>
              </a:lnSpc>
            </a:pPr>
            <a:endParaRPr lang="en-US" sz="3200" dirty="0" smtClean="0"/>
          </a:p>
          <a:p>
            <a:pPr marL="1129680" lvl="1" indent="-608289">
              <a:lnSpc>
                <a:spcPct val="90000"/>
              </a:lnSpc>
              <a:buFont typeface="Arial" charset="0"/>
              <a:buAutoNum type="arabicPeriod"/>
            </a:pPr>
            <a:r>
              <a:rPr lang="en-US" sz="2700" dirty="0" smtClean="0"/>
              <a:t>((R*)*)* = R*			?</a:t>
            </a:r>
          </a:p>
          <a:p>
            <a:pPr marL="1129680" lvl="1" indent="-608289">
              <a:lnSpc>
                <a:spcPct val="90000"/>
              </a:lnSpc>
              <a:buFont typeface="Arial" charset="0"/>
              <a:buAutoNum type="arabicPeriod"/>
            </a:pPr>
            <a:endParaRPr lang="en-US" sz="2700" dirty="0" smtClean="0"/>
          </a:p>
          <a:p>
            <a:pPr marL="1129680" lvl="1" indent="-608289">
              <a:lnSpc>
                <a:spcPct val="90000"/>
              </a:lnSpc>
              <a:buFont typeface="Arial" charset="0"/>
              <a:buAutoNum type="arabicPeriod"/>
            </a:pPr>
            <a:r>
              <a:rPr lang="en-US" sz="2700" dirty="0" smtClean="0"/>
              <a:t>(R+S)* = R* + S*			?</a:t>
            </a:r>
          </a:p>
          <a:p>
            <a:pPr marL="1129680" lvl="1" indent="-608289">
              <a:lnSpc>
                <a:spcPct val="90000"/>
              </a:lnSpc>
              <a:buFont typeface="Arial" charset="0"/>
              <a:buAutoNum type="arabicPeriod"/>
            </a:pPr>
            <a:endParaRPr lang="en-US" sz="2700" dirty="0" smtClean="0"/>
          </a:p>
          <a:p>
            <a:pPr marL="1129680" lvl="1" indent="-608289">
              <a:lnSpc>
                <a:spcPct val="90000"/>
              </a:lnSpc>
              <a:buFont typeface="Arial" charset="0"/>
              <a:buAutoNum type="arabicPeriod"/>
            </a:pPr>
            <a:endParaRPr lang="en-US" sz="2700" dirty="0" smtClean="0"/>
          </a:p>
          <a:p>
            <a:pPr marL="1129680" lvl="1" indent="-608289">
              <a:lnSpc>
                <a:spcPct val="90000"/>
              </a:lnSpc>
              <a:buFont typeface="Arial" charset="0"/>
              <a:buAutoNum type="arabicPeriod"/>
            </a:pPr>
            <a:endParaRPr lang="en-US" sz="2700" dirty="0" smtClean="0"/>
          </a:p>
          <a:p>
            <a:pPr marL="695188" indent="-695188">
              <a:lnSpc>
                <a:spcPct val="90000"/>
              </a:lnSpc>
              <a:buFont typeface="Arial" charset="0"/>
              <a:buAutoNum type="arabicPeriod"/>
            </a:pPr>
            <a:endParaRPr lang="en-US" sz="3200" dirty="0" smtClean="0"/>
          </a:p>
          <a:p>
            <a:pPr marL="695188" indent="-695188">
              <a:lnSpc>
                <a:spcPct val="90000"/>
              </a:lnSpc>
              <a:buFont typeface="Arial" charset="0"/>
              <a:buAutoNum type="arabicPeriod"/>
            </a:pPr>
            <a:endParaRPr lang="en-US" sz="3200" dirty="0" smtClean="0"/>
          </a:p>
        </p:txBody>
      </p:sp>
      <p:sp>
        <p:nvSpPr>
          <p:cNvPr id="5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7700" y="425451"/>
            <a:ext cx="8038360" cy="557744"/>
          </a:xfrm>
        </p:spPr>
        <p:txBody>
          <a:bodyPr/>
          <a:lstStyle/>
          <a:p>
            <a:r>
              <a:rPr lang="en-US" sz="3600" spc="-10" dirty="0"/>
              <a:t>Construction of RE from regular Language</a:t>
            </a:r>
            <a:br>
              <a:rPr lang="en-US" sz="3600" spc="-10" dirty="0"/>
            </a:br>
            <a:endParaRPr lang="en-US" sz="3600" spc="-1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6700" y="1263650"/>
            <a:ext cx="8532000" cy="6019800"/>
          </a:xfrm>
        </p:spPr>
        <p:txBody>
          <a:bodyPr/>
          <a:lstStyle/>
          <a:p>
            <a:pPr indent="-385613">
              <a:lnSpc>
                <a:spcPct val="90000"/>
              </a:lnSpc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 All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of 0’s and 1’s</a:t>
            </a:r>
          </a:p>
          <a:p>
            <a:pPr indent="-385613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+ 1)*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indent="-385613">
              <a:lnSpc>
                <a:spcPct val="9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indent="-385613">
              <a:lnSpc>
                <a:spcPct val="90000"/>
              </a:lnSpc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by any number 1’s</a:t>
            </a:r>
          </a:p>
          <a:p>
            <a:pPr indent="-385613">
              <a:lnSpc>
                <a:spcPct val="90000"/>
              </a:lnSpc>
              <a:defRPr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01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	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L={01, 10} </a:t>
            </a:r>
          </a:p>
          <a:p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01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 10 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The language of all binary strings over ∑={0,1} starting with 01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01(0+1)*</a:t>
            </a:r>
          </a:p>
          <a:p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  The language of all binary strings ending at 01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(0+1)*01.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   The language of all binary strings having substring 01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(0+1)*01(0+1)*</a:t>
            </a:r>
          </a:p>
          <a:p>
            <a:endParaRPr 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85613">
              <a:lnSpc>
                <a:spcPct val="90000"/>
              </a:lnSpc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l-GR" sz="2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5613" indent="-385613">
              <a:lnSpc>
                <a:spcPct val="90000"/>
              </a:lnSpc>
              <a:defRPr/>
            </a:pPr>
            <a:endParaRPr lang="en-US" sz="27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891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54864" y="1568450"/>
            <a:ext cx="8703865" cy="5400322"/>
          </a:xfrm>
        </p:spPr>
        <p:txBody>
          <a:bodyPr>
            <a:normAutofit lnSpcReduction="10000"/>
          </a:bodyPr>
          <a:lstStyle/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If L(r) ={</a:t>
            </a:r>
            <a:r>
              <a:rPr lang="en-US" sz="2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aaa,aab,aba,abb,baa,bab,bba,bbb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find r.    </a:t>
            </a:r>
          </a:p>
          <a:p>
            <a:pPr eaLnBrk="1" hangingPunct="1"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29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</a:t>
            </a:r>
            <a:r>
              <a:rPr 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sz="29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)3</a:t>
            </a:r>
          </a:p>
          <a:p>
            <a:pPr eaLnBrk="1" hangingPunct="1"/>
            <a:endParaRPr lang="en-US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If L(r) ={</a:t>
            </a:r>
            <a:r>
              <a:rPr lang="en-US" sz="2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a,c,ab,cb,abb,cbb,abbb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….} find r.    </a:t>
            </a:r>
          </a:p>
          <a:p>
            <a:pPr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9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Ans:(a+c).b*</a:t>
            </a:r>
          </a:p>
          <a:p>
            <a:endParaRPr lang="en-US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 If L(r) ={€,</a:t>
            </a:r>
            <a:r>
              <a:rPr lang="en-US" sz="2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x,xx,xxx,xxxx,xxxxx</a:t>
            </a: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 find r. </a:t>
            </a:r>
          </a:p>
          <a:p>
            <a:pPr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9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Ans:(€+x) (€+x) (€+x) (€+x) (€+x)</a:t>
            </a:r>
          </a:p>
          <a:p>
            <a:pPr>
              <a:buNone/>
            </a:pPr>
            <a:endParaRPr lang="en-US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The set of all strings of 0’s and 1’s such that the tenth    symbol from the right is 1.</a:t>
            </a:r>
          </a:p>
          <a:p>
            <a:pPr>
              <a:buNone/>
            </a:pPr>
            <a:r>
              <a:rPr lang="en-U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sz="29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0+1)*.1.(0+1)</a:t>
            </a:r>
            <a:r>
              <a:rPr lang="en-US" sz="2900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  <a:p>
            <a:pPr>
              <a:buNone/>
            </a:pPr>
            <a:endParaRPr lang="en-US" sz="2900" baseline="30000" dirty="0" err="1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buNone/>
            </a:pPr>
            <a:endParaRPr lang="en-US" sz="3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2730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841500" y="693599"/>
            <a:ext cx="8114560" cy="615553"/>
          </a:xfrm>
        </p:spPr>
        <p:txBody>
          <a:bodyPr>
            <a:noAutofit/>
          </a:bodyPr>
          <a:lstStyle/>
          <a:p>
            <a:r>
              <a:rPr lang="en-US" spc="-10" dirty="0"/>
              <a:t>Continued…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2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8100" y="1511300"/>
            <a:ext cx="8850630" cy="5793317"/>
          </a:xfrm>
        </p:spPr>
        <p:txBody>
          <a:bodyPr>
            <a:normAutofit/>
          </a:bodyPr>
          <a:lstStyle/>
          <a:p>
            <a:pPr marL="342900" indent="-342900" eaLnBrk="1" hangingPunct="1">
              <a:lnSpc>
                <a:spcPct val="90000"/>
              </a:lnSpc>
              <a:buFont typeface="Wingdings" pitchFamily="2" charset="2"/>
              <a:buAutoNum type="arabicParenR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(0|1)*011</a:t>
            </a:r>
          </a:p>
          <a:p>
            <a:pPr marL="342900" indent="-342900" eaLnBrk="1" hangingPunct="1">
              <a:lnSpc>
                <a:spcPct val="90000"/>
              </a:lnSpc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all strings of 0’s and 1’s ending in 011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2) 0*1*2*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any number of 0’s followed by any number of 1’s followed by any number of 2’s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3) 00*11*22*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strings in 0*1*2 with at least one of each  symbol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4)(0*1*)*000(0+1)*</a:t>
            </a:r>
          </a:p>
          <a:p>
            <a:pPr>
              <a:lnSpc>
                <a:spcPct val="90000"/>
              </a:lnSpc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strings  with 3 consecutive 0’s.</a:t>
            </a:r>
          </a:p>
          <a:p>
            <a:pPr>
              <a:lnSpc>
                <a:spcPct val="90000"/>
              </a:lnSpc>
              <a:buNone/>
            </a:pPr>
            <a:endParaRPr lang="en-US" sz="24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5) R= (</a:t>
            </a: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 ∪ ε)(1 ∪ ε)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l-G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L= </a:t>
            </a:r>
            <a:r>
              <a:rPr lang="el-G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{ε, 0, 1, 01}</a:t>
            </a: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/>
            <a:endParaRPr lang="en-US" sz="200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buNone/>
            </a:pPr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298700" y="425450"/>
            <a:ext cx="7315200" cy="62096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10" normalizeH="0" baseline="0" noProof="0" dirty="0" smtClean="0">
                <a:ln>
                  <a:noFill/>
                </a:ln>
                <a:solidFill>
                  <a:srgbClr val="0070BF"/>
                </a:solidFill>
                <a:effectLst/>
                <a:uLnTx/>
                <a:uFillTx/>
                <a:latin typeface="Times New Roman"/>
                <a:ea typeface="+mj-ea"/>
                <a:cs typeface="Times New Roman"/>
              </a:rPr>
              <a:t>Construction of Regular Language from RE</a:t>
            </a:r>
            <a:endParaRPr kumimoji="0" lang="en-US" sz="3200" b="0" i="0" u="none" strike="noStrike" kern="1200" cap="none" spc="-10" normalizeH="0" baseline="0" noProof="0" dirty="0">
              <a:ln>
                <a:noFill/>
              </a:ln>
              <a:solidFill>
                <a:srgbClr val="0070BF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1500" y="693599"/>
            <a:ext cx="8114560" cy="1107996"/>
          </a:xfrm>
        </p:spPr>
        <p:txBody>
          <a:bodyPr/>
          <a:lstStyle/>
          <a:p>
            <a:pPr lvl="0"/>
            <a:r>
              <a:rPr lang="en-US" sz="3200" kern="1200" spc="-10" dirty="0" smtClean="0"/>
              <a:t>Construction of Regular Language from RE</a:t>
            </a:r>
            <a:r>
              <a:rPr lang="en-US" kern="1200" spc="-10" dirty="0" smtClean="0"/>
              <a:t/>
            </a:r>
            <a:br>
              <a:rPr lang="en-US" kern="1200" spc="-10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2900" y="1741016"/>
            <a:ext cx="8526365" cy="4339650"/>
          </a:xfrm>
        </p:spPr>
        <p:txBody>
          <a:bodyPr/>
          <a:lstStyle/>
          <a:p>
            <a:pPr marL="457200" indent="-457200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6) (∑∑)*</a:t>
            </a:r>
          </a:p>
          <a:p>
            <a:pPr marL="457200" indent="-457200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400" dirty="0" smtClean="0">
                <a:solidFill>
                  <a:srgbClr val="FF0000"/>
                </a:solidFill>
              </a:rPr>
              <a:t>w| w is a string of even length}</a:t>
            </a:r>
          </a:p>
          <a:p>
            <a:pPr marL="457200" indent="-457200"/>
            <a:endParaRPr lang="en-US" sz="2400" dirty="0" smtClean="0">
              <a:solidFill>
                <a:srgbClr val="FF0000"/>
              </a:solidFill>
            </a:endParaRPr>
          </a:p>
          <a:p>
            <a:pPr marL="457200" indent="-457200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7) (∑∑∑)*</a:t>
            </a:r>
          </a:p>
          <a:p>
            <a:pPr marL="457200" indent="-457200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2400" dirty="0" smtClean="0">
                <a:solidFill>
                  <a:srgbClr val="FF0000"/>
                </a:solidFill>
              </a:rPr>
              <a:t>w| length of w is a multiple of 3}</a:t>
            </a:r>
          </a:p>
          <a:p>
            <a:pPr marL="457200" indent="-457200"/>
            <a:endParaRPr lang="en-US" sz="2400" dirty="0" smtClean="0">
              <a:solidFill>
                <a:srgbClr val="FF0000"/>
              </a:solidFill>
            </a:endParaRPr>
          </a:p>
          <a:p>
            <a:pPr marL="457200" indent="-4572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8)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*= ? </a:t>
            </a:r>
          </a:p>
          <a:p>
            <a:pPr marL="457200" indent="-457200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€</a:t>
            </a:r>
          </a:p>
          <a:p>
            <a:pPr marL="457200" indent="-457200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/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9) R . € =?</a:t>
            </a:r>
          </a:p>
          <a:p>
            <a:pPr marL="457200" indent="-457200"/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</a:p>
          <a:p>
            <a:endParaRPr lang="en-US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8700" y="693599"/>
            <a:ext cx="7657360" cy="570051"/>
          </a:xfrm>
        </p:spPr>
        <p:txBody>
          <a:bodyPr/>
          <a:lstStyle/>
          <a:p>
            <a:r>
              <a:rPr lang="en-US" spc="-10" dirty="0" smtClean="0"/>
              <a:t>Equivalence of FA and RE</a:t>
            </a:r>
            <a:br>
              <a:rPr lang="en-US" spc="-10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12901" y="1741016"/>
            <a:ext cx="7924800" cy="4616648"/>
          </a:xfrm>
        </p:spPr>
        <p:txBody>
          <a:bodyPr/>
          <a:lstStyle/>
          <a:p>
            <a:pPr algn="just">
              <a:spcBef>
                <a:spcPct val="50000"/>
              </a:spcBef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Finite automata (DFA and NFA) and regular languages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equivalent.</a:t>
            </a:r>
          </a:p>
          <a:p>
            <a:pPr algn="just">
              <a:spcBef>
                <a:spcPct val="50000"/>
              </a:spcBef>
              <a:buFont typeface="Arial" pitchFamily="34" charset="0"/>
              <a:buChar char="•"/>
            </a:pPr>
            <a:endParaRPr 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regular language can be recognized (accepted) by a finite automata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and, </a:t>
            </a:r>
          </a:p>
          <a:p>
            <a:pPr algn="just">
              <a:spcBef>
                <a:spcPct val="50000"/>
              </a:spcBef>
              <a:buFont typeface="Arial" pitchFamily="34" charset="0"/>
              <a:buChar char="•"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50000"/>
              </a:spcBef>
              <a:buFont typeface="Arial" pitchFamily="34" charset="0"/>
              <a:buChar char="•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conversely, </a:t>
            </a:r>
            <a:r>
              <a:rPr 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every finite automata there is a regular language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the language accepted by the finite automata.</a:t>
            </a:r>
          </a:p>
          <a:p>
            <a:endParaRPr lang="en-US" sz="2400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708900" y="7080645"/>
            <a:ext cx="2495127" cy="28996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278" tIns="52139" rIns="104278" bIns="52139"/>
          <a:lstStyle/>
          <a:p>
            <a:endParaRPr lang="en-US" altLang="en-US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65300" y="335844"/>
            <a:ext cx="8126095" cy="5339923"/>
          </a:xfrm>
        </p:spPr>
        <p:txBody>
          <a:bodyPr/>
          <a:lstStyle/>
          <a:p>
            <a:pPr algn="ctr"/>
            <a:r>
              <a:rPr lang="en-US" sz="3200" kern="1200" spc="-10" dirty="0">
                <a:solidFill>
                  <a:srgbClr val="0070BF"/>
                </a:solidFill>
                <a:latin typeface="Times New Roman"/>
                <a:ea typeface="+mj-ea"/>
                <a:cs typeface="Times New Roman"/>
              </a:rPr>
              <a:t>RE to FA</a:t>
            </a:r>
            <a:endParaRPr lang="en-US" altLang="en-US" sz="3200" kern="1200" spc="-10" dirty="0">
              <a:solidFill>
                <a:srgbClr val="0070BF"/>
              </a:solidFill>
              <a:latin typeface="Times New Roman"/>
              <a:ea typeface="+mj-ea"/>
              <a:cs typeface="Times New Roman"/>
            </a:endParaRPr>
          </a:p>
          <a:p>
            <a:pPr eaLnBrk="1" hangingPunct="1">
              <a:buFontTx/>
              <a:buNone/>
            </a:pPr>
            <a:endParaRPr lang="en-US" altLang="en-US" sz="2100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100" dirty="0" smtClean="0">
                <a:cs typeface="Times New Roman" pitchFamily="18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sz="2100" b="1" dirty="0" smtClean="0">
                <a:cs typeface="Times New Roman" pitchFamily="18" charset="0"/>
              </a:rPr>
              <a:t>For Ø:</a:t>
            </a:r>
            <a:endParaRPr lang="en-US" altLang="en-US" sz="2300" b="1" dirty="0" smtClean="0">
              <a:cs typeface="Times New Roman" pitchFamily="18" charset="0"/>
            </a:endParaRPr>
          </a:p>
          <a:p>
            <a:pPr eaLnBrk="1" hangingPunct="1"/>
            <a:endParaRPr lang="en-US" altLang="en-US" sz="2100" dirty="0" smtClean="0"/>
          </a:p>
          <a:p>
            <a:pPr eaLnBrk="1" hangingPunct="1"/>
            <a:endParaRPr lang="en-US" altLang="en-US" sz="2100" dirty="0" smtClean="0"/>
          </a:p>
          <a:p>
            <a:pPr eaLnBrk="1" hangingPunct="1"/>
            <a:endParaRPr lang="en-US" altLang="en-US" sz="2100" dirty="0" smtClean="0"/>
          </a:p>
          <a:p>
            <a:pPr eaLnBrk="1" hangingPunct="1">
              <a:buFontTx/>
              <a:buNone/>
            </a:pPr>
            <a:r>
              <a:rPr lang="en-US" altLang="en-US" sz="2100" dirty="0" smtClean="0"/>
              <a:t>	</a:t>
            </a:r>
          </a:p>
          <a:p>
            <a:pPr eaLnBrk="1" hangingPunct="1">
              <a:buFontTx/>
              <a:buNone/>
            </a:pPr>
            <a:endParaRPr lang="en-US" altLang="en-US" sz="2100" b="1" dirty="0" smtClean="0"/>
          </a:p>
          <a:p>
            <a:pPr eaLnBrk="1" hangingPunct="1">
              <a:buFontTx/>
              <a:buNone/>
            </a:pPr>
            <a:r>
              <a:rPr lang="en-US" altLang="en-US" sz="2100" b="1" dirty="0" smtClean="0"/>
              <a:t>For </a:t>
            </a:r>
            <a:r>
              <a:rPr lang="en-US" altLang="en-US" sz="2100" b="1" dirty="0" smtClean="0">
                <a:cs typeface="Times New Roman" pitchFamily="18" charset="0"/>
              </a:rPr>
              <a:t>ε:</a:t>
            </a:r>
          </a:p>
          <a:p>
            <a:pPr eaLnBrk="1" hangingPunct="1">
              <a:buFontTx/>
              <a:buNone/>
            </a:pPr>
            <a:endParaRPr lang="en-US" altLang="en-US" sz="2100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en-US" sz="2100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endParaRPr lang="en-US" altLang="en-US" sz="2100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100" dirty="0" smtClean="0">
                <a:cs typeface="Times New Roman" pitchFamily="18" charset="0"/>
              </a:rPr>
              <a:t>	</a:t>
            </a:r>
          </a:p>
          <a:p>
            <a:pPr eaLnBrk="1" hangingPunct="1">
              <a:buFontTx/>
              <a:buNone/>
            </a:pPr>
            <a:r>
              <a:rPr lang="en-US" altLang="en-US" sz="2100" dirty="0" smtClean="0">
                <a:cs typeface="Times New Roman" pitchFamily="18" charset="0"/>
              </a:rPr>
              <a:t>	</a:t>
            </a:r>
            <a:endParaRPr lang="en-US" altLang="en-US" sz="2100" b="1" dirty="0" smtClean="0">
              <a:cs typeface="Times New Roman" pitchFamily="18" charset="0"/>
            </a:endParaRPr>
          </a:p>
          <a:p>
            <a:pPr eaLnBrk="1" hangingPunct="1">
              <a:buFontTx/>
              <a:buNone/>
            </a:pPr>
            <a:r>
              <a:rPr lang="en-US" altLang="en-US" sz="2100" b="1" dirty="0" smtClean="0">
                <a:cs typeface="Times New Roman" pitchFamily="18" charset="0"/>
              </a:rPr>
              <a:t>For a: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3609023" y="2522784"/>
            <a:ext cx="1342244" cy="680435"/>
            <a:chOff x="864" y="1392"/>
            <a:chExt cx="723" cy="389"/>
          </a:xfrm>
        </p:grpSpPr>
        <p:sp>
          <p:nvSpPr>
            <p:cNvPr id="9235" name="Line 6"/>
            <p:cNvSpPr>
              <a:spLocks noChangeShapeType="1"/>
            </p:cNvSpPr>
            <p:nvPr/>
          </p:nvSpPr>
          <p:spPr bwMode="auto">
            <a:xfrm>
              <a:off x="864" y="1584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37" name="Oval 12"/>
            <p:cNvSpPr>
              <a:spLocks noChangeArrowheads="1"/>
            </p:cNvSpPr>
            <p:nvPr/>
          </p:nvSpPr>
          <p:spPr bwMode="auto">
            <a:xfrm>
              <a:off x="1200" y="1392"/>
              <a:ext cx="387" cy="38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0</a:t>
              </a:r>
            </a:p>
          </p:txBody>
        </p:sp>
      </p:grp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3814574" y="4388794"/>
            <a:ext cx="1342245" cy="680435"/>
            <a:chOff x="912" y="2736"/>
            <a:chExt cx="723" cy="389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1248" y="2736"/>
              <a:ext cx="387" cy="389"/>
              <a:chOff x="755" y="1461"/>
              <a:chExt cx="446" cy="434"/>
            </a:xfrm>
          </p:grpSpPr>
          <p:sp>
            <p:nvSpPr>
              <p:cNvPr id="9233" name="Oval 14"/>
              <p:cNvSpPr>
                <a:spLocks noChangeArrowheads="1"/>
              </p:cNvSpPr>
              <p:nvPr/>
            </p:nvSpPr>
            <p:spPr bwMode="auto">
              <a:xfrm>
                <a:off x="793" y="1500"/>
                <a:ext cx="371" cy="3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 err="1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 err="1">
                    <a:cs typeface="Times New Roman" pitchFamily="18" charset="0"/>
                  </a:rPr>
                  <a:t>f</a:t>
                </a:r>
                <a:endParaRPr lang="en-US" altLang="en-US" sz="2300" baseline="-25000" dirty="0">
                  <a:cs typeface="Times New Roman" pitchFamily="18" charset="0"/>
                </a:endParaRPr>
              </a:p>
            </p:txBody>
          </p:sp>
          <p:sp>
            <p:nvSpPr>
              <p:cNvPr id="9234" name="Oval 15"/>
              <p:cNvSpPr>
                <a:spLocks noChangeArrowheads="1"/>
              </p:cNvSpPr>
              <p:nvPr/>
            </p:nvSpPr>
            <p:spPr bwMode="auto">
              <a:xfrm>
                <a:off x="755" y="1461"/>
                <a:ext cx="446" cy="43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sp>
          <p:nvSpPr>
            <p:cNvPr id="9232" name="Line 16"/>
            <p:cNvSpPr>
              <a:spLocks noChangeShapeType="1"/>
            </p:cNvSpPr>
            <p:nvPr/>
          </p:nvSpPr>
          <p:spPr bwMode="auto">
            <a:xfrm>
              <a:off x="912" y="2928"/>
              <a:ext cx="3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3609023" y="6358229"/>
            <a:ext cx="2857143" cy="722416"/>
            <a:chOff x="960" y="3576"/>
            <a:chExt cx="1539" cy="413"/>
          </a:xfrm>
        </p:grpSpPr>
        <p:grpSp>
          <p:nvGrpSpPr>
            <p:cNvPr id="7" name="Group 19"/>
            <p:cNvGrpSpPr>
              <a:grpSpLocks/>
            </p:cNvGrpSpPr>
            <p:nvPr/>
          </p:nvGrpSpPr>
          <p:grpSpPr bwMode="auto">
            <a:xfrm>
              <a:off x="960" y="3600"/>
              <a:ext cx="1539" cy="389"/>
              <a:chOff x="864" y="1392"/>
              <a:chExt cx="1539" cy="389"/>
            </a:xfrm>
          </p:grpSpPr>
          <p:sp>
            <p:nvSpPr>
              <p:cNvPr id="9226" name="Line 20"/>
              <p:cNvSpPr>
                <a:spLocks noChangeShapeType="1"/>
              </p:cNvSpPr>
              <p:nvPr/>
            </p:nvSpPr>
            <p:spPr bwMode="auto">
              <a:xfrm>
                <a:off x="864" y="1584"/>
                <a:ext cx="3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" name="Group 21"/>
              <p:cNvGrpSpPr>
                <a:grpSpLocks/>
              </p:cNvGrpSpPr>
              <p:nvPr/>
            </p:nvGrpSpPr>
            <p:grpSpPr bwMode="auto">
              <a:xfrm>
                <a:off x="2016" y="1392"/>
                <a:ext cx="387" cy="389"/>
                <a:chOff x="755" y="1461"/>
                <a:chExt cx="446" cy="434"/>
              </a:xfrm>
            </p:grpSpPr>
            <p:sp>
              <p:nvSpPr>
                <p:cNvPr id="9229" name="Oval 22"/>
                <p:cNvSpPr>
                  <a:spLocks noChangeArrowheads="1"/>
                </p:cNvSpPr>
                <p:nvPr/>
              </p:nvSpPr>
              <p:spPr bwMode="auto">
                <a:xfrm>
                  <a:off x="793" y="1500"/>
                  <a:ext cx="371" cy="356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altLang="en-US" sz="2300" dirty="0" err="1">
                      <a:cs typeface="Times New Roman" pitchFamily="18" charset="0"/>
                    </a:rPr>
                    <a:t>q</a:t>
                  </a:r>
                  <a:r>
                    <a:rPr lang="en-US" altLang="en-US" sz="2300" baseline="-25000" dirty="0" err="1">
                      <a:cs typeface="Times New Roman" pitchFamily="18" charset="0"/>
                    </a:rPr>
                    <a:t>f</a:t>
                  </a:r>
                  <a:endParaRPr lang="en-US" altLang="en-US" sz="2300" baseline="-25000" dirty="0">
                    <a:cs typeface="Times New Roman" pitchFamily="18" charset="0"/>
                  </a:endParaRPr>
                </a:p>
              </p:txBody>
            </p:sp>
            <p:sp>
              <p:nvSpPr>
                <p:cNvPr id="9230" name="Oval 23"/>
                <p:cNvSpPr>
                  <a:spLocks noChangeArrowheads="1"/>
                </p:cNvSpPr>
                <p:nvPr/>
              </p:nvSpPr>
              <p:spPr bwMode="auto">
                <a:xfrm>
                  <a:off x="755" y="1461"/>
                  <a:ext cx="446" cy="434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en-US" altLang="en-US"/>
                </a:p>
              </p:txBody>
            </p:sp>
          </p:grpSp>
          <p:sp>
            <p:nvSpPr>
              <p:cNvPr id="9228" name="Oval 24"/>
              <p:cNvSpPr>
                <a:spLocks noChangeArrowheads="1"/>
              </p:cNvSpPr>
              <p:nvPr/>
            </p:nvSpPr>
            <p:spPr bwMode="auto">
              <a:xfrm>
                <a:off x="1200" y="1392"/>
                <a:ext cx="387" cy="38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0</a:t>
                </a:r>
              </a:p>
            </p:txBody>
          </p:sp>
        </p:grpSp>
        <p:sp>
          <p:nvSpPr>
            <p:cNvPr id="9224" name="Line 25"/>
            <p:cNvSpPr>
              <a:spLocks noChangeShapeType="1"/>
            </p:cNvSpPr>
            <p:nvPr/>
          </p:nvSpPr>
          <p:spPr bwMode="auto">
            <a:xfrm>
              <a:off x="1680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225" name="Text Box 26"/>
            <p:cNvSpPr txBox="1">
              <a:spLocks noChangeArrowheads="1"/>
            </p:cNvSpPr>
            <p:nvPr/>
          </p:nvSpPr>
          <p:spPr bwMode="auto">
            <a:xfrm>
              <a:off x="1814" y="3576"/>
              <a:ext cx="169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/>
                <a:t>a</a:t>
              </a:r>
            </a:p>
          </p:txBody>
        </p:sp>
      </p:grpSp>
      <p:sp>
        <p:nvSpPr>
          <p:cNvPr id="21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278" tIns="52139" rIns="104278" bIns="52139"/>
          <a:lstStyle/>
          <a:p>
            <a:fld id="{CDF705A3-AA42-4819-86F8-01601470751B}" type="slidenum">
              <a:rPr lang="en-US" altLang="en-US" smtClean="0"/>
              <a:pPr/>
              <a:t>18</a:t>
            </a:fld>
            <a:endParaRPr lang="en-US" altLang="en-US" smtClean="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65299" y="335845"/>
            <a:ext cx="8126095" cy="5526128"/>
          </a:xfrm>
        </p:spPr>
        <p:txBody>
          <a:bodyPr/>
          <a:lstStyle/>
          <a:p>
            <a:pPr marL="385613" indent="-385613">
              <a:lnSpc>
                <a:spcPct val="90000"/>
              </a:lnSpc>
            </a:pPr>
            <a:r>
              <a:rPr lang="en-US" altLang="en-US" sz="2100" b="1" dirty="0" smtClean="0"/>
              <a:t>Example: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0(0+1)*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r</a:t>
            </a:r>
            <a:r>
              <a:rPr lang="en-US" altLang="en-US" sz="2100" baseline="-25000" dirty="0" smtClean="0"/>
              <a:t>2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0+1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+ r</a:t>
            </a:r>
            <a:r>
              <a:rPr lang="en-US" altLang="en-US" sz="2100" baseline="-25000" dirty="0" smtClean="0"/>
              <a:t>5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</a:t>
            </a:r>
            <a:r>
              <a:rPr lang="en-US" altLang="en-US" sz="2100" b="1" dirty="0" smtClean="0"/>
              <a:t>r</a:t>
            </a:r>
            <a:r>
              <a:rPr lang="en-US" altLang="en-US" sz="2100" b="1" baseline="-25000" dirty="0" smtClean="0"/>
              <a:t>5</a:t>
            </a:r>
            <a:r>
              <a:rPr lang="en-US" altLang="en-US" sz="2100" b="1" dirty="0" smtClean="0"/>
              <a:t> = 1</a:t>
            </a:r>
          </a:p>
        </p:txBody>
      </p:sp>
      <p:sp>
        <p:nvSpPr>
          <p:cNvPr id="12292" name="Oval 3"/>
          <p:cNvSpPr>
            <a:spLocks noChangeArrowheads="1"/>
          </p:cNvSpPr>
          <p:nvPr/>
        </p:nvSpPr>
        <p:spPr bwMode="auto">
          <a:xfrm>
            <a:off x="5753273" y="3862212"/>
            <a:ext cx="523531" cy="48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4278" tIns="52139" rIns="104278" bIns="52139" anchor="ctr"/>
          <a:lstStyle/>
          <a:p>
            <a:pPr algn="ctr"/>
            <a:r>
              <a:rPr lang="en-US" altLang="en-US" sz="2300" dirty="0">
                <a:cs typeface="Times New Roman" pitchFamily="18" charset="0"/>
              </a:rPr>
              <a:t>q</a:t>
            </a:r>
            <a:r>
              <a:rPr lang="en-US" altLang="en-US" sz="2300" baseline="-25000" dirty="0">
                <a:cs typeface="Times New Roman" pitchFamily="18" charset="0"/>
              </a:rPr>
              <a:t>0</a:t>
            </a:r>
          </a:p>
        </p:txBody>
      </p:sp>
      <p:sp>
        <p:nvSpPr>
          <p:cNvPr id="12293" name="Line 4"/>
          <p:cNvSpPr>
            <a:spLocks noChangeShapeType="1"/>
          </p:cNvSpPr>
          <p:nvPr/>
        </p:nvSpPr>
        <p:spPr bwMode="auto">
          <a:xfrm>
            <a:off x="6287943" y="4114094"/>
            <a:ext cx="12215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2294" name="Text Box 5"/>
          <p:cNvSpPr txBox="1">
            <a:spLocks noChangeArrowheads="1"/>
          </p:cNvSpPr>
          <p:nvPr/>
        </p:nvSpPr>
        <p:spPr bwMode="auto">
          <a:xfrm>
            <a:off x="6746496" y="3778251"/>
            <a:ext cx="346848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1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485380" y="3862212"/>
            <a:ext cx="610787" cy="570236"/>
            <a:chOff x="755" y="1461"/>
            <a:chExt cx="446" cy="434"/>
          </a:xfrm>
        </p:grpSpPr>
        <p:sp>
          <p:nvSpPr>
            <p:cNvPr id="12297" name="Oval 10"/>
            <p:cNvSpPr>
              <a:spLocks noChangeArrowheads="1"/>
            </p:cNvSpPr>
            <p:nvPr/>
          </p:nvSpPr>
          <p:spPr bwMode="auto">
            <a:xfrm>
              <a:off x="793" y="1500"/>
              <a:ext cx="371" cy="3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1</a:t>
              </a:r>
            </a:p>
          </p:txBody>
        </p:sp>
        <p:sp>
          <p:nvSpPr>
            <p:cNvPr id="12298" name="Oval 11"/>
            <p:cNvSpPr>
              <a:spLocks noChangeArrowheads="1"/>
            </p:cNvSpPr>
            <p:nvPr/>
          </p:nvSpPr>
          <p:spPr bwMode="auto">
            <a:xfrm>
              <a:off x="755" y="1461"/>
              <a:ext cx="446" cy="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2296" name="Line 15"/>
          <p:cNvSpPr>
            <a:spLocks noChangeShapeType="1"/>
          </p:cNvSpPr>
          <p:nvPr/>
        </p:nvSpPr>
        <p:spPr bwMode="auto">
          <a:xfrm>
            <a:off x="5079365" y="4114094"/>
            <a:ext cx="6237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1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278" tIns="52139" rIns="104278" bIns="52139"/>
          <a:lstStyle/>
          <a:p>
            <a:fld id="{2640B4A1-145C-4FBB-AB8A-DBCBF0B7D8E8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36699" y="335845"/>
            <a:ext cx="8354695" cy="5526128"/>
          </a:xfrm>
        </p:spPr>
        <p:txBody>
          <a:bodyPr/>
          <a:lstStyle/>
          <a:p>
            <a:pPr marL="385613" indent="-385613">
              <a:lnSpc>
                <a:spcPct val="90000"/>
              </a:lnSpc>
            </a:pPr>
            <a:r>
              <a:rPr lang="en-US" altLang="en-US" sz="2100" b="1" dirty="0" smtClean="0"/>
              <a:t>Example: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0(0+1)*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r</a:t>
            </a:r>
            <a:r>
              <a:rPr lang="en-US" altLang="en-US" sz="2100" baseline="-25000" dirty="0" smtClean="0"/>
              <a:t>2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0+1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+ r</a:t>
            </a:r>
            <a:r>
              <a:rPr lang="en-US" altLang="en-US" sz="2100" baseline="-25000" dirty="0" smtClean="0"/>
              <a:t>5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</a:t>
            </a:r>
            <a:r>
              <a:rPr lang="en-US" altLang="en-US" sz="2100" b="1" dirty="0" smtClean="0"/>
              <a:t>r</a:t>
            </a:r>
            <a:r>
              <a:rPr lang="en-US" altLang="en-US" sz="2100" b="1" baseline="-25000" dirty="0" smtClean="0"/>
              <a:t>4</a:t>
            </a:r>
            <a:r>
              <a:rPr lang="en-US" altLang="en-US" sz="2100" b="1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5</a:t>
            </a:r>
            <a:r>
              <a:rPr lang="en-US" altLang="en-US" sz="2100" dirty="0" smtClean="0"/>
              <a:t> = 1</a:t>
            </a:r>
          </a:p>
        </p:txBody>
      </p:sp>
      <p:sp>
        <p:nvSpPr>
          <p:cNvPr id="13316" name="Oval 6"/>
          <p:cNvSpPr>
            <a:spLocks noChangeArrowheads="1"/>
          </p:cNvSpPr>
          <p:nvPr/>
        </p:nvSpPr>
        <p:spPr bwMode="auto">
          <a:xfrm>
            <a:off x="5753273" y="3862212"/>
            <a:ext cx="523531" cy="48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4278" tIns="52139" rIns="104278" bIns="52139" anchor="ctr"/>
          <a:lstStyle/>
          <a:p>
            <a:pPr algn="ctr"/>
            <a:r>
              <a:rPr lang="en-US" altLang="en-US" sz="2300" dirty="0">
                <a:cs typeface="Times New Roman" pitchFamily="18" charset="0"/>
              </a:rPr>
              <a:t>q</a:t>
            </a:r>
            <a:r>
              <a:rPr lang="en-US" altLang="en-US" sz="2300" baseline="-25000" dirty="0">
                <a:cs typeface="Times New Roman" pitchFamily="18" charset="0"/>
              </a:rPr>
              <a:t>0</a:t>
            </a:r>
          </a:p>
        </p:txBody>
      </p:sp>
      <p:sp>
        <p:nvSpPr>
          <p:cNvPr id="13317" name="Line 8"/>
          <p:cNvSpPr>
            <a:spLocks noChangeShapeType="1"/>
          </p:cNvSpPr>
          <p:nvPr/>
        </p:nvSpPr>
        <p:spPr bwMode="auto">
          <a:xfrm>
            <a:off x="6287943" y="4114094"/>
            <a:ext cx="12215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3318" name="Text Box 9"/>
          <p:cNvSpPr txBox="1">
            <a:spLocks noChangeArrowheads="1"/>
          </p:cNvSpPr>
          <p:nvPr/>
        </p:nvSpPr>
        <p:spPr bwMode="auto">
          <a:xfrm>
            <a:off x="6746496" y="3778251"/>
            <a:ext cx="346848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1</a:t>
            </a:r>
          </a:p>
        </p:txBody>
      </p:sp>
      <p:sp>
        <p:nvSpPr>
          <p:cNvPr id="13319" name="Oval 11"/>
          <p:cNvSpPr>
            <a:spLocks noChangeArrowheads="1"/>
          </p:cNvSpPr>
          <p:nvPr/>
        </p:nvSpPr>
        <p:spPr bwMode="auto">
          <a:xfrm>
            <a:off x="5753273" y="4869745"/>
            <a:ext cx="523531" cy="48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4278" tIns="52139" rIns="104278" bIns="52139" anchor="ctr"/>
          <a:lstStyle/>
          <a:p>
            <a:pPr algn="ctr"/>
            <a:r>
              <a:rPr lang="en-US" altLang="en-US" sz="2300" dirty="0">
                <a:cs typeface="Times New Roman" pitchFamily="18" charset="0"/>
              </a:rPr>
              <a:t>q</a:t>
            </a:r>
            <a:r>
              <a:rPr lang="en-US" altLang="en-US" sz="2300" baseline="-25000" dirty="0">
                <a:cs typeface="Times New Roman" pitchFamily="18" charset="0"/>
              </a:rPr>
              <a:t>2</a:t>
            </a:r>
          </a:p>
        </p:txBody>
      </p:sp>
      <p:sp>
        <p:nvSpPr>
          <p:cNvPr id="13320" name="Line 13"/>
          <p:cNvSpPr>
            <a:spLocks noChangeShapeType="1"/>
          </p:cNvSpPr>
          <p:nvPr/>
        </p:nvSpPr>
        <p:spPr bwMode="auto">
          <a:xfrm>
            <a:off x="6287943" y="5121628"/>
            <a:ext cx="122157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3321" name="Text Box 14"/>
          <p:cNvSpPr txBox="1">
            <a:spLocks noChangeArrowheads="1"/>
          </p:cNvSpPr>
          <p:nvPr/>
        </p:nvSpPr>
        <p:spPr bwMode="auto">
          <a:xfrm>
            <a:off x="6746496" y="4785784"/>
            <a:ext cx="346848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0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7485380" y="3862212"/>
            <a:ext cx="610787" cy="570236"/>
            <a:chOff x="755" y="1461"/>
            <a:chExt cx="446" cy="434"/>
          </a:xfrm>
        </p:grpSpPr>
        <p:sp>
          <p:nvSpPr>
            <p:cNvPr id="13328" name="Oval 26"/>
            <p:cNvSpPr>
              <a:spLocks noChangeArrowheads="1"/>
            </p:cNvSpPr>
            <p:nvPr/>
          </p:nvSpPr>
          <p:spPr bwMode="auto">
            <a:xfrm>
              <a:off x="793" y="1500"/>
              <a:ext cx="371" cy="3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1</a:t>
              </a:r>
            </a:p>
          </p:txBody>
        </p:sp>
        <p:sp>
          <p:nvSpPr>
            <p:cNvPr id="13329" name="Oval 27"/>
            <p:cNvSpPr>
              <a:spLocks noChangeArrowheads="1"/>
            </p:cNvSpPr>
            <p:nvPr/>
          </p:nvSpPr>
          <p:spPr bwMode="auto">
            <a:xfrm>
              <a:off x="755" y="1461"/>
              <a:ext cx="446" cy="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</p:grp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7485380" y="4869745"/>
            <a:ext cx="610787" cy="570236"/>
            <a:chOff x="755" y="1461"/>
            <a:chExt cx="446" cy="434"/>
          </a:xfrm>
        </p:grpSpPr>
        <p:sp>
          <p:nvSpPr>
            <p:cNvPr id="13326" name="Oval 30"/>
            <p:cNvSpPr>
              <a:spLocks noChangeArrowheads="1"/>
            </p:cNvSpPr>
            <p:nvPr/>
          </p:nvSpPr>
          <p:spPr bwMode="auto">
            <a:xfrm>
              <a:off x="793" y="1500"/>
              <a:ext cx="371" cy="3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3</a:t>
              </a:r>
            </a:p>
          </p:txBody>
        </p:sp>
        <p:sp>
          <p:nvSpPr>
            <p:cNvPr id="13327" name="Oval 31"/>
            <p:cNvSpPr>
              <a:spLocks noChangeArrowheads="1"/>
            </p:cNvSpPr>
            <p:nvPr/>
          </p:nvSpPr>
          <p:spPr bwMode="auto">
            <a:xfrm>
              <a:off x="755" y="1461"/>
              <a:ext cx="446" cy="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3324" name="Line 32"/>
          <p:cNvSpPr>
            <a:spLocks noChangeShapeType="1"/>
          </p:cNvSpPr>
          <p:nvPr/>
        </p:nvSpPr>
        <p:spPr bwMode="auto">
          <a:xfrm>
            <a:off x="5079365" y="4114094"/>
            <a:ext cx="6237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3325" name="Line 33"/>
          <p:cNvSpPr>
            <a:spLocks noChangeShapeType="1"/>
          </p:cNvSpPr>
          <p:nvPr/>
        </p:nvSpPr>
        <p:spPr bwMode="auto">
          <a:xfrm>
            <a:off x="5079365" y="5121628"/>
            <a:ext cx="6237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8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278" tIns="52139" rIns="104278" bIns="52139"/>
          <a:lstStyle/>
          <a:p>
            <a:fld id="{06BB99E7-BEB2-4F2E-A04B-871FD181CF21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89099" y="335845"/>
            <a:ext cx="8202295" cy="5526128"/>
          </a:xfrm>
        </p:spPr>
        <p:txBody>
          <a:bodyPr/>
          <a:lstStyle/>
          <a:p>
            <a:pPr marL="385613" indent="-385613">
              <a:lnSpc>
                <a:spcPct val="90000"/>
              </a:lnSpc>
            </a:pPr>
            <a:r>
              <a:rPr lang="en-US" altLang="en-US" sz="2100" b="1" dirty="0" smtClean="0"/>
              <a:t>Example: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0(0+1)*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r</a:t>
            </a:r>
            <a:r>
              <a:rPr lang="en-US" altLang="en-US" sz="2100" baseline="-25000" dirty="0" smtClean="0"/>
              <a:t>2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0+1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</a:t>
            </a:r>
            <a:r>
              <a:rPr lang="en-US" altLang="en-US" sz="2100" b="1" dirty="0" smtClean="0"/>
              <a:t>r</a:t>
            </a:r>
            <a:r>
              <a:rPr lang="en-US" altLang="en-US" sz="2100" b="1" baseline="-25000" dirty="0" smtClean="0"/>
              <a:t>3</a:t>
            </a:r>
            <a:r>
              <a:rPr lang="en-US" altLang="en-US" sz="2100" b="1" dirty="0" smtClean="0"/>
              <a:t> = r</a:t>
            </a:r>
            <a:r>
              <a:rPr lang="en-US" altLang="en-US" sz="2100" b="1" baseline="-25000" dirty="0" smtClean="0"/>
              <a:t>4</a:t>
            </a:r>
            <a:r>
              <a:rPr lang="en-US" altLang="en-US" sz="2100" b="1" dirty="0" smtClean="0"/>
              <a:t> + r</a:t>
            </a:r>
            <a:r>
              <a:rPr lang="en-US" altLang="en-US" sz="2100" b="1" baseline="-25000" dirty="0" smtClean="0"/>
              <a:t>5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5</a:t>
            </a:r>
            <a:r>
              <a:rPr lang="en-US" altLang="en-US" sz="2100" dirty="0" smtClean="0"/>
              <a:t> = 1</a:t>
            </a:r>
          </a:p>
        </p:txBody>
      </p:sp>
      <p:sp>
        <p:nvSpPr>
          <p:cNvPr id="14340" name="Oval 7"/>
          <p:cNvSpPr>
            <a:spLocks noChangeArrowheads="1"/>
          </p:cNvSpPr>
          <p:nvPr/>
        </p:nvSpPr>
        <p:spPr bwMode="auto">
          <a:xfrm>
            <a:off x="4455584" y="4282017"/>
            <a:ext cx="523531" cy="48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4278" tIns="52139" rIns="104278" bIns="52139" anchor="ctr"/>
          <a:lstStyle/>
          <a:p>
            <a:pPr algn="ctr"/>
            <a:r>
              <a:rPr lang="en-US" altLang="en-US" sz="2300" dirty="0">
                <a:cs typeface="Times New Roman" pitchFamily="18" charset="0"/>
              </a:rPr>
              <a:t>q</a:t>
            </a:r>
            <a:r>
              <a:rPr lang="en-US" altLang="en-US" sz="2300" baseline="-25000" dirty="0">
                <a:cs typeface="Times New Roman" pitchFamily="18" charset="0"/>
              </a:rPr>
              <a:t>4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753273" y="3778251"/>
            <a:ext cx="2279773" cy="1577769"/>
            <a:chOff x="2064" y="864"/>
            <a:chExt cx="1433" cy="902"/>
          </a:xfrm>
        </p:grpSpPr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2064" y="864"/>
              <a:ext cx="1433" cy="326"/>
              <a:chOff x="2064" y="960"/>
              <a:chExt cx="1433" cy="326"/>
            </a:xfrm>
          </p:grpSpPr>
          <p:sp>
            <p:nvSpPr>
              <p:cNvPr id="14360" name="Oval 10"/>
              <p:cNvSpPr>
                <a:spLocks noChangeArrowheads="1"/>
              </p:cNvSpPr>
              <p:nvPr/>
            </p:nvSpPr>
            <p:spPr bwMode="auto">
              <a:xfrm>
                <a:off x="2064" y="1008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0</a:t>
                </a:r>
              </a:p>
            </p:txBody>
          </p:sp>
          <p:sp>
            <p:nvSpPr>
              <p:cNvPr id="14361" name="Oval 11"/>
              <p:cNvSpPr>
                <a:spLocks noChangeArrowheads="1"/>
              </p:cNvSpPr>
              <p:nvPr/>
            </p:nvSpPr>
            <p:spPr bwMode="auto">
              <a:xfrm>
                <a:off x="3168" y="1008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4362" name="Line 12"/>
              <p:cNvSpPr>
                <a:spLocks noChangeShapeType="1"/>
              </p:cNvSpPr>
              <p:nvPr/>
            </p:nvSpPr>
            <p:spPr bwMode="auto">
              <a:xfrm>
                <a:off x="2400" y="115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63" name="Text Box 13"/>
              <p:cNvSpPr txBox="1">
                <a:spLocks noChangeArrowheads="1"/>
              </p:cNvSpPr>
              <p:nvPr/>
            </p:nvSpPr>
            <p:spPr bwMode="auto">
              <a:xfrm>
                <a:off x="2688" y="960"/>
                <a:ext cx="202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1</a:t>
                </a:r>
              </a:p>
            </p:txBody>
          </p:sp>
        </p:grpSp>
        <p:grpSp>
          <p:nvGrpSpPr>
            <p:cNvPr id="4" name="Group 14"/>
            <p:cNvGrpSpPr>
              <a:grpSpLocks/>
            </p:cNvGrpSpPr>
            <p:nvPr/>
          </p:nvGrpSpPr>
          <p:grpSpPr bwMode="auto">
            <a:xfrm>
              <a:off x="2064" y="1440"/>
              <a:ext cx="1433" cy="326"/>
              <a:chOff x="2064" y="960"/>
              <a:chExt cx="1433" cy="326"/>
            </a:xfrm>
          </p:grpSpPr>
          <p:sp>
            <p:nvSpPr>
              <p:cNvPr id="14356" name="Oval 15"/>
              <p:cNvSpPr>
                <a:spLocks noChangeArrowheads="1"/>
              </p:cNvSpPr>
              <p:nvPr/>
            </p:nvSpPr>
            <p:spPr bwMode="auto">
              <a:xfrm>
                <a:off x="2064" y="1008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4357" name="Oval 16"/>
              <p:cNvSpPr>
                <a:spLocks noChangeArrowheads="1"/>
              </p:cNvSpPr>
              <p:nvPr/>
            </p:nvSpPr>
            <p:spPr bwMode="auto">
              <a:xfrm>
                <a:off x="3168" y="1008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4358" name="Line 17"/>
              <p:cNvSpPr>
                <a:spLocks noChangeShapeType="1"/>
              </p:cNvSpPr>
              <p:nvPr/>
            </p:nvSpPr>
            <p:spPr bwMode="auto">
              <a:xfrm>
                <a:off x="2400" y="1152"/>
                <a:ext cx="7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9" name="Text Box 18"/>
              <p:cNvSpPr txBox="1">
                <a:spLocks noChangeArrowheads="1"/>
              </p:cNvSpPr>
              <p:nvPr/>
            </p:nvSpPr>
            <p:spPr bwMode="auto">
              <a:xfrm>
                <a:off x="2688" y="960"/>
                <a:ext cx="202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0</a:t>
                </a:r>
              </a:p>
            </p:txBody>
          </p:sp>
        </p:grpSp>
      </p:grpSp>
      <p:sp>
        <p:nvSpPr>
          <p:cNvPr id="14342" name="Line 19"/>
          <p:cNvSpPr>
            <a:spLocks noChangeShapeType="1"/>
          </p:cNvSpPr>
          <p:nvPr/>
        </p:nvSpPr>
        <p:spPr bwMode="auto">
          <a:xfrm flipV="1">
            <a:off x="4914138" y="4114095"/>
            <a:ext cx="839135" cy="2518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4343" name="Line 20"/>
          <p:cNvSpPr>
            <a:spLocks noChangeShapeType="1"/>
          </p:cNvSpPr>
          <p:nvPr/>
        </p:nvSpPr>
        <p:spPr bwMode="auto">
          <a:xfrm>
            <a:off x="4914138" y="4701822"/>
            <a:ext cx="839135" cy="41980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4344" name="Line 21"/>
          <p:cNvSpPr>
            <a:spLocks noChangeShapeType="1"/>
          </p:cNvSpPr>
          <p:nvPr/>
        </p:nvSpPr>
        <p:spPr bwMode="auto">
          <a:xfrm>
            <a:off x="8044186" y="4114095"/>
            <a:ext cx="686902" cy="25188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4345" name="Line 22"/>
          <p:cNvSpPr>
            <a:spLocks noChangeShapeType="1"/>
          </p:cNvSpPr>
          <p:nvPr/>
        </p:nvSpPr>
        <p:spPr bwMode="auto">
          <a:xfrm flipV="1">
            <a:off x="8044186" y="4701822"/>
            <a:ext cx="686902" cy="3358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4346" name="Text Box 23"/>
          <p:cNvSpPr txBox="1">
            <a:spLocks noChangeArrowheads="1"/>
          </p:cNvSpPr>
          <p:nvPr/>
        </p:nvSpPr>
        <p:spPr bwMode="auto">
          <a:xfrm>
            <a:off x="5066370" y="4785784"/>
            <a:ext cx="334024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ε</a:t>
            </a:r>
          </a:p>
        </p:txBody>
      </p:sp>
      <p:sp>
        <p:nvSpPr>
          <p:cNvPr id="14347" name="Text Box 24"/>
          <p:cNvSpPr txBox="1">
            <a:spLocks noChangeArrowheads="1"/>
          </p:cNvSpPr>
          <p:nvPr/>
        </p:nvSpPr>
        <p:spPr bwMode="auto">
          <a:xfrm>
            <a:off x="5066370" y="3862212"/>
            <a:ext cx="334024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ε</a:t>
            </a:r>
          </a:p>
        </p:txBody>
      </p:sp>
      <p:sp>
        <p:nvSpPr>
          <p:cNvPr id="14348" name="Text Box 25"/>
          <p:cNvSpPr txBox="1">
            <a:spLocks noChangeArrowheads="1"/>
          </p:cNvSpPr>
          <p:nvPr/>
        </p:nvSpPr>
        <p:spPr bwMode="auto">
          <a:xfrm>
            <a:off x="8196417" y="3862212"/>
            <a:ext cx="334024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ε</a:t>
            </a:r>
          </a:p>
        </p:txBody>
      </p:sp>
      <p:sp>
        <p:nvSpPr>
          <p:cNvPr id="14349" name="Text Box 26"/>
          <p:cNvSpPr txBox="1">
            <a:spLocks noChangeArrowheads="1"/>
          </p:cNvSpPr>
          <p:nvPr/>
        </p:nvSpPr>
        <p:spPr bwMode="auto">
          <a:xfrm>
            <a:off x="8272533" y="4869745"/>
            <a:ext cx="334024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ε</a:t>
            </a:r>
          </a:p>
        </p:txBody>
      </p:sp>
      <p:grpSp>
        <p:nvGrpSpPr>
          <p:cNvPr id="5" name="Group 29"/>
          <p:cNvGrpSpPr>
            <a:grpSpLocks/>
          </p:cNvGrpSpPr>
          <p:nvPr/>
        </p:nvGrpSpPr>
        <p:grpSpPr bwMode="auto">
          <a:xfrm>
            <a:off x="8732943" y="4198056"/>
            <a:ext cx="610787" cy="570236"/>
            <a:chOff x="755" y="1461"/>
            <a:chExt cx="446" cy="434"/>
          </a:xfrm>
        </p:grpSpPr>
        <p:sp>
          <p:nvSpPr>
            <p:cNvPr id="14352" name="Oval 30"/>
            <p:cNvSpPr>
              <a:spLocks noChangeArrowheads="1"/>
            </p:cNvSpPr>
            <p:nvPr/>
          </p:nvSpPr>
          <p:spPr bwMode="auto">
            <a:xfrm>
              <a:off x="793" y="1500"/>
              <a:ext cx="371" cy="35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5</a:t>
              </a:r>
            </a:p>
          </p:txBody>
        </p:sp>
        <p:sp>
          <p:nvSpPr>
            <p:cNvPr id="14353" name="Oval 31"/>
            <p:cNvSpPr>
              <a:spLocks noChangeArrowheads="1"/>
            </p:cNvSpPr>
            <p:nvPr/>
          </p:nvSpPr>
          <p:spPr bwMode="auto">
            <a:xfrm>
              <a:off x="755" y="1461"/>
              <a:ext cx="446" cy="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altLang="en-US"/>
            </a:p>
          </p:txBody>
        </p:sp>
      </p:grpSp>
      <p:sp>
        <p:nvSpPr>
          <p:cNvPr id="14351" name="Line 32"/>
          <p:cNvSpPr>
            <a:spLocks noChangeShapeType="1"/>
          </p:cNvSpPr>
          <p:nvPr/>
        </p:nvSpPr>
        <p:spPr bwMode="auto">
          <a:xfrm>
            <a:off x="3653578" y="4533900"/>
            <a:ext cx="80200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28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278" tIns="52139" rIns="104278" bIns="52139"/>
          <a:lstStyle/>
          <a:p>
            <a:fld id="{C36304BA-BB94-4633-B50C-A2CDE809B085}" type="slidenum">
              <a:rPr lang="en-US" altLang="en-US" smtClean="0"/>
              <a:pPr/>
              <a:t>21</a:t>
            </a:fld>
            <a:endParaRPr lang="en-US" altLang="en-US" smtClean="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41499" y="335845"/>
            <a:ext cx="8049895" cy="5526128"/>
          </a:xfrm>
        </p:spPr>
        <p:txBody>
          <a:bodyPr/>
          <a:lstStyle/>
          <a:p>
            <a:pPr marL="385613" indent="-385613">
              <a:lnSpc>
                <a:spcPct val="90000"/>
              </a:lnSpc>
            </a:pPr>
            <a:r>
              <a:rPr lang="en-US" altLang="en-US" sz="2100" b="1" dirty="0" smtClean="0"/>
              <a:t>Example: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0(0+1)*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r</a:t>
            </a:r>
            <a:r>
              <a:rPr lang="en-US" altLang="en-US" sz="2100" baseline="-25000" dirty="0" smtClean="0"/>
              <a:t>2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</a:t>
            </a:r>
            <a:r>
              <a:rPr lang="en-US" altLang="en-US" sz="2100" b="1" dirty="0" smtClean="0"/>
              <a:t>r</a:t>
            </a:r>
            <a:r>
              <a:rPr lang="en-US" altLang="en-US" sz="2100" b="1" baseline="-25000" dirty="0" smtClean="0"/>
              <a:t>2</a:t>
            </a:r>
            <a:r>
              <a:rPr lang="en-US" altLang="en-US" sz="2100" b="1" dirty="0" smtClean="0"/>
              <a:t> = r</a:t>
            </a:r>
            <a:r>
              <a:rPr lang="en-US" altLang="en-US" sz="2100" b="1" baseline="-25000" dirty="0" smtClean="0"/>
              <a:t>3</a:t>
            </a:r>
            <a:r>
              <a:rPr lang="en-US" altLang="en-US" sz="2100" b="1" dirty="0" smtClean="0"/>
              <a:t>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0+1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+ r</a:t>
            </a:r>
            <a:r>
              <a:rPr lang="en-US" altLang="en-US" sz="2100" baseline="-25000" dirty="0" smtClean="0"/>
              <a:t>5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5</a:t>
            </a:r>
            <a:r>
              <a:rPr lang="en-US" altLang="en-US" sz="2100" dirty="0" smtClean="0"/>
              <a:t> = 1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029797" y="2938640"/>
            <a:ext cx="7383273" cy="3270985"/>
            <a:chOff x="1632" y="1680"/>
            <a:chExt cx="3977" cy="1870"/>
          </a:xfrm>
        </p:grpSpPr>
        <p:sp>
          <p:nvSpPr>
            <p:cNvPr id="15366" name="Oval 6"/>
            <p:cNvSpPr>
              <a:spLocks noChangeArrowheads="1"/>
            </p:cNvSpPr>
            <p:nvPr/>
          </p:nvSpPr>
          <p:spPr bwMode="auto">
            <a:xfrm>
              <a:off x="1632" y="2448"/>
              <a:ext cx="329" cy="27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6</a:t>
              </a: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400" y="2160"/>
              <a:ext cx="2544" cy="1390"/>
              <a:chOff x="1968" y="576"/>
              <a:chExt cx="2969" cy="1390"/>
            </a:xfrm>
          </p:grpSpPr>
          <p:sp>
            <p:nvSpPr>
              <p:cNvPr id="15377" name="Oval 8"/>
              <p:cNvSpPr>
                <a:spLocks noChangeArrowheads="1"/>
              </p:cNvSpPr>
              <p:nvPr/>
            </p:nvSpPr>
            <p:spPr bwMode="auto">
              <a:xfrm>
                <a:off x="4608" y="864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15378" name="Oval 9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4</a:t>
                </a:r>
              </a:p>
            </p:txBody>
          </p:sp>
          <p:grpSp>
            <p:nvGrpSpPr>
              <p:cNvPr id="4" name="Group 10"/>
              <p:cNvGrpSpPr>
                <a:grpSpLocks/>
              </p:cNvGrpSpPr>
              <p:nvPr/>
            </p:nvGrpSpPr>
            <p:grpSpPr bwMode="auto">
              <a:xfrm>
                <a:off x="2784" y="576"/>
                <a:ext cx="1433" cy="902"/>
                <a:chOff x="2064" y="864"/>
                <a:chExt cx="1433" cy="902"/>
              </a:xfrm>
            </p:grpSpPr>
            <p:grpSp>
              <p:nvGrpSpPr>
                <p:cNvPr id="5" name="Group 11"/>
                <p:cNvGrpSpPr>
                  <a:grpSpLocks/>
                </p:cNvGrpSpPr>
                <p:nvPr/>
              </p:nvGrpSpPr>
              <p:grpSpPr bwMode="auto">
                <a:xfrm>
                  <a:off x="2064" y="864"/>
                  <a:ext cx="1433" cy="326"/>
                  <a:chOff x="2064" y="960"/>
                  <a:chExt cx="1433" cy="326"/>
                </a:xfrm>
              </p:grpSpPr>
              <p:sp>
                <p:nvSpPr>
                  <p:cNvPr id="15396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0</a:t>
                    </a:r>
                  </a:p>
                </p:txBody>
              </p:sp>
              <p:sp>
                <p:nvSpPr>
                  <p:cNvPr id="15397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5398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152"/>
                    <a:ext cx="7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99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960"/>
                    <a:ext cx="202" cy="23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2100" dirty="0">
                        <a:cs typeface="Times New Roman" pitchFamily="18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2064" y="1440"/>
                  <a:ext cx="1433" cy="326"/>
                  <a:chOff x="2064" y="960"/>
                  <a:chExt cx="1433" cy="326"/>
                </a:xfrm>
              </p:grpSpPr>
              <p:sp>
                <p:nvSpPr>
                  <p:cNvPr id="15392" name="Oval 17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5393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5394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152"/>
                    <a:ext cx="7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5395" name="Text Box 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960"/>
                    <a:ext cx="202" cy="23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2100" dirty="0">
                        <a:cs typeface="Times New Roman" pitchFamily="18" charset="0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15380" name="Line 21"/>
              <p:cNvSpPr>
                <a:spLocks noChangeShapeType="1"/>
              </p:cNvSpPr>
              <p:nvPr/>
            </p:nvSpPr>
            <p:spPr bwMode="auto">
              <a:xfrm flipV="1">
                <a:off x="2256" y="768"/>
                <a:ext cx="52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1" name="Line 22"/>
              <p:cNvSpPr>
                <a:spLocks noChangeShapeType="1"/>
              </p:cNvSpPr>
              <p:nvPr/>
            </p:nvSpPr>
            <p:spPr bwMode="auto">
              <a:xfrm>
                <a:off x="2256" y="1104"/>
                <a:ext cx="52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2" name="Line 23"/>
              <p:cNvSpPr>
                <a:spLocks noChangeShapeType="1"/>
              </p:cNvSpPr>
              <p:nvPr/>
            </p:nvSpPr>
            <p:spPr bwMode="auto">
              <a:xfrm>
                <a:off x="4224" y="768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3" name="Line 24"/>
              <p:cNvSpPr>
                <a:spLocks noChangeShapeType="1"/>
              </p:cNvSpPr>
              <p:nvPr/>
            </p:nvSpPr>
            <p:spPr bwMode="auto">
              <a:xfrm flipV="1">
                <a:off x="4224" y="1104"/>
                <a:ext cx="43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4" name="Text Box 25"/>
              <p:cNvSpPr txBox="1">
                <a:spLocks noChangeArrowheads="1"/>
              </p:cNvSpPr>
              <p:nvPr/>
            </p:nvSpPr>
            <p:spPr bwMode="auto">
              <a:xfrm>
                <a:off x="2352" y="1152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sp>
            <p:nvSpPr>
              <p:cNvPr id="15385" name="Text Box 26"/>
              <p:cNvSpPr txBox="1">
                <a:spLocks noChangeArrowheads="1"/>
              </p:cNvSpPr>
              <p:nvPr/>
            </p:nvSpPr>
            <p:spPr bwMode="auto">
              <a:xfrm>
                <a:off x="2352" y="624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sp>
            <p:nvSpPr>
              <p:cNvPr id="15386" name="Text Box 27"/>
              <p:cNvSpPr txBox="1">
                <a:spLocks noChangeArrowheads="1"/>
              </p:cNvSpPr>
              <p:nvPr/>
            </p:nvSpPr>
            <p:spPr bwMode="auto">
              <a:xfrm>
                <a:off x="4320" y="624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sp>
            <p:nvSpPr>
              <p:cNvPr id="15387" name="Text Box 28"/>
              <p:cNvSpPr txBox="1">
                <a:spLocks noChangeArrowheads="1"/>
              </p:cNvSpPr>
              <p:nvPr/>
            </p:nvSpPr>
            <p:spPr bwMode="auto">
              <a:xfrm>
                <a:off x="4367" y="1200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cxnSp>
            <p:nvCxnSpPr>
              <p:cNvPr id="15388" name="AutoShape 29"/>
              <p:cNvCxnSpPr>
                <a:cxnSpLocks noChangeShapeType="1"/>
                <a:stCxn id="15377" idx="4"/>
                <a:endCxn id="15378" idx="4"/>
              </p:cNvCxnSpPr>
              <p:nvPr/>
            </p:nvCxnSpPr>
            <p:spPr bwMode="auto">
              <a:xfrm rot="5400000">
                <a:off x="3452" y="-177"/>
                <a:ext cx="1" cy="2640"/>
              </a:xfrm>
              <a:prstGeom prst="curvedConnector3">
                <a:avLst>
                  <a:gd name="adj1" fmla="val 6109999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sp>
            <p:nvSpPr>
              <p:cNvPr id="15389" name="Text Box 30"/>
              <p:cNvSpPr txBox="1">
                <a:spLocks noChangeArrowheads="1"/>
              </p:cNvSpPr>
              <p:nvPr/>
            </p:nvSpPr>
            <p:spPr bwMode="auto">
              <a:xfrm>
                <a:off x="3360" y="1728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</p:grp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5280" y="2400"/>
              <a:ext cx="329" cy="326"/>
              <a:chOff x="755" y="1461"/>
              <a:chExt cx="446" cy="434"/>
            </a:xfrm>
          </p:grpSpPr>
          <p:sp>
            <p:nvSpPr>
              <p:cNvPr id="15375" name="Oval 32"/>
              <p:cNvSpPr>
                <a:spLocks noChangeArrowheads="1"/>
              </p:cNvSpPr>
              <p:nvPr/>
            </p:nvSpPr>
            <p:spPr bwMode="auto">
              <a:xfrm>
                <a:off x="793" y="1500"/>
                <a:ext cx="371" cy="3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 err="1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 err="1">
                    <a:cs typeface="Times New Roman" pitchFamily="18" charset="0"/>
                  </a:rPr>
                  <a:t>f</a:t>
                </a:r>
                <a:endParaRPr lang="en-US" altLang="en-US" sz="2300" baseline="-25000" dirty="0">
                  <a:cs typeface="Times New Roman" pitchFamily="18" charset="0"/>
                </a:endParaRPr>
              </a:p>
            </p:txBody>
          </p:sp>
          <p:sp>
            <p:nvSpPr>
              <p:cNvPr id="15376" name="Oval 33"/>
              <p:cNvSpPr>
                <a:spLocks noChangeArrowheads="1"/>
              </p:cNvSpPr>
              <p:nvPr/>
            </p:nvSpPr>
            <p:spPr bwMode="auto">
              <a:xfrm>
                <a:off x="755" y="1461"/>
                <a:ext cx="446" cy="43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sp>
          <p:nvSpPr>
            <p:cNvPr id="15369" name="Line 34"/>
            <p:cNvSpPr>
              <a:spLocks noChangeShapeType="1"/>
            </p:cNvSpPr>
            <p:nvPr/>
          </p:nvSpPr>
          <p:spPr bwMode="auto">
            <a:xfrm>
              <a:off x="1968" y="25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Line 35"/>
            <p:cNvSpPr>
              <a:spLocks noChangeShapeType="1"/>
            </p:cNvSpPr>
            <p:nvPr/>
          </p:nvSpPr>
          <p:spPr bwMode="auto">
            <a:xfrm>
              <a:off x="4944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15371" name="AutoShape 36"/>
            <p:cNvCxnSpPr>
              <a:cxnSpLocks noChangeShapeType="1"/>
              <a:stCxn id="15366" idx="0"/>
              <a:endCxn id="15376" idx="0"/>
            </p:cNvCxnSpPr>
            <p:nvPr/>
          </p:nvCxnSpPr>
          <p:spPr bwMode="auto">
            <a:xfrm rot="-5400000">
              <a:off x="3597" y="600"/>
              <a:ext cx="48" cy="3648"/>
            </a:xfrm>
            <a:prstGeom prst="curvedConnector3">
              <a:avLst>
                <a:gd name="adj1" fmla="val 11229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5372" name="Text Box 37"/>
            <p:cNvSpPr txBox="1">
              <a:spLocks noChangeArrowheads="1"/>
            </p:cNvSpPr>
            <p:nvPr/>
          </p:nvSpPr>
          <p:spPr bwMode="auto">
            <a:xfrm>
              <a:off x="3552" y="1680"/>
              <a:ext cx="166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>
                  <a:cs typeface="Times New Roman" pitchFamily="18" charset="0"/>
                </a:rPr>
                <a:t>ε</a:t>
              </a:r>
            </a:p>
          </p:txBody>
        </p:sp>
        <p:sp>
          <p:nvSpPr>
            <p:cNvPr id="15373" name="Text Box 38"/>
            <p:cNvSpPr txBox="1">
              <a:spLocks noChangeArrowheads="1"/>
            </p:cNvSpPr>
            <p:nvPr/>
          </p:nvSpPr>
          <p:spPr bwMode="auto">
            <a:xfrm>
              <a:off x="2064" y="2400"/>
              <a:ext cx="166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>
                  <a:cs typeface="Times New Roman" pitchFamily="18" charset="0"/>
                </a:rPr>
                <a:t>ε</a:t>
              </a:r>
            </a:p>
          </p:txBody>
        </p:sp>
        <p:sp>
          <p:nvSpPr>
            <p:cNvPr id="15374" name="Text Box 39"/>
            <p:cNvSpPr txBox="1">
              <a:spLocks noChangeArrowheads="1"/>
            </p:cNvSpPr>
            <p:nvPr/>
          </p:nvSpPr>
          <p:spPr bwMode="auto">
            <a:xfrm>
              <a:off x="4992" y="2400"/>
              <a:ext cx="166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>
                  <a:cs typeface="Times New Roman" pitchFamily="18" charset="0"/>
                </a:rPr>
                <a:t>ε</a:t>
              </a:r>
            </a:p>
          </p:txBody>
        </p:sp>
      </p:grpSp>
      <p:sp>
        <p:nvSpPr>
          <p:cNvPr id="15365" name="Line 42"/>
          <p:cNvSpPr>
            <a:spLocks noChangeShapeType="1"/>
          </p:cNvSpPr>
          <p:nvPr/>
        </p:nvSpPr>
        <p:spPr bwMode="auto">
          <a:xfrm>
            <a:off x="2406015" y="4533900"/>
            <a:ext cx="6237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40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63603" y="7003756"/>
            <a:ext cx="2495127" cy="40231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104278" tIns="52139" rIns="104278" bIns="52139"/>
          <a:lstStyle/>
          <a:p>
            <a:fld id="{D89071CE-315B-46DD-9B02-D0B2206D922D}" type="slidenum">
              <a:rPr lang="en-US" altLang="en-US" smtClean="0"/>
              <a:pPr/>
              <a:t>22</a:t>
            </a:fld>
            <a:endParaRPr lang="en-US" altLang="en-US" smtClean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60500" y="882649"/>
            <a:ext cx="8430895" cy="4979323"/>
          </a:xfrm>
        </p:spPr>
        <p:txBody>
          <a:bodyPr/>
          <a:lstStyle/>
          <a:p>
            <a:pPr marL="385613" indent="-385613">
              <a:lnSpc>
                <a:spcPct val="90000"/>
              </a:lnSpc>
            </a:pPr>
            <a:r>
              <a:rPr lang="en-US" altLang="en-US" sz="2100" b="1" dirty="0" smtClean="0"/>
              <a:t>Example: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0(0+1)*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 = r</a:t>
            </a:r>
            <a:r>
              <a:rPr lang="en-US" altLang="en-US" sz="2100" baseline="-25000" dirty="0" smtClean="0"/>
              <a:t>1</a:t>
            </a:r>
            <a:r>
              <a:rPr lang="en-US" altLang="en-US" sz="2100" dirty="0" smtClean="0"/>
              <a:t>r</a:t>
            </a:r>
            <a:r>
              <a:rPr lang="en-US" altLang="en-US" sz="2100" baseline="-25000" dirty="0" smtClean="0"/>
              <a:t>2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</a:t>
            </a:r>
            <a:r>
              <a:rPr lang="en-US" altLang="en-US" sz="2100" b="1" dirty="0" smtClean="0"/>
              <a:t>r</a:t>
            </a:r>
            <a:r>
              <a:rPr lang="en-US" altLang="en-US" sz="2100" b="1" baseline="-25000" dirty="0" smtClean="0"/>
              <a:t>1</a:t>
            </a:r>
            <a:r>
              <a:rPr lang="en-US" altLang="en-US" sz="2100" b="1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b="1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(0+1)*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2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*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0+1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3</a:t>
            </a:r>
            <a:r>
              <a:rPr lang="en-US" altLang="en-US" sz="2100" dirty="0" smtClean="0"/>
              <a:t> = 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+ r</a:t>
            </a:r>
            <a:r>
              <a:rPr lang="en-US" altLang="en-US" sz="2100" baseline="-25000" dirty="0" smtClean="0"/>
              <a:t>5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4</a:t>
            </a:r>
            <a:r>
              <a:rPr lang="en-US" altLang="en-US" sz="2100" dirty="0" smtClean="0"/>
              <a:t> = 0</a:t>
            </a:r>
          </a:p>
          <a:p>
            <a:pPr marL="385613" indent="-385613">
              <a:lnSpc>
                <a:spcPct val="90000"/>
              </a:lnSpc>
            </a:pPr>
            <a:endParaRPr lang="en-US" altLang="en-US" sz="2100" dirty="0" smtClean="0"/>
          </a:p>
          <a:p>
            <a:pPr marL="385613" indent="-385613">
              <a:lnSpc>
                <a:spcPct val="90000"/>
              </a:lnSpc>
            </a:pPr>
            <a:r>
              <a:rPr lang="en-US" altLang="en-US" sz="2100" dirty="0" smtClean="0"/>
              <a:t>	r</a:t>
            </a:r>
            <a:r>
              <a:rPr lang="en-US" altLang="en-US" sz="2100" baseline="-25000" dirty="0" smtClean="0"/>
              <a:t>5</a:t>
            </a:r>
            <a:r>
              <a:rPr lang="en-US" altLang="en-US" sz="2100" dirty="0" smtClean="0"/>
              <a:t> = 1</a:t>
            </a: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3564467" y="1595262"/>
            <a:ext cx="610787" cy="48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4278" tIns="52139" rIns="104278" bIns="52139" anchor="ctr"/>
          <a:lstStyle/>
          <a:p>
            <a:pPr algn="ctr"/>
            <a:r>
              <a:rPr lang="en-US" altLang="en-US" sz="2300" dirty="0">
                <a:cs typeface="Times New Roman" pitchFamily="18" charset="0"/>
              </a:rPr>
              <a:t>q</a:t>
            </a:r>
            <a:r>
              <a:rPr lang="en-US" altLang="en-US" sz="2300" baseline="-25000" dirty="0">
                <a:cs typeface="Times New Roman" pitchFamily="18" charset="0"/>
              </a:rPr>
              <a:t>8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5524923" y="1595262"/>
            <a:ext cx="610787" cy="4862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04278" tIns="52139" rIns="104278" bIns="52139" anchor="ctr"/>
          <a:lstStyle/>
          <a:p>
            <a:pPr algn="ctr"/>
            <a:r>
              <a:rPr lang="en-US" altLang="en-US" sz="2300" dirty="0">
                <a:cs typeface="Times New Roman" pitchFamily="18" charset="0"/>
              </a:rPr>
              <a:t>q</a:t>
            </a:r>
            <a:r>
              <a:rPr lang="en-US" altLang="en-US" sz="2300" baseline="-25000" dirty="0">
                <a:cs typeface="Times New Roman" pitchFamily="18" charset="0"/>
              </a:rPr>
              <a:t>9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29797" y="2938640"/>
            <a:ext cx="7383273" cy="3270985"/>
            <a:chOff x="1632" y="1680"/>
            <a:chExt cx="3977" cy="1870"/>
          </a:xfrm>
        </p:grpSpPr>
        <p:sp>
          <p:nvSpPr>
            <p:cNvPr id="16395" name="Oval 7"/>
            <p:cNvSpPr>
              <a:spLocks noChangeArrowheads="1"/>
            </p:cNvSpPr>
            <p:nvPr/>
          </p:nvSpPr>
          <p:spPr bwMode="auto">
            <a:xfrm>
              <a:off x="1632" y="2448"/>
              <a:ext cx="329" cy="27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en-US" sz="2300" dirty="0">
                  <a:cs typeface="Times New Roman" pitchFamily="18" charset="0"/>
                </a:rPr>
                <a:t>q</a:t>
              </a:r>
              <a:r>
                <a:rPr lang="en-US" altLang="en-US" sz="2300" baseline="-25000" dirty="0">
                  <a:cs typeface="Times New Roman" pitchFamily="18" charset="0"/>
                </a:rPr>
                <a:t>6</a:t>
              </a:r>
            </a:p>
          </p:txBody>
        </p:sp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2400" y="2160"/>
              <a:ext cx="2544" cy="1390"/>
              <a:chOff x="1968" y="576"/>
              <a:chExt cx="2969" cy="1390"/>
            </a:xfrm>
          </p:grpSpPr>
          <p:sp>
            <p:nvSpPr>
              <p:cNvPr id="16406" name="Oval 9"/>
              <p:cNvSpPr>
                <a:spLocks noChangeArrowheads="1"/>
              </p:cNvSpPr>
              <p:nvPr/>
            </p:nvSpPr>
            <p:spPr bwMode="auto">
              <a:xfrm>
                <a:off x="4608" y="864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16407" name="Oval 10"/>
              <p:cNvSpPr>
                <a:spLocks noChangeArrowheads="1"/>
              </p:cNvSpPr>
              <p:nvPr/>
            </p:nvSpPr>
            <p:spPr bwMode="auto">
              <a:xfrm>
                <a:off x="1968" y="864"/>
                <a:ext cx="329" cy="27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>
                    <a:cs typeface="Times New Roman" pitchFamily="18" charset="0"/>
                  </a:rPr>
                  <a:t>4</a:t>
                </a:r>
              </a:p>
            </p:txBody>
          </p:sp>
          <p:grpSp>
            <p:nvGrpSpPr>
              <p:cNvPr id="4" name="Group 11"/>
              <p:cNvGrpSpPr>
                <a:grpSpLocks/>
              </p:cNvGrpSpPr>
              <p:nvPr/>
            </p:nvGrpSpPr>
            <p:grpSpPr bwMode="auto">
              <a:xfrm>
                <a:off x="2784" y="576"/>
                <a:ext cx="1433" cy="902"/>
                <a:chOff x="2064" y="864"/>
                <a:chExt cx="1433" cy="902"/>
              </a:xfrm>
            </p:grpSpPr>
            <p:grpSp>
              <p:nvGrpSpPr>
                <p:cNvPr id="5" name="Group 12"/>
                <p:cNvGrpSpPr>
                  <a:grpSpLocks/>
                </p:cNvGrpSpPr>
                <p:nvPr/>
              </p:nvGrpSpPr>
              <p:grpSpPr bwMode="auto">
                <a:xfrm>
                  <a:off x="2064" y="864"/>
                  <a:ext cx="1433" cy="326"/>
                  <a:chOff x="2064" y="960"/>
                  <a:chExt cx="1433" cy="326"/>
                </a:xfrm>
              </p:grpSpPr>
              <p:sp>
                <p:nvSpPr>
                  <p:cNvPr id="16425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0</a:t>
                    </a:r>
                  </a:p>
                </p:txBody>
              </p:sp>
              <p:sp>
                <p:nvSpPr>
                  <p:cNvPr id="16426" name="Oval 14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6427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152"/>
                    <a:ext cx="7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8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960"/>
                    <a:ext cx="202" cy="23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2100" dirty="0">
                        <a:cs typeface="Times New Roman" pitchFamily="18" charset="0"/>
                      </a:rPr>
                      <a:t>1</a:t>
                    </a:r>
                  </a:p>
                </p:txBody>
              </p:sp>
            </p:grpSp>
            <p:grpSp>
              <p:nvGrpSpPr>
                <p:cNvPr id="6" name="Group 17"/>
                <p:cNvGrpSpPr>
                  <a:grpSpLocks/>
                </p:cNvGrpSpPr>
                <p:nvPr/>
              </p:nvGrpSpPr>
              <p:grpSpPr bwMode="auto">
                <a:xfrm>
                  <a:off x="2064" y="1440"/>
                  <a:ext cx="1433" cy="326"/>
                  <a:chOff x="2064" y="960"/>
                  <a:chExt cx="1433" cy="326"/>
                </a:xfrm>
              </p:grpSpPr>
              <p:sp>
                <p:nvSpPr>
                  <p:cNvPr id="16421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2064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6422" name="Oval 19"/>
                  <p:cNvSpPr>
                    <a:spLocks noChangeArrowheads="1"/>
                  </p:cNvSpPr>
                  <p:nvPr/>
                </p:nvSpPr>
                <p:spPr bwMode="auto">
                  <a:xfrm>
                    <a:off x="3168" y="1008"/>
                    <a:ext cx="329" cy="278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algn="ctr"/>
                    <a:r>
                      <a:rPr lang="en-US" altLang="en-US" sz="2300" dirty="0">
                        <a:cs typeface="Times New Roman" pitchFamily="18" charset="0"/>
                      </a:rPr>
                      <a:t>q</a:t>
                    </a:r>
                    <a:r>
                      <a:rPr lang="en-US" altLang="en-US" sz="2300" baseline="-25000" dirty="0">
                        <a:cs typeface="Times New Roman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6423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400" y="1152"/>
                    <a:ext cx="768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6424" name="Text Box 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688" y="960"/>
                    <a:ext cx="202" cy="238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r>
                      <a:rPr lang="en-US" altLang="en-US" sz="2100" dirty="0">
                        <a:cs typeface="Times New Roman" pitchFamily="18" charset="0"/>
                      </a:rPr>
                      <a:t>0</a:t>
                    </a:r>
                  </a:p>
                </p:txBody>
              </p:sp>
            </p:grpSp>
          </p:grpSp>
          <p:sp>
            <p:nvSpPr>
              <p:cNvPr id="16409" name="Line 22"/>
              <p:cNvSpPr>
                <a:spLocks noChangeShapeType="1"/>
              </p:cNvSpPr>
              <p:nvPr/>
            </p:nvSpPr>
            <p:spPr bwMode="auto">
              <a:xfrm flipV="1">
                <a:off x="2256" y="768"/>
                <a:ext cx="52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0" name="Line 23"/>
              <p:cNvSpPr>
                <a:spLocks noChangeShapeType="1"/>
              </p:cNvSpPr>
              <p:nvPr/>
            </p:nvSpPr>
            <p:spPr bwMode="auto">
              <a:xfrm>
                <a:off x="2256" y="1104"/>
                <a:ext cx="52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1" name="Line 24"/>
              <p:cNvSpPr>
                <a:spLocks noChangeShapeType="1"/>
              </p:cNvSpPr>
              <p:nvPr/>
            </p:nvSpPr>
            <p:spPr bwMode="auto">
              <a:xfrm>
                <a:off x="4224" y="768"/>
                <a:ext cx="432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2" name="Line 25"/>
              <p:cNvSpPr>
                <a:spLocks noChangeShapeType="1"/>
              </p:cNvSpPr>
              <p:nvPr/>
            </p:nvSpPr>
            <p:spPr bwMode="auto">
              <a:xfrm flipV="1">
                <a:off x="4224" y="1104"/>
                <a:ext cx="43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13" name="Text Box 26"/>
              <p:cNvSpPr txBox="1">
                <a:spLocks noChangeArrowheads="1"/>
              </p:cNvSpPr>
              <p:nvPr/>
            </p:nvSpPr>
            <p:spPr bwMode="auto">
              <a:xfrm>
                <a:off x="2352" y="1152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sp>
            <p:nvSpPr>
              <p:cNvPr id="16414" name="Text Box 27"/>
              <p:cNvSpPr txBox="1">
                <a:spLocks noChangeArrowheads="1"/>
              </p:cNvSpPr>
              <p:nvPr/>
            </p:nvSpPr>
            <p:spPr bwMode="auto">
              <a:xfrm>
                <a:off x="2352" y="624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sp>
            <p:nvSpPr>
              <p:cNvPr id="16415" name="Text Box 28"/>
              <p:cNvSpPr txBox="1">
                <a:spLocks noChangeArrowheads="1"/>
              </p:cNvSpPr>
              <p:nvPr/>
            </p:nvSpPr>
            <p:spPr bwMode="auto">
              <a:xfrm>
                <a:off x="4320" y="624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sp>
            <p:nvSpPr>
              <p:cNvPr id="16416" name="Text Box 29"/>
              <p:cNvSpPr txBox="1">
                <a:spLocks noChangeArrowheads="1"/>
              </p:cNvSpPr>
              <p:nvPr/>
            </p:nvSpPr>
            <p:spPr bwMode="auto">
              <a:xfrm>
                <a:off x="4367" y="1200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  <p:cxnSp>
            <p:nvCxnSpPr>
              <p:cNvPr id="16417" name="AutoShape 30"/>
              <p:cNvCxnSpPr>
                <a:cxnSpLocks noChangeShapeType="1"/>
                <a:stCxn id="16406" idx="4"/>
                <a:endCxn id="16407" idx="4"/>
              </p:cNvCxnSpPr>
              <p:nvPr/>
            </p:nvCxnSpPr>
            <p:spPr bwMode="auto">
              <a:xfrm rot="5400000">
                <a:off x="3452" y="-177"/>
                <a:ext cx="1" cy="2640"/>
              </a:xfrm>
              <a:prstGeom prst="curvedConnector3">
                <a:avLst>
                  <a:gd name="adj1" fmla="val 61099995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</p:cxnSp>
          <p:sp>
            <p:nvSpPr>
              <p:cNvPr id="16418" name="Text Box 31"/>
              <p:cNvSpPr txBox="1">
                <a:spLocks noChangeArrowheads="1"/>
              </p:cNvSpPr>
              <p:nvPr/>
            </p:nvSpPr>
            <p:spPr bwMode="auto">
              <a:xfrm>
                <a:off x="3360" y="1728"/>
                <a:ext cx="194" cy="23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altLang="en-US" sz="2100" dirty="0">
                    <a:cs typeface="Times New Roman" pitchFamily="18" charset="0"/>
                  </a:rPr>
                  <a:t>ε</a:t>
                </a:r>
              </a:p>
            </p:txBody>
          </p:sp>
        </p:grpSp>
        <p:grpSp>
          <p:nvGrpSpPr>
            <p:cNvPr id="7" name="Group 32"/>
            <p:cNvGrpSpPr>
              <a:grpSpLocks/>
            </p:cNvGrpSpPr>
            <p:nvPr/>
          </p:nvGrpSpPr>
          <p:grpSpPr bwMode="auto">
            <a:xfrm>
              <a:off x="5280" y="2400"/>
              <a:ext cx="329" cy="326"/>
              <a:chOff x="755" y="1461"/>
              <a:chExt cx="446" cy="434"/>
            </a:xfrm>
          </p:grpSpPr>
          <p:sp>
            <p:nvSpPr>
              <p:cNvPr id="16404" name="Oval 33"/>
              <p:cNvSpPr>
                <a:spLocks noChangeArrowheads="1"/>
              </p:cNvSpPr>
              <p:nvPr/>
            </p:nvSpPr>
            <p:spPr bwMode="auto">
              <a:xfrm>
                <a:off x="793" y="1500"/>
                <a:ext cx="371" cy="35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altLang="en-US" sz="2300" dirty="0" err="1">
                    <a:cs typeface="Times New Roman" pitchFamily="18" charset="0"/>
                  </a:rPr>
                  <a:t>q</a:t>
                </a:r>
                <a:r>
                  <a:rPr lang="en-US" altLang="en-US" sz="2300" baseline="-25000" dirty="0" err="1">
                    <a:cs typeface="Times New Roman" pitchFamily="18" charset="0"/>
                  </a:rPr>
                  <a:t>f</a:t>
                </a:r>
                <a:endParaRPr lang="en-US" altLang="en-US" sz="2300" baseline="-25000" dirty="0">
                  <a:cs typeface="Times New Roman" pitchFamily="18" charset="0"/>
                </a:endParaRPr>
              </a:p>
            </p:txBody>
          </p:sp>
          <p:sp>
            <p:nvSpPr>
              <p:cNvPr id="16405" name="Oval 34"/>
              <p:cNvSpPr>
                <a:spLocks noChangeArrowheads="1"/>
              </p:cNvSpPr>
              <p:nvPr/>
            </p:nvSpPr>
            <p:spPr bwMode="auto">
              <a:xfrm>
                <a:off x="755" y="1461"/>
                <a:ext cx="446" cy="43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altLang="en-US"/>
              </a:p>
            </p:txBody>
          </p:sp>
        </p:grpSp>
        <p:sp>
          <p:nvSpPr>
            <p:cNvPr id="16398" name="Line 35"/>
            <p:cNvSpPr>
              <a:spLocks noChangeShapeType="1"/>
            </p:cNvSpPr>
            <p:nvPr/>
          </p:nvSpPr>
          <p:spPr bwMode="auto">
            <a:xfrm>
              <a:off x="1968" y="25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Line 36"/>
            <p:cNvSpPr>
              <a:spLocks noChangeShapeType="1"/>
            </p:cNvSpPr>
            <p:nvPr/>
          </p:nvSpPr>
          <p:spPr bwMode="auto">
            <a:xfrm>
              <a:off x="4944" y="25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cxnSp>
          <p:nvCxnSpPr>
            <p:cNvPr id="16400" name="AutoShape 37"/>
            <p:cNvCxnSpPr>
              <a:cxnSpLocks noChangeShapeType="1"/>
              <a:stCxn id="16395" idx="0"/>
              <a:endCxn id="16405" idx="0"/>
            </p:cNvCxnSpPr>
            <p:nvPr/>
          </p:nvCxnSpPr>
          <p:spPr bwMode="auto">
            <a:xfrm rot="-5400000">
              <a:off x="3597" y="600"/>
              <a:ext cx="48" cy="3648"/>
            </a:xfrm>
            <a:prstGeom prst="curvedConnector3">
              <a:avLst>
                <a:gd name="adj1" fmla="val 1122912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</p:cxnSp>
        <p:sp>
          <p:nvSpPr>
            <p:cNvPr id="16401" name="Text Box 38"/>
            <p:cNvSpPr txBox="1">
              <a:spLocks noChangeArrowheads="1"/>
            </p:cNvSpPr>
            <p:nvPr/>
          </p:nvSpPr>
          <p:spPr bwMode="auto">
            <a:xfrm>
              <a:off x="3552" y="1680"/>
              <a:ext cx="166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>
                  <a:cs typeface="Times New Roman" pitchFamily="18" charset="0"/>
                </a:rPr>
                <a:t>ε</a:t>
              </a:r>
            </a:p>
          </p:txBody>
        </p:sp>
        <p:sp>
          <p:nvSpPr>
            <p:cNvPr id="16402" name="Text Box 39"/>
            <p:cNvSpPr txBox="1">
              <a:spLocks noChangeArrowheads="1"/>
            </p:cNvSpPr>
            <p:nvPr/>
          </p:nvSpPr>
          <p:spPr bwMode="auto">
            <a:xfrm>
              <a:off x="2064" y="2400"/>
              <a:ext cx="166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>
                  <a:cs typeface="Times New Roman" pitchFamily="18" charset="0"/>
                </a:rPr>
                <a:t>ε</a:t>
              </a:r>
            </a:p>
          </p:txBody>
        </p:sp>
        <p:sp>
          <p:nvSpPr>
            <p:cNvPr id="16403" name="Text Box 40"/>
            <p:cNvSpPr txBox="1">
              <a:spLocks noChangeArrowheads="1"/>
            </p:cNvSpPr>
            <p:nvPr/>
          </p:nvSpPr>
          <p:spPr bwMode="auto">
            <a:xfrm>
              <a:off x="4992" y="2400"/>
              <a:ext cx="166" cy="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en-US" sz="2100" dirty="0">
                  <a:cs typeface="Times New Roman" pitchFamily="18" charset="0"/>
                </a:rPr>
                <a:t>ε</a:t>
              </a:r>
            </a:p>
          </p:txBody>
        </p:sp>
      </p:grpSp>
      <p:sp>
        <p:nvSpPr>
          <p:cNvPr id="16391" name="Line 41"/>
          <p:cNvSpPr>
            <a:spLocks noChangeShapeType="1"/>
          </p:cNvSpPr>
          <p:nvPr/>
        </p:nvSpPr>
        <p:spPr bwMode="auto">
          <a:xfrm>
            <a:off x="4188248" y="1847144"/>
            <a:ext cx="13366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6392" name="Text Box 42"/>
          <p:cNvSpPr txBox="1">
            <a:spLocks noChangeArrowheads="1"/>
          </p:cNvSpPr>
          <p:nvPr/>
        </p:nvSpPr>
        <p:spPr bwMode="auto">
          <a:xfrm>
            <a:off x="4544695" y="1511301"/>
            <a:ext cx="346848" cy="42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04278" tIns="52139" rIns="104278" bIns="52139">
            <a:spAutoFit/>
          </a:bodyPr>
          <a:lstStyle/>
          <a:p>
            <a:r>
              <a:rPr lang="en-US" altLang="en-US" sz="2100" dirty="0">
                <a:cs typeface="Times New Roman" pitchFamily="18" charset="0"/>
              </a:rPr>
              <a:t>0</a:t>
            </a:r>
          </a:p>
        </p:txBody>
      </p:sp>
      <p:sp>
        <p:nvSpPr>
          <p:cNvPr id="16393" name="Line 43"/>
          <p:cNvSpPr>
            <a:spLocks noChangeShapeType="1"/>
          </p:cNvSpPr>
          <p:nvPr/>
        </p:nvSpPr>
        <p:spPr bwMode="auto">
          <a:xfrm>
            <a:off x="2940685" y="1847144"/>
            <a:ext cx="6237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sp>
        <p:nvSpPr>
          <p:cNvPr id="16394" name="Line 46"/>
          <p:cNvSpPr>
            <a:spLocks noChangeShapeType="1"/>
          </p:cNvSpPr>
          <p:nvPr/>
        </p:nvSpPr>
        <p:spPr bwMode="auto">
          <a:xfrm>
            <a:off x="2406015" y="4533900"/>
            <a:ext cx="62378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104278" tIns="52139" rIns="104278" bIns="52139"/>
          <a:lstStyle/>
          <a:p>
            <a:endParaRPr lang="en-US"/>
          </a:p>
        </p:txBody>
      </p:sp>
      <p:cxnSp>
        <p:nvCxnSpPr>
          <p:cNvPr id="46" name="Straight Arrow Connector 45"/>
          <p:cNvCxnSpPr>
            <a:stCxn id="16389" idx="4"/>
            <a:endCxn id="16394" idx="0"/>
          </p:cNvCxnSpPr>
          <p:nvPr/>
        </p:nvCxnSpPr>
        <p:spPr>
          <a:xfrm rot="5400000">
            <a:off x="2891985" y="1595567"/>
            <a:ext cx="2452363" cy="34243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55700" y="6673850"/>
            <a:ext cx="2744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 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 * 1* 2*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0700" y="693599"/>
            <a:ext cx="6895360" cy="615553"/>
          </a:xfrm>
        </p:spPr>
        <p:txBody>
          <a:bodyPr/>
          <a:lstStyle/>
          <a:p>
            <a:r>
              <a:rPr lang="en-US" dirty="0" smtClean="0"/>
              <a:t>RE to FA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7700" y="2482850"/>
            <a:ext cx="7154765" cy="4924425"/>
          </a:xfrm>
        </p:spPr>
        <p:txBody>
          <a:bodyPr/>
          <a:lstStyle/>
          <a:p>
            <a:r>
              <a:rPr lang="en-US" sz="3200" dirty="0" smtClean="0"/>
              <a:t>(</a:t>
            </a:r>
            <a:r>
              <a:rPr lang="en-US" sz="3200" dirty="0" err="1" smtClean="0"/>
              <a:t>a+b</a:t>
            </a:r>
            <a:r>
              <a:rPr lang="en-US" sz="3200" dirty="0" smtClean="0"/>
              <a:t>).(</a:t>
            </a:r>
            <a:r>
              <a:rPr lang="en-US" sz="3200" dirty="0" err="1" smtClean="0"/>
              <a:t>a+b</a:t>
            </a:r>
            <a:r>
              <a:rPr lang="en-US" sz="3200" dirty="0" smtClean="0"/>
              <a:t>)*</a:t>
            </a:r>
          </a:p>
          <a:p>
            <a:endParaRPr lang="en-US" sz="3200" dirty="0" smtClean="0"/>
          </a:p>
          <a:p>
            <a:r>
              <a:rPr lang="en-US" sz="3200" dirty="0" smtClean="0"/>
              <a:t>a.(</a:t>
            </a:r>
            <a:r>
              <a:rPr lang="en-US" sz="3200" dirty="0" err="1" smtClean="0"/>
              <a:t>a+b</a:t>
            </a:r>
            <a:r>
              <a:rPr lang="en-US" sz="3200" dirty="0" smtClean="0"/>
              <a:t>)*</a:t>
            </a:r>
          </a:p>
          <a:p>
            <a:endParaRPr lang="en-US" sz="3200" dirty="0" smtClean="0"/>
          </a:p>
          <a:p>
            <a:r>
              <a:rPr lang="en-US" sz="3200" dirty="0" smtClean="0"/>
              <a:t>Solve using Direct method and converting to NFA and then to DFA method.</a:t>
            </a:r>
          </a:p>
          <a:p>
            <a:r>
              <a:rPr lang="en-US" sz="3200" dirty="0" smtClean="0"/>
              <a:t>	0* 1* 2*</a:t>
            </a:r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693599"/>
            <a:ext cx="8266960" cy="615553"/>
          </a:xfrm>
        </p:spPr>
        <p:txBody>
          <a:bodyPr/>
          <a:lstStyle/>
          <a:p>
            <a:r>
              <a:rPr lang="en-US" dirty="0" smtClean="0"/>
              <a:t>Practice problems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0" y="1741016"/>
            <a:ext cx="8678765" cy="1477328"/>
          </a:xfrm>
        </p:spPr>
        <p:txBody>
          <a:bodyPr/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673350" y="3316585"/>
            <a:ext cx="53467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 smtClean="0"/>
              <a:t>R=[1.(00)*.1 +0.1*.0]*</a:t>
            </a:r>
          </a:p>
          <a:p>
            <a:endParaRPr lang="en-US" sz="3200" dirty="0" smtClean="0"/>
          </a:p>
          <a:p>
            <a:r>
              <a:rPr lang="en-US" sz="3200" dirty="0" smtClean="0"/>
              <a:t>(0+1)* 0 (0+1) (0+1)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0100" y="302611"/>
            <a:ext cx="8088630" cy="19903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		</a:t>
            </a:r>
            <a:r>
              <a:rPr lang="en-US" sz="4400" dirty="0"/>
              <a:t>Arden's Theorem</a:t>
            </a:r>
            <a:br>
              <a:rPr lang="en-US" sz="4400" dirty="0"/>
            </a:br>
            <a:r>
              <a:rPr lang="en-US" sz="4400" dirty="0"/>
              <a:t/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670" y="1568449"/>
            <a:ext cx="9624060" cy="5736167"/>
          </a:xfrm>
        </p:spPr>
        <p:txBody>
          <a:bodyPr>
            <a:normAutofit/>
          </a:bodyPr>
          <a:lstStyle/>
          <a:p>
            <a:pPr algn="just">
              <a:buNone/>
            </a:pPr>
            <a:endParaRPr lang="en-US" sz="2400" dirty="0" smtClean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sz="2400" b="1" dirty="0" smtClean="0"/>
              <a:t>Statement:</a:t>
            </a:r>
            <a:r>
              <a:rPr lang="en-US" sz="2400" dirty="0" smtClean="0"/>
              <a:t> </a:t>
            </a:r>
          </a:p>
          <a:p>
            <a:pPr algn="just">
              <a:buNone/>
            </a:pPr>
            <a:r>
              <a:rPr lang="en-US" sz="2400" dirty="0" smtClean="0"/>
              <a:t>	Let </a:t>
            </a:r>
            <a:r>
              <a:rPr lang="en-US" sz="2400" b="1" i="1" dirty="0" smtClean="0"/>
              <a:t>P</a:t>
            </a:r>
            <a:r>
              <a:rPr lang="en-US" sz="2400" dirty="0" smtClean="0"/>
              <a:t> and </a:t>
            </a:r>
            <a:r>
              <a:rPr lang="en-US" sz="2400" b="1" i="1" dirty="0" smtClean="0"/>
              <a:t>Q</a:t>
            </a:r>
            <a:r>
              <a:rPr lang="en-US" sz="2400" dirty="0" smtClean="0"/>
              <a:t> be two Regular Expression s over </a:t>
            </a:r>
            <a:r>
              <a:rPr lang="en-US" sz="2400" b="1" dirty="0" smtClean="0"/>
              <a:t>Σ.</a:t>
            </a:r>
            <a:r>
              <a:rPr lang="en-US" sz="2400" dirty="0" smtClean="0"/>
              <a:t> 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dirty="0" smtClean="0"/>
              <a:t>	If </a:t>
            </a:r>
            <a:r>
              <a:rPr lang="en-US" sz="2400" b="1" i="1" dirty="0" smtClean="0"/>
              <a:t>P</a:t>
            </a:r>
            <a:r>
              <a:rPr lang="en-US" sz="2400" dirty="0" smtClean="0"/>
              <a:t> does not contain Λ, then for the equation </a:t>
            </a:r>
          </a:p>
          <a:p>
            <a:pPr algn="just">
              <a:buNone/>
            </a:pPr>
            <a:endParaRPr lang="en-US" sz="2400" dirty="0" smtClean="0"/>
          </a:p>
          <a:p>
            <a:pPr algn="just">
              <a:buNone/>
            </a:pPr>
            <a:r>
              <a:rPr lang="en-US" sz="2400" b="1" i="1" dirty="0" smtClean="0"/>
              <a:t>	</a:t>
            </a:r>
            <a:r>
              <a:rPr lang="en-US" sz="2400" b="1" i="1" dirty="0" smtClean="0">
                <a:solidFill>
                  <a:srgbClr val="FF0000"/>
                </a:solidFill>
              </a:rPr>
              <a:t>R</a:t>
            </a:r>
            <a:r>
              <a:rPr lang="en-US" sz="2400" b="1" dirty="0" smtClean="0">
                <a:solidFill>
                  <a:srgbClr val="FF0000"/>
                </a:solidFill>
              </a:rPr>
              <a:t> = </a:t>
            </a:r>
            <a:r>
              <a:rPr lang="en-US" sz="2400" b="1" i="1" dirty="0" smtClean="0">
                <a:solidFill>
                  <a:srgbClr val="FF0000"/>
                </a:solidFill>
              </a:rPr>
              <a:t>Q</a:t>
            </a:r>
            <a:r>
              <a:rPr lang="en-US" sz="2400" b="1" dirty="0" smtClean="0">
                <a:solidFill>
                  <a:srgbClr val="FF0000"/>
                </a:solidFill>
              </a:rPr>
              <a:t> + </a:t>
            </a:r>
            <a:r>
              <a:rPr lang="en-US" sz="2400" b="1" i="1" dirty="0" smtClean="0">
                <a:solidFill>
                  <a:srgbClr val="FF0000"/>
                </a:solidFill>
              </a:rPr>
              <a:t>RP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has a unique(one and only one solution </a:t>
            </a:r>
            <a:r>
              <a:rPr lang="en-US" sz="2400" b="1" i="1" dirty="0" smtClean="0">
                <a:solidFill>
                  <a:srgbClr val="FF0000"/>
                </a:solidFill>
              </a:rPr>
              <a:t> 	R</a:t>
            </a:r>
            <a:r>
              <a:rPr lang="en-US" sz="2400" b="1" dirty="0" smtClean="0">
                <a:solidFill>
                  <a:srgbClr val="FF0000"/>
                </a:solidFill>
              </a:rPr>
              <a:t> = QP</a:t>
            </a:r>
            <a:r>
              <a:rPr lang="en-US" sz="2400" b="1" baseline="30000" dirty="0" smtClean="0">
                <a:solidFill>
                  <a:srgbClr val="FF0000"/>
                </a:solidFill>
              </a:rPr>
              <a:t>*</a:t>
            </a:r>
            <a:r>
              <a:rPr lang="en-US" sz="2400" b="1" dirty="0" smtClean="0">
                <a:solidFill>
                  <a:srgbClr val="FF0000"/>
                </a:solidFill>
              </a:rPr>
              <a:t>.</a:t>
            </a:r>
            <a:endParaRPr lang="en-US" sz="2400" dirty="0" smtClean="0">
              <a:solidFill>
                <a:srgbClr val="FF0000"/>
              </a:solidFill>
            </a:endParaRPr>
          </a:p>
          <a:p>
            <a:pPr algn="just"/>
            <a:endParaRPr lang="en-US" sz="2400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0456" y="302610"/>
            <a:ext cx="8198273" cy="620962"/>
          </a:xfrm>
        </p:spPr>
        <p:txBody>
          <a:bodyPr>
            <a:normAutofit/>
          </a:bodyPr>
          <a:lstStyle/>
          <a:p>
            <a:r>
              <a:rPr lang="en-US" dirty="0" smtClean="0"/>
              <a:t>Arden’s theorem</a:t>
            </a:r>
            <a:endParaRPr lang="en-US" dirty="0"/>
          </a:p>
        </p:txBody>
      </p:sp>
      <p:pic>
        <p:nvPicPr>
          <p:cNvPr id="634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12900" y="1091495"/>
            <a:ext cx="8278495" cy="1847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60457" y="3106561"/>
            <a:ext cx="7429685" cy="3610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bject 4"/>
          <p:cNvSpPr/>
          <p:nvPr/>
        </p:nvSpPr>
        <p:spPr>
          <a:xfrm>
            <a:off x="27940" y="120650"/>
            <a:ext cx="1213565" cy="11154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1500" y="302611"/>
            <a:ext cx="8317230" cy="42763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5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2755900" y="1644650"/>
            <a:ext cx="58769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08300" y="5149850"/>
            <a:ext cx="5476875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2374900" y="149225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55900" y="492125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6300" y="302610"/>
            <a:ext cx="8012430" cy="704923"/>
          </a:xfrm>
        </p:spPr>
        <p:txBody>
          <a:bodyPr>
            <a:normAutofit/>
          </a:bodyPr>
          <a:lstStyle/>
          <a:p>
            <a:r>
              <a:rPr lang="en-US" dirty="0" smtClean="0"/>
              <a:t>Arden’s theorem </a:t>
            </a:r>
            <a:endParaRPr lang="en-US" dirty="0"/>
          </a:p>
        </p:txBody>
      </p:sp>
      <p:pic>
        <p:nvPicPr>
          <p:cNvPr id="747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6301" y="2182989"/>
            <a:ext cx="4191000" cy="302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1473994" y="2222500"/>
            <a:ext cx="3990975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003300" y="1949450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6700" y="349250"/>
            <a:ext cx="8633460" cy="533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Limitations of 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500" y="1511300"/>
            <a:ext cx="8698230" cy="4986941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FSM  does not have the capacity to remember large amount of information.</a:t>
            </a:r>
          </a:p>
          <a:p>
            <a:pPr marL="457200" indent="-457200" algn="just"/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2. The head can not move in reverse direction.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3. It cannot recognize the languages which are not regular.</a:t>
            </a:r>
          </a:p>
          <a:p>
            <a:pPr marL="457200" indent="-45720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	e.g. Palindrome.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4. FSM cannot multiply the numbers.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806450"/>
            <a:ext cx="7574492" cy="526506"/>
          </a:xfrm>
        </p:spPr>
        <p:txBody>
          <a:bodyPr>
            <a:normAutofit fontScale="90000"/>
          </a:bodyPr>
          <a:lstStyle/>
          <a:p>
            <a:r>
              <a:rPr lang="en-US" sz="5500" b="1" spc="-103" dirty="0"/>
              <a:t> </a:t>
            </a:r>
            <a:r>
              <a:rPr lang="en-US" sz="5500" b="1" spc="-6" dirty="0" smtClean="0"/>
              <a:t>Contents</a:t>
            </a:r>
            <a:br>
              <a:rPr lang="en-US" sz="5500" b="1" spc="-6" dirty="0" smtClean="0"/>
            </a:br>
            <a:r>
              <a:rPr lang="en-US" sz="5500" b="1" spc="-6" dirty="0" smtClean="0"/>
              <a:t/>
            </a:r>
            <a:br>
              <a:rPr lang="en-US" sz="5500" b="1" spc="-6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02005" y="1763183"/>
            <a:ext cx="9089390" cy="5205589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marL="434492" indent="-391043" algn="l">
              <a:spcBef>
                <a:spcPts val="650"/>
              </a:spcBef>
              <a:buClr>
                <a:srgbClr val="FF3399"/>
              </a:buClr>
              <a:buFont typeface="Arial" panose="020B0604020202020204" pitchFamily="34" charset="0"/>
              <a:buChar char="•"/>
              <a:tabLst>
                <a:tab pos="651739" algn="l"/>
              </a:tabLst>
            </a:pPr>
            <a:r>
              <a:rPr lang="en-US" sz="2700" spc="-6" dirty="0">
                <a:latin typeface="Times New Roman"/>
                <a:cs typeface="Times New Roman"/>
              </a:rPr>
              <a:t>Left linear grammar to right linear grammar</a:t>
            </a:r>
          </a:p>
          <a:p>
            <a:pPr marL="434492" indent="-391043" algn="l">
              <a:spcBef>
                <a:spcPts val="650"/>
              </a:spcBef>
              <a:buClr>
                <a:srgbClr val="FF3399"/>
              </a:buClr>
              <a:buFont typeface="Arial" panose="020B0604020202020204" pitchFamily="34" charset="0"/>
              <a:buChar char="•"/>
              <a:tabLst>
                <a:tab pos="651739" algn="l"/>
              </a:tabLst>
            </a:pPr>
            <a:r>
              <a:rPr lang="en-US" sz="2700" spc="-6" dirty="0">
                <a:latin typeface="Times New Roman"/>
                <a:cs typeface="Times New Roman"/>
              </a:rPr>
              <a:t>R</a:t>
            </a:r>
            <a:r>
              <a:rPr lang="en-US" sz="2700" spc="-6" dirty="0">
                <a:latin typeface="Times New Roman"/>
                <a:cs typeface="Times New Roman"/>
              </a:rPr>
              <a:t>ight linear grammar to Left linear grammar</a:t>
            </a:r>
          </a:p>
          <a:p>
            <a:pPr marL="434492" indent="-391043" algn="l">
              <a:spcBef>
                <a:spcPts val="650"/>
              </a:spcBef>
              <a:buClr>
                <a:srgbClr val="FF3399"/>
              </a:buClr>
              <a:buFont typeface="Arial" panose="020B0604020202020204" pitchFamily="34" charset="0"/>
              <a:buChar char="•"/>
              <a:tabLst>
                <a:tab pos="651739" algn="l"/>
              </a:tabLst>
            </a:pPr>
            <a:r>
              <a:rPr lang="en-US" sz="2700" spc="-6" dirty="0">
                <a:latin typeface="Times New Roman"/>
                <a:cs typeface="Times New Roman"/>
              </a:rPr>
              <a:t>Proving Languages </a:t>
            </a:r>
            <a:r>
              <a:rPr lang="en-US" sz="2700" dirty="0">
                <a:latin typeface="Times New Roman"/>
                <a:cs typeface="Times New Roman"/>
              </a:rPr>
              <a:t>not </a:t>
            </a:r>
            <a:r>
              <a:rPr lang="en-US" sz="2700" spc="-6" dirty="0">
                <a:latin typeface="Times New Roman"/>
                <a:cs typeface="Times New Roman"/>
              </a:rPr>
              <a:t>to </a:t>
            </a:r>
            <a:r>
              <a:rPr lang="en-US" sz="2700" dirty="0">
                <a:latin typeface="Times New Roman"/>
                <a:cs typeface="Times New Roman"/>
              </a:rPr>
              <a:t>be</a:t>
            </a:r>
            <a:r>
              <a:rPr lang="en-US" sz="2700" spc="-46" dirty="0">
                <a:latin typeface="Times New Roman"/>
                <a:cs typeface="Times New Roman"/>
              </a:rPr>
              <a:t> </a:t>
            </a:r>
            <a:r>
              <a:rPr lang="en-US" sz="2700" spc="-11" dirty="0">
                <a:latin typeface="Times New Roman"/>
                <a:cs typeface="Times New Roman"/>
              </a:rPr>
              <a:t>Regular</a:t>
            </a:r>
            <a:endParaRPr lang="en-US" sz="2700" dirty="0">
              <a:latin typeface="Times New Roman"/>
              <a:cs typeface="Times New Roman"/>
            </a:endParaRPr>
          </a:p>
          <a:p>
            <a:pPr marL="43449" algn="l">
              <a:spcBef>
                <a:spcPts val="650"/>
              </a:spcBef>
              <a:buClr>
                <a:srgbClr val="FF3399"/>
              </a:buClr>
              <a:tabLst>
                <a:tab pos="651739" algn="l"/>
              </a:tabLst>
            </a:pPr>
            <a:r>
              <a:rPr lang="en-US" sz="2700" spc="-6" dirty="0">
                <a:latin typeface="Times New Roman"/>
                <a:cs typeface="Times New Roman"/>
              </a:rPr>
              <a:t>      1. The Pumping </a:t>
            </a:r>
            <a:r>
              <a:rPr lang="en-US" sz="2700" spc="-11" dirty="0">
                <a:latin typeface="Times New Roman"/>
                <a:cs typeface="Times New Roman"/>
              </a:rPr>
              <a:t>Lemma </a:t>
            </a:r>
            <a:r>
              <a:rPr lang="en-US" sz="2700" spc="-6" dirty="0">
                <a:latin typeface="Times New Roman"/>
                <a:cs typeface="Times New Roman"/>
              </a:rPr>
              <a:t>for </a:t>
            </a:r>
            <a:r>
              <a:rPr lang="en-US" sz="2700" dirty="0">
                <a:latin typeface="Times New Roman"/>
                <a:cs typeface="Times New Roman"/>
              </a:rPr>
              <a:t>Regular</a:t>
            </a:r>
            <a:r>
              <a:rPr lang="en-US" sz="2700" spc="17" dirty="0">
                <a:latin typeface="Times New Roman"/>
                <a:cs typeface="Times New Roman"/>
              </a:rPr>
              <a:t> </a:t>
            </a:r>
            <a:r>
              <a:rPr lang="en-US" sz="2700" dirty="0">
                <a:latin typeface="Times New Roman"/>
                <a:cs typeface="Times New Roman"/>
              </a:rPr>
              <a:t>Languages</a:t>
            </a:r>
          </a:p>
          <a:p>
            <a:pPr marL="43449" algn="l">
              <a:spcBef>
                <a:spcPts val="650"/>
              </a:spcBef>
              <a:buClr>
                <a:srgbClr val="FF3399"/>
              </a:buClr>
              <a:tabLst>
                <a:tab pos="651739" algn="l"/>
              </a:tabLst>
            </a:pPr>
            <a:r>
              <a:rPr lang="en-US" sz="2700" spc="-6" dirty="0">
                <a:latin typeface="Times New Roman"/>
                <a:cs typeface="Times New Roman"/>
              </a:rPr>
              <a:t>      2. Applications </a:t>
            </a:r>
            <a:r>
              <a:rPr lang="en-US" sz="2700" dirty="0">
                <a:latin typeface="Times New Roman"/>
                <a:cs typeface="Times New Roman"/>
              </a:rPr>
              <a:t>of </a:t>
            </a:r>
            <a:r>
              <a:rPr lang="en-US" sz="2700" spc="-6" dirty="0">
                <a:latin typeface="Times New Roman"/>
                <a:cs typeface="Times New Roman"/>
              </a:rPr>
              <a:t>the Pumping</a:t>
            </a:r>
            <a:r>
              <a:rPr lang="en-US" sz="2700" spc="11" dirty="0">
                <a:latin typeface="Times New Roman"/>
                <a:cs typeface="Times New Roman"/>
              </a:rPr>
              <a:t> </a:t>
            </a:r>
            <a:r>
              <a:rPr lang="en-US" sz="2700" spc="-11" dirty="0">
                <a:latin typeface="Times New Roman"/>
                <a:cs typeface="Times New Roman"/>
              </a:rPr>
              <a:t>Lemma</a:t>
            </a:r>
          </a:p>
          <a:p>
            <a:pPr marL="434492" indent="-391043" algn="l">
              <a:spcBef>
                <a:spcPts val="650"/>
              </a:spcBef>
              <a:buClr>
                <a:srgbClr val="FF3399"/>
              </a:buClr>
              <a:buFont typeface="Arial" panose="020B0604020202020204" pitchFamily="34" charset="0"/>
              <a:buChar char="•"/>
              <a:tabLst>
                <a:tab pos="651739" algn="l"/>
              </a:tabLst>
            </a:pPr>
            <a:r>
              <a:rPr lang="en-US" sz="2700" spc="-6" dirty="0">
                <a:latin typeface="Times New Roman"/>
                <a:cs typeface="Times New Roman"/>
              </a:rPr>
              <a:t>Closure Properties </a:t>
            </a:r>
            <a:r>
              <a:rPr lang="en-US" sz="2700" dirty="0">
                <a:latin typeface="Times New Roman"/>
                <a:cs typeface="Times New Roman"/>
              </a:rPr>
              <a:t>of </a:t>
            </a:r>
            <a:r>
              <a:rPr lang="en-US" sz="2700" spc="-11" dirty="0">
                <a:latin typeface="Times New Roman"/>
                <a:cs typeface="Times New Roman"/>
              </a:rPr>
              <a:t>Regular</a:t>
            </a:r>
            <a:r>
              <a:rPr lang="en-US" sz="2700" spc="-17" dirty="0">
                <a:latin typeface="Times New Roman"/>
                <a:cs typeface="Times New Roman"/>
              </a:rPr>
              <a:t> </a:t>
            </a:r>
            <a:r>
              <a:rPr lang="en-US" sz="2700" spc="-6" dirty="0">
                <a:latin typeface="Times New Roman"/>
                <a:cs typeface="Times New Roman"/>
              </a:rPr>
              <a:t>Languages</a:t>
            </a:r>
          </a:p>
          <a:p>
            <a:pPr marL="434492" indent="-391043" algn="l">
              <a:spcBef>
                <a:spcPts val="650"/>
              </a:spcBef>
              <a:buClr>
                <a:srgbClr val="FF3399"/>
              </a:buClr>
              <a:buFont typeface="Arial" panose="020B0604020202020204" pitchFamily="34" charset="0"/>
              <a:buChar char="•"/>
              <a:tabLst>
                <a:tab pos="651739" algn="l"/>
              </a:tabLst>
            </a:pPr>
            <a:r>
              <a:rPr lang="en-US" sz="2700" spc="-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27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7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  <a:r>
              <a:rPr lang="en-US" sz="2700" spc="-143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4492" indent="-391043" algn="l">
              <a:spcBef>
                <a:spcPts val="650"/>
              </a:spcBef>
              <a:buClr>
                <a:srgbClr val="FF3399"/>
              </a:buClr>
              <a:buFont typeface="Arial" panose="020B0604020202020204" pitchFamily="34" charset="0"/>
              <a:buChar char="•"/>
              <a:tabLst>
                <a:tab pos="651739" algn="l"/>
              </a:tabLst>
            </a:pPr>
            <a:endParaRPr lang="en-US" sz="2700" dirty="0">
              <a:latin typeface="Times New Roman"/>
              <a:cs typeface="Times New Roman"/>
            </a:endParaRPr>
          </a:p>
          <a:p>
            <a:endParaRPr lang="en-US" sz="2700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891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693599"/>
            <a:ext cx="8266960" cy="615553"/>
          </a:xfrm>
        </p:spPr>
        <p:txBody>
          <a:bodyPr>
            <a:normAutofit fontScale="90000"/>
          </a:bodyPr>
          <a:lstStyle/>
          <a:p>
            <a:r>
              <a:rPr lang="en-US" sz="4100" spc="-6" dirty="0"/>
              <a:t>Left linear grammar to right linear grammar</a:t>
            </a:r>
            <a:br>
              <a:rPr lang="en-US" sz="4100" spc="-6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670" y="1720849"/>
            <a:ext cx="9534948" cy="5331883"/>
          </a:xfrm>
        </p:spPr>
        <p:txBody>
          <a:bodyPr>
            <a:noAutofit/>
          </a:bodyPr>
          <a:lstStyle/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left linear grammar can be represented by an equivalent right linear grammar </a:t>
            </a:r>
          </a:p>
          <a:p>
            <a:pPr lvl="1"/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conversion process involves drawing of an intermediate transition graph .</a:t>
            </a:r>
          </a:p>
          <a:p>
            <a:pPr marL="391043" lvl="1"/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as follows :</a:t>
            </a: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2086" lvl="1" indent="-391043"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the left linear grammar using the transition graph </a:t>
            </a:r>
          </a:p>
          <a:p>
            <a:pPr marL="782086" lvl="1" indent="-391043"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Interchange the start state as end state </a:t>
            </a:r>
          </a:p>
          <a:p>
            <a:pPr marL="782086" lvl="1" indent="-391043"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the direction of all transitions </a:t>
            </a:r>
          </a:p>
          <a:p>
            <a:pPr marL="782086" lvl="1" indent="-391043">
              <a:buAutoNum type="arabicPeriod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 Right linear grammar from the transition graph 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0061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7899" y="587728"/>
            <a:ext cx="5927937" cy="1343377"/>
          </a:xfrm>
        </p:spPr>
        <p:txBody>
          <a:bodyPr>
            <a:normAutofit/>
          </a:bodyPr>
          <a:lstStyle/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.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534670" y="1679222"/>
            <a:ext cx="9267613" cy="4785783"/>
          </a:xfrm>
          <a:prstGeom prst="rect">
            <a:avLst/>
          </a:prstGeom>
        </p:spPr>
        <p:txBody>
          <a:bodyPr lIns="104278" tIns="52139" rIns="104278" bIns="52139">
            <a:noAutofit/>
          </a:bodyPr>
          <a:lstStyle/>
          <a:p>
            <a:pPr algn="l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Write an equivalent right linear grammar from the given left linear grammar 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S-&gt;C0|A0|B1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A-&gt;A1|C0|B1|0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B-&gt;B1|1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C-&gt;A0  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After following the conversion steps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 1B|0A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A-&gt; 0C|1A|0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 1B|1A|1</a:t>
            </a:r>
          </a:p>
          <a:p>
            <a:pPr algn="l"/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C-&gt; 0C|0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5100" y="1968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208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10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Write an equivalent right linear grammar from the given left linear grammar </a:t>
            </a:r>
          </a:p>
          <a:p>
            <a:r>
              <a:rPr lang="en-US" sz="10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S-&gt;S10|0</a:t>
            </a:r>
          </a:p>
          <a:p>
            <a:endParaRPr lang="en-US" sz="10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Answer:  After following the conversion steps</a:t>
            </a:r>
          </a:p>
          <a:p>
            <a:r>
              <a:rPr lang="en-US" sz="10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S-&gt;0X|0</a:t>
            </a:r>
          </a:p>
          <a:p>
            <a:r>
              <a:rPr lang="en-US" sz="10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X-&gt;10X|10</a:t>
            </a: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0110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00" y="693599"/>
            <a:ext cx="8266960" cy="553998"/>
          </a:xfrm>
        </p:spPr>
        <p:txBody>
          <a:bodyPr/>
          <a:lstStyle/>
          <a:p>
            <a:r>
              <a:rPr lang="en-US" sz="3600" spc="-6" dirty="0"/>
              <a:t>Right linear grammar to Left  linear grammar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right linear grammar can be represented an equivalent left linear grammar .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process involves drawing of an intermediate transition graph.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to follow :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1. represent the right linear  grammar using the transition graph .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2.interchange the start state as final state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everse the direction of all transition 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Write left linear grammar from the  transition graph 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707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0099" y="1091494"/>
            <a:ext cx="7776739" cy="4794530"/>
          </a:xfrm>
        </p:spPr>
        <p:txBody>
          <a:bodyPr>
            <a:no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Write an equivalent left linear grammar from the given right linear grammar  .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bB|b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C-&gt;a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B-&gt;b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After following the conversion steps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b|Bb|Ca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Ba|b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C-&gt;Bb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7523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12899" y="1007534"/>
            <a:ext cx="8345329" cy="5798565"/>
          </a:xfrm>
        </p:spPr>
        <p:txBody>
          <a:bodyPr>
            <a:noAutofit/>
          </a:bodyPr>
          <a:lstStyle/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Q. Write an equivalent left linear grammar from the given right linear grammar. 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S-&gt;0A|1B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A-&gt;0C|1A|0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B-&gt;1B|1A|1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C-&gt;0|0A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: After following the conversion steps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S-&gt; C0|A0|B1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A-&gt;A1|C0|B1|0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B-&gt;B1|1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C-&gt;A0</a:t>
            </a:r>
            <a:endParaRPr lang="en-US" sz="2700" dirty="0"/>
          </a:p>
        </p:txBody>
      </p:sp>
      <p:sp>
        <p:nvSpPr>
          <p:cNvPr id="4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8410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079499" y="2731534"/>
            <a:ext cx="9379239" cy="28938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31900" y="5930452"/>
            <a:ext cx="9260999" cy="10383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xfrm>
            <a:off x="7552214" y="7003758"/>
            <a:ext cx="24060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865">
              <a:lnSpc>
                <a:spcPts val="1608"/>
              </a:lnSpc>
            </a:pPr>
            <a:fld id="{81D60167-4931-47E6-BA6A-407CBD079E47}" type="slidenum">
              <a:rPr dirty="0"/>
              <a:pPr marL="115865">
                <a:lnSpc>
                  <a:spcPts val="1608"/>
                </a:lnSpc>
              </a:pPr>
              <a:t>37</a:t>
            </a:fld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231900" y="1091495"/>
            <a:ext cx="8872276" cy="1367180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pumping lemma for Regular Languages 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4"/>
          <p:cNvSpPr/>
          <p:nvPr/>
        </p:nvSpPr>
        <p:spPr>
          <a:xfrm>
            <a:off x="58419" y="120650"/>
            <a:ext cx="1213565" cy="11154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658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04010" y="1837349"/>
            <a:ext cx="7396268" cy="53833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7552214" y="7003758"/>
            <a:ext cx="24060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865">
              <a:lnSpc>
                <a:spcPts val="1608"/>
              </a:lnSpc>
            </a:pPr>
            <a:fld id="{81D60167-4931-47E6-BA6A-407CBD079E47}" type="slidenum">
              <a:rPr dirty="0"/>
              <a:pPr marL="115865">
                <a:lnSpc>
                  <a:spcPts val="1608"/>
                </a:lnSpc>
              </a:pPr>
              <a:t>38</a:t>
            </a:fld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189972" y="587728"/>
            <a:ext cx="8009202" cy="736238"/>
          </a:xfrm>
          <a:prstGeom prst="rect">
            <a:avLst/>
          </a:prstGeom>
          <a:noFill/>
        </p:spPr>
        <p:txBody>
          <a:bodyPr wrap="none" lIns="104278" tIns="52139" rIns="104278" bIns="52139" rtlCol="0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Pumping Lemma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62212" y="176727"/>
            <a:ext cx="1213565" cy="11154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9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54766" y="7191270"/>
            <a:ext cx="118816" cy="229493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1400" dirty="0">
                <a:solidFill>
                  <a:srgbClr val="035B74"/>
                </a:solidFill>
                <a:latin typeface="Times New Roman"/>
                <a:cs typeface="Times New Roman"/>
              </a:rPr>
              <a:t>5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3080" y="1984322"/>
            <a:ext cx="10005755" cy="1491952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28966" marR="20276">
              <a:spcBef>
                <a:spcPts val="114"/>
              </a:spcBef>
              <a:tabLst>
                <a:tab pos="1691624" algn="l"/>
                <a:tab pos="3487526" algn="l"/>
                <a:tab pos="4242093" algn="l"/>
                <a:tab pos="4825038" algn="l"/>
                <a:tab pos="5790335" algn="l"/>
                <a:tab pos="7126400" algn="l"/>
                <a:tab pos="8265494" algn="l"/>
                <a:tab pos="9178652" algn="l"/>
              </a:tabLst>
            </a:pP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spc="-17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3200" spc="188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i="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00" i="1" baseline="-24305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sz="2700" i="1" spc="86" baseline="-24305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consisting</a:t>
            </a:r>
            <a:r>
              <a:rPr sz="3200" spc="165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spc="17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3200" spc="148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sz="3200" spc="194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200" spc="165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3200" spc="148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</a:t>
            </a:r>
            <a:r>
              <a:rPr sz="3200" spc="16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0s and 1s (not in any </a:t>
            </a:r>
            <a:r>
              <a:rPr sz="3200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particular </a:t>
            </a:r>
            <a:r>
              <a:rPr sz="32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order) is not </a:t>
            </a:r>
            <a:r>
              <a:rPr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1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 </a:t>
            </a:r>
            <a:r>
              <a:rPr sz="32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080" y="3897195"/>
            <a:ext cx="10004270" cy="1556072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28966">
              <a:spcBef>
                <a:spcPts val="114"/>
              </a:spcBef>
            </a:pPr>
            <a:r>
              <a:rPr sz="3200" b="1" i="1" spc="-6" dirty="0">
                <a:solidFill>
                  <a:srgbClr val="252525"/>
                </a:solidFill>
                <a:latin typeface="Calibri"/>
                <a:cs typeface="Calibri"/>
              </a:rPr>
              <a:t>Sol</a:t>
            </a:r>
            <a:r>
              <a:rPr sz="2700" b="1" i="1" spc="-8" baseline="29513" dirty="0">
                <a:solidFill>
                  <a:srgbClr val="252525"/>
                </a:solidFill>
                <a:latin typeface="Calibri"/>
                <a:cs typeface="Calibri"/>
              </a:rPr>
              <a:t>n</a:t>
            </a:r>
            <a:r>
              <a:rPr sz="3200" b="1" spc="-6" dirty="0">
                <a:solidFill>
                  <a:srgbClr val="252525"/>
                </a:solidFill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28966"/>
            <a:r>
              <a:rPr sz="3200" spc="-11" dirty="0">
                <a:latin typeface="Calibri"/>
                <a:cs typeface="Calibri"/>
              </a:rPr>
              <a:t>Suppose </a:t>
            </a:r>
            <a:r>
              <a:rPr sz="3200" spc="-6" dirty="0">
                <a:latin typeface="Calibri"/>
                <a:cs typeface="Calibri"/>
              </a:rPr>
              <a:t>that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eq </a:t>
            </a:r>
            <a:r>
              <a:rPr sz="3200" spc="-6" dirty="0">
                <a:latin typeface="Calibri"/>
                <a:cs typeface="Calibri"/>
              </a:rPr>
              <a:t>were</a:t>
            </a:r>
            <a:r>
              <a:rPr sz="3200" spc="-91" dirty="0">
                <a:latin typeface="Calibri"/>
                <a:cs typeface="Calibri"/>
              </a:rPr>
              <a:t> </a:t>
            </a:r>
            <a:r>
              <a:rPr sz="3200" spc="-11" dirty="0">
                <a:latin typeface="Calibri"/>
                <a:cs typeface="Calibri"/>
              </a:rPr>
              <a:t>regular.</a:t>
            </a:r>
            <a:endParaRPr sz="3200" dirty="0">
              <a:latin typeface="Calibri"/>
              <a:cs typeface="Calibri"/>
            </a:endParaRPr>
          </a:p>
          <a:p>
            <a:pPr marL="28966">
              <a:spcBef>
                <a:spcPts val="523"/>
              </a:spcBef>
            </a:pPr>
            <a:r>
              <a:rPr sz="3200" spc="-6" dirty="0">
                <a:latin typeface="Calibri"/>
                <a:cs typeface="Calibri"/>
              </a:rPr>
              <a:t>Then </a:t>
            </a:r>
            <a:r>
              <a:rPr sz="3200" spc="-11" dirty="0">
                <a:latin typeface="Calibri"/>
                <a:cs typeface="Calibri"/>
              </a:rPr>
              <a:t>there </a:t>
            </a:r>
            <a:r>
              <a:rPr sz="3200" spc="-6" dirty="0">
                <a:latin typeface="Calibri"/>
                <a:cs typeface="Calibri"/>
              </a:rPr>
              <a:t>would </a:t>
            </a:r>
            <a:r>
              <a:rPr sz="3200" spc="-11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6" dirty="0">
                <a:latin typeface="Calibri"/>
                <a:cs typeface="Calibri"/>
              </a:rPr>
              <a:t>constant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spc="-11" dirty="0">
                <a:latin typeface="Calibri"/>
                <a:cs typeface="Calibri"/>
              </a:rPr>
              <a:t>satisfying </a:t>
            </a:r>
            <a:r>
              <a:rPr sz="3200" spc="-6" dirty="0">
                <a:latin typeface="Calibri"/>
                <a:cs typeface="Calibri"/>
              </a:rPr>
              <a:t>the </a:t>
            </a:r>
            <a:r>
              <a:rPr sz="3200" spc="-11" dirty="0">
                <a:latin typeface="Calibri"/>
                <a:cs typeface="Calibri"/>
              </a:rPr>
              <a:t>conditions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932" y="6879214"/>
            <a:ext cx="3084749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3200" i="1" dirty="0">
                <a:latin typeface="Calibri"/>
                <a:cs typeface="Calibri"/>
              </a:rPr>
              <a:t>y </a:t>
            </a:r>
            <a:r>
              <a:rPr sz="3200" dirty="0">
                <a:latin typeface="Calibri"/>
                <a:cs typeface="Calibri"/>
              </a:rPr>
              <a:t>≠ ε and </a:t>
            </a:r>
            <a:r>
              <a:rPr sz="3200" spc="-6" dirty="0">
                <a:latin typeface="Calibri"/>
                <a:cs typeface="Calibri"/>
              </a:rPr>
              <a:t>|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≤</a:t>
            </a:r>
            <a:r>
              <a:rPr sz="3200" spc="-143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228" y="5372111"/>
            <a:ext cx="4039729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3449">
              <a:spcBef>
                <a:spcPts val="114"/>
              </a:spcBef>
            </a:pPr>
            <a:r>
              <a:rPr sz="3200" dirty="0">
                <a:latin typeface="Calibri"/>
                <a:cs typeface="Calibri"/>
              </a:rPr>
              <a:t>of </a:t>
            </a:r>
            <a:r>
              <a:rPr sz="3200" spc="-6" dirty="0">
                <a:latin typeface="Calibri"/>
                <a:cs typeface="Calibri"/>
              </a:rPr>
              <a:t>the </a:t>
            </a:r>
            <a:r>
              <a:rPr sz="3200" spc="-261" dirty="0">
                <a:latin typeface="Calibri"/>
                <a:cs typeface="Calibri"/>
              </a:rPr>
              <a:t>pum</a:t>
            </a:r>
            <a:r>
              <a:rPr sz="3400" i="1" spc="-393" baseline="-37500" dirty="0">
                <a:latin typeface="Times New Roman"/>
                <a:cs typeface="Times New Roman"/>
              </a:rPr>
              <a:t>n</a:t>
            </a:r>
            <a:r>
              <a:rPr sz="3200" spc="-261" dirty="0">
                <a:latin typeface="Calibri"/>
                <a:cs typeface="Calibri"/>
              </a:rPr>
              <a:t>pi</a:t>
            </a:r>
            <a:r>
              <a:rPr sz="3400" i="1" spc="-393" baseline="-37500" dirty="0">
                <a:latin typeface="Times New Roman"/>
                <a:cs typeface="Times New Roman"/>
              </a:rPr>
              <a:t>n</a:t>
            </a:r>
            <a:r>
              <a:rPr sz="3200" spc="-261" dirty="0">
                <a:latin typeface="Calibri"/>
                <a:cs typeface="Calibri"/>
              </a:rPr>
              <a:t>ng</a:t>
            </a:r>
            <a:r>
              <a:rPr sz="3200" spc="-91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lemma.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8228" y="5504850"/>
            <a:ext cx="9814165" cy="1448314"/>
          </a:xfrm>
          <a:prstGeom prst="rect">
            <a:avLst/>
          </a:prstGeom>
        </p:spPr>
        <p:txBody>
          <a:bodyPr vert="horz" wrap="square" lIns="0" tIns="199867" rIns="0" bIns="0" rtlCol="0">
            <a:spAutoFit/>
          </a:bodyPr>
          <a:lstStyle/>
          <a:p>
            <a:pPr marL="43449">
              <a:spcBef>
                <a:spcPts val="1574"/>
              </a:spcBef>
              <a:tabLst>
                <a:tab pos="1162267" algn="l"/>
                <a:tab pos="1592415" algn="l"/>
              </a:tabLst>
            </a:pPr>
            <a:r>
              <a:rPr sz="4800" spc="-8" baseline="-23809" dirty="0">
                <a:latin typeface="Calibri"/>
                <a:cs typeface="Calibri"/>
              </a:rPr>
              <a:t>Let</a:t>
            </a:r>
            <a:r>
              <a:rPr sz="4800" spc="624" baseline="-23809" dirty="0">
                <a:latin typeface="Calibri"/>
                <a:cs typeface="Calibri"/>
              </a:rPr>
              <a:t> </a:t>
            </a:r>
            <a:r>
              <a:rPr sz="3900" i="1" spc="-462" dirty="0">
                <a:latin typeface="Times New Roman"/>
                <a:cs typeface="Times New Roman"/>
              </a:rPr>
              <a:t>w	</a:t>
            </a:r>
            <a:r>
              <a:rPr sz="3900" spc="-696" dirty="0">
                <a:latin typeface="Symbol"/>
                <a:cs typeface="Symbol"/>
              </a:rPr>
              <a:t></a:t>
            </a:r>
            <a:r>
              <a:rPr sz="3900" spc="-696" dirty="0">
                <a:latin typeface="Times New Roman"/>
                <a:cs typeface="Times New Roman"/>
              </a:rPr>
              <a:t>	</a:t>
            </a:r>
            <a:r>
              <a:rPr sz="3900" spc="-348" dirty="0">
                <a:latin typeface="Times New Roman"/>
                <a:cs typeface="Times New Roman"/>
              </a:rPr>
              <a:t>0 1</a:t>
            </a:r>
            <a:r>
              <a:rPr sz="3900" spc="-547" dirty="0">
                <a:latin typeface="Times New Roman"/>
                <a:cs typeface="Times New Roman"/>
              </a:rPr>
              <a:t> </a:t>
            </a:r>
            <a:r>
              <a:rPr sz="3900" spc="-177" dirty="0">
                <a:latin typeface="Times New Roman"/>
                <a:cs typeface="Times New Roman"/>
              </a:rPr>
              <a:t>.</a:t>
            </a:r>
            <a:endParaRPr sz="3900" dirty="0">
              <a:latin typeface="Times New Roman"/>
              <a:cs typeface="Times New Roman"/>
            </a:endParaRPr>
          </a:p>
          <a:p>
            <a:pPr marL="43449">
              <a:spcBef>
                <a:spcPts val="1186"/>
              </a:spcBef>
              <a:tabLst>
                <a:tab pos="6655699" algn="l"/>
              </a:tabLst>
            </a:pPr>
            <a:r>
              <a:rPr sz="3200" spc="-6" dirty="0">
                <a:latin typeface="Calibri"/>
                <a:cs typeface="Calibri"/>
              </a:rPr>
              <a:t>By the </a:t>
            </a:r>
            <a:r>
              <a:rPr sz="3200" spc="-11" dirty="0">
                <a:latin typeface="Calibri"/>
                <a:cs typeface="Calibri"/>
              </a:rPr>
              <a:t>pumping </a:t>
            </a:r>
            <a:r>
              <a:rPr sz="3200" spc="-6" dirty="0">
                <a:latin typeface="Calibri"/>
                <a:cs typeface="Calibri"/>
              </a:rPr>
              <a:t>lemma, we</a:t>
            </a:r>
            <a:r>
              <a:rPr sz="3200" spc="6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break,	</a:t>
            </a:r>
            <a:r>
              <a:rPr sz="3200" i="1" dirty="0">
                <a:latin typeface="Calibri"/>
                <a:cs typeface="Calibri"/>
              </a:rPr>
              <a:t>w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i="1" spc="-6" dirty="0">
                <a:latin typeface="Calibri"/>
                <a:cs typeface="Calibri"/>
              </a:rPr>
              <a:t>xyz </a:t>
            </a:r>
            <a:r>
              <a:rPr sz="3200" spc="-11" dirty="0">
                <a:latin typeface="Calibri"/>
                <a:cs typeface="Calibri"/>
              </a:rPr>
              <a:t>such</a:t>
            </a:r>
            <a:r>
              <a:rPr sz="3200" spc="416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that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23138" y="663850"/>
            <a:ext cx="8009202" cy="736238"/>
          </a:xfrm>
          <a:prstGeom prst="rect">
            <a:avLst/>
          </a:prstGeom>
        </p:spPr>
        <p:txBody>
          <a:bodyPr wrap="none" lIns="104278" tIns="52139" rIns="104278" bIns="52139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Pumping Lemma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4"/>
          <p:cNvSpPr/>
          <p:nvPr/>
        </p:nvSpPr>
        <p:spPr>
          <a:xfrm>
            <a:off x="0" y="106105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89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0054766" y="7191270"/>
            <a:ext cx="118816" cy="229493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1400" dirty="0">
                <a:solidFill>
                  <a:srgbClr val="035B74"/>
                </a:solidFill>
                <a:latin typeface="Times New Roman"/>
                <a:cs typeface="Times New Roman"/>
              </a:rPr>
              <a:t>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8228" y="1633044"/>
            <a:ext cx="5337789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3449">
              <a:spcBef>
                <a:spcPts val="114"/>
              </a:spcBef>
            </a:pPr>
            <a:r>
              <a:rPr sz="3200" spc="-6" dirty="0">
                <a:latin typeface="Calibri"/>
                <a:cs typeface="Calibri"/>
              </a:rPr>
              <a:t>Now,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i="1" dirty="0">
                <a:latin typeface="Calibri"/>
                <a:cs typeface="Calibri"/>
              </a:rPr>
              <a:t>w</a:t>
            </a:r>
            <a:r>
              <a:rPr sz="3200" dirty="0">
                <a:latin typeface="Calibri"/>
                <a:cs typeface="Calibri"/>
              </a:rPr>
              <a:t>| = </a:t>
            </a:r>
            <a:r>
              <a:rPr sz="3200" spc="-6" dirty="0">
                <a:latin typeface="Calibri"/>
                <a:cs typeface="Calibri"/>
              </a:rPr>
              <a:t>|0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1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dirty="0">
                <a:latin typeface="Calibri"/>
                <a:cs typeface="Calibri"/>
              </a:rPr>
              <a:t>+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dirty="0">
                <a:latin typeface="Calibri"/>
                <a:cs typeface="Calibri"/>
              </a:rPr>
              <a:t>=</a:t>
            </a:r>
            <a:r>
              <a:rPr sz="3200" spc="-91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2</a:t>
            </a:r>
            <a:r>
              <a:rPr sz="3200" i="1" spc="-6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8229" y="6870818"/>
            <a:ext cx="7977722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3449">
              <a:spcBef>
                <a:spcPts val="114"/>
              </a:spcBef>
            </a:pPr>
            <a:r>
              <a:rPr sz="3200" spc="-6" dirty="0">
                <a:latin typeface="Calibri"/>
                <a:cs typeface="Calibri"/>
              </a:rPr>
              <a:t>Thus the language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pr </a:t>
            </a:r>
            <a:r>
              <a:rPr sz="3200" spc="-6" dirty="0">
                <a:latin typeface="Calibri"/>
                <a:cs typeface="Calibri"/>
              </a:rPr>
              <a:t>is not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6" dirty="0">
                <a:latin typeface="Calibri"/>
                <a:cs typeface="Calibri"/>
              </a:rPr>
              <a:t>regular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11" dirty="0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2597" y="2027660"/>
            <a:ext cx="0" cy="478578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0"/>
                </a:moveTo>
                <a:lnTo>
                  <a:pt x="0" y="43434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66871" y="2027660"/>
            <a:ext cx="0" cy="478578"/>
          </a:xfrm>
          <a:custGeom>
            <a:avLst/>
            <a:gdLst/>
            <a:ahLst/>
            <a:cxnLst/>
            <a:rect l="l" t="t" r="r" b="b"/>
            <a:pathLst>
              <a:path h="434339">
                <a:moveTo>
                  <a:pt x="0" y="0"/>
                </a:moveTo>
                <a:lnTo>
                  <a:pt x="0" y="43434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5171" y="3406021"/>
            <a:ext cx="0" cy="477179"/>
          </a:xfrm>
          <a:custGeom>
            <a:avLst/>
            <a:gdLst/>
            <a:ahLst/>
            <a:cxnLst/>
            <a:rect l="l" t="t" r="r" b="b"/>
            <a:pathLst>
              <a:path h="433070">
                <a:moveTo>
                  <a:pt x="0" y="0"/>
                </a:moveTo>
                <a:lnTo>
                  <a:pt x="0" y="43307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6766" y="3406021"/>
            <a:ext cx="0" cy="477179"/>
          </a:xfrm>
          <a:custGeom>
            <a:avLst/>
            <a:gdLst/>
            <a:ahLst/>
            <a:cxnLst/>
            <a:rect l="l" t="t" r="r" b="b"/>
            <a:pathLst>
              <a:path h="433070">
                <a:moveTo>
                  <a:pt x="0" y="0"/>
                </a:moveTo>
                <a:lnTo>
                  <a:pt x="0" y="43307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1040" y="3354245"/>
            <a:ext cx="0" cy="580731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0"/>
                </a:moveTo>
                <a:lnTo>
                  <a:pt x="0" y="52705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47591" y="3354245"/>
            <a:ext cx="0" cy="580731"/>
          </a:xfrm>
          <a:custGeom>
            <a:avLst/>
            <a:gdLst/>
            <a:ahLst/>
            <a:cxnLst/>
            <a:rect l="l" t="t" r="r" b="b"/>
            <a:pathLst>
              <a:path h="527050">
                <a:moveTo>
                  <a:pt x="0" y="0"/>
                </a:moveTo>
                <a:lnTo>
                  <a:pt x="0" y="52705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9900" y="2444667"/>
            <a:ext cx="9824725" cy="4532911"/>
          </a:xfrm>
          <a:prstGeom prst="rect">
            <a:avLst/>
          </a:prstGeom>
        </p:spPr>
        <p:txBody>
          <a:bodyPr vert="horz" wrap="square" lIns="0" tIns="225936" rIns="0" bIns="0" rtlCol="0">
            <a:spAutoFit/>
          </a:bodyPr>
          <a:lstStyle/>
          <a:p>
            <a:pPr marL="86898">
              <a:spcBef>
                <a:spcPts val="1779"/>
              </a:spcBef>
              <a:tabLst>
                <a:tab pos="3153691" algn="l"/>
              </a:tabLst>
            </a:pPr>
            <a:r>
              <a:rPr sz="3300" spc="587" dirty="0">
                <a:latin typeface="Symbol"/>
                <a:cs typeface="Symbol"/>
              </a:rPr>
              <a:t></a:t>
            </a:r>
            <a:r>
              <a:rPr sz="3300" spc="-462" dirty="0">
                <a:latin typeface="Times New Roman"/>
                <a:cs typeface="Times New Roman"/>
              </a:rPr>
              <a:t> </a:t>
            </a:r>
            <a:r>
              <a:rPr sz="3300" i="1" spc="143" dirty="0">
                <a:latin typeface="Times New Roman"/>
                <a:cs typeface="Times New Roman"/>
              </a:rPr>
              <a:t>y</a:t>
            </a:r>
            <a:r>
              <a:rPr sz="3300" i="1" spc="108" dirty="0">
                <a:latin typeface="Times New Roman"/>
                <a:cs typeface="Times New Roman"/>
              </a:rPr>
              <a:t> </a:t>
            </a:r>
            <a:r>
              <a:rPr sz="3300" spc="371" dirty="0">
                <a:latin typeface="Symbol"/>
                <a:cs typeface="Symbol"/>
              </a:rPr>
              <a:t></a:t>
            </a:r>
            <a:r>
              <a:rPr sz="3300" spc="-222" dirty="0">
                <a:latin typeface="Times New Roman"/>
                <a:cs typeface="Times New Roman"/>
              </a:rPr>
              <a:t> </a:t>
            </a:r>
            <a:r>
              <a:rPr sz="3300" spc="165" dirty="0">
                <a:latin typeface="Times New Roman"/>
                <a:cs typeface="Times New Roman"/>
              </a:rPr>
              <a:t>0</a:t>
            </a:r>
            <a:r>
              <a:rPr sz="3300" spc="-428" dirty="0">
                <a:latin typeface="Times New Roman"/>
                <a:cs typeface="Times New Roman"/>
              </a:rPr>
              <a:t> </a:t>
            </a:r>
            <a:r>
              <a:rPr sz="2800" i="1" spc="145" baseline="43771" dirty="0">
                <a:latin typeface="Times New Roman"/>
                <a:cs typeface="Times New Roman"/>
              </a:rPr>
              <a:t>p</a:t>
            </a:r>
            <a:r>
              <a:rPr sz="2800" i="1" spc="-94" baseline="43771" dirty="0">
                <a:latin typeface="Times New Roman"/>
                <a:cs typeface="Times New Roman"/>
              </a:rPr>
              <a:t> </a:t>
            </a:r>
            <a:r>
              <a:rPr sz="3300" spc="80" dirty="0">
                <a:latin typeface="Times New Roman"/>
                <a:cs typeface="Times New Roman"/>
              </a:rPr>
              <a:t>,</a:t>
            </a:r>
            <a:r>
              <a:rPr sz="3300" spc="-302" dirty="0">
                <a:latin typeface="Times New Roman"/>
                <a:cs typeface="Times New Roman"/>
              </a:rPr>
              <a:t> </a:t>
            </a:r>
            <a:r>
              <a:rPr sz="3300" spc="154" dirty="0">
                <a:latin typeface="Times New Roman"/>
                <a:cs typeface="Times New Roman"/>
              </a:rPr>
              <a:t>where	</a:t>
            </a:r>
            <a:r>
              <a:rPr sz="3300" spc="165" dirty="0">
                <a:latin typeface="Times New Roman"/>
                <a:cs typeface="Times New Roman"/>
              </a:rPr>
              <a:t>0</a:t>
            </a:r>
            <a:r>
              <a:rPr sz="3300" spc="-91" dirty="0">
                <a:latin typeface="Times New Roman"/>
                <a:cs typeface="Times New Roman"/>
              </a:rPr>
              <a:t> </a:t>
            </a:r>
            <a:r>
              <a:rPr sz="3300" spc="371" dirty="0">
                <a:latin typeface="Symbol"/>
                <a:cs typeface="Symbol"/>
              </a:rPr>
              <a:t></a:t>
            </a:r>
            <a:r>
              <a:rPr sz="3300" spc="261" dirty="0">
                <a:latin typeface="Times New Roman"/>
                <a:cs typeface="Times New Roman"/>
              </a:rPr>
              <a:t> </a:t>
            </a:r>
            <a:r>
              <a:rPr sz="3300" i="1" spc="165" dirty="0">
                <a:latin typeface="Times New Roman"/>
                <a:cs typeface="Times New Roman"/>
              </a:rPr>
              <a:t>p</a:t>
            </a:r>
            <a:r>
              <a:rPr sz="3300" i="1" spc="29" dirty="0">
                <a:latin typeface="Times New Roman"/>
                <a:cs typeface="Times New Roman"/>
              </a:rPr>
              <a:t> </a:t>
            </a:r>
            <a:r>
              <a:rPr sz="3300" spc="371" dirty="0">
                <a:latin typeface="Symbol"/>
                <a:cs typeface="Symbol"/>
              </a:rPr>
              <a:t></a:t>
            </a:r>
            <a:r>
              <a:rPr sz="3300" spc="-188" dirty="0">
                <a:latin typeface="Times New Roman"/>
                <a:cs typeface="Times New Roman"/>
              </a:rPr>
              <a:t> </a:t>
            </a:r>
            <a:r>
              <a:rPr sz="3300" i="1" spc="63" dirty="0">
                <a:latin typeface="Times New Roman"/>
                <a:cs typeface="Times New Roman"/>
              </a:rPr>
              <a:t>n</a:t>
            </a:r>
            <a:r>
              <a:rPr sz="3300" spc="63" dirty="0">
                <a:latin typeface="Times New Roman"/>
                <a:cs typeface="Times New Roman"/>
              </a:rPr>
              <a:t>.</a:t>
            </a:r>
            <a:endParaRPr sz="3300" dirty="0">
              <a:latin typeface="Times New Roman"/>
              <a:cs typeface="Times New Roman"/>
            </a:endParaRPr>
          </a:p>
          <a:p>
            <a:pPr marL="86898">
              <a:spcBef>
                <a:spcPts val="1665"/>
              </a:spcBef>
              <a:tabLst>
                <a:tab pos="1010195" algn="l"/>
                <a:tab pos="2052977" algn="l"/>
              </a:tabLst>
            </a:pPr>
            <a:r>
              <a:rPr sz="3300" spc="587" dirty="0">
                <a:latin typeface="Symbol"/>
                <a:cs typeface="Symbol"/>
              </a:rPr>
              <a:t>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i="1" spc="143" dirty="0">
                <a:latin typeface="Times New Roman"/>
                <a:cs typeface="Times New Roman"/>
              </a:rPr>
              <a:t>y	</a:t>
            </a:r>
            <a:r>
              <a:rPr sz="3300" spc="371" dirty="0">
                <a:latin typeface="Symbol"/>
                <a:cs typeface="Symbol"/>
              </a:rPr>
              <a:t></a:t>
            </a:r>
            <a:r>
              <a:rPr sz="3300" spc="268" dirty="0">
                <a:latin typeface="Times New Roman"/>
                <a:cs typeface="Times New Roman"/>
              </a:rPr>
              <a:t> </a:t>
            </a:r>
            <a:r>
              <a:rPr sz="3300" spc="165" dirty="0">
                <a:latin typeface="Times New Roman"/>
                <a:cs typeface="Times New Roman"/>
              </a:rPr>
              <a:t>0</a:t>
            </a:r>
            <a:r>
              <a:rPr sz="3300" spc="-428" dirty="0">
                <a:latin typeface="Times New Roman"/>
                <a:cs typeface="Times New Roman"/>
              </a:rPr>
              <a:t> </a:t>
            </a:r>
            <a:r>
              <a:rPr sz="2800" i="1" spc="145" baseline="43771" dirty="0">
                <a:latin typeface="Times New Roman"/>
                <a:cs typeface="Times New Roman"/>
              </a:rPr>
              <a:t>p	</a:t>
            </a:r>
            <a:r>
              <a:rPr sz="3300" spc="371" dirty="0">
                <a:latin typeface="Symbol"/>
                <a:cs typeface="Symbol"/>
              </a:rPr>
              <a:t></a:t>
            </a:r>
            <a:r>
              <a:rPr sz="3300" spc="274" dirty="0">
                <a:latin typeface="Times New Roman"/>
                <a:cs typeface="Times New Roman"/>
              </a:rPr>
              <a:t> </a:t>
            </a:r>
            <a:r>
              <a:rPr sz="3300" i="1" spc="165" dirty="0">
                <a:latin typeface="Times New Roman"/>
                <a:cs typeface="Times New Roman"/>
              </a:rPr>
              <a:t>p</a:t>
            </a:r>
            <a:endParaRPr sz="3300" dirty="0">
              <a:latin typeface="Times New Roman"/>
              <a:cs typeface="Times New Roman"/>
            </a:endParaRPr>
          </a:p>
          <a:p>
            <a:pPr>
              <a:spcBef>
                <a:spcPts val="57"/>
              </a:spcBef>
            </a:pPr>
            <a:endParaRPr sz="3500" dirty="0">
              <a:latin typeface="Times New Roman"/>
              <a:cs typeface="Times New Roman"/>
            </a:endParaRPr>
          </a:p>
          <a:p>
            <a:pPr marL="183935" marR="1171681">
              <a:lnSpc>
                <a:spcPct val="134500"/>
              </a:lnSpc>
            </a:pPr>
            <a:r>
              <a:rPr sz="3200" spc="-6" dirty="0">
                <a:latin typeface="Calibri"/>
                <a:cs typeface="Calibri"/>
              </a:rPr>
              <a:t>Now by the </a:t>
            </a:r>
            <a:r>
              <a:rPr sz="3200" spc="-11" dirty="0">
                <a:latin typeface="Calibri"/>
                <a:cs typeface="Calibri"/>
              </a:rPr>
              <a:t>pumping </a:t>
            </a:r>
            <a:r>
              <a:rPr sz="3200" spc="-6" dirty="0">
                <a:latin typeface="Calibri"/>
                <a:cs typeface="Calibri"/>
              </a:rPr>
              <a:t>lemma, the </a:t>
            </a:r>
            <a:r>
              <a:rPr sz="3200" spc="-11" dirty="0">
                <a:latin typeface="Calibri"/>
                <a:cs typeface="Calibri"/>
              </a:rPr>
              <a:t>string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6" dirty="0">
                <a:latin typeface="Calibri"/>
                <a:cs typeface="Calibri"/>
              </a:rPr>
              <a:t>is </a:t>
            </a:r>
            <a:r>
              <a:rPr sz="3200" spc="-11" dirty="0">
                <a:latin typeface="Calibri"/>
                <a:cs typeface="Calibri"/>
              </a:rPr>
              <a:t>in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eq</a:t>
            </a:r>
            <a:r>
              <a:rPr sz="3200" dirty="0">
                <a:latin typeface="Calibri"/>
                <a:cs typeface="Calibri"/>
              </a:rPr>
              <a:t>.  </a:t>
            </a:r>
            <a:r>
              <a:rPr sz="3200" spc="-6" dirty="0">
                <a:latin typeface="Calibri"/>
                <a:cs typeface="Calibri"/>
              </a:rPr>
              <a:t>Here, |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= |</a:t>
            </a:r>
            <a:r>
              <a:rPr sz="3200" i="1" dirty="0">
                <a:latin typeface="Calibri"/>
                <a:cs typeface="Calibri"/>
              </a:rPr>
              <a:t>x</a:t>
            </a:r>
            <a:r>
              <a:rPr sz="3200" dirty="0">
                <a:latin typeface="Calibri"/>
                <a:cs typeface="Calibri"/>
              </a:rPr>
              <a:t>| + </a:t>
            </a:r>
            <a:r>
              <a:rPr sz="3200" i="1" spc="-6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|</a:t>
            </a:r>
            <a:r>
              <a:rPr sz="3200" i="1" spc="-6" dirty="0">
                <a:latin typeface="Calibri"/>
                <a:cs typeface="Calibri"/>
              </a:rPr>
              <a:t>y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≥ </a:t>
            </a:r>
            <a:r>
              <a:rPr sz="3200" i="1" spc="-6" dirty="0">
                <a:latin typeface="Calibri"/>
                <a:cs typeface="Calibri"/>
              </a:rPr>
              <a:t>np </a:t>
            </a:r>
            <a:r>
              <a:rPr sz="3200" dirty="0">
                <a:latin typeface="Calibri"/>
                <a:cs typeface="Calibri"/>
              </a:rPr>
              <a:t>&gt;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endParaRPr sz="3200" dirty="0">
              <a:latin typeface="Calibri"/>
              <a:cs typeface="Calibri"/>
            </a:endParaRPr>
          </a:p>
          <a:p>
            <a:pPr marL="183935">
              <a:spcBef>
                <a:spcPts val="798"/>
              </a:spcBef>
            </a:pPr>
            <a:r>
              <a:rPr sz="3200" spc="-6" dirty="0">
                <a:latin typeface="Calibri"/>
                <a:cs typeface="Calibri"/>
              </a:rPr>
              <a:t>Therefore </a:t>
            </a:r>
            <a:r>
              <a:rPr sz="3200" spc="-11" dirty="0">
                <a:latin typeface="Calibri"/>
                <a:cs typeface="Calibri"/>
              </a:rPr>
              <a:t>the string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6" dirty="0">
                <a:latin typeface="Calibri"/>
                <a:cs typeface="Calibri"/>
              </a:rPr>
              <a:t>has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spc="-6" dirty="0">
                <a:latin typeface="Calibri"/>
                <a:cs typeface="Calibri"/>
              </a:rPr>
              <a:t>1s and more than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i="1" spc="57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0s.</a:t>
            </a:r>
            <a:endParaRPr sz="3200" dirty="0">
              <a:latin typeface="Calibri"/>
              <a:cs typeface="Calibri"/>
            </a:endParaRPr>
          </a:p>
          <a:p>
            <a:pPr marL="183935">
              <a:spcBef>
                <a:spcPts val="787"/>
              </a:spcBef>
            </a:pPr>
            <a:r>
              <a:rPr sz="3200" spc="-6" dirty="0">
                <a:latin typeface="Calibri"/>
                <a:cs typeface="Calibri"/>
              </a:rPr>
              <a:t>So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6" dirty="0">
                <a:latin typeface="Calibri"/>
                <a:cs typeface="Calibri"/>
              </a:rPr>
              <a:t>cannot </a:t>
            </a:r>
            <a:r>
              <a:rPr sz="3200" spc="-11" dirty="0">
                <a:latin typeface="Calibri"/>
                <a:cs typeface="Calibri"/>
              </a:rPr>
              <a:t>be </a:t>
            </a:r>
            <a:r>
              <a:rPr sz="3200" spc="-6" dirty="0">
                <a:latin typeface="Calibri"/>
                <a:cs typeface="Calibri"/>
              </a:rPr>
              <a:t>in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eq</a:t>
            </a:r>
            <a:r>
              <a:rPr sz="3200" dirty="0">
                <a:latin typeface="Calibri"/>
                <a:cs typeface="Calibri"/>
              </a:rPr>
              <a:t>, </a:t>
            </a:r>
            <a:r>
              <a:rPr sz="3200" spc="-6" dirty="0">
                <a:latin typeface="Calibri"/>
                <a:cs typeface="Calibri"/>
              </a:rPr>
              <a:t>which contradicts our </a:t>
            </a:r>
            <a:r>
              <a:rPr sz="3200" spc="-11" dirty="0">
                <a:latin typeface="Calibri"/>
                <a:cs typeface="Calibri"/>
              </a:rPr>
              <a:t>assumption.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58423" y="1933027"/>
            <a:ext cx="3590458" cy="537114"/>
          </a:xfrm>
          <a:prstGeom prst="rect">
            <a:avLst/>
          </a:prstGeom>
        </p:spPr>
        <p:txBody>
          <a:bodyPr vert="horz" wrap="square" lIns="0" tIns="13759" rIns="0" bIns="0" rtlCol="0">
            <a:spAutoFit/>
          </a:bodyPr>
          <a:lstStyle/>
          <a:p>
            <a:pPr marL="14483">
              <a:spcBef>
                <a:spcPts val="108"/>
              </a:spcBef>
              <a:tabLst>
                <a:tab pos="1114473" algn="l"/>
              </a:tabLst>
            </a:pPr>
            <a:r>
              <a:rPr sz="3300" spc="285" dirty="0">
                <a:solidFill>
                  <a:srgbClr val="000000"/>
                </a:solidFill>
                <a:latin typeface="MT Extra"/>
                <a:cs typeface="MT Extra"/>
              </a:rPr>
              <a:t></a:t>
            </a:r>
            <a:r>
              <a:rPr sz="3300" spc="239" dirty="0">
                <a:solidFill>
                  <a:srgbClr val="000000"/>
                </a:solidFill>
              </a:rPr>
              <a:t> </a:t>
            </a:r>
            <a:r>
              <a:rPr sz="3300" i="1" spc="137" dirty="0">
                <a:solidFill>
                  <a:srgbClr val="000000"/>
                </a:solidFill>
              </a:rPr>
              <a:t>xy</a:t>
            </a:r>
            <a:r>
              <a:rPr sz="3300" i="1" spc="137" dirty="0">
                <a:solidFill>
                  <a:srgbClr val="000000"/>
                </a:solidFill>
              </a:rPr>
              <a:t>	</a:t>
            </a:r>
            <a:r>
              <a:rPr sz="3300" spc="371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3300" spc="-200" dirty="0">
                <a:solidFill>
                  <a:srgbClr val="000000"/>
                </a:solidFill>
              </a:rPr>
              <a:t> </a:t>
            </a:r>
            <a:r>
              <a:rPr sz="3300" i="1" spc="165" dirty="0">
                <a:solidFill>
                  <a:srgbClr val="000000"/>
                </a:solidFill>
              </a:rPr>
              <a:t>n</a:t>
            </a:r>
            <a:r>
              <a:rPr sz="3300" i="1" spc="-40" dirty="0">
                <a:solidFill>
                  <a:srgbClr val="000000"/>
                </a:solidFill>
              </a:rPr>
              <a:t> </a:t>
            </a:r>
            <a:r>
              <a:rPr sz="3300" spc="148" dirty="0">
                <a:solidFill>
                  <a:srgbClr val="000000"/>
                </a:solidFill>
              </a:rPr>
              <a:t>and</a:t>
            </a:r>
            <a:r>
              <a:rPr sz="3300" spc="376" dirty="0">
                <a:solidFill>
                  <a:srgbClr val="000000"/>
                </a:solidFill>
              </a:rPr>
              <a:t> </a:t>
            </a:r>
            <a:r>
              <a:rPr sz="3300" i="1" spc="143" dirty="0">
                <a:solidFill>
                  <a:srgbClr val="000000"/>
                </a:solidFill>
              </a:rPr>
              <a:t>y</a:t>
            </a:r>
            <a:r>
              <a:rPr sz="3300" i="1" spc="97" dirty="0">
                <a:solidFill>
                  <a:srgbClr val="000000"/>
                </a:solidFill>
              </a:rPr>
              <a:t> </a:t>
            </a:r>
            <a:r>
              <a:rPr sz="3300" spc="371" dirty="0">
                <a:solidFill>
                  <a:srgbClr val="000000"/>
                </a:solidFill>
                <a:latin typeface="Symbol"/>
                <a:cs typeface="Symbol"/>
              </a:rPr>
              <a:t></a:t>
            </a:r>
            <a:r>
              <a:rPr sz="3300" spc="-308" dirty="0">
                <a:solidFill>
                  <a:srgbClr val="000000"/>
                </a:solidFill>
              </a:rPr>
              <a:t> </a:t>
            </a:r>
            <a:r>
              <a:rPr sz="3400" spc="222" dirty="0">
                <a:solidFill>
                  <a:srgbClr val="000000"/>
                </a:solidFill>
                <a:latin typeface="Symbol"/>
                <a:cs typeface="Symbol"/>
              </a:rPr>
              <a:t></a:t>
            </a:r>
            <a:endParaRPr sz="3400" dirty="0">
              <a:latin typeface="Symbol"/>
              <a:cs typeface="Symbo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601039" y="599118"/>
            <a:ext cx="8089061" cy="736238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Pumping Lemma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9868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3081" y="1986618"/>
            <a:ext cx="10005012" cy="999509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28966" marR="20276">
              <a:spcBef>
                <a:spcPts val="114"/>
              </a:spcBef>
              <a:tabLst>
                <a:tab pos="1658313" algn="l"/>
                <a:tab pos="2798131" algn="l"/>
                <a:tab pos="3593252" algn="l"/>
                <a:tab pos="4411546" algn="l"/>
                <a:tab pos="4959731" algn="l"/>
                <a:tab pos="5891717" algn="l"/>
                <a:tab pos="7193022" algn="l"/>
                <a:tab pos="8298081" algn="l"/>
                <a:tab pos="9177928" algn="l"/>
              </a:tabLst>
            </a:pP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3200" spc="-17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</a:t>
            </a:r>
            <a:r>
              <a:rPr lang="en-US"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3200" spc="-17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</a:t>
            </a:r>
            <a:r>
              <a:rPr sz="3200" i="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700" i="1" baseline="-24305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consisting 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0s and 1s which is</a:t>
            </a:r>
            <a:r>
              <a:rPr sz="3200" spc="667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palindrome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3200" spc="-6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3200" spc="-11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</a:t>
            </a:r>
            <a:r>
              <a:rPr sz="3200" spc="23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5252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4294967295"/>
          </p:nvPr>
        </p:nvSpPr>
        <p:spPr>
          <a:xfrm>
            <a:off x="7552214" y="7003758"/>
            <a:ext cx="24060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608"/>
              </a:lnSpc>
            </a:pPr>
            <a:fld id="{81D60167-4931-47E6-BA6A-407CBD079E47}" type="slidenum">
              <a:rPr dirty="0"/>
              <a:pPr marL="28966">
                <a:lnSpc>
                  <a:spcPts val="1608"/>
                </a:lnSpc>
              </a:pPr>
              <a:t>41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343081" y="3427012"/>
            <a:ext cx="10003527" cy="1556072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28966">
              <a:spcBef>
                <a:spcPts val="114"/>
              </a:spcBef>
            </a:pPr>
            <a:r>
              <a:rPr sz="3200" b="1" i="1" spc="-6" dirty="0">
                <a:solidFill>
                  <a:srgbClr val="252525"/>
                </a:solidFill>
                <a:latin typeface="Calibri"/>
                <a:cs typeface="Calibri"/>
              </a:rPr>
              <a:t>Sol</a:t>
            </a:r>
            <a:r>
              <a:rPr sz="2700" b="1" i="1" spc="-8" baseline="29513" dirty="0">
                <a:solidFill>
                  <a:srgbClr val="252525"/>
                </a:solidFill>
                <a:latin typeface="Calibri"/>
                <a:cs typeface="Calibri"/>
              </a:rPr>
              <a:t>n</a:t>
            </a:r>
            <a:r>
              <a:rPr sz="3200" b="1" spc="-6" dirty="0">
                <a:solidFill>
                  <a:srgbClr val="252525"/>
                </a:solidFill>
                <a:latin typeface="Calibri"/>
                <a:cs typeface="Calibri"/>
              </a:rPr>
              <a:t>:</a:t>
            </a:r>
            <a:endParaRPr sz="3200" dirty="0">
              <a:latin typeface="Calibri"/>
              <a:cs typeface="Calibri"/>
            </a:endParaRPr>
          </a:p>
          <a:p>
            <a:pPr marL="28966"/>
            <a:r>
              <a:rPr sz="3200" spc="-11" dirty="0">
                <a:latin typeface="Calibri"/>
                <a:cs typeface="Calibri"/>
              </a:rPr>
              <a:t>Suppose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pal </a:t>
            </a:r>
            <a:r>
              <a:rPr sz="3200" spc="-6" dirty="0">
                <a:latin typeface="Calibri"/>
                <a:cs typeface="Calibri"/>
              </a:rPr>
              <a:t>is</a:t>
            </a:r>
            <a:r>
              <a:rPr sz="3200" spc="-103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regular.</a:t>
            </a:r>
            <a:endParaRPr sz="3200" dirty="0">
              <a:latin typeface="Calibri"/>
              <a:cs typeface="Calibri"/>
            </a:endParaRPr>
          </a:p>
          <a:p>
            <a:pPr marL="28966">
              <a:spcBef>
                <a:spcPts val="523"/>
              </a:spcBef>
            </a:pPr>
            <a:r>
              <a:rPr sz="3200" spc="-6" dirty="0">
                <a:latin typeface="Calibri"/>
                <a:cs typeface="Calibri"/>
              </a:rPr>
              <a:t>Then </a:t>
            </a:r>
            <a:r>
              <a:rPr sz="3200" spc="-11" dirty="0">
                <a:latin typeface="Calibri"/>
                <a:cs typeface="Calibri"/>
              </a:rPr>
              <a:t>there will </a:t>
            </a:r>
            <a:r>
              <a:rPr sz="3200" spc="-6" dirty="0">
                <a:latin typeface="Calibri"/>
                <a:cs typeface="Calibri"/>
              </a:rPr>
              <a:t>be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6" dirty="0">
                <a:latin typeface="Calibri"/>
                <a:cs typeface="Calibri"/>
              </a:rPr>
              <a:t>constant</a:t>
            </a:r>
            <a:r>
              <a:rPr sz="3200" spc="217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spc="-11" dirty="0">
                <a:latin typeface="Calibri"/>
                <a:cs typeface="Calibri"/>
              </a:rPr>
              <a:t>satisfying </a:t>
            </a:r>
            <a:r>
              <a:rPr sz="3200" spc="-6" dirty="0">
                <a:latin typeface="Calibri"/>
                <a:cs typeface="Calibri"/>
              </a:rPr>
              <a:t>the </a:t>
            </a:r>
            <a:r>
              <a:rPr sz="3200" spc="-11" dirty="0">
                <a:latin typeface="Calibri"/>
                <a:cs typeface="Calibri"/>
              </a:rPr>
              <a:t>conditions </a:t>
            </a:r>
            <a:r>
              <a:rPr sz="3200" spc="-6" dirty="0">
                <a:latin typeface="Calibri"/>
                <a:cs typeface="Calibri"/>
              </a:rPr>
              <a:t>of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7932" y="4901929"/>
            <a:ext cx="3539218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3200" spc="-6" dirty="0">
                <a:latin typeface="Calibri"/>
                <a:cs typeface="Calibri"/>
              </a:rPr>
              <a:t>the </a:t>
            </a:r>
            <a:r>
              <a:rPr sz="3200" spc="-11" dirty="0">
                <a:latin typeface="Calibri"/>
                <a:cs typeface="Calibri"/>
              </a:rPr>
              <a:t>pumping</a:t>
            </a:r>
            <a:r>
              <a:rPr sz="3200" spc="-97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lemma.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7932" y="5470065"/>
            <a:ext cx="550263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3200" spc="-6" dirty="0">
                <a:latin typeface="Calibri"/>
                <a:cs typeface="Calibri"/>
              </a:rPr>
              <a:t>Le</a:t>
            </a:r>
            <a:r>
              <a:rPr sz="3200" dirty="0"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7932" y="5940249"/>
            <a:ext cx="9754756" cy="98925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lnSpc>
                <a:spcPts val="3825"/>
              </a:lnSpc>
              <a:spcBef>
                <a:spcPts val="114"/>
              </a:spcBef>
              <a:tabLst>
                <a:tab pos="6626733" algn="l"/>
              </a:tabLst>
            </a:pPr>
            <a:r>
              <a:rPr sz="3200" spc="-6" dirty="0">
                <a:latin typeface="Calibri"/>
                <a:cs typeface="Calibri"/>
              </a:rPr>
              <a:t>By the </a:t>
            </a:r>
            <a:r>
              <a:rPr sz="3200" spc="-11" dirty="0">
                <a:latin typeface="Calibri"/>
                <a:cs typeface="Calibri"/>
              </a:rPr>
              <a:t>pumping </a:t>
            </a:r>
            <a:r>
              <a:rPr sz="3200" spc="-6" dirty="0">
                <a:latin typeface="Calibri"/>
                <a:cs typeface="Calibri"/>
              </a:rPr>
              <a:t>lemma, we</a:t>
            </a:r>
            <a:r>
              <a:rPr sz="3200" spc="6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can</a:t>
            </a:r>
            <a:r>
              <a:rPr sz="3200" spc="120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break,	</a:t>
            </a:r>
            <a:r>
              <a:rPr sz="3200" i="1" dirty="0">
                <a:latin typeface="Calibri"/>
                <a:cs typeface="Calibri"/>
              </a:rPr>
              <a:t>w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i="1" spc="-6" dirty="0">
                <a:latin typeface="Calibri"/>
                <a:cs typeface="Calibri"/>
              </a:rPr>
              <a:t>xyz </a:t>
            </a:r>
            <a:r>
              <a:rPr sz="3200" spc="-11" dirty="0">
                <a:latin typeface="Calibri"/>
                <a:cs typeface="Calibri"/>
              </a:rPr>
              <a:t>such</a:t>
            </a:r>
            <a:r>
              <a:rPr sz="3200" spc="416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that</a:t>
            </a:r>
            <a:endParaRPr sz="3200">
              <a:latin typeface="Calibri"/>
              <a:cs typeface="Calibri"/>
            </a:endParaRPr>
          </a:p>
          <a:p>
            <a:pPr marL="14483">
              <a:lnSpc>
                <a:spcPts val="3825"/>
              </a:lnSpc>
            </a:pPr>
            <a:r>
              <a:rPr sz="3200" i="1" dirty="0">
                <a:latin typeface="Calibri"/>
                <a:cs typeface="Calibri"/>
              </a:rPr>
              <a:t>y </a:t>
            </a:r>
            <a:r>
              <a:rPr sz="3200" dirty="0">
                <a:latin typeface="Calibri"/>
                <a:cs typeface="Calibri"/>
              </a:rPr>
              <a:t>≠ ε and </a:t>
            </a:r>
            <a:r>
              <a:rPr sz="3200" spc="-6" dirty="0">
                <a:latin typeface="Calibri"/>
                <a:cs typeface="Calibri"/>
              </a:rPr>
              <a:t>|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≤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1021" y="5230777"/>
            <a:ext cx="1879514" cy="602325"/>
          </a:xfrm>
          <a:prstGeom prst="rect">
            <a:avLst/>
          </a:prstGeom>
        </p:spPr>
        <p:txBody>
          <a:bodyPr vert="horz" wrap="square" lIns="0" tIns="17380" rIns="0" bIns="0" rtlCol="0">
            <a:spAutoFit/>
          </a:bodyPr>
          <a:lstStyle/>
          <a:p>
            <a:pPr marL="43449">
              <a:spcBef>
                <a:spcPts val="137"/>
              </a:spcBef>
              <a:tabLst>
                <a:tab pos="882744" algn="l"/>
              </a:tabLst>
            </a:pPr>
            <a:r>
              <a:rPr sz="3800" i="1" spc="-536" dirty="0">
                <a:latin typeface="Times New Roman"/>
                <a:cs typeface="Times New Roman"/>
              </a:rPr>
              <a:t>w  </a:t>
            </a:r>
            <a:r>
              <a:rPr sz="3800" i="1" spc="-371" dirty="0">
                <a:latin typeface="Times New Roman"/>
                <a:cs typeface="Times New Roman"/>
              </a:rPr>
              <a:t> </a:t>
            </a:r>
            <a:r>
              <a:rPr sz="3800" spc="-787" dirty="0">
                <a:latin typeface="Symbol"/>
                <a:cs typeface="Symbol"/>
              </a:rPr>
              <a:t></a:t>
            </a:r>
            <a:r>
              <a:rPr sz="3800" spc="-787" dirty="0">
                <a:latin typeface="Times New Roman"/>
                <a:cs typeface="Times New Roman"/>
              </a:rPr>
              <a:t>	</a:t>
            </a:r>
            <a:r>
              <a:rPr sz="3800" spc="-302" dirty="0">
                <a:latin typeface="Times New Roman"/>
                <a:cs typeface="Times New Roman"/>
              </a:rPr>
              <a:t>0</a:t>
            </a:r>
            <a:r>
              <a:rPr sz="3300" i="1" spc="-453" baseline="42735" dirty="0">
                <a:latin typeface="Times New Roman"/>
                <a:cs typeface="Times New Roman"/>
              </a:rPr>
              <a:t>n</a:t>
            </a:r>
            <a:r>
              <a:rPr sz="3800" spc="-302" dirty="0">
                <a:latin typeface="Times New Roman"/>
                <a:cs typeface="Times New Roman"/>
              </a:rPr>
              <a:t>10</a:t>
            </a:r>
            <a:r>
              <a:rPr sz="3300" i="1" spc="-453" baseline="42735" dirty="0">
                <a:latin typeface="Times New Roman"/>
                <a:cs typeface="Times New Roman"/>
              </a:rPr>
              <a:t>n</a:t>
            </a:r>
            <a:r>
              <a:rPr sz="3800" spc="-302" dirty="0">
                <a:latin typeface="Times New Roman"/>
                <a:cs typeface="Times New Roman"/>
              </a:rPr>
              <a:t>.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14898" y="690950"/>
            <a:ext cx="8009202" cy="736238"/>
          </a:xfrm>
          <a:prstGeom prst="rect">
            <a:avLst/>
          </a:prstGeom>
        </p:spPr>
        <p:txBody>
          <a:bodyPr wrap="none" lIns="104278" tIns="52139" rIns="104278" bIns="52139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Pumping Lemma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73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43080" y="1800966"/>
            <a:ext cx="6729416" cy="5070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28966">
              <a:spcBef>
                <a:spcPts val="114"/>
              </a:spcBef>
            </a:pPr>
            <a:r>
              <a:rPr sz="3200" spc="-6" dirty="0">
                <a:latin typeface="Calibri"/>
                <a:cs typeface="Calibri"/>
              </a:rPr>
              <a:t>Now, </a:t>
            </a:r>
            <a:r>
              <a:rPr sz="3200" dirty="0">
                <a:latin typeface="Calibri"/>
                <a:cs typeface="Calibri"/>
              </a:rPr>
              <a:t>|</a:t>
            </a:r>
            <a:r>
              <a:rPr sz="3200" i="1" dirty="0">
                <a:latin typeface="Calibri"/>
                <a:cs typeface="Calibri"/>
              </a:rPr>
              <a:t>w</a:t>
            </a:r>
            <a:r>
              <a:rPr sz="3200" dirty="0">
                <a:latin typeface="Calibri"/>
                <a:cs typeface="Calibri"/>
              </a:rPr>
              <a:t>| = </a:t>
            </a:r>
            <a:r>
              <a:rPr sz="3200" spc="-6" dirty="0">
                <a:latin typeface="Calibri"/>
                <a:cs typeface="Calibri"/>
              </a:rPr>
              <a:t>|0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10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=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dirty="0">
                <a:latin typeface="Calibri"/>
                <a:cs typeface="Calibri"/>
              </a:rPr>
              <a:t>+ 1 +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dirty="0">
                <a:latin typeface="Calibri"/>
                <a:cs typeface="Calibri"/>
              </a:rPr>
              <a:t>= 2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dirty="0">
                <a:latin typeface="Calibri"/>
                <a:cs typeface="Calibri"/>
              </a:rPr>
              <a:t>+</a:t>
            </a:r>
            <a:r>
              <a:rPr sz="3200" spc="-130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1.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2798" y="2537025"/>
            <a:ext cx="0" cy="477179"/>
          </a:xfrm>
          <a:custGeom>
            <a:avLst/>
            <a:gdLst/>
            <a:ahLst/>
            <a:cxnLst/>
            <a:rect l="l" t="t" r="r" b="b"/>
            <a:pathLst>
              <a:path h="433069">
                <a:moveTo>
                  <a:pt x="0" y="0"/>
                </a:moveTo>
                <a:lnTo>
                  <a:pt x="0" y="43306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47070" y="2537025"/>
            <a:ext cx="0" cy="477179"/>
          </a:xfrm>
          <a:custGeom>
            <a:avLst/>
            <a:gdLst/>
            <a:ahLst/>
            <a:cxnLst/>
            <a:rect l="l" t="t" r="r" b="b"/>
            <a:pathLst>
              <a:path h="433069">
                <a:moveTo>
                  <a:pt x="0" y="0"/>
                </a:moveTo>
                <a:lnTo>
                  <a:pt x="0" y="43306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5372" y="3913987"/>
            <a:ext cx="0" cy="477179"/>
          </a:xfrm>
          <a:custGeom>
            <a:avLst/>
            <a:gdLst/>
            <a:ahLst/>
            <a:cxnLst/>
            <a:rect l="l" t="t" r="r" b="b"/>
            <a:pathLst>
              <a:path h="433070">
                <a:moveTo>
                  <a:pt x="0" y="0"/>
                </a:moveTo>
                <a:lnTo>
                  <a:pt x="0" y="43307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56966" y="3913987"/>
            <a:ext cx="0" cy="477179"/>
          </a:xfrm>
          <a:custGeom>
            <a:avLst/>
            <a:gdLst/>
            <a:ahLst/>
            <a:cxnLst/>
            <a:rect l="l" t="t" r="r" b="b"/>
            <a:pathLst>
              <a:path h="433070">
                <a:moveTo>
                  <a:pt x="0" y="0"/>
                </a:moveTo>
                <a:lnTo>
                  <a:pt x="0" y="433070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81239" y="3863610"/>
            <a:ext cx="0" cy="579332"/>
          </a:xfrm>
          <a:custGeom>
            <a:avLst/>
            <a:gdLst/>
            <a:ahLst/>
            <a:cxnLst/>
            <a:rect l="l" t="t" r="r" b="b"/>
            <a:pathLst>
              <a:path h="525779">
                <a:moveTo>
                  <a:pt x="0" y="0"/>
                </a:moveTo>
                <a:lnTo>
                  <a:pt x="0" y="52577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27792" y="3863610"/>
            <a:ext cx="0" cy="579332"/>
          </a:xfrm>
          <a:custGeom>
            <a:avLst/>
            <a:gdLst/>
            <a:ahLst/>
            <a:cxnLst/>
            <a:rect l="l" t="t" r="r" b="b"/>
            <a:pathLst>
              <a:path h="525779">
                <a:moveTo>
                  <a:pt x="0" y="0"/>
                </a:moveTo>
                <a:lnTo>
                  <a:pt x="0" y="525779"/>
                </a:lnTo>
              </a:path>
            </a:pathLst>
          </a:custGeom>
          <a:ln w="152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64363" y="2952633"/>
            <a:ext cx="8942356" cy="2958121"/>
          </a:xfrm>
          <a:prstGeom prst="rect">
            <a:avLst/>
          </a:prstGeom>
        </p:spPr>
        <p:txBody>
          <a:bodyPr vert="horz" wrap="square" lIns="0" tIns="225936" rIns="0" bIns="0" rtlCol="0">
            <a:spAutoFit/>
          </a:bodyPr>
          <a:lstStyle/>
          <a:p>
            <a:pPr marL="86898">
              <a:spcBef>
                <a:spcPts val="1779"/>
              </a:spcBef>
              <a:tabLst>
                <a:tab pos="3153691" algn="l"/>
              </a:tabLst>
            </a:pPr>
            <a:r>
              <a:rPr sz="3300" spc="587" dirty="0">
                <a:latin typeface="Symbol"/>
                <a:cs typeface="Symbol"/>
              </a:rPr>
              <a:t></a:t>
            </a:r>
            <a:r>
              <a:rPr sz="3300" spc="-462" dirty="0">
                <a:latin typeface="Times New Roman"/>
                <a:cs typeface="Times New Roman"/>
              </a:rPr>
              <a:t> </a:t>
            </a:r>
            <a:r>
              <a:rPr sz="3300" i="1" spc="143" dirty="0">
                <a:latin typeface="Times New Roman"/>
                <a:cs typeface="Times New Roman"/>
              </a:rPr>
              <a:t>y</a:t>
            </a:r>
            <a:r>
              <a:rPr sz="3300" i="1" spc="114" dirty="0">
                <a:latin typeface="Times New Roman"/>
                <a:cs typeface="Times New Roman"/>
              </a:rPr>
              <a:t> </a:t>
            </a:r>
            <a:r>
              <a:rPr sz="3300" spc="376" dirty="0">
                <a:latin typeface="Symbol"/>
                <a:cs typeface="Symbol"/>
              </a:rPr>
              <a:t></a:t>
            </a:r>
            <a:r>
              <a:rPr sz="3300" spc="-233" dirty="0">
                <a:latin typeface="Times New Roman"/>
                <a:cs typeface="Times New Roman"/>
              </a:rPr>
              <a:t> </a:t>
            </a:r>
            <a:r>
              <a:rPr sz="3300" spc="160" dirty="0">
                <a:latin typeface="Times New Roman"/>
                <a:cs typeface="Times New Roman"/>
              </a:rPr>
              <a:t>0</a:t>
            </a:r>
            <a:r>
              <a:rPr sz="3300" spc="-405" dirty="0">
                <a:latin typeface="Times New Roman"/>
                <a:cs typeface="Times New Roman"/>
              </a:rPr>
              <a:t> </a:t>
            </a:r>
            <a:r>
              <a:rPr sz="2800" i="1" spc="145" baseline="42087" dirty="0">
                <a:latin typeface="Times New Roman"/>
                <a:cs typeface="Times New Roman"/>
              </a:rPr>
              <a:t>p</a:t>
            </a:r>
            <a:r>
              <a:rPr sz="2800" i="1" spc="-101" baseline="42087" dirty="0">
                <a:latin typeface="Times New Roman"/>
                <a:cs typeface="Times New Roman"/>
              </a:rPr>
              <a:t> </a:t>
            </a:r>
            <a:r>
              <a:rPr sz="3300" spc="80" dirty="0">
                <a:latin typeface="Times New Roman"/>
                <a:cs typeface="Times New Roman"/>
              </a:rPr>
              <a:t>,</a:t>
            </a:r>
            <a:r>
              <a:rPr sz="3300" spc="-302" dirty="0">
                <a:latin typeface="Times New Roman"/>
                <a:cs typeface="Times New Roman"/>
              </a:rPr>
              <a:t> </a:t>
            </a:r>
            <a:r>
              <a:rPr sz="3300" spc="148" dirty="0">
                <a:latin typeface="Times New Roman"/>
                <a:cs typeface="Times New Roman"/>
              </a:rPr>
              <a:t>where	</a:t>
            </a:r>
            <a:r>
              <a:rPr sz="3300" spc="160" dirty="0">
                <a:latin typeface="Times New Roman"/>
                <a:cs typeface="Times New Roman"/>
              </a:rPr>
              <a:t>0</a:t>
            </a:r>
            <a:r>
              <a:rPr sz="3300" spc="-97" dirty="0">
                <a:latin typeface="Times New Roman"/>
                <a:cs typeface="Times New Roman"/>
              </a:rPr>
              <a:t> </a:t>
            </a:r>
            <a:r>
              <a:rPr sz="3300" spc="376" dirty="0">
                <a:latin typeface="Symbol"/>
                <a:cs typeface="Symbol"/>
              </a:rPr>
              <a:t></a:t>
            </a:r>
            <a:r>
              <a:rPr sz="3300" spc="274" dirty="0">
                <a:latin typeface="Times New Roman"/>
                <a:cs typeface="Times New Roman"/>
              </a:rPr>
              <a:t> </a:t>
            </a:r>
            <a:r>
              <a:rPr sz="3300" i="1" spc="160" dirty="0">
                <a:latin typeface="Times New Roman"/>
                <a:cs typeface="Times New Roman"/>
              </a:rPr>
              <a:t>p</a:t>
            </a:r>
            <a:r>
              <a:rPr sz="3300" i="1" spc="17" dirty="0">
                <a:latin typeface="Times New Roman"/>
                <a:cs typeface="Times New Roman"/>
              </a:rPr>
              <a:t> </a:t>
            </a:r>
            <a:r>
              <a:rPr sz="3300" spc="376" dirty="0">
                <a:latin typeface="Symbol"/>
                <a:cs typeface="Symbol"/>
              </a:rPr>
              <a:t></a:t>
            </a:r>
            <a:r>
              <a:rPr sz="3300" spc="-182" dirty="0">
                <a:latin typeface="Times New Roman"/>
                <a:cs typeface="Times New Roman"/>
              </a:rPr>
              <a:t> </a:t>
            </a:r>
            <a:r>
              <a:rPr sz="3300" i="1" spc="63" dirty="0">
                <a:latin typeface="Times New Roman"/>
                <a:cs typeface="Times New Roman"/>
              </a:rPr>
              <a:t>n</a:t>
            </a:r>
            <a:r>
              <a:rPr sz="3300" spc="63" dirty="0">
                <a:latin typeface="Times New Roman"/>
                <a:cs typeface="Times New Roman"/>
              </a:rPr>
              <a:t>.</a:t>
            </a:r>
            <a:endParaRPr sz="3300" dirty="0">
              <a:latin typeface="Times New Roman"/>
              <a:cs typeface="Times New Roman"/>
            </a:endParaRPr>
          </a:p>
          <a:p>
            <a:pPr marL="86898">
              <a:spcBef>
                <a:spcPts val="1665"/>
              </a:spcBef>
              <a:tabLst>
                <a:tab pos="1010195" algn="l"/>
                <a:tab pos="2052977" algn="l"/>
              </a:tabLst>
            </a:pPr>
            <a:r>
              <a:rPr sz="3300" spc="587" dirty="0">
                <a:latin typeface="Symbol"/>
                <a:cs typeface="Symbol"/>
              </a:rPr>
              <a:t></a:t>
            </a:r>
            <a:r>
              <a:rPr sz="3300" spc="40" dirty="0">
                <a:latin typeface="Times New Roman"/>
                <a:cs typeface="Times New Roman"/>
              </a:rPr>
              <a:t> </a:t>
            </a:r>
            <a:r>
              <a:rPr sz="3300" i="1" spc="143" dirty="0">
                <a:latin typeface="Times New Roman"/>
                <a:cs typeface="Times New Roman"/>
              </a:rPr>
              <a:t>y	</a:t>
            </a:r>
            <a:r>
              <a:rPr sz="3300" spc="376" dirty="0">
                <a:latin typeface="Symbol"/>
                <a:cs typeface="Symbol"/>
              </a:rPr>
              <a:t></a:t>
            </a:r>
            <a:r>
              <a:rPr sz="3300" spc="261" dirty="0">
                <a:latin typeface="Times New Roman"/>
                <a:cs typeface="Times New Roman"/>
              </a:rPr>
              <a:t> </a:t>
            </a:r>
            <a:r>
              <a:rPr sz="3300" spc="160" dirty="0">
                <a:latin typeface="Times New Roman"/>
                <a:cs typeface="Times New Roman"/>
              </a:rPr>
              <a:t>0</a:t>
            </a:r>
            <a:r>
              <a:rPr sz="3300" spc="-422" dirty="0">
                <a:latin typeface="Times New Roman"/>
                <a:cs typeface="Times New Roman"/>
              </a:rPr>
              <a:t> </a:t>
            </a:r>
            <a:r>
              <a:rPr sz="2800" i="1" spc="145" baseline="43771" dirty="0">
                <a:latin typeface="Times New Roman"/>
                <a:cs typeface="Times New Roman"/>
              </a:rPr>
              <a:t>p	</a:t>
            </a:r>
            <a:r>
              <a:rPr sz="3300" spc="376" dirty="0">
                <a:latin typeface="Symbol"/>
                <a:cs typeface="Symbol"/>
              </a:rPr>
              <a:t></a:t>
            </a:r>
            <a:r>
              <a:rPr sz="3300" spc="261" dirty="0">
                <a:latin typeface="Times New Roman"/>
                <a:cs typeface="Times New Roman"/>
              </a:rPr>
              <a:t> </a:t>
            </a:r>
            <a:r>
              <a:rPr sz="3300" i="1" spc="160" dirty="0">
                <a:latin typeface="Times New Roman"/>
                <a:cs typeface="Times New Roman"/>
              </a:rPr>
              <a:t>p</a:t>
            </a:r>
            <a:endParaRPr sz="3300" dirty="0">
              <a:latin typeface="Times New Roman"/>
              <a:cs typeface="Times New Roman"/>
            </a:endParaRPr>
          </a:p>
          <a:p>
            <a:pPr marL="105726" marR="49242">
              <a:lnSpc>
                <a:spcPct val="134500"/>
              </a:lnSpc>
              <a:spcBef>
                <a:spcPts val="1289"/>
              </a:spcBef>
            </a:pPr>
            <a:r>
              <a:rPr sz="3200" spc="-6" dirty="0">
                <a:latin typeface="Calibri"/>
                <a:cs typeface="Calibri"/>
              </a:rPr>
              <a:t>Now by the </a:t>
            </a:r>
            <a:r>
              <a:rPr sz="3200" spc="-11" dirty="0">
                <a:latin typeface="Calibri"/>
                <a:cs typeface="Calibri"/>
              </a:rPr>
              <a:t>pumping </a:t>
            </a:r>
            <a:r>
              <a:rPr sz="3200" spc="-6" dirty="0">
                <a:latin typeface="Calibri"/>
                <a:cs typeface="Calibri"/>
              </a:rPr>
              <a:t>lemma, the </a:t>
            </a:r>
            <a:r>
              <a:rPr sz="3200" spc="-11" dirty="0">
                <a:latin typeface="Calibri"/>
                <a:cs typeface="Calibri"/>
              </a:rPr>
              <a:t>string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6" dirty="0">
                <a:latin typeface="Calibri"/>
                <a:cs typeface="Calibri"/>
              </a:rPr>
              <a:t>is </a:t>
            </a:r>
            <a:r>
              <a:rPr sz="3200" spc="-11" dirty="0">
                <a:latin typeface="Calibri"/>
                <a:cs typeface="Calibri"/>
              </a:rPr>
              <a:t>in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pal</a:t>
            </a:r>
            <a:r>
              <a:rPr sz="3200" dirty="0">
                <a:latin typeface="Calibri"/>
                <a:cs typeface="Calibri"/>
              </a:rPr>
              <a:t>.  </a:t>
            </a:r>
            <a:r>
              <a:rPr sz="3200" spc="-6" dirty="0">
                <a:latin typeface="Calibri"/>
                <a:cs typeface="Calibri"/>
              </a:rPr>
              <a:t>Here, |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= |</a:t>
            </a:r>
            <a:r>
              <a:rPr sz="3200" i="1" dirty="0">
                <a:latin typeface="Calibri"/>
                <a:cs typeface="Calibri"/>
              </a:rPr>
              <a:t>x</a:t>
            </a:r>
            <a:r>
              <a:rPr sz="3200" dirty="0">
                <a:latin typeface="Calibri"/>
                <a:cs typeface="Calibri"/>
              </a:rPr>
              <a:t>| + </a:t>
            </a:r>
            <a:r>
              <a:rPr sz="3200" i="1" spc="-6" dirty="0">
                <a:latin typeface="Calibri"/>
                <a:cs typeface="Calibri"/>
              </a:rPr>
              <a:t>n</a:t>
            </a:r>
            <a:r>
              <a:rPr sz="3200" spc="-6" dirty="0">
                <a:latin typeface="Calibri"/>
                <a:cs typeface="Calibri"/>
              </a:rPr>
              <a:t>|</a:t>
            </a:r>
            <a:r>
              <a:rPr sz="3200" i="1" spc="-6" dirty="0">
                <a:latin typeface="Calibri"/>
                <a:cs typeface="Calibri"/>
              </a:rPr>
              <a:t>y</a:t>
            </a:r>
            <a:r>
              <a:rPr sz="3200" spc="-6" dirty="0">
                <a:latin typeface="Calibri"/>
                <a:cs typeface="Calibri"/>
              </a:rPr>
              <a:t>| </a:t>
            </a:r>
            <a:r>
              <a:rPr sz="3200" dirty="0">
                <a:latin typeface="Calibri"/>
                <a:cs typeface="Calibri"/>
              </a:rPr>
              <a:t>≥ </a:t>
            </a:r>
            <a:r>
              <a:rPr sz="3200" i="1" spc="-6" dirty="0">
                <a:latin typeface="Calibri"/>
                <a:cs typeface="Calibri"/>
              </a:rPr>
              <a:t>np </a:t>
            </a:r>
            <a:r>
              <a:rPr sz="3200" dirty="0">
                <a:latin typeface="Calibri"/>
                <a:cs typeface="Calibri"/>
              </a:rPr>
              <a:t>&gt;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n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38623" y="2442385"/>
            <a:ext cx="3589715" cy="537114"/>
          </a:xfrm>
          <a:prstGeom prst="rect">
            <a:avLst/>
          </a:prstGeom>
        </p:spPr>
        <p:txBody>
          <a:bodyPr vert="horz" wrap="square" lIns="0" tIns="13759" rIns="0" bIns="0" rtlCol="0">
            <a:spAutoFit/>
          </a:bodyPr>
          <a:lstStyle/>
          <a:p>
            <a:pPr marL="14483">
              <a:spcBef>
                <a:spcPts val="108"/>
              </a:spcBef>
              <a:tabLst>
                <a:tab pos="1114473" algn="l"/>
                <a:tab pos="2604782" algn="l"/>
              </a:tabLst>
            </a:pPr>
            <a:r>
              <a:rPr sz="3300" spc="274" dirty="0">
                <a:solidFill>
                  <a:srgbClr val="000000"/>
                </a:solidFill>
                <a:latin typeface="MT Extra"/>
                <a:cs typeface="MT Extra"/>
              </a:rPr>
              <a:t></a:t>
            </a:r>
            <a:r>
              <a:rPr sz="3300" spc="239" dirty="0">
                <a:solidFill>
                  <a:srgbClr val="000000"/>
                </a:solidFill>
              </a:rPr>
              <a:t> </a:t>
            </a:r>
            <a:r>
              <a:rPr sz="3300" i="1" spc="143" dirty="0">
                <a:solidFill>
                  <a:srgbClr val="000000"/>
                </a:solidFill>
              </a:rPr>
              <a:t>xy	</a:t>
            </a:r>
            <a:r>
              <a:rPr sz="3300" spc="376" dirty="0">
                <a:solidFill>
                  <a:srgbClr val="000000"/>
                </a:solidFill>
                <a:latin typeface="Symbol"/>
                <a:cs typeface="Symbol"/>
              </a:rPr>
              <a:t></a:t>
            </a:r>
            <a:r>
              <a:rPr sz="3300" spc="-177" dirty="0">
                <a:solidFill>
                  <a:srgbClr val="000000"/>
                </a:solidFill>
              </a:rPr>
              <a:t> </a:t>
            </a:r>
            <a:r>
              <a:rPr sz="3300" i="1" spc="160" dirty="0">
                <a:solidFill>
                  <a:srgbClr val="000000"/>
                </a:solidFill>
              </a:rPr>
              <a:t>n</a:t>
            </a:r>
            <a:r>
              <a:rPr sz="3300" i="1" spc="-17" dirty="0">
                <a:solidFill>
                  <a:srgbClr val="000000"/>
                </a:solidFill>
              </a:rPr>
              <a:t> </a:t>
            </a:r>
            <a:r>
              <a:rPr sz="3300" spc="143" dirty="0">
                <a:solidFill>
                  <a:srgbClr val="000000"/>
                </a:solidFill>
              </a:rPr>
              <a:t>and	</a:t>
            </a:r>
            <a:r>
              <a:rPr sz="3300" i="1" spc="143" dirty="0">
                <a:solidFill>
                  <a:srgbClr val="000000"/>
                </a:solidFill>
              </a:rPr>
              <a:t>y </a:t>
            </a:r>
            <a:r>
              <a:rPr sz="3300" spc="376" dirty="0">
                <a:solidFill>
                  <a:srgbClr val="000000"/>
                </a:solidFill>
                <a:latin typeface="Symbol"/>
                <a:cs typeface="Symbol"/>
              </a:rPr>
              <a:t></a:t>
            </a:r>
            <a:r>
              <a:rPr sz="3300" spc="-422" dirty="0">
                <a:solidFill>
                  <a:srgbClr val="000000"/>
                </a:solidFill>
              </a:rPr>
              <a:t> </a:t>
            </a:r>
            <a:r>
              <a:rPr sz="3400" spc="222" dirty="0">
                <a:solidFill>
                  <a:srgbClr val="000000"/>
                </a:solidFill>
                <a:latin typeface="Symbol"/>
                <a:cs typeface="Symbol"/>
              </a:rPr>
              <a:t></a:t>
            </a:r>
            <a:endParaRPr sz="3400">
              <a:latin typeface="Symbol"/>
              <a:cs typeface="Symbo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4294967295"/>
          </p:nvPr>
        </p:nvSpPr>
        <p:spPr>
          <a:xfrm>
            <a:off x="7552214" y="7003758"/>
            <a:ext cx="24060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608"/>
              </a:lnSpc>
            </a:pPr>
            <a:fld id="{81D60167-4931-47E6-BA6A-407CBD079E47}" type="slidenum">
              <a:rPr dirty="0"/>
              <a:pPr marL="28966">
                <a:lnSpc>
                  <a:spcPts val="1608"/>
                </a:lnSpc>
              </a:pPr>
              <a:t>42</a:t>
            </a:fld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1681238" y="606364"/>
            <a:ext cx="8313662" cy="736238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Pumping Lemma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1677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28229" y="1884927"/>
            <a:ext cx="10036201" cy="3507888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3449" marR="36931">
              <a:spcBef>
                <a:spcPts val="114"/>
              </a:spcBef>
            </a:pPr>
            <a:r>
              <a:rPr sz="3200" spc="-6" dirty="0">
                <a:latin typeface="Calibri"/>
                <a:cs typeface="Calibri"/>
              </a:rPr>
              <a:t>Therefore the </a:t>
            </a:r>
            <a:r>
              <a:rPr sz="3200" spc="-11" dirty="0">
                <a:latin typeface="Calibri"/>
                <a:cs typeface="Calibri"/>
              </a:rPr>
              <a:t>string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6" dirty="0">
                <a:latin typeface="Calibri"/>
                <a:cs typeface="Calibri"/>
              </a:rPr>
              <a:t>has more than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spc="-6" dirty="0">
                <a:latin typeface="Calibri"/>
                <a:cs typeface="Calibri"/>
              </a:rPr>
              <a:t>0s to the left </a:t>
            </a:r>
            <a:r>
              <a:rPr sz="3200" dirty="0">
                <a:latin typeface="Calibri"/>
                <a:cs typeface="Calibri"/>
              </a:rPr>
              <a:t>of  </a:t>
            </a:r>
            <a:r>
              <a:rPr sz="3200" spc="-6" dirty="0">
                <a:latin typeface="Calibri"/>
                <a:cs typeface="Calibri"/>
              </a:rPr>
              <a:t>the </a:t>
            </a:r>
            <a:r>
              <a:rPr sz="3200" spc="-11" dirty="0">
                <a:latin typeface="Calibri"/>
                <a:cs typeface="Calibri"/>
              </a:rPr>
              <a:t>single </a:t>
            </a:r>
            <a:r>
              <a:rPr sz="3200" dirty="0">
                <a:latin typeface="Calibri"/>
                <a:cs typeface="Calibri"/>
              </a:rPr>
              <a:t>1 </a:t>
            </a:r>
            <a:r>
              <a:rPr sz="3200" spc="-6" dirty="0">
                <a:latin typeface="Calibri"/>
                <a:cs typeface="Calibri"/>
              </a:rPr>
              <a:t>and </a:t>
            </a:r>
            <a:r>
              <a:rPr sz="3200" i="1" dirty="0">
                <a:latin typeface="Calibri"/>
                <a:cs typeface="Calibri"/>
              </a:rPr>
              <a:t>n </a:t>
            </a:r>
            <a:r>
              <a:rPr sz="3200" spc="-11" dirty="0">
                <a:latin typeface="Calibri"/>
                <a:cs typeface="Calibri"/>
              </a:rPr>
              <a:t>0’s </a:t>
            </a:r>
            <a:r>
              <a:rPr sz="3200" spc="-6" dirty="0">
                <a:latin typeface="Calibri"/>
                <a:cs typeface="Calibri"/>
              </a:rPr>
              <a:t>to the right of that</a:t>
            </a:r>
            <a:r>
              <a:rPr sz="3200" spc="23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1.</a:t>
            </a:r>
            <a:endParaRPr sz="3200">
              <a:latin typeface="Calibri"/>
              <a:cs typeface="Calibri"/>
            </a:endParaRPr>
          </a:p>
          <a:p>
            <a:pPr marL="43449">
              <a:spcBef>
                <a:spcPts val="787"/>
              </a:spcBef>
            </a:pPr>
            <a:r>
              <a:rPr sz="3200" spc="-11" dirty="0">
                <a:latin typeface="Calibri"/>
                <a:cs typeface="Calibri"/>
              </a:rPr>
              <a:t>Hence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11" dirty="0">
                <a:latin typeface="Calibri"/>
                <a:cs typeface="Calibri"/>
              </a:rPr>
              <a:t>is </a:t>
            </a:r>
            <a:r>
              <a:rPr sz="3200" spc="-6" dirty="0">
                <a:latin typeface="Calibri"/>
                <a:cs typeface="Calibri"/>
              </a:rPr>
              <a:t>not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34" dirty="0">
                <a:latin typeface="Calibri"/>
                <a:cs typeface="Calibri"/>
              </a:rPr>
              <a:t> </a:t>
            </a:r>
            <a:r>
              <a:rPr sz="3200" spc="-11" dirty="0">
                <a:latin typeface="Calibri"/>
                <a:cs typeface="Calibri"/>
              </a:rPr>
              <a:t>palindrome.</a:t>
            </a:r>
            <a:endParaRPr sz="3200">
              <a:latin typeface="Calibri"/>
              <a:cs typeface="Calibri"/>
            </a:endParaRPr>
          </a:p>
          <a:p>
            <a:pPr marL="43449">
              <a:spcBef>
                <a:spcPts val="798"/>
              </a:spcBef>
            </a:pPr>
            <a:r>
              <a:rPr sz="3200" spc="-6" dirty="0">
                <a:latin typeface="Calibri"/>
                <a:cs typeface="Calibri"/>
              </a:rPr>
              <a:t>So </a:t>
            </a:r>
            <a:r>
              <a:rPr sz="3200" i="1" spc="-6" dirty="0">
                <a:latin typeface="Calibri"/>
                <a:cs typeface="Calibri"/>
              </a:rPr>
              <a:t>xy</a:t>
            </a:r>
            <a:r>
              <a:rPr sz="2700" i="1" spc="-8" baseline="29513" dirty="0">
                <a:latin typeface="Calibri"/>
                <a:cs typeface="Calibri"/>
              </a:rPr>
              <a:t>n</a:t>
            </a:r>
            <a:r>
              <a:rPr sz="3200" i="1" spc="-6" dirty="0">
                <a:latin typeface="Calibri"/>
                <a:cs typeface="Calibri"/>
              </a:rPr>
              <a:t>z </a:t>
            </a:r>
            <a:r>
              <a:rPr sz="3200" spc="-6" dirty="0">
                <a:latin typeface="Calibri"/>
                <a:cs typeface="Calibri"/>
              </a:rPr>
              <a:t>cannot </a:t>
            </a:r>
            <a:r>
              <a:rPr sz="3200" spc="-11" dirty="0">
                <a:latin typeface="Calibri"/>
                <a:cs typeface="Calibri"/>
              </a:rPr>
              <a:t>be </a:t>
            </a:r>
            <a:r>
              <a:rPr sz="3200" spc="-6" dirty="0">
                <a:latin typeface="Calibri"/>
                <a:cs typeface="Calibri"/>
              </a:rPr>
              <a:t>in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pal</a:t>
            </a:r>
            <a:r>
              <a:rPr sz="3200" dirty="0">
                <a:latin typeface="Calibri"/>
                <a:cs typeface="Calibri"/>
              </a:rPr>
              <a:t>, </a:t>
            </a:r>
            <a:r>
              <a:rPr sz="3200" spc="-6" dirty="0">
                <a:latin typeface="Calibri"/>
                <a:cs typeface="Calibri"/>
              </a:rPr>
              <a:t>which contradicts our</a:t>
            </a:r>
            <a:r>
              <a:rPr sz="3200" spc="-11" dirty="0">
                <a:latin typeface="Calibri"/>
                <a:cs typeface="Calibri"/>
              </a:rPr>
              <a:t> assumption.</a:t>
            </a:r>
            <a:endParaRPr sz="3200">
              <a:latin typeface="Calibri"/>
              <a:cs typeface="Calibri"/>
            </a:endParaRPr>
          </a:p>
          <a:p>
            <a:pPr marL="43449">
              <a:spcBef>
                <a:spcPts val="1323"/>
              </a:spcBef>
            </a:pPr>
            <a:r>
              <a:rPr sz="3200" spc="-6" dirty="0">
                <a:latin typeface="Calibri"/>
                <a:cs typeface="Calibri"/>
              </a:rPr>
              <a:t>Thus the language </a:t>
            </a:r>
            <a:r>
              <a:rPr sz="3200" i="1" dirty="0">
                <a:latin typeface="Calibri"/>
                <a:cs typeface="Calibri"/>
              </a:rPr>
              <a:t>L</a:t>
            </a:r>
            <a:r>
              <a:rPr sz="2700" i="1" baseline="-24305" dirty="0">
                <a:latin typeface="Calibri"/>
                <a:cs typeface="Calibri"/>
              </a:rPr>
              <a:t>pal </a:t>
            </a:r>
            <a:r>
              <a:rPr sz="3200" spc="-6" dirty="0">
                <a:latin typeface="Calibri"/>
                <a:cs typeface="Calibri"/>
              </a:rPr>
              <a:t>is not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1" dirty="0">
                <a:latin typeface="Calibri"/>
                <a:cs typeface="Calibri"/>
              </a:rPr>
              <a:t>regular</a:t>
            </a:r>
            <a:r>
              <a:rPr sz="3200" spc="-91" dirty="0">
                <a:latin typeface="Calibri"/>
                <a:cs typeface="Calibri"/>
              </a:rPr>
              <a:t> </a:t>
            </a:r>
            <a:r>
              <a:rPr sz="3200" spc="-6" dirty="0">
                <a:latin typeface="Calibri"/>
                <a:cs typeface="Calibri"/>
              </a:rPr>
              <a:t>language.</a:t>
            </a:r>
            <a:endParaRPr sz="3200">
              <a:latin typeface="Calibri"/>
              <a:cs typeface="Calibri"/>
            </a:endParaRPr>
          </a:p>
          <a:p>
            <a:pPr marL="8291563">
              <a:spcBef>
                <a:spcPts val="1323"/>
              </a:spcBef>
            </a:pPr>
            <a:r>
              <a:rPr sz="3200" b="1" spc="-6" dirty="0">
                <a:latin typeface="Calibri"/>
                <a:cs typeface="Calibri"/>
              </a:rPr>
              <a:t>[Proved]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4294967295"/>
          </p:nvPr>
        </p:nvSpPr>
        <p:spPr>
          <a:xfrm>
            <a:off x="7552214" y="7003758"/>
            <a:ext cx="24060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608"/>
              </a:lnSpc>
            </a:pPr>
            <a:fld id="{81D60167-4931-47E6-BA6A-407CBD079E47}" type="slidenum">
              <a:rPr dirty="0"/>
              <a:pPr marL="28966">
                <a:lnSpc>
                  <a:spcPts val="1608"/>
                </a:lnSpc>
              </a:pPr>
              <a:t>43</a:t>
            </a:fld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1460500" y="839612"/>
            <a:ext cx="7528930" cy="1367180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Pumping Lemma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520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4294967295"/>
          </p:nvPr>
        </p:nvSpPr>
        <p:spPr>
          <a:xfrm>
            <a:off x="7552214" y="7003758"/>
            <a:ext cx="2406015" cy="2051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8966">
              <a:lnSpc>
                <a:spcPts val="1608"/>
              </a:lnSpc>
            </a:pPr>
            <a:fld id="{81D60167-4931-47E6-BA6A-407CBD079E47}" type="slidenum">
              <a:rPr dirty="0"/>
              <a:pPr marL="28966">
                <a:lnSpc>
                  <a:spcPts val="1608"/>
                </a:lnSpc>
              </a:pPr>
              <a:t>44</a:t>
            </a:fld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841500" y="1175456"/>
            <a:ext cx="8305800" cy="1367180"/>
          </a:xfrm>
          <a:prstGeom prst="rect">
            <a:avLst/>
          </a:prstGeom>
          <a:noFill/>
        </p:spPr>
        <p:txBody>
          <a:bodyPr wrap="square" lIns="104278" tIns="52139" rIns="104278" bIns="52139" rtlCol="0">
            <a:spAutoFit/>
          </a:bodyPr>
          <a:lstStyle/>
          <a:p>
            <a:r>
              <a:rPr lang="en-US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Closure properties of Regular Languages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0228" y="2659141"/>
            <a:ext cx="9445837" cy="2182788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Grammar 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grammar is regular if it has rules of form A -&gt; a or A -&gt;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A -&gt; ɛ where ɛ is a special symbol called NULL.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Languages 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language is regular if it can be expressed in terms of regular expression.</a:t>
            </a:r>
            <a:endParaRPr lang="en-US" sz="2700" dirty="0"/>
          </a:p>
        </p:txBody>
      </p:sp>
      <p:sp>
        <p:nvSpPr>
          <p:cNvPr id="5" name="object 4"/>
          <p:cNvSpPr/>
          <p:nvPr/>
        </p:nvSpPr>
        <p:spPr>
          <a:xfrm>
            <a:off x="241300" y="425450"/>
            <a:ext cx="1213565" cy="11154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6718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447" y="1007533"/>
            <a:ext cx="10069618" cy="2598286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L1 and If L2 are two regular languages, their union L1 ∪ L2 will also be regular. 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L1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0} and L2 = {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0}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L1 ∪ L2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∪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0} is also regular.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56447" y="4030133"/>
            <a:ext cx="9891395" cy="3013785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Intersection 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L1 and If L2 are two regular languages, their intersection L1 ∩ L2 will also be regular.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example,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 and m ≥ 0} and L2=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∪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 and m ≥ 0}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L1 ∩ L2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 and m ≥ 0} is also regular.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968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2893" y="923572"/>
            <a:ext cx="9089390" cy="3013785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Concatenation 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L1 and If L2 are two regular languages, their concatenation L1.L2 will also be regular.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example,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0} and L2 = {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≥ 0}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L3 = L1.L2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 </a:t>
            </a:r>
            <a:r>
              <a:rPr lang="en-US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7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m ≥ 0 and n ≥ 0} is also regular.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4864" y="4365978"/>
            <a:ext cx="9243672" cy="3013785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Kleene Closure :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L1 is a regular language, its Kleene closure L1* will also be regular. 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 = (a ∪ b)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L1* = (a ∪ b)*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5558" y="923572"/>
            <a:ext cx="9445837" cy="3844782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Complement </a:t>
            </a:r>
          </a:p>
          <a:p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If L(G) is regular language, its complement L’(G) will also be regular. Complement of a language can be found by subtracting strings which are in L(G) from all possible strings. </a:t>
            </a: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L(G)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&gt; 3}</a:t>
            </a:r>
            <a:b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L’(G) = {a</a:t>
            </a:r>
            <a:r>
              <a:rPr lang="en-US" sz="27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| n &lt;= 3}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19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5787" y="2518834"/>
            <a:ext cx="9980507" cy="736238"/>
          </a:xfrm>
          <a:prstGeom prst="rect">
            <a:avLst/>
          </a:prstGeom>
        </p:spPr>
        <p:txBody>
          <a:bodyPr wrap="square" lIns="104278" tIns="52139" rIns="104278" bIns="52139">
            <a:spAutoFit/>
          </a:bodyPr>
          <a:lstStyle/>
          <a:p>
            <a:r>
              <a:rPr lang="en-US" sz="4100" spc="-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4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4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  <a:r>
              <a:rPr lang="en-US" sz="4100" spc="-143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49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340" y="671690"/>
            <a:ext cx="8287385" cy="1931104"/>
          </a:xfrm>
        </p:spPr>
        <p:txBody>
          <a:bodyPr>
            <a:noAutofit/>
          </a:bodyPr>
          <a:lstStyle/>
          <a:p>
            <a:r>
              <a:rPr lang="en-US" sz="3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3600" spc="-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en-US" sz="36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sz="3600" spc="-8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6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80228" y="3106561"/>
            <a:ext cx="8376497" cy="2686756"/>
          </a:xfrm>
          <a:prstGeom prst="rect">
            <a:avLst/>
          </a:prstGeom>
        </p:spPr>
        <p:txBody>
          <a:bodyPr lIns="104278" tIns="52139" rIns="104278" bIns="52139">
            <a:normAutofit/>
          </a:bodyPr>
          <a:lstStyle/>
          <a:p>
            <a:pPr marL="405526" indent="-391043" algn="l">
              <a:spcBef>
                <a:spcPts val="991"/>
              </a:spcBef>
              <a:buFont typeface="Arial"/>
              <a:buChar char="•"/>
              <a:tabLst>
                <a:tab pos="404802" algn="l"/>
                <a:tab pos="405526" algn="l"/>
              </a:tabLst>
            </a:pP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tool:</a:t>
            </a:r>
            <a:r>
              <a:rPr lang="en-US" sz="2700" spc="-5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spc="-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egrep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5793" indent="-391043" algn="l">
              <a:spcBef>
                <a:spcPts val="878"/>
              </a:spcBef>
              <a:buFont typeface="Arial"/>
              <a:buChar char="•"/>
              <a:tabLst>
                <a:tab pos="404802" algn="l"/>
                <a:tab pos="405526" algn="l"/>
              </a:tabLst>
            </a:pP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Searches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file for lines that contain 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a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lang="en-US" sz="27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indent="-391043" algn="l">
              <a:spcBef>
                <a:spcPts val="878"/>
              </a:spcBef>
              <a:buFont typeface="Arial"/>
              <a:buChar char="•"/>
              <a:tabLst>
                <a:tab pos="404802" algn="l"/>
                <a:tab pos="405526" algn="l"/>
              </a:tabLst>
            </a:pP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Echoes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lines to 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sz="2700" spc="-7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553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4277" y="501775"/>
            <a:ext cx="6080386" cy="568622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3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</a:t>
            </a:r>
            <a:r>
              <a:rPr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sz="36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4749" y="1967208"/>
            <a:ext cx="9514869" cy="3856702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377284" indent="-391043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 different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commands, including </a:t>
            </a: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ed, sed, awk,  grep,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to 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limited extent,</a:t>
            </a:r>
            <a:r>
              <a:rPr sz="27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377284" indent="-391043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indent="-391043">
              <a:spcBef>
                <a:spcPts val="741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also understands something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700" spc="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7318" marR="5793"/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are either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 locations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or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range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particular editing command 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applied.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encounters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addresses,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on every line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19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964" y="1707154"/>
            <a:ext cx="9624655" cy="3102649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5793" indent="-391043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420733" algn="l"/>
                <a:tab pos="42145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Sed stands for </a:t>
            </a:r>
            <a:r>
              <a:rPr sz="2700" b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tream </a:t>
            </a:r>
            <a:r>
              <a:rPr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itor is 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 oriented  editor which was created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exclusively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executing  scripts.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 all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feed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it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passes  through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to STDOUT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 the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408423" indent="-391043">
              <a:spcBef>
                <a:spcPts val="747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  <a:tab pos="1903800" algn="l"/>
                <a:tab pos="4864867" algn="l"/>
                <a:tab pos="5334843" algn="l"/>
                <a:tab pos="6076376" algn="l"/>
                <a:tab pos="7930935" algn="l"/>
                <a:tab pos="8455946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</a:t>
            </a:r>
            <a:r>
              <a:rPr sz="27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	implem</a:t>
            </a:r>
            <a:r>
              <a:rPr sz="27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nta</a:t>
            </a:r>
            <a:r>
              <a:rPr sz="27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	is	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	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</a:t>
            </a:r>
            <a:r>
              <a:rPr sz="27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sio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	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POSIX</a:t>
            </a:r>
          </a:p>
          <a:p>
            <a:pPr marL="391043">
              <a:spcBef>
                <a:spcPts val="736"/>
              </a:spcBef>
              <a:tabLst>
                <a:tab pos="2189118" algn="l"/>
                <a:tab pos="5412327" algn="l"/>
                <a:tab pos="6098825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(Portable	Operating</a:t>
            </a:r>
            <a:r>
              <a:rPr sz="27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	for	UNIX)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9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224" y="2770717"/>
            <a:ext cx="10336953" cy="4272221"/>
          </a:xfrm>
          <a:custGeom>
            <a:avLst/>
            <a:gdLst/>
            <a:ahLst/>
            <a:cxnLst/>
            <a:rect l="l" t="t" r="r" b="b"/>
            <a:pathLst>
              <a:path w="8839200" h="3877310">
                <a:moveTo>
                  <a:pt x="0" y="3877055"/>
                </a:moveTo>
                <a:lnTo>
                  <a:pt x="8839200" y="3877055"/>
                </a:lnTo>
                <a:lnTo>
                  <a:pt x="8839200" y="0"/>
                </a:lnTo>
                <a:lnTo>
                  <a:pt x="0" y="0"/>
                </a:lnTo>
                <a:lnTo>
                  <a:pt x="0" y="3877055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78224" y="7383540"/>
            <a:ext cx="10336953" cy="5597"/>
          </a:xfrm>
          <a:custGeom>
            <a:avLst/>
            <a:gdLst/>
            <a:ahLst/>
            <a:cxnLst/>
            <a:rect l="l" t="t" r="r" b="b"/>
            <a:pathLst>
              <a:path w="8839200" h="5079">
                <a:moveTo>
                  <a:pt x="0" y="4571"/>
                </a:moveTo>
                <a:lnTo>
                  <a:pt x="8839200" y="4571"/>
                </a:lnTo>
                <a:lnTo>
                  <a:pt x="8839200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8224" y="7388577"/>
            <a:ext cx="10336953" cy="167922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15177" y="2770717"/>
            <a:ext cx="178223" cy="4785783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7"/>
                </a:moveTo>
                <a:lnTo>
                  <a:pt x="152399" y="4343397"/>
                </a:lnTo>
                <a:lnTo>
                  <a:pt x="152399" y="0"/>
                </a:lnTo>
                <a:lnTo>
                  <a:pt x="0" y="0"/>
                </a:lnTo>
                <a:lnTo>
                  <a:pt x="0" y="4343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2770717"/>
            <a:ext cx="178223" cy="4785783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9"/>
                </a:moveTo>
                <a:lnTo>
                  <a:pt x="152400" y="4343399"/>
                </a:lnTo>
                <a:lnTo>
                  <a:pt x="152400" y="0"/>
                </a:lnTo>
                <a:lnTo>
                  <a:pt x="0" y="0"/>
                </a:lnTo>
                <a:lnTo>
                  <a:pt x="0" y="4343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693400" cy="2770717"/>
          </a:xfrm>
          <a:custGeom>
            <a:avLst/>
            <a:gdLst/>
            <a:ahLst/>
            <a:cxnLst/>
            <a:rect l="l" t="t" r="r" b="b"/>
            <a:pathLst>
              <a:path w="9144000" h="2514600">
                <a:moveTo>
                  <a:pt x="0" y="2514600"/>
                </a:moveTo>
                <a:lnTo>
                  <a:pt x="9144000" y="2514600"/>
                </a:lnTo>
                <a:lnTo>
                  <a:pt x="9144000" y="0"/>
                </a:lnTo>
                <a:lnTo>
                  <a:pt x="0" y="0"/>
                </a:lnTo>
                <a:lnTo>
                  <a:pt x="0" y="2514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1095" y="7042657"/>
            <a:ext cx="10330270" cy="341442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0" y="309372"/>
                </a:moveTo>
                <a:lnTo>
                  <a:pt x="8833104" y="309372"/>
                </a:lnTo>
                <a:lnTo>
                  <a:pt x="883310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1787" y="2666604"/>
            <a:ext cx="10330270" cy="0"/>
          </a:xfrm>
          <a:custGeom>
            <a:avLst/>
            <a:gdLst/>
            <a:ahLst/>
            <a:cxnLst/>
            <a:rect l="l" t="t" r="r" b="b"/>
            <a:pathLst>
              <a:path w="8833485">
                <a:moveTo>
                  <a:pt x="0" y="0"/>
                </a:moveTo>
                <a:lnTo>
                  <a:pt x="8833104" y="0"/>
                </a:lnTo>
              </a:path>
            </a:pathLst>
          </a:custGeom>
          <a:ln w="12192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8224" y="167922"/>
            <a:ext cx="10330270" cy="7214357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90254" y="2330759"/>
            <a:ext cx="712893" cy="671689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74" y="3990"/>
                </a:lnTo>
                <a:lnTo>
                  <a:pt x="208483" y="15544"/>
                </a:lnTo>
                <a:lnTo>
                  <a:pt x="164753" y="34032"/>
                </a:lnTo>
                <a:lnTo>
                  <a:pt x="124815" y="58826"/>
                </a:lnTo>
                <a:lnTo>
                  <a:pt x="89296" y="89296"/>
                </a:lnTo>
                <a:lnTo>
                  <a:pt x="58826" y="124815"/>
                </a:lnTo>
                <a:lnTo>
                  <a:pt x="34032" y="164753"/>
                </a:lnTo>
                <a:lnTo>
                  <a:pt x="15544" y="208483"/>
                </a:lnTo>
                <a:lnTo>
                  <a:pt x="3990" y="255374"/>
                </a:lnTo>
                <a:lnTo>
                  <a:pt x="0" y="304800"/>
                </a:lnTo>
                <a:lnTo>
                  <a:pt x="3990" y="354225"/>
                </a:lnTo>
                <a:lnTo>
                  <a:pt x="15544" y="401116"/>
                </a:lnTo>
                <a:lnTo>
                  <a:pt x="34032" y="444846"/>
                </a:lnTo>
                <a:lnTo>
                  <a:pt x="58826" y="484784"/>
                </a:lnTo>
                <a:lnTo>
                  <a:pt x="89296" y="520303"/>
                </a:lnTo>
                <a:lnTo>
                  <a:pt x="124815" y="550773"/>
                </a:lnTo>
                <a:lnTo>
                  <a:pt x="164753" y="575567"/>
                </a:lnTo>
                <a:lnTo>
                  <a:pt x="208483" y="594055"/>
                </a:lnTo>
                <a:lnTo>
                  <a:pt x="255374" y="605609"/>
                </a:lnTo>
                <a:lnTo>
                  <a:pt x="304800" y="609600"/>
                </a:lnTo>
                <a:lnTo>
                  <a:pt x="354225" y="605609"/>
                </a:lnTo>
                <a:lnTo>
                  <a:pt x="401116" y="594055"/>
                </a:lnTo>
                <a:lnTo>
                  <a:pt x="444846" y="575567"/>
                </a:lnTo>
                <a:lnTo>
                  <a:pt x="484784" y="550773"/>
                </a:lnTo>
                <a:lnTo>
                  <a:pt x="520303" y="520303"/>
                </a:lnTo>
                <a:lnTo>
                  <a:pt x="550773" y="484784"/>
                </a:lnTo>
                <a:lnTo>
                  <a:pt x="575567" y="444846"/>
                </a:lnTo>
                <a:lnTo>
                  <a:pt x="594055" y="401116"/>
                </a:lnTo>
                <a:lnTo>
                  <a:pt x="605609" y="354225"/>
                </a:lnTo>
                <a:lnTo>
                  <a:pt x="609600" y="304800"/>
                </a:lnTo>
                <a:lnTo>
                  <a:pt x="605609" y="255374"/>
                </a:lnTo>
                <a:lnTo>
                  <a:pt x="594055" y="208483"/>
                </a:lnTo>
                <a:lnTo>
                  <a:pt x="575567" y="164753"/>
                </a:lnTo>
                <a:lnTo>
                  <a:pt x="550773" y="124815"/>
                </a:lnTo>
                <a:lnTo>
                  <a:pt x="520303" y="89296"/>
                </a:lnTo>
                <a:lnTo>
                  <a:pt x="484784" y="58826"/>
                </a:lnTo>
                <a:lnTo>
                  <a:pt x="444846" y="34032"/>
                </a:lnTo>
                <a:lnTo>
                  <a:pt x="401116" y="15544"/>
                </a:lnTo>
                <a:lnTo>
                  <a:pt x="354225" y="3990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101643" y="2435711"/>
            <a:ext cx="492342" cy="463885"/>
          </a:xfrm>
          <a:custGeom>
            <a:avLst/>
            <a:gdLst/>
            <a:ahLst/>
            <a:cxnLst/>
            <a:rect l="l" t="t" r="r" b="b"/>
            <a:pathLst>
              <a:path w="421004" h="421005">
                <a:moveTo>
                  <a:pt x="210312" y="0"/>
                </a:moveTo>
                <a:lnTo>
                  <a:pt x="162072" y="5551"/>
                </a:lnTo>
                <a:lnTo>
                  <a:pt x="117798" y="21367"/>
                </a:lnTo>
                <a:lnTo>
                  <a:pt x="78750" y="46186"/>
                </a:lnTo>
                <a:lnTo>
                  <a:pt x="46186" y="78750"/>
                </a:lnTo>
                <a:lnTo>
                  <a:pt x="21367" y="117798"/>
                </a:lnTo>
                <a:lnTo>
                  <a:pt x="5551" y="162072"/>
                </a:lnTo>
                <a:lnTo>
                  <a:pt x="0" y="210312"/>
                </a:lnTo>
                <a:lnTo>
                  <a:pt x="5551" y="258551"/>
                </a:lnTo>
                <a:lnTo>
                  <a:pt x="21367" y="302825"/>
                </a:lnTo>
                <a:lnTo>
                  <a:pt x="46186" y="341873"/>
                </a:lnTo>
                <a:lnTo>
                  <a:pt x="78750" y="374437"/>
                </a:lnTo>
                <a:lnTo>
                  <a:pt x="117798" y="399256"/>
                </a:lnTo>
                <a:lnTo>
                  <a:pt x="162072" y="415072"/>
                </a:lnTo>
                <a:lnTo>
                  <a:pt x="210312" y="420624"/>
                </a:lnTo>
                <a:lnTo>
                  <a:pt x="258551" y="415072"/>
                </a:lnTo>
                <a:lnTo>
                  <a:pt x="302825" y="399256"/>
                </a:lnTo>
                <a:lnTo>
                  <a:pt x="341873" y="374437"/>
                </a:lnTo>
                <a:lnTo>
                  <a:pt x="374437" y="341873"/>
                </a:lnTo>
                <a:lnTo>
                  <a:pt x="399256" y="302825"/>
                </a:lnTo>
                <a:lnTo>
                  <a:pt x="415072" y="258551"/>
                </a:lnTo>
                <a:lnTo>
                  <a:pt x="420624" y="210312"/>
                </a:lnTo>
                <a:lnTo>
                  <a:pt x="415072" y="162072"/>
                </a:lnTo>
                <a:lnTo>
                  <a:pt x="399256" y="117798"/>
                </a:lnTo>
                <a:lnTo>
                  <a:pt x="374437" y="78750"/>
                </a:lnTo>
                <a:lnTo>
                  <a:pt x="341873" y="46186"/>
                </a:lnTo>
                <a:lnTo>
                  <a:pt x="302825" y="21367"/>
                </a:lnTo>
                <a:lnTo>
                  <a:pt x="258551" y="5551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072235" y="2409124"/>
            <a:ext cx="551007" cy="517760"/>
          </a:xfrm>
          <a:custGeom>
            <a:avLst/>
            <a:gdLst/>
            <a:ahLst/>
            <a:cxnLst/>
            <a:rect l="l" t="t" r="r" b="b"/>
            <a:pathLst>
              <a:path w="471170" h="469900">
                <a:moveTo>
                  <a:pt x="258191" y="0"/>
                </a:moveTo>
                <a:lnTo>
                  <a:pt x="234187" y="0"/>
                </a:lnTo>
                <a:lnTo>
                  <a:pt x="210058" y="1270"/>
                </a:lnTo>
                <a:lnTo>
                  <a:pt x="164211" y="10160"/>
                </a:lnTo>
                <a:lnTo>
                  <a:pt x="122300" y="29210"/>
                </a:lnTo>
                <a:lnTo>
                  <a:pt x="84836" y="54610"/>
                </a:lnTo>
                <a:lnTo>
                  <a:pt x="52959" y="86360"/>
                </a:lnTo>
                <a:lnTo>
                  <a:pt x="27940" y="124460"/>
                </a:lnTo>
                <a:lnTo>
                  <a:pt x="10160" y="166370"/>
                </a:lnTo>
                <a:lnTo>
                  <a:pt x="1016" y="212089"/>
                </a:lnTo>
                <a:lnTo>
                  <a:pt x="0" y="236220"/>
                </a:lnTo>
                <a:lnTo>
                  <a:pt x="1397" y="260350"/>
                </a:lnTo>
                <a:lnTo>
                  <a:pt x="11049" y="306070"/>
                </a:lnTo>
                <a:lnTo>
                  <a:pt x="29083" y="347979"/>
                </a:lnTo>
                <a:lnTo>
                  <a:pt x="54610" y="386079"/>
                </a:lnTo>
                <a:lnTo>
                  <a:pt x="86613" y="417829"/>
                </a:lnTo>
                <a:lnTo>
                  <a:pt x="124333" y="443229"/>
                </a:lnTo>
                <a:lnTo>
                  <a:pt x="166750" y="459739"/>
                </a:lnTo>
                <a:lnTo>
                  <a:pt x="212725" y="469900"/>
                </a:lnTo>
                <a:lnTo>
                  <a:pt x="236728" y="469900"/>
                </a:lnTo>
                <a:lnTo>
                  <a:pt x="260858" y="468629"/>
                </a:lnTo>
                <a:lnTo>
                  <a:pt x="284099" y="464820"/>
                </a:lnTo>
                <a:lnTo>
                  <a:pt x="306705" y="459739"/>
                </a:lnTo>
                <a:lnTo>
                  <a:pt x="324696" y="453389"/>
                </a:lnTo>
                <a:lnTo>
                  <a:pt x="235838" y="453389"/>
                </a:lnTo>
                <a:lnTo>
                  <a:pt x="213487" y="452120"/>
                </a:lnTo>
                <a:lnTo>
                  <a:pt x="170942" y="444500"/>
                </a:lnTo>
                <a:lnTo>
                  <a:pt x="131572" y="427989"/>
                </a:lnTo>
                <a:lnTo>
                  <a:pt x="96647" y="403860"/>
                </a:lnTo>
                <a:lnTo>
                  <a:pt x="66929" y="374650"/>
                </a:lnTo>
                <a:lnTo>
                  <a:pt x="43434" y="339089"/>
                </a:lnTo>
                <a:lnTo>
                  <a:pt x="26670" y="300989"/>
                </a:lnTo>
                <a:lnTo>
                  <a:pt x="17907" y="257810"/>
                </a:lnTo>
                <a:lnTo>
                  <a:pt x="16823" y="233679"/>
                </a:lnTo>
                <a:lnTo>
                  <a:pt x="17780" y="213360"/>
                </a:lnTo>
                <a:lnTo>
                  <a:pt x="26416" y="170179"/>
                </a:lnTo>
                <a:lnTo>
                  <a:pt x="43053" y="130810"/>
                </a:lnTo>
                <a:lnTo>
                  <a:pt x="66421" y="96520"/>
                </a:lnTo>
                <a:lnTo>
                  <a:pt x="96138" y="66039"/>
                </a:lnTo>
                <a:lnTo>
                  <a:pt x="130937" y="43179"/>
                </a:lnTo>
                <a:lnTo>
                  <a:pt x="170053" y="26670"/>
                </a:lnTo>
                <a:lnTo>
                  <a:pt x="212598" y="17779"/>
                </a:lnTo>
                <a:lnTo>
                  <a:pt x="235076" y="16510"/>
                </a:lnTo>
                <a:lnTo>
                  <a:pt x="322495" y="16510"/>
                </a:lnTo>
                <a:lnTo>
                  <a:pt x="304292" y="10160"/>
                </a:lnTo>
                <a:lnTo>
                  <a:pt x="281686" y="3810"/>
                </a:lnTo>
                <a:lnTo>
                  <a:pt x="258191" y="0"/>
                </a:lnTo>
                <a:close/>
              </a:path>
              <a:path w="471170" h="469900">
                <a:moveTo>
                  <a:pt x="322495" y="16510"/>
                </a:moveTo>
                <a:lnTo>
                  <a:pt x="235076" y="16510"/>
                </a:lnTo>
                <a:lnTo>
                  <a:pt x="257429" y="17779"/>
                </a:lnTo>
                <a:lnTo>
                  <a:pt x="279146" y="20320"/>
                </a:lnTo>
                <a:lnTo>
                  <a:pt x="320294" y="33020"/>
                </a:lnTo>
                <a:lnTo>
                  <a:pt x="357378" y="53339"/>
                </a:lnTo>
                <a:lnTo>
                  <a:pt x="389890" y="80010"/>
                </a:lnTo>
                <a:lnTo>
                  <a:pt x="416560" y="113029"/>
                </a:lnTo>
                <a:lnTo>
                  <a:pt x="436880" y="149860"/>
                </a:lnTo>
                <a:lnTo>
                  <a:pt x="449580" y="190500"/>
                </a:lnTo>
                <a:lnTo>
                  <a:pt x="454088" y="233679"/>
                </a:lnTo>
                <a:lnTo>
                  <a:pt x="454092" y="236220"/>
                </a:lnTo>
                <a:lnTo>
                  <a:pt x="453136" y="256539"/>
                </a:lnTo>
                <a:lnTo>
                  <a:pt x="444500" y="299720"/>
                </a:lnTo>
                <a:lnTo>
                  <a:pt x="427990" y="339089"/>
                </a:lnTo>
                <a:lnTo>
                  <a:pt x="404495" y="373379"/>
                </a:lnTo>
                <a:lnTo>
                  <a:pt x="374904" y="403860"/>
                </a:lnTo>
                <a:lnTo>
                  <a:pt x="340106" y="426720"/>
                </a:lnTo>
                <a:lnTo>
                  <a:pt x="300863" y="443229"/>
                </a:lnTo>
                <a:lnTo>
                  <a:pt x="258318" y="452120"/>
                </a:lnTo>
                <a:lnTo>
                  <a:pt x="235838" y="453389"/>
                </a:lnTo>
                <a:lnTo>
                  <a:pt x="324696" y="453389"/>
                </a:lnTo>
                <a:lnTo>
                  <a:pt x="368173" y="429260"/>
                </a:lnTo>
                <a:lnTo>
                  <a:pt x="402844" y="400050"/>
                </a:lnTo>
                <a:lnTo>
                  <a:pt x="431292" y="365760"/>
                </a:lnTo>
                <a:lnTo>
                  <a:pt x="452882" y="325120"/>
                </a:lnTo>
                <a:lnTo>
                  <a:pt x="466344" y="280670"/>
                </a:lnTo>
                <a:lnTo>
                  <a:pt x="470916" y="233679"/>
                </a:lnTo>
                <a:lnTo>
                  <a:pt x="469519" y="209550"/>
                </a:lnTo>
                <a:lnTo>
                  <a:pt x="459994" y="163829"/>
                </a:lnTo>
                <a:lnTo>
                  <a:pt x="441960" y="121920"/>
                </a:lnTo>
                <a:lnTo>
                  <a:pt x="416433" y="83820"/>
                </a:lnTo>
                <a:lnTo>
                  <a:pt x="384301" y="52070"/>
                </a:lnTo>
                <a:lnTo>
                  <a:pt x="346710" y="27939"/>
                </a:lnTo>
                <a:lnTo>
                  <a:pt x="326136" y="17779"/>
                </a:lnTo>
                <a:lnTo>
                  <a:pt x="322495" y="16510"/>
                </a:lnTo>
                <a:close/>
              </a:path>
              <a:path w="471170" h="469900">
                <a:moveTo>
                  <a:pt x="235838" y="33020"/>
                </a:moveTo>
                <a:lnTo>
                  <a:pt x="195199" y="36829"/>
                </a:lnTo>
                <a:lnTo>
                  <a:pt x="157225" y="48260"/>
                </a:lnTo>
                <a:lnTo>
                  <a:pt x="122936" y="67310"/>
                </a:lnTo>
                <a:lnTo>
                  <a:pt x="92963" y="91439"/>
                </a:lnTo>
                <a:lnTo>
                  <a:pt x="68199" y="121920"/>
                </a:lnTo>
                <a:lnTo>
                  <a:pt x="49530" y="156210"/>
                </a:lnTo>
                <a:lnTo>
                  <a:pt x="37719" y="194310"/>
                </a:lnTo>
                <a:lnTo>
                  <a:pt x="33587" y="233679"/>
                </a:lnTo>
                <a:lnTo>
                  <a:pt x="33583" y="236220"/>
                </a:lnTo>
                <a:lnTo>
                  <a:pt x="34417" y="255270"/>
                </a:lnTo>
                <a:lnTo>
                  <a:pt x="42418" y="294639"/>
                </a:lnTo>
                <a:lnTo>
                  <a:pt x="57785" y="331470"/>
                </a:lnTo>
                <a:lnTo>
                  <a:pt x="79375" y="363220"/>
                </a:lnTo>
                <a:lnTo>
                  <a:pt x="106680" y="391160"/>
                </a:lnTo>
                <a:lnTo>
                  <a:pt x="138937" y="412750"/>
                </a:lnTo>
                <a:lnTo>
                  <a:pt x="175006" y="427989"/>
                </a:lnTo>
                <a:lnTo>
                  <a:pt x="214375" y="435610"/>
                </a:lnTo>
                <a:lnTo>
                  <a:pt x="235076" y="436879"/>
                </a:lnTo>
                <a:lnTo>
                  <a:pt x="255650" y="435610"/>
                </a:lnTo>
                <a:lnTo>
                  <a:pt x="275717" y="433070"/>
                </a:lnTo>
                <a:lnTo>
                  <a:pt x="295148" y="427989"/>
                </a:lnTo>
                <a:lnTo>
                  <a:pt x="313690" y="421639"/>
                </a:lnTo>
                <a:lnTo>
                  <a:pt x="316211" y="420370"/>
                </a:lnTo>
                <a:lnTo>
                  <a:pt x="234187" y="420370"/>
                </a:lnTo>
                <a:lnTo>
                  <a:pt x="215137" y="419100"/>
                </a:lnTo>
                <a:lnTo>
                  <a:pt x="162306" y="405129"/>
                </a:lnTo>
                <a:lnTo>
                  <a:pt x="116712" y="377189"/>
                </a:lnTo>
                <a:lnTo>
                  <a:pt x="81153" y="337820"/>
                </a:lnTo>
                <a:lnTo>
                  <a:pt x="58166" y="288289"/>
                </a:lnTo>
                <a:lnTo>
                  <a:pt x="50292" y="233679"/>
                </a:lnTo>
                <a:lnTo>
                  <a:pt x="51308" y="214629"/>
                </a:lnTo>
                <a:lnTo>
                  <a:pt x="65278" y="161289"/>
                </a:lnTo>
                <a:lnTo>
                  <a:pt x="93345" y="116839"/>
                </a:lnTo>
                <a:lnTo>
                  <a:pt x="132969" y="81279"/>
                </a:lnTo>
                <a:lnTo>
                  <a:pt x="181737" y="57150"/>
                </a:lnTo>
                <a:lnTo>
                  <a:pt x="236728" y="49529"/>
                </a:lnTo>
                <a:lnTo>
                  <a:pt x="314451" y="49529"/>
                </a:lnTo>
                <a:lnTo>
                  <a:pt x="295910" y="41910"/>
                </a:lnTo>
                <a:lnTo>
                  <a:pt x="276606" y="36829"/>
                </a:lnTo>
                <a:lnTo>
                  <a:pt x="256540" y="34289"/>
                </a:lnTo>
                <a:lnTo>
                  <a:pt x="235838" y="33020"/>
                </a:lnTo>
                <a:close/>
              </a:path>
              <a:path w="471170" h="469900">
                <a:moveTo>
                  <a:pt x="314451" y="49529"/>
                </a:moveTo>
                <a:lnTo>
                  <a:pt x="236728" y="49529"/>
                </a:lnTo>
                <a:lnTo>
                  <a:pt x="255778" y="50800"/>
                </a:lnTo>
                <a:lnTo>
                  <a:pt x="273938" y="53339"/>
                </a:lnTo>
                <a:lnTo>
                  <a:pt x="324866" y="72389"/>
                </a:lnTo>
                <a:lnTo>
                  <a:pt x="367284" y="105410"/>
                </a:lnTo>
                <a:lnTo>
                  <a:pt x="398907" y="147320"/>
                </a:lnTo>
                <a:lnTo>
                  <a:pt x="417068" y="199389"/>
                </a:lnTo>
                <a:lnTo>
                  <a:pt x="420624" y="236220"/>
                </a:lnTo>
                <a:lnTo>
                  <a:pt x="419608" y="255270"/>
                </a:lnTo>
                <a:lnTo>
                  <a:pt x="405638" y="308610"/>
                </a:lnTo>
                <a:lnTo>
                  <a:pt x="377571" y="354329"/>
                </a:lnTo>
                <a:lnTo>
                  <a:pt x="338074" y="389889"/>
                </a:lnTo>
                <a:lnTo>
                  <a:pt x="289433" y="412750"/>
                </a:lnTo>
                <a:lnTo>
                  <a:pt x="234187" y="420370"/>
                </a:lnTo>
                <a:lnTo>
                  <a:pt x="316211" y="420370"/>
                </a:lnTo>
                <a:lnTo>
                  <a:pt x="363600" y="391160"/>
                </a:lnTo>
                <a:lnTo>
                  <a:pt x="391033" y="363220"/>
                </a:lnTo>
                <a:lnTo>
                  <a:pt x="412876" y="331470"/>
                </a:lnTo>
                <a:lnTo>
                  <a:pt x="428244" y="295910"/>
                </a:lnTo>
                <a:lnTo>
                  <a:pt x="436372" y="256539"/>
                </a:lnTo>
                <a:lnTo>
                  <a:pt x="437332" y="233679"/>
                </a:lnTo>
                <a:lnTo>
                  <a:pt x="436499" y="214629"/>
                </a:lnTo>
                <a:lnTo>
                  <a:pt x="428498" y="175260"/>
                </a:lnTo>
                <a:lnTo>
                  <a:pt x="413258" y="139700"/>
                </a:lnTo>
                <a:lnTo>
                  <a:pt x="391541" y="106679"/>
                </a:lnTo>
                <a:lnTo>
                  <a:pt x="364236" y="80010"/>
                </a:lnTo>
                <a:lnTo>
                  <a:pt x="332105" y="57150"/>
                </a:lnTo>
                <a:lnTo>
                  <a:pt x="314451" y="49529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3114006" y="1333078"/>
            <a:ext cx="4719948" cy="646297"/>
          </a:xfrm>
          <a:prstGeom prst="rect">
            <a:avLst/>
          </a:prstGeom>
        </p:spPr>
        <p:txBody>
          <a:bodyPr vert="horz" wrap="square" lIns="0" tIns="15207" rIns="0" bIns="0" rtlCol="0">
            <a:spAutoFit/>
          </a:bodyPr>
          <a:lstStyle/>
          <a:p>
            <a:pPr marL="14483">
              <a:spcBef>
                <a:spcPts val="120"/>
              </a:spcBef>
            </a:pPr>
            <a:r>
              <a:rPr sz="4100" dirty="0"/>
              <a:t>Editing</a:t>
            </a:r>
            <a:r>
              <a:rPr sz="4100" spc="-103" dirty="0"/>
              <a:t> </a:t>
            </a:r>
            <a:r>
              <a:rPr sz="4100" dirty="0"/>
              <a:t>Commands</a:t>
            </a: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626660"/>
              </p:ext>
            </p:extLst>
          </p:nvPr>
        </p:nvGraphicFramePr>
        <p:xfrm>
          <a:off x="455137" y="3374536"/>
          <a:ext cx="9684953" cy="29386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20913"/>
                <a:gridCol w="5764040"/>
              </a:tblGrid>
              <a:tr h="403013">
                <a:tc>
                  <a:txBody>
                    <a:bodyPr/>
                    <a:lstStyle/>
                    <a:p>
                      <a:pPr marL="9207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COMMANDS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2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6248"/>
                    </a:solidFill>
                  </a:tcPr>
                </a:tc>
                <a:tc>
                  <a:txBody>
                    <a:bodyPr/>
                    <a:lstStyle/>
                    <a:p>
                      <a:pPr marL="97916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5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2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D16248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i="1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2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2CF"/>
                    </a:solidFill>
                  </a:tcPr>
                </a:tc>
              </a:tr>
              <a:tr h="1309793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i,</a:t>
                      </a:r>
                      <a:r>
                        <a:rPr sz="20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I,</a:t>
                      </a:r>
                      <a:r>
                        <a:rPr sz="2000" spc="-114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o,</a:t>
                      </a:r>
                      <a:r>
                        <a:rPr sz="2000" spc="-1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marL="0" marR="0" marT="209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AE9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before, after cursor</a:t>
                      </a: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 text before beginning, after end of</a:t>
                      </a: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</a:t>
                      </a:r>
                    </a:p>
                    <a:p>
                      <a:pPr marL="977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new line for text </a:t>
                      </a: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below, </a:t>
                      </a:r>
                      <a:r>
                        <a:rPr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above</a:t>
                      </a:r>
                      <a:r>
                        <a:rPr sz="20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cursor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2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AE9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D2CF"/>
                    </a:solidFill>
                  </a:tcPr>
                </a:tc>
              </a:tr>
              <a:tr h="4086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A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AE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5978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224" y="2770717"/>
            <a:ext cx="10336953" cy="4272221"/>
          </a:xfrm>
          <a:custGeom>
            <a:avLst/>
            <a:gdLst/>
            <a:ahLst/>
            <a:cxnLst/>
            <a:rect l="l" t="t" r="r" b="b"/>
            <a:pathLst>
              <a:path w="8839200" h="3877310">
                <a:moveTo>
                  <a:pt x="0" y="3877055"/>
                </a:moveTo>
                <a:lnTo>
                  <a:pt x="8839200" y="3877055"/>
                </a:lnTo>
                <a:lnTo>
                  <a:pt x="8839200" y="0"/>
                </a:lnTo>
                <a:lnTo>
                  <a:pt x="0" y="0"/>
                </a:lnTo>
                <a:lnTo>
                  <a:pt x="0" y="3877055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78224" y="7383540"/>
            <a:ext cx="10336953" cy="5597"/>
          </a:xfrm>
          <a:custGeom>
            <a:avLst/>
            <a:gdLst/>
            <a:ahLst/>
            <a:cxnLst/>
            <a:rect l="l" t="t" r="r" b="b"/>
            <a:pathLst>
              <a:path w="8839200" h="5079">
                <a:moveTo>
                  <a:pt x="0" y="4571"/>
                </a:moveTo>
                <a:lnTo>
                  <a:pt x="8839200" y="4571"/>
                </a:lnTo>
                <a:lnTo>
                  <a:pt x="8839200" y="0"/>
                </a:lnTo>
                <a:lnTo>
                  <a:pt x="0" y="0"/>
                </a:lnTo>
                <a:lnTo>
                  <a:pt x="0" y="4571"/>
                </a:lnTo>
                <a:close/>
              </a:path>
            </a:pathLst>
          </a:custGeom>
          <a:solidFill>
            <a:srgbClr val="C5D1D6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8224" y="7388577"/>
            <a:ext cx="10336953" cy="167922"/>
          </a:xfrm>
          <a:custGeom>
            <a:avLst/>
            <a:gdLst/>
            <a:ahLst/>
            <a:cxnLst/>
            <a:rect l="l" t="t" r="r" b="b"/>
            <a:pathLst>
              <a:path w="8839200" h="152400">
                <a:moveTo>
                  <a:pt x="0" y="152400"/>
                </a:moveTo>
                <a:lnTo>
                  <a:pt x="8839200" y="152400"/>
                </a:lnTo>
                <a:lnTo>
                  <a:pt x="8839200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515177" y="2770717"/>
            <a:ext cx="178223" cy="4785783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7"/>
                </a:moveTo>
                <a:lnTo>
                  <a:pt x="152399" y="4343397"/>
                </a:lnTo>
                <a:lnTo>
                  <a:pt x="152399" y="0"/>
                </a:lnTo>
                <a:lnTo>
                  <a:pt x="0" y="0"/>
                </a:lnTo>
                <a:lnTo>
                  <a:pt x="0" y="434339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2770717"/>
            <a:ext cx="178223" cy="4785783"/>
          </a:xfrm>
          <a:custGeom>
            <a:avLst/>
            <a:gdLst/>
            <a:ahLst/>
            <a:cxnLst/>
            <a:rect l="l" t="t" r="r" b="b"/>
            <a:pathLst>
              <a:path w="152400" h="4343400">
                <a:moveTo>
                  <a:pt x="0" y="4343399"/>
                </a:moveTo>
                <a:lnTo>
                  <a:pt x="152400" y="4343399"/>
                </a:lnTo>
                <a:lnTo>
                  <a:pt x="152400" y="0"/>
                </a:lnTo>
                <a:lnTo>
                  <a:pt x="0" y="0"/>
                </a:lnTo>
                <a:lnTo>
                  <a:pt x="0" y="43433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0693400" cy="2770717"/>
          </a:xfrm>
          <a:custGeom>
            <a:avLst/>
            <a:gdLst/>
            <a:ahLst/>
            <a:cxnLst/>
            <a:rect l="l" t="t" r="r" b="b"/>
            <a:pathLst>
              <a:path w="9144000" h="2514600">
                <a:moveTo>
                  <a:pt x="0" y="2514600"/>
                </a:moveTo>
                <a:lnTo>
                  <a:pt x="9144000" y="2514600"/>
                </a:lnTo>
                <a:lnTo>
                  <a:pt x="9144000" y="0"/>
                </a:lnTo>
                <a:lnTo>
                  <a:pt x="0" y="0"/>
                </a:lnTo>
                <a:lnTo>
                  <a:pt x="0" y="25146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1095" y="7042657"/>
            <a:ext cx="10330270" cy="341442"/>
          </a:xfrm>
          <a:custGeom>
            <a:avLst/>
            <a:gdLst/>
            <a:ahLst/>
            <a:cxnLst/>
            <a:rect l="l" t="t" r="r" b="b"/>
            <a:pathLst>
              <a:path w="8833485" h="309879">
                <a:moveTo>
                  <a:pt x="0" y="309372"/>
                </a:moveTo>
                <a:lnTo>
                  <a:pt x="8833104" y="309372"/>
                </a:lnTo>
                <a:lnTo>
                  <a:pt x="8833104" y="0"/>
                </a:lnTo>
                <a:lnTo>
                  <a:pt x="0" y="0"/>
                </a:lnTo>
                <a:lnTo>
                  <a:pt x="0" y="309372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30762" y="2666604"/>
            <a:ext cx="281444" cy="0"/>
          </a:xfrm>
          <a:custGeom>
            <a:avLst/>
            <a:gdLst/>
            <a:ahLst/>
            <a:cxnLst/>
            <a:rect l="l" t="t" r="r" b="b"/>
            <a:pathLst>
              <a:path w="240665">
                <a:moveTo>
                  <a:pt x="0" y="0"/>
                </a:moveTo>
                <a:lnTo>
                  <a:pt x="240156" y="0"/>
                </a:lnTo>
              </a:path>
            </a:pathLst>
          </a:custGeom>
          <a:ln w="12192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1787" y="2666604"/>
            <a:ext cx="365358" cy="0"/>
          </a:xfrm>
          <a:custGeom>
            <a:avLst/>
            <a:gdLst/>
            <a:ahLst/>
            <a:cxnLst/>
            <a:rect l="l" t="t" r="r" b="b"/>
            <a:pathLst>
              <a:path w="312420">
                <a:moveTo>
                  <a:pt x="0" y="0"/>
                </a:moveTo>
                <a:lnTo>
                  <a:pt x="312089" y="0"/>
                </a:lnTo>
              </a:path>
            </a:pathLst>
          </a:custGeom>
          <a:ln w="12192">
            <a:solidFill>
              <a:srgbClr val="7A9799"/>
            </a:solidFill>
            <a:prstDash val="sysDash"/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78224" y="167922"/>
            <a:ext cx="10330270" cy="7214357"/>
          </a:xfrm>
          <a:custGeom>
            <a:avLst/>
            <a:gdLst/>
            <a:ahLst/>
            <a:cxnLst/>
            <a:rect l="l" t="t" r="r" b="b"/>
            <a:pathLst>
              <a:path w="8833485" h="6547484">
                <a:moveTo>
                  <a:pt x="0" y="6547104"/>
                </a:moveTo>
                <a:lnTo>
                  <a:pt x="8833104" y="6547104"/>
                </a:lnTo>
                <a:lnTo>
                  <a:pt x="8833104" y="0"/>
                </a:lnTo>
                <a:lnTo>
                  <a:pt x="0" y="0"/>
                </a:lnTo>
                <a:lnTo>
                  <a:pt x="0" y="6547104"/>
                </a:lnTo>
                <a:close/>
              </a:path>
            </a:pathLst>
          </a:custGeom>
          <a:ln w="9143">
            <a:solidFill>
              <a:srgbClr val="7A9799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990254" y="2330759"/>
            <a:ext cx="712893" cy="671689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255374" y="3990"/>
                </a:lnTo>
                <a:lnTo>
                  <a:pt x="208483" y="15544"/>
                </a:lnTo>
                <a:lnTo>
                  <a:pt x="164753" y="34032"/>
                </a:lnTo>
                <a:lnTo>
                  <a:pt x="124815" y="58826"/>
                </a:lnTo>
                <a:lnTo>
                  <a:pt x="89296" y="89296"/>
                </a:lnTo>
                <a:lnTo>
                  <a:pt x="58826" y="124815"/>
                </a:lnTo>
                <a:lnTo>
                  <a:pt x="34032" y="164753"/>
                </a:lnTo>
                <a:lnTo>
                  <a:pt x="15544" y="208483"/>
                </a:lnTo>
                <a:lnTo>
                  <a:pt x="3990" y="255374"/>
                </a:lnTo>
                <a:lnTo>
                  <a:pt x="0" y="304800"/>
                </a:lnTo>
                <a:lnTo>
                  <a:pt x="3990" y="354225"/>
                </a:lnTo>
                <a:lnTo>
                  <a:pt x="15544" y="401116"/>
                </a:lnTo>
                <a:lnTo>
                  <a:pt x="34032" y="444846"/>
                </a:lnTo>
                <a:lnTo>
                  <a:pt x="58826" y="484784"/>
                </a:lnTo>
                <a:lnTo>
                  <a:pt x="89296" y="520303"/>
                </a:lnTo>
                <a:lnTo>
                  <a:pt x="124815" y="550773"/>
                </a:lnTo>
                <a:lnTo>
                  <a:pt x="164753" y="575567"/>
                </a:lnTo>
                <a:lnTo>
                  <a:pt x="208483" y="594055"/>
                </a:lnTo>
                <a:lnTo>
                  <a:pt x="255374" y="605609"/>
                </a:lnTo>
                <a:lnTo>
                  <a:pt x="304800" y="609600"/>
                </a:lnTo>
                <a:lnTo>
                  <a:pt x="354225" y="605609"/>
                </a:lnTo>
                <a:lnTo>
                  <a:pt x="401116" y="594055"/>
                </a:lnTo>
                <a:lnTo>
                  <a:pt x="444846" y="575567"/>
                </a:lnTo>
                <a:lnTo>
                  <a:pt x="484784" y="550773"/>
                </a:lnTo>
                <a:lnTo>
                  <a:pt x="520303" y="520303"/>
                </a:lnTo>
                <a:lnTo>
                  <a:pt x="550773" y="484784"/>
                </a:lnTo>
                <a:lnTo>
                  <a:pt x="575567" y="444846"/>
                </a:lnTo>
                <a:lnTo>
                  <a:pt x="594055" y="401116"/>
                </a:lnTo>
                <a:lnTo>
                  <a:pt x="605609" y="354225"/>
                </a:lnTo>
                <a:lnTo>
                  <a:pt x="609600" y="304800"/>
                </a:lnTo>
                <a:lnTo>
                  <a:pt x="605609" y="255374"/>
                </a:lnTo>
                <a:lnTo>
                  <a:pt x="594055" y="208483"/>
                </a:lnTo>
                <a:lnTo>
                  <a:pt x="575567" y="164753"/>
                </a:lnTo>
                <a:lnTo>
                  <a:pt x="550773" y="124815"/>
                </a:lnTo>
                <a:lnTo>
                  <a:pt x="520303" y="89296"/>
                </a:lnTo>
                <a:lnTo>
                  <a:pt x="484784" y="58826"/>
                </a:lnTo>
                <a:lnTo>
                  <a:pt x="444846" y="34032"/>
                </a:lnTo>
                <a:lnTo>
                  <a:pt x="401116" y="15544"/>
                </a:lnTo>
                <a:lnTo>
                  <a:pt x="354225" y="3990"/>
                </a:lnTo>
                <a:lnTo>
                  <a:pt x="3048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01643" y="2435711"/>
            <a:ext cx="492342" cy="463885"/>
          </a:xfrm>
          <a:custGeom>
            <a:avLst/>
            <a:gdLst/>
            <a:ahLst/>
            <a:cxnLst/>
            <a:rect l="l" t="t" r="r" b="b"/>
            <a:pathLst>
              <a:path w="421004" h="421005">
                <a:moveTo>
                  <a:pt x="210312" y="0"/>
                </a:moveTo>
                <a:lnTo>
                  <a:pt x="162072" y="5551"/>
                </a:lnTo>
                <a:lnTo>
                  <a:pt x="117798" y="21367"/>
                </a:lnTo>
                <a:lnTo>
                  <a:pt x="78750" y="46186"/>
                </a:lnTo>
                <a:lnTo>
                  <a:pt x="46186" y="78750"/>
                </a:lnTo>
                <a:lnTo>
                  <a:pt x="21367" y="117798"/>
                </a:lnTo>
                <a:lnTo>
                  <a:pt x="5551" y="162072"/>
                </a:lnTo>
                <a:lnTo>
                  <a:pt x="0" y="210312"/>
                </a:lnTo>
                <a:lnTo>
                  <a:pt x="5551" y="258551"/>
                </a:lnTo>
                <a:lnTo>
                  <a:pt x="21367" y="302825"/>
                </a:lnTo>
                <a:lnTo>
                  <a:pt x="46186" y="341873"/>
                </a:lnTo>
                <a:lnTo>
                  <a:pt x="78750" y="374437"/>
                </a:lnTo>
                <a:lnTo>
                  <a:pt x="117798" y="399256"/>
                </a:lnTo>
                <a:lnTo>
                  <a:pt x="162072" y="415072"/>
                </a:lnTo>
                <a:lnTo>
                  <a:pt x="210312" y="420624"/>
                </a:lnTo>
                <a:lnTo>
                  <a:pt x="258551" y="415072"/>
                </a:lnTo>
                <a:lnTo>
                  <a:pt x="302825" y="399256"/>
                </a:lnTo>
                <a:lnTo>
                  <a:pt x="341873" y="374437"/>
                </a:lnTo>
                <a:lnTo>
                  <a:pt x="374437" y="341873"/>
                </a:lnTo>
                <a:lnTo>
                  <a:pt x="399256" y="302825"/>
                </a:lnTo>
                <a:lnTo>
                  <a:pt x="415072" y="258551"/>
                </a:lnTo>
                <a:lnTo>
                  <a:pt x="420624" y="210312"/>
                </a:lnTo>
                <a:lnTo>
                  <a:pt x="415072" y="162072"/>
                </a:lnTo>
                <a:lnTo>
                  <a:pt x="399256" y="117798"/>
                </a:lnTo>
                <a:lnTo>
                  <a:pt x="374437" y="78750"/>
                </a:lnTo>
                <a:lnTo>
                  <a:pt x="341873" y="46186"/>
                </a:lnTo>
                <a:lnTo>
                  <a:pt x="302825" y="21367"/>
                </a:lnTo>
                <a:lnTo>
                  <a:pt x="258551" y="5551"/>
                </a:lnTo>
                <a:lnTo>
                  <a:pt x="210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072235" y="2409124"/>
            <a:ext cx="551007" cy="517760"/>
          </a:xfrm>
          <a:custGeom>
            <a:avLst/>
            <a:gdLst/>
            <a:ahLst/>
            <a:cxnLst/>
            <a:rect l="l" t="t" r="r" b="b"/>
            <a:pathLst>
              <a:path w="471170" h="469900">
                <a:moveTo>
                  <a:pt x="258191" y="0"/>
                </a:moveTo>
                <a:lnTo>
                  <a:pt x="234187" y="0"/>
                </a:lnTo>
                <a:lnTo>
                  <a:pt x="210058" y="1270"/>
                </a:lnTo>
                <a:lnTo>
                  <a:pt x="164211" y="10160"/>
                </a:lnTo>
                <a:lnTo>
                  <a:pt x="122300" y="29210"/>
                </a:lnTo>
                <a:lnTo>
                  <a:pt x="84836" y="54610"/>
                </a:lnTo>
                <a:lnTo>
                  <a:pt x="52959" y="86360"/>
                </a:lnTo>
                <a:lnTo>
                  <a:pt x="27940" y="124460"/>
                </a:lnTo>
                <a:lnTo>
                  <a:pt x="10160" y="166370"/>
                </a:lnTo>
                <a:lnTo>
                  <a:pt x="1016" y="212089"/>
                </a:lnTo>
                <a:lnTo>
                  <a:pt x="0" y="236220"/>
                </a:lnTo>
                <a:lnTo>
                  <a:pt x="1397" y="260350"/>
                </a:lnTo>
                <a:lnTo>
                  <a:pt x="11049" y="306070"/>
                </a:lnTo>
                <a:lnTo>
                  <a:pt x="29083" y="347979"/>
                </a:lnTo>
                <a:lnTo>
                  <a:pt x="54610" y="386079"/>
                </a:lnTo>
                <a:lnTo>
                  <a:pt x="86613" y="417829"/>
                </a:lnTo>
                <a:lnTo>
                  <a:pt x="124333" y="443229"/>
                </a:lnTo>
                <a:lnTo>
                  <a:pt x="166750" y="459739"/>
                </a:lnTo>
                <a:lnTo>
                  <a:pt x="212725" y="469900"/>
                </a:lnTo>
                <a:lnTo>
                  <a:pt x="236728" y="469900"/>
                </a:lnTo>
                <a:lnTo>
                  <a:pt x="260858" y="468629"/>
                </a:lnTo>
                <a:lnTo>
                  <a:pt x="284099" y="464820"/>
                </a:lnTo>
                <a:lnTo>
                  <a:pt x="306705" y="459739"/>
                </a:lnTo>
                <a:lnTo>
                  <a:pt x="324696" y="453389"/>
                </a:lnTo>
                <a:lnTo>
                  <a:pt x="235838" y="453389"/>
                </a:lnTo>
                <a:lnTo>
                  <a:pt x="213487" y="452120"/>
                </a:lnTo>
                <a:lnTo>
                  <a:pt x="170942" y="444500"/>
                </a:lnTo>
                <a:lnTo>
                  <a:pt x="131572" y="427989"/>
                </a:lnTo>
                <a:lnTo>
                  <a:pt x="96647" y="403860"/>
                </a:lnTo>
                <a:lnTo>
                  <a:pt x="66929" y="374650"/>
                </a:lnTo>
                <a:lnTo>
                  <a:pt x="43434" y="339089"/>
                </a:lnTo>
                <a:lnTo>
                  <a:pt x="26670" y="300989"/>
                </a:lnTo>
                <a:lnTo>
                  <a:pt x="17907" y="257810"/>
                </a:lnTo>
                <a:lnTo>
                  <a:pt x="16823" y="233679"/>
                </a:lnTo>
                <a:lnTo>
                  <a:pt x="17780" y="213360"/>
                </a:lnTo>
                <a:lnTo>
                  <a:pt x="26416" y="170179"/>
                </a:lnTo>
                <a:lnTo>
                  <a:pt x="43053" y="130810"/>
                </a:lnTo>
                <a:lnTo>
                  <a:pt x="66421" y="96520"/>
                </a:lnTo>
                <a:lnTo>
                  <a:pt x="96138" y="66039"/>
                </a:lnTo>
                <a:lnTo>
                  <a:pt x="130937" y="43179"/>
                </a:lnTo>
                <a:lnTo>
                  <a:pt x="170053" y="26670"/>
                </a:lnTo>
                <a:lnTo>
                  <a:pt x="212598" y="17779"/>
                </a:lnTo>
                <a:lnTo>
                  <a:pt x="235076" y="16510"/>
                </a:lnTo>
                <a:lnTo>
                  <a:pt x="322495" y="16510"/>
                </a:lnTo>
                <a:lnTo>
                  <a:pt x="304292" y="10160"/>
                </a:lnTo>
                <a:lnTo>
                  <a:pt x="281686" y="3810"/>
                </a:lnTo>
                <a:lnTo>
                  <a:pt x="258191" y="0"/>
                </a:lnTo>
                <a:close/>
              </a:path>
              <a:path w="471170" h="469900">
                <a:moveTo>
                  <a:pt x="322495" y="16510"/>
                </a:moveTo>
                <a:lnTo>
                  <a:pt x="235076" y="16510"/>
                </a:lnTo>
                <a:lnTo>
                  <a:pt x="257429" y="17779"/>
                </a:lnTo>
                <a:lnTo>
                  <a:pt x="279146" y="20320"/>
                </a:lnTo>
                <a:lnTo>
                  <a:pt x="320294" y="33020"/>
                </a:lnTo>
                <a:lnTo>
                  <a:pt x="357378" y="53339"/>
                </a:lnTo>
                <a:lnTo>
                  <a:pt x="389890" y="80010"/>
                </a:lnTo>
                <a:lnTo>
                  <a:pt x="416560" y="113029"/>
                </a:lnTo>
                <a:lnTo>
                  <a:pt x="436880" y="149860"/>
                </a:lnTo>
                <a:lnTo>
                  <a:pt x="449580" y="190500"/>
                </a:lnTo>
                <a:lnTo>
                  <a:pt x="454088" y="233679"/>
                </a:lnTo>
                <a:lnTo>
                  <a:pt x="454092" y="236220"/>
                </a:lnTo>
                <a:lnTo>
                  <a:pt x="453136" y="256539"/>
                </a:lnTo>
                <a:lnTo>
                  <a:pt x="444500" y="299720"/>
                </a:lnTo>
                <a:lnTo>
                  <a:pt x="427990" y="339089"/>
                </a:lnTo>
                <a:lnTo>
                  <a:pt x="404495" y="373379"/>
                </a:lnTo>
                <a:lnTo>
                  <a:pt x="374904" y="403860"/>
                </a:lnTo>
                <a:lnTo>
                  <a:pt x="340106" y="426720"/>
                </a:lnTo>
                <a:lnTo>
                  <a:pt x="300863" y="443229"/>
                </a:lnTo>
                <a:lnTo>
                  <a:pt x="258318" y="452120"/>
                </a:lnTo>
                <a:lnTo>
                  <a:pt x="235838" y="453389"/>
                </a:lnTo>
                <a:lnTo>
                  <a:pt x="324696" y="453389"/>
                </a:lnTo>
                <a:lnTo>
                  <a:pt x="368173" y="429260"/>
                </a:lnTo>
                <a:lnTo>
                  <a:pt x="402844" y="400050"/>
                </a:lnTo>
                <a:lnTo>
                  <a:pt x="431292" y="365760"/>
                </a:lnTo>
                <a:lnTo>
                  <a:pt x="452882" y="325120"/>
                </a:lnTo>
                <a:lnTo>
                  <a:pt x="466344" y="280670"/>
                </a:lnTo>
                <a:lnTo>
                  <a:pt x="470916" y="233679"/>
                </a:lnTo>
                <a:lnTo>
                  <a:pt x="469519" y="209550"/>
                </a:lnTo>
                <a:lnTo>
                  <a:pt x="459994" y="163829"/>
                </a:lnTo>
                <a:lnTo>
                  <a:pt x="441960" y="121920"/>
                </a:lnTo>
                <a:lnTo>
                  <a:pt x="416433" y="83820"/>
                </a:lnTo>
                <a:lnTo>
                  <a:pt x="384301" y="52070"/>
                </a:lnTo>
                <a:lnTo>
                  <a:pt x="346710" y="27939"/>
                </a:lnTo>
                <a:lnTo>
                  <a:pt x="326136" y="17779"/>
                </a:lnTo>
                <a:lnTo>
                  <a:pt x="322495" y="16510"/>
                </a:lnTo>
                <a:close/>
              </a:path>
              <a:path w="471170" h="469900">
                <a:moveTo>
                  <a:pt x="235838" y="33020"/>
                </a:moveTo>
                <a:lnTo>
                  <a:pt x="195199" y="36829"/>
                </a:lnTo>
                <a:lnTo>
                  <a:pt x="157225" y="48260"/>
                </a:lnTo>
                <a:lnTo>
                  <a:pt x="122936" y="67310"/>
                </a:lnTo>
                <a:lnTo>
                  <a:pt x="92963" y="91439"/>
                </a:lnTo>
                <a:lnTo>
                  <a:pt x="68199" y="121920"/>
                </a:lnTo>
                <a:lnTo>
                  <a:pt x="49530" y="156210"/>
                </a:lnTo>
                <a:lnTo>
                  <a:pt x="37719" y="194310"/>
                </a:lnTo>
                <a:lnTo>
                  <a:pt x="33587" y="233679"/>
                </a:lnTo>
                <a:lnTo>
                  <a:pt x="33583" y="236220"/>
                </a:lnTo>
                <a:lnTo>
                  <a:pt x="34417" y="255270"/>
                </a:lnTo>
                <a:lnTo>
                  <a:pt x="42418" y="294639"/>
                </a:lnTo>
                <a:lnTo>
                  <a:pt x="57785" y="331470"/>
                </a:lnTo>
                <a:lnTo>
                  <a:pt x="79375" y="363220"/>
                </a:lnTo>
                <a:lnTo>
                  <a:pt x="106680" y="391160"/>
                </a:lnTo>
                <a:lnTo>
                  <a:pt x="138937" y="412750"/>
                </a:lnTo>
                <a:lnTo>
                  <a:pt x="175006" y="427989"/>
                </a:lnTo>
                <a:lnTo>
                  <a:pt x="214375" y="435610"/>
                </a:lnTo>
                <a:lnTo>
                  <a:pt x="235076" y="436879"/>
                </a:lnTo>
                <a:lnTo>
                  <a:pt x="255650" y="435610"/>
                </a:lnTo>
                <a:lnTo>
                  <a:pt x="275717" y="433070"/>
                </a:lnTo>
                <a:lnTo>
                  <a:pt x="295148" y="427989"/>
                </a:lnTo>
                <a:lnTo>
                  <a:pt x="313690" y="421639"/>
                </a:lnTo>
                <a:lnTo>
                  <a:pt x="316211" y="420370"/>
                </a:lnTo>
                <a:lnTo>
                  <a:pt x="234187" y="420370"/>
                </a:lnTo>
                <a:lnTo>
                  <a:pt x="215137" y="419100"/>
                </a:lnTo>
                <a:lnTo>
                  <a:pt x="162306" y="405129"/>
                </a:lnTo>
                <a:lnTo>
                  <a:pt x="116712" y="377189"/>
                </a:lnTo>
                <a:lnTo>
                  <a:pt x="81153" y="337820"/>
                </a:lnTo>
                <a:lnTo>
                  <a:pt x="58166" y="288289"/>
                </a:lnTo>
                <a:lnTo>
                  <a:pt x="50292" y="233679"/>
                </a:lnTo>
                <a:lnTo>
                  <a:pt x="51308" y="214629"/>
                </a:lnTo>
                <a:lnTo>
                  <a:pt x="65278" y="161289"/>
                </a:lnTo>
                <a:lnTo>
                  <a:pt x="93345" y="116839"/>
                </a:lnTo>
                <a:lnTo>
                  <a:pt x="132969" y="81279"/>
                </a:lnTo>
                <a:lnTo>
                  <a:pt x="181737" y="57150"/>
                </a:lnTo>
                <a:lnTo>
                  <a:pt x="236728" y="49529"/>
                </a:lnTo>
                <a:lnTo>
                  <a:pt x="314451" y="49529"/>
                </a:lnTo>
                <a:lnTo>
                  <a:pt x="295910" y="41910"/>
                </a:lnTo>
                <a:lnTo>
                  <a:pt x="276606" y="36829"/>
                </a:lnTo>
                <a:lnTo>
                  <a:pt x="256540" y="34289"/>
                </a:lnTo>
                <a:lnTo>
                  <a:pt x="235838" y="33020"/>
                </a:lnTo>
                <a:close/>
              </a:path>
              <a:path w="471170" h="469900">
                <a:moveTo>
                  <a:pt x="314451" y="49529"/>
                </a:moveTo>
                <a:lnTo>
                  <a:pt x="236728" y="49529"/>
                </a:lnTo>
                <a:lnTo>
                  <a:pt x="255778" y="50800"/>
                </a:lnTo>
                <a:lnTo>
                  <a:pt x="273938" y="53339"/>
                </a:lnTo>
                <a:lnTo>
                  <a:pt x="324866" y="72389"/>
                </a:lnTo>
                <a:lnTo>
                  <a:pt x="367284" y="105410"/>
                </a:lnTo>
                <a:lnTo>
                  <a:pt x="398907" y="147320"/>
                </a:lnTo>
                <a:lnTo>
                  <a:pt x="417068" y="199389"/>
                </a:lnTo>
                <a:lnTo>
                  <a:pt x="420624" y="236220"/>
                </a:lnTo>
                <a:lnTo>
                  <a:pt x="419608" y="255270"/>
                </a:lnTo>
                <a:lnTo>
                  <a:pt x="405638" y="308610"/>
                </a:lnTo>
                <a:lnTo>
                  <a:pt x="377571" y="354329"/>
                </a:lnTo>
                <a:lnTo>
                  <a:pt x="338074" y="389889"/>
                </a:lnTo>
                <a:lnTo>
                  <a:pt x="289433" y="412750"/>
                </a:lnTo>
                <a:lnTo>
                  <a:pt x="234187" y="420370"/>
                </a:lnTo>
                <a:lnTo>
                  <a:pt x="316211" y="420370"/>
                </a:lnTo>
                <a:lnTo>
                  <a:pt x="363600" y="391160"/>
                </a:lnTo>
                <a:lnTo>
                  <a:pt x="391033" y="363220"/>
                </a:lnTo>
                <a:lnTo>
                  <a:pt x="412876" y="331470"/>
                </a:lnTo>
                <a:lnTo>
                  <a:pt x="428244" y="295910"/>
                </a:lnTo>
                <a:lnTo>
                  <a:pt x="436372" y="256539"/>
                </a:lnTo>
                <a:lnTo>
                  <a:pt x="437332" y="233679"/>
                </a:lnTo>
                <a:lnTo>
                  <a:pt x="436499" y="214629"/>
                </a:lnTo>
                <a:lnTo>
                  <a:pt x="428498" y="175260"/>
                </a:lnTo>
                <a:lnTo>
                  <a:pt x="413258" y="139700"/>
                </a:lnTo>
                <a:lnTo>
                  <a:pt x="391541" y="106679"/>
                </a:lnTo>
                <a:lnTo>
                  <a:pt x="364236" y="80010"/>
                </a:lnTo>
                <a:lnTo>
                  <a:pt x="332105" y="57150"/>
                </a:lnTo>
                <a:lnTo>
                  <a:pt x="314451" y="49529"/>
                </a:lnTo>
                <a:close/>
              </a:path>
            </a:pathLst>
          </a:custGeom>
          <a:solidFill>
            <a:srgbClr val="7A9799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3114006" y="618708"/>
            <a:ext cx="4719948" cy="646297"/>
          </a:xfrm>
          <a:prstGeom prst="rect">
            <a:avLst/>
          </a:prstGeom>
        </p:spPr>
        <p:txBody>
          <a:bodyPr vert="horz" wrap="square" lIns="0" tIns="15207" rIns="0" bIns="0" rtlCol="0">
            <a:spAutoFit/>
          </a:bodyPr>
          <a:lstStyle/>
          <a:p>
            <a:pPr marL="14483">
              <a:spcBef>
                <a:spcPts val="120"/>
              </a:spcBef>
            </a:pPr>
            <a:r>
              <a:rPr sz="4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Editing</a:t>
            </a:r>
            <a:r>
              <a:rPr sz="4100" spc="-10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endParaRPr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46759" y="2270729"/>
            <a:ext cx="3920913" cy="561840"/>
          </a:xfrm>
          <a:custGeom>
            <a:avLst/>
            <a:gdLst/>
            <a:ahLst/>
            <a:cxnLst/>
            <a:rect l="l" t="t" r="r" b="b"/>
            <a:pathLst>
              <a:path w="3352800" h="509905">
                <a:moveTo>
                  <a:pt x="0" y="509777"/>
                </a:moveTo>
                <a:lnTo>
                  <a:pt x="3352673" y="509777"/>
                </a:lnTo>
                <a:lnTo>
                  <a:pt x="3352673" y="0"/>
                </a:lnTo>
                <a:lnTo>
                  <a:pt x="0" y="0"/>
                </a:lnTo>
                <a:lnTo>
                  <a:pt x="0" y="509777"/>
                </a:lnTo>
                <a:close/>
              </a:path>
            </a:pathLst>
          </a:custGeom>
          <a:solidFill>
            <a:srgbClr val="D16248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67464" y="2270729"/>
            <a:ext cx="5763297" cy="561840"/>
          </a:xfrm>
          <a:custGeom>
            <a:avLst/>
            <a:gdLst/>
            <a:ahLst/>
            <a:cxnLst/>
            <a:rect l="l" t="t" r="r" b="b"/>
            <a:pathLst>
              <a:path w="4928234" h="509905">
                <a:moveTo>
                  <a:pt x="0" y="509777"/>
                </a:moveTo>
                <a:lnTo>
                  <a:pt x="4928235" y="509777"/>
                </a:lnTo>
                <a:lnTo>
                  <a:pt x="4928235" y="0"/>
                </a:lnTo>
                <a:lnTo>
                  <a:pt x="0" y="0"/>
                </a:lnTo>
                <a:lnTo>
                  <a:pt x="0" y="509777"/>
                </a:lnTo>
                <a:close/>
              </a:path>
            </a:pathLst>
          </a:custGeom>
          <a:solidFill>
            <a:srgbClr val="D16248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46759" y="2832428"/>
            <a:ext cx="3920913" cy="408611"/>
          </a:xfrm>
          <a:custGeom>
            <a:avLst/>
            <a:gdLst/>
            <a:ahLst/>
            <a:cxnLst/>
            <a:rect l="l" t="t" r="r" b="b"/>
            <a:pathLst>
              <a:path w="3352800" h="370839">
                <a:moveTo>
                  <a:pt x="0" y="370839"/>
                </a:moveTo>
                <a:lnTo>
                  <a:pt x="3352673" y="370839"/>
                </a:lnTo>
                <a:lnTo>
                  <a:pt x="3352673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EDD2C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67464" y="2832428"/>
            <a:ext cx="5763297" cy="408611"/>
          </a:xfrm>
          <a:custGeom>
            <a:avLst/>
            <a:gdLst/>
            <a:ahLst/>
            <a:cxnLst/>
            <a:rect l="l" t="t" r="r" b="b"/>
            <a:pathLst>
              <a:path w="4928234" h="370839">
                <a:moveTo>
                  <a:pt x="0" y="370839"/>
                </a:moveTo>
                <a:lnTo>
                  <a:pt x="4928235" y="370839"/>
                </a:lnTo>
                <a:lnTo>
                  <a:pt x="4928235" y="0"/>
                </a:lnTo>
                <a:lnTo>
                  <a:pt x="0" y="0"/>
                </a:lnTo>
                <a:lnTo>
                  <a:pt x="0" y="370839"/>
                </a:lnTo>
                <a:close/>
              </a:path>
            </a:pathLst>
          </a:custGeom>
          <a:solidFill>
            <a:srgbClr val="EDD2C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46759" y="3241039"/>
            <a:ext cx="3920913" cy="1309793"/>
          </a:xfrm>
          <a:custGeom>
            <a:avLst/>
            <a:gdLst/>
            <a:ahLst/>
            <a:cxnLst/>
            <a:rect l="l" t="t" r="r" b="b"/>
            <a:pathLst>
              <a:path w="3352800" h="1188720">
                <a:moveTo>
                  <a:pt x="0" y="1188720"/>
                </a:moveTo>
                <a:lnTo>
                  <a:pt x="3352673" y="1188720"/>
                </a:lnTo>
                <a:lnTo>
                  <a:pt x="3352673" y="0"/>
                </a:lnTo>
                <a:lnTo>
                  <a:pt x="0" y="0"/>
                </a:lnTo>
                <a:lnTo>
                  <a:pt x="0" y="1188720"/>
                </a:lnTo>
                <a:close/>
              </a:path>
            </a:pathLst>
          </a:custGeom>
          <a:solidFill>
            <a:srgbClr val="F7EAE9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467464" y="3241039"/>
            <a:ext cx="5763297" cy="1309793"/>
          </a:xfrm>
          <a:custGeom>
            <a:avLst/>
            <a:gdLst/>
            <a:ahLst/>
            <a:cxnLst/>
            <a:rect l="l" t="t" r="r" b="b"/>
            <a:pathLst>
              <a:path w="4928234" h="1188720">
                <a:moveTo>
                  <a:pt x="0" y="1188720"/>
                </a:moveTo>
                <a:lnTo>
                  <a:pt x="4928235" y="1188720"/>
                </a:lnTo>
                <a:lnTo>
                  <a:pt x="4928235" y="0"/>
                </a:lnTo>
                <a:lnTo>
                  <a:pt x="0" y="0"/>
                </a:lnTo>
                <a:lnTo>
                  <a:pt x="0" y="1188720"/>
                </a:lnTo>
                <a:close/>
              </a:path>
            </a:pathLst>
          </a:custGeom>
          <a:solidFill>
            <a:srgbClr val="F7EAE9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6759" y="4550846"/>
            <a:ext cx="3920913" cy="2216573"/>
          </a:xfrm>
          <a:custGeom>
            <a:avLst/>
            <a:gdLst/>
            <a:ahLst/>
            <a:cxnLst/>
            <a:rect l="l" t="t" r="r" b="b"/>
            <a:pathLst>
              <a:path w="3352800" h="2011679">
                <a:moveTo>
                  <a:pt x="0" y="2011679"/>
                </a:moveTo>
                <a:lnTo>
                  <a:pt x="3352673" y="2011679"/>
                </a:lnTo>
                <a:lnTo>
                  <a:pt x="3352673" y="0"/>
                </a:lnTo>
                <a:lnTo>
                  <a:pt x="0" y="0"/>
                </a:lnTo>
                <a:lnTo>
                  <a:pt x="0" y="2011679"/>
                </a:lnTo>
                <a:close/>
              </a:path>
            </a:pathLst>
          </a:custGeom>
          <a:solidFill>
            <a:srgbClr val="EDD2C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467464" y="4550846"/>
            <a:ext cx="5763297" cy="2216573"/>
          </a:xfrm>
          <a:custGeom>
            <a:avLst/>
            <a:gdLst/>
            <a:ahLst/>
            <a:cxnLst/>
            <a:rect l="l" t="t" r="r" b="b"/>
            <a:pathLst>
              <a:path w="4928234" h="2011679">
                <a:moveTo>
                  <a:pt x="0" y="2011679"/>
                </a:moveTo>
                <a:lnTo>
                  <a:pt x="4928235" y="2011679"/>
                </a:lnTo>
                <a:lnTo>
                  <a:pt x="4928235" y="0"/>
                </a:lnTo>
                <a:lnTo>
                  <a:pt x="0" y="0"/>
                </a:lnTo>
                <a:lnTo>
                  <a:pt x="0" y="2011679"/>
                </a:lnTo>
                <a:close/>
              </a:path>
            </a:pathLst>
          </a:custGeom>
          <a:solidFill>
            <a:srgbClr val="EDD2C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46759" y="6767419"/>
            <a:ext cx="3920913" cy="436598"/>
          </a:xfrm>
          <a:custGeom>
            <a:avLst/>
            <a:gdLst/>
            <a:ahLst/>
            <a:cxnLst/>
            <a:rect l="l" t="t" r="r" b="b"/>
            <a:pathLst>
              <a:path w="3352800" h="396240">
                <a:moveTo>
                  <a:pt x="0" y="396240"/>
                </a:moveTo>
                <a:lnTo>
                  <a:pt x="3352673" y="396240"/>
                </a:lnTo>
                <a:lnTo>
                  <a:pt x="3352673" y="0"/>
                </a:lnTo>
                <a:lnTo>
                  <a:pt x="0" y="0"/>
                </a:lnTo>
                <a:lnTo>
                  <a:pt x="0" y="396240"/>
                </a:lnTo>
                <a:close/>
              </a:path>
            </a:pathLst>
          </a:custGeom>
          <a:solidFill>
            <a:srgbClr val="F7EAE9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67464" y="6767419"/>
            <a:ext cx="5763297" cy="436598"/>
          </a:xfrm>
          <a:custGeom>
            <a:avLst/>
            <a:gdLst/>
            <a:ahLst/>
            <a:cxnLst/>
            <a:rect l="l" t="t" r="r" b="b"/>
            <a:pathLst>
              <a:path w="4928234" h="396240">
                <a:moveTo>
                  <a:pt x="0" y="396240"/>
                </a:moveTo>
                <a:lnTo>
                  <a:pt x="4928235" y="396240"/>
                </a:lnTo>
                <a:lnTo>
                  <a:pt x="4928235" y="0"/>
                </a:lnTo>
                <a:lnTo>
                  <a:pt x="0" y="0"/>
                </a:lnTo>
                <a:lnTo>
                  <a:pt x="0" y="396240"/>
                </a:lnTo>
                <a:close/>
              </a:path>
            </a:pathLst>
          </a:custGeom>
          <a:solidFill>
            <a:srgbClr val="F7EAE9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67464" y="2263732"/>
            <a:ext cx="0" cy="4947408"/>
          </a:xfrm>
          <a:custGeom>
            <a:avLst/>
            <a:gdLst/>
            <a:ahLst/>
            <a:cxnLst/>
            <a:rect l="l" t="t" r="r" b="b"/>
            <a:pathLst>
              <a:path h="4490084">
                <a:moveTo>
                  <a:pt x="0" y="0"/>
                </a:moveTo>
                <a:lnTo>
                  <a:pt x="0" y="448997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39333" y="2832428"/>
            <a:ext cx="9699061" cy="0"/>
          </a:xfrm>
          <a:custGeom>
            <a:avLst/>
            <a:gdLst/>
            <a:ahLst/>
            <a:cxnLst/>
            <a:rect l="l" t="t" r="r" b="b"/>
            <a:pathLst>
              <a:path w="8293734">
                <a:moveTo>
                  <a:pt x="0" y="0"/>
                </a:moveTo>
                <a:lnTo>
                  <a:pt x="829368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39333" y="3241039"/>
            <a:ext cx="9699061" cy="0"/>
          </a:xfrm>
          <a:custGeom>
            <a:avLst/>
            <a:gdLst/>
            <a:ahLst/>
            <a:cxnLst/>
            <a:rect l="l" t="t" r="r" b="b"/>
            <a:pathLst>
              <a:path w="8293734">
                <a:moveTo>
                  <a:pt x="0" y="0"/>
                </a:moveTo>
                <a:lnTo>
                  <a:pt x="829368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39333" y="4550831"/>
            <a:ext cx="9699061" cy="0"/>
          </a:xfrm>
          <a:custGeom>
            <a:avLst/>
            <a:gdLst/>
            <a:ahLst/>
            <a:cxnLst/>
            <a:rect l="l" t="t" r="r" b="b"/>
            <a:pathLst>
              <a:path w="8293734">
                <a:moveTo>
                  <a:pt x="0" y="0"/>
                </a:moveTo>
                <a:lnTo>
                  <a:pt x="829368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39333" y="6767419"/>
            <a:ext cx="9699061" cy="0"/>
          </a:xfrm>
          <a:custGeom>
            <a:avLst/>
            <a:gdLst/>
            <a:ahLst/>
            <a:cxnLst/>
            <a:rect l="l" t="t" r="r" b="b"/>
            <a:pathLst>
              <a:path w="8293734">
                <a:moveTo>
                  <a:pt x="0" y="0"/>
                </a:moveTo>
                <a:lnTo>
                  <a:pt x="829368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6759" y="2263732"/>
            <a:ext cx="0" cy="4947408"/>
          </a:xfrm>
          <a:custGeom>
            <a:avLst/>
            <a:gdLst/>
            <a:ahLst/>
            <a:cxnLst/>
            <a:rect l="l" t="t" r="r" b="b"/>
            <a:pathLst>
              <a:path h="4490084">
                <a:moveTo>
                  <a:pt x="0" y="0"/>
                </a:moveTo>
                <a:lnTo>
                  <a:pt x="0" y="448997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0230909" y="2263732"/>
            <a:ext cx="0" cy="4947408"/>
          </a:xfrm>
          <a:custGeom>
            <a:avLst/>
            <a:gdLst/>
            <a:ahLst/>
            <a:cxnLst/>
            <a:rect l="l" t="t" r="r" b="b"/>
            <a:pathLst>
              <a:path h="4490084">
                <a:moveTo>
                  <a:pt x="0" y="0"/>
                </a:moveTo>
                <a:lnTo>
                  <a:pt x="0" y="448997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39333" y="2270728"/>
            <a:ext cx="9699061" cy="0"/>
          </a:xfrm>
          <a:custGeom>
            <a:avLst/>
            <a:gdLst/>
            <a:ahLst/>
            <a:cxnLst/>
            <a:rect l="l" t="t" r="r" b="b"/>
            <a:pathLst>
              <a:path w="8293734">
                <a:moveTo>
                  <a:pt x="0" y="0"/>
                </a:moveTo>
                <a:lnTo>
                  <a:pt x="829368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539333" y="7204016"/>
            <a:ext cx="9699061" cy="0"/>
          </a:xfrm>
          <a:custGeom>
            <a:avLst/>
            <a:gdLst/>
            <a:ahLst/>
            <a:cxnLst/>
            <a:rect l="l" t="t" r="r" b="b"/>
            <a:pathLst>
              <a:path w="8293734">
                <a:moveTo>
                  <a:pt x="0" y="0"/>
                </a:moveTo>
                <a:lnTo>
                  <a:pt x="829368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601633" y="2299274"/>
            <a:ext cx="1811937" cy="33779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2100" b="1" spc="-6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590569" y="2299274"/>
            <a:ext cx="1170333" cy="33779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2100" b="1" spc="-6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  <a:r>
              <a:rPr sz="21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TION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38481" y="2861114"/>
            <a:ext cx="861413" cy="33779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2100" i="1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8871" y="3248035"/>
            <a:ext cx="350506" cy="984121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 marR="5793">
              <a:spcBef>
                <a:spcPts val="114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 </a:t>
            </a:r>
            <a:r>
              <a:rPr sz="2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 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60437" y="3269865"/>
            <a:ext cx="2138680" cy="984121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 marR="5793">
              <a:spcBef>
                <a:spcPts val="114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character  Change word  Change current</a:t>
            </a:r>
            <a:r>
              <a:rPr sz="21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638871" y="4558248"/>
            <a:ext cx="1148797" cy="33779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21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cmotion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38872" y="5162769"/>
            <a:ext cx="190847" cy="1332934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 marR="5793">
              <a:spcBef>
                <a:spcPts val="114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 R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83">
              <a:spcBef>
                <a:spcPts val="177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60437" y="4580078"/>
            <a:ext cx="5561311" cy="165097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 marR="632911">
              <a:spcBef>
                <a:spcPts val="114"/>
              </a:spcBef>
            </a:pP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text between the </a:t>
            </a:r>
            <a:r>
              <a:rPr sz="2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cursor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</a:t>
            </a:r>
            <a:r>
              <a:rPr sz="21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100" spc="-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83"/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to end of</a:t>
            </a:r>
            <a:r>
              <a:rPr sz="21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</a:p>
          <a:p>
            <a:pPr marL="14483">
              <a:lnSpc>
                <a:spcPts val="2458"/>
              </a:lnSpc>
            </a:pPr>
            <a:r>
              <a:rPr sz="2100" spc="-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(overwrite)</a:t>
            </a:r>
            <a:r>
              <a:rPr sz="210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</a:t>
            </a:r>
          </a:p>
          <a:p>
            <a:pPr marL="14483">
              <a:lnSpc>
                <a:spcPts val="2731"/>
              </a:lnSpc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Substitute: </a:t>
            </a:r>
            <a:r>
              <a:rPr sz="23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</a:t>
            </a: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and insert new</a:t>
            </a:r>
            <a:r>
              <a:rPr sz="2300" spc="-1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38872" y="6795253"/>
            <a:ext cx="196788" cy="3685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560437" y="6796932"/>
            <a:ext cx="5265014" cy="337790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2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Substitute: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current line and insert </a:t>
            </a:r>
            <a:r>
              <a:rPr sz="2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2100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93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0398" y="433578"/>
            <a:ext cx="7345772" cy="645566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4100" spc="-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</a:t>
            </a:r>
            <a:r>
              <a:rPr sz="41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 Search</a:t>
            </a:r>
            <a:r>
              <a:rPr sz="4100" spc="-108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00" spc="-6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963" y="1707154"/>
            <a:ext cx="9609208" cy="2687151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301248" indent="-391043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use of regular expressions that used to be </a:t>
            </a:r>
            <a:r>
              <a:rPr sz="2700" spc="-74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was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search</a:t>
            </a:r>
            <a:r>
              <a:rPr sz="2700" spc="-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engines.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5793" indent="-391043">
              <a:spcBef>
                <a:spcPts val="741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420733" algn="l"/>
                <a:tab pos="421458" algn="l"/>
                <a:tab pos="3153691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Archie,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search engines,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regular  expressions exclusively to search through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 of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filenames</a:t>
            </a:r>
            <a:r>
              <a:rPr sz="27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	servers.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47794" indent="-391043">
              <a:spcBef>
                <a:spcPts val="741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 were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 for these early  search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both their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and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 implementation.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002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8871" y="1581212"/>
            <a:ext cx="9202265" cy="477746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5793" indent="-391043" algn="just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420733" algn="l"/>
                <a:tab pos="421458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of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strings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would be either whole web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pre-computed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page that  holds only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 that web</a:t>
            </a:r>
            <a:r>
              <a:rPr sz="27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700" spc="-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5793" indent="-391043" algn="just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420733" algn="l"/>
                <a:tab pos="421458" algn="l"/>
              </a:tabLst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359180" indent="-391043" algn="just">
              <a:spcBef>
                <a:spcPts val="747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query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 could be  translated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the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regular expression.  </a:t>
            </a:r>
            <a:endParaRPr lang="en-US" sz="2700" spc="-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83" marR="359180" algn="just">
              <a:spcBef>
                <a:spcPts val="747"/>
              </a:spcBef>
              <a:buClr>
                <a:srgbClr val="D16248"/>
              </a:buClr>
              <a:buSzPct val="85185"/>
              <a:tabLst>
                <a:tab pos="327318" algn="l"/>
              </a:tabLst>
            </a:pP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700" spc="-14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Σ∗</a:t>
            </a:r>
            <a:r>
              <a:rPr sz="2700" spc="-14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regular</a:t>
            </a:r>
            <a:r>
              <a:rPr lang="en-US"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14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Σ∗expressionΣ</a:t>
            </a:r>
            <a:r>
              <a:rPr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r>
              <a:rPr sz="2700" spc="-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4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)∗∪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27318" marR="200591" algn="just"/>
            <a:r>
              <a:rPr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700" spc="-14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Σ∗</a:t>
            </a:r>
            <a:r>
              <a:rPr sz="2700" spc="-14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r>
              <a:rPr lang="en-US"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14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Σ∗regular</a:t>
            </a:r>
            <a:r>
              <a:rPr lang="en-US"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sz="2700" spc="-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 </a:t>
            </a:r>
            <a:r>
              <a:rPr sz="2700" spc="-552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)∗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of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course,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would be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all characters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 encoding used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2700" spc="-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engine.</a:t>
            </a:r>
          </a:p>
        </p:txBody>
      </p:sp>
    </p:spTree>
    <p:extLst>
      <p:ext uri="{BB962C8B-B14F-4D97-AF65-F5344CB8AC3E}">
        <p14:creationId xmlns:p14="http://schemas.microsoft.com/office/powerpoint/2010/main" val="212447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964" y="1707154"/>
            <a:ext cx="9568365" cy="2092116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5793" indent="-391043">
              <a:spcBef>
                <a:spcPts val="114"/>
              </a:spcBef>
              <a:buFont typeface="Arial" panose="020B0604020202020204" pitchFamily="34" charset="0"/>
              <a:buChar char="•"/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 are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anymore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 large web search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with the growth of  the web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became impossibly slow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regular  expressions.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however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used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find/replace tool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 a text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 or tools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700" spc="-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grep.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69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0223" y="1952935"/>
            <a:ext cx="8643832" cy="5269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171" y="820325"/>
            <a:ext cx="9223058" cy="645566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web application </a:t>
            </a:r>
            <a:r>
              <a:rPr sz="4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sz="4100" spc="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41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</a:p>
        </p:txBody>
      </p:sp>
    </p:spTree>
    <p:extLst>
      <p:ext uri="{BB962C8B-B14F-4D97-AF65-F5344CB8AC3E}">
        <p14:creationId xmlns:p14="http://schemas.microsoft.com/office/powerpoint/2010/main" val="214629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7529" y="460445"/>
            <a:ext cx="9129490" cy="645566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14483">
              <a:spcBef>
                <a:spcPts val="114"/>
              </a:spcBef>
            </a:pPr>
            <a:r>
              <a:rPr sz="41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 </a:t>
            </a:r>
            <a:r>
              <a:rPr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4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</a:t>
            </a:r>
            <a:r>
              <a:rPr sz="4100" spc="8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1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963" y="2251977"/>
            <a:ext cx="9482967" cy="2935937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592358" indent="-391043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lexical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are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 and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7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tokenizer.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57"/>
              </a:spcBef>
              <a:buClr>
                <a:srgbClr val="D16248"/>
              </a:buClr>
              <a:buFont typeface="Arial"/>
              <a:buChar char=""/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164383" indent="-391043"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of tokenization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categorize the  lexemes found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string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sort them by</a:t>
            </a:r>
            <a:r>
              <a:rPr sz="2700" spc="-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meaning.</a:t>
            </a:r>
          </a:p>
          <a:p>
            <a:pPr>
              <a:lnSpc>
                <a:spcPct val="100000"/>
              </a:lnSpc>
              <a:buClr>
                <a:srgbClr val="D16248"/>
              </a:buClr>
              <a:buFont typeface="Arial"/>
              <a:buChar char=""/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5793" indent="-391043"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can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sub-task </a:t>
            </a: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parsing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760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964" y="1707154"/>
            <a:ext cx="9745103" cy="2923113"/>
          </a:xfrm>
          <a:prstGeom prst="rect">
            <a:avLst/>
          </a:prstGeom>
        </p:spPr>
        <p:txBody>
          <a:bodyPr vert="horz" wrap="square" lIns="0" tIns="14483" rIns="0" bIns="0" rtlCol="0">
            <a:spAutoFit/>
          </a:bodyPr>
          <a:lstStyle/>
          <a:p>
            <a:pPr marL="405526" marR="5793" indent="-391043">
              <a:spcBef>
                <a:spcPts val="114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could  contain tokens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numbers,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constants,  characters,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(variable names), keywords, or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operators.</a:t>
            </a:r>
          </a:p>
          <a:p>
            <a:pPr>
              <a:lnSpc>
                <a:spcPct val="100000"/>
              </a:lnSpc>
              <a:buClr>
                <a:srgbClr val="D16248"/>
              </a:buClr>
              <a:buFont typeface="Arial"/>
              <a:buChar char=""/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82554" indent="-391043"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420733" algn="l"/>
                <a:tab pos="421458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simply define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regular expressions,  each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lexemes that belong to  this token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type. This is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</a:t>
            </a:r>
            <a:r>
              <a:rPr sz="2700" spc="-10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scanning.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567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963" y="1661814"/>
            <a:ext cx="9513412" cy="4370720"/>
          </a:xfrm>
          <a:prstGeom prst="rect">
            <a:avLst/>
          </a:prstGeom>
        </p:spPr>
        <p:txBody>
          <a:bodyPr vert="horz" wrap="square" lIns="0" tIns="67346" rIns="0" bIns="0" rtlCol="0">
            <a:spAutoFit/>
          </a:bodyPr>
          <a:lstStyle/>
          <a:p>
            <a:pPr marL="405526" marR="147003" indent="-391043">
              <a:lnSpc>
                <a:spcPts val="3330"/>
              </a:lnSpc>
              <a:spcBef>
                <a:spcPts val="530"/>
              </a:spcBef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process can be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quite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700" spc="-4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one pass to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complete.</a:t>
            </a: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is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9"/>
              </a:spcBef>
            </a:pPr>
            <a:endParaRPr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5793" indent="-391043">
              <a:lnSpc>
                <a:spcPct val="90000"/>
              </a:lnSpc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  <a:tab pos="6479006" algn="l"/>
              </a:tabLst>
            </a:pP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example,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lexeme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valid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we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could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following regular  expression: </a:t>
            </a:r>
            <a:endParaRPr lang="en-US" sz="2700" spc="-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83" marR="5793">
              <a:lnSpc>
                <a:spcPct val="90000"/>
              </a:lnSpc>
              <a:buClr>
                <a:srgbClr val="D16248"/>
              </a:buClr>
              <a:buSzPct val="85185"/>
              <a:tabLst>
                <a:tab pos="327318" algn="l"/>
                <a:tab pos="6479006" algn="l"/>
              </a:tabLst>
            </a:pPr>
            <a:r>
              <a:rPr lang="en-US"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a-zA-Z</a:t>
            </a:r>
            <a:r>
              <a:rPr sz="2700" spc="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][a-zA-Z</a:t>
            </a:r>
            <a:r>
              <a:rPr sz="27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spc="-2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0-9]</a:t>
            </a:r>
            <a:r>
              <a:rPr sz="2700" spc="-2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∗</a:t>
            </a:r>
            <a:endParaRPr lang="en-US" sz="2700" spc="-2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483" marR="5793">
              <a:lnSpc>
                <a:spcPct val="90000"/>
              </a:lnSpc>
              <a:buClr>
                <a:srgbClr val="D16248"/>
              </a:buClr>
              <a:buSzPct val="85185"/>
              <a:tabLst>
                <a:tab pos="327318" algn="l"/>
                <a:tab pos="6479006" algn="l"/>
              </a:tabLst>
            </a:pPr>
            <a:r>
              <a:rPr sz="2700" spc="-228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2700" spc="-22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526" marR="5793" indent="-391043">
              <a:lnSpc>
                <a:spcPct val="90000"/>
              </a:lnSpc>
              <a:buClr>
                <a:srgbClr val="D16248"/>
              </a:buClr>
              <a:buSzPct val="85185"/>
              <a:buFont typeface="Arial" panose="020B0604020202020204" pitchFamily="34" charset="0"/>
              <a:buChar char="•"/>
              <a:tabLst>
                <a:tab pos="327318" algn="l"/>
                <a:tab pos="6479006" algn="l"/>
              </a:tabLst>
            </a:pP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 expression says that identifiers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begin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Roman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or an underscore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may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</a:t>
            </a:r>
            <a:r>
              <a:rPr sz="2700" spc="-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number </a:t>
            </a:r>
            <a:r>
              <a:rPr sz="2700" spc="-6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letters, underscores, or</a:t>
            </a:r>
            <a:r>
              <a:rPr sz="2700" spc="-1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</p:txBody>
      </p:sp>
    </p:spTree>
    <p:extLst>
      <p:ext uri="{BB962C8B-B14F-4D97-AF65-F5344CB8AC3E}">
        <p14:creationId xmlns:p14="http://schemas.microsoft.com/office/powerpoint/2010/main" val="2541235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366</TotalTime>
  <Words>2267</Words>
  <Application>Microsoft Office PowerPoint</Application>
  <PresentationFormat>Custom</PresentationFormat>
  <Paragraphs>651</Paragraphs>
  <Slides>60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Office Theme</vt:lpstr>
      <vt:lpstr>PowerPoint Presentation</vt:lpstr>
      <vt:lpstr>Syllabus and Planner</vt:lpstr>
      <vt:lpstr>Text Books &amp; Reference Books</vt:lpstr>
      <vt:lpstr>What is Regular expression</vt:lpstr>
      <vt:lpstr>Definition of a Regular Expression</vt:lpstr>
      <vt:lpstr>PowerPoint Presentation</vt:lpstr>
      <vt:lpstr>Example2: </vt:lpstr>
      <vt:lpstr>Continued…</vt:lpstr>
      <vt:lpstr>Precedence of Regular Expression operators </vt:lpstr>
      <vt:lpstr>Identities of regular expressions</vt:lpstr>
      <vt:lpstr>Examples</vt:lpstr>
      <vt:lpstr>Construction of RE from regular Language </vt:lpstr>
      <vt:lpstr>Continued…</vt:lpstr>
      <vt:lpstr>PowerPoint Presentation</vt:lpstr>
      <vt:lpstr>Construction of Regular Language from RE </vt:lpstr>
      <vt:lpstr>Equivalence of FA and 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 to FA </vt:lpstr>
      <vt:lpstr>Practice problems</vt:lpstr>
      <vt:lpstr>  Arden's Theorem  </vt:lpstr>
      <vt:lpstr>Arden’s theorem</vt:lpstr>
      <vt:lpstr>Examples</vt:lpstr>
      <vt:lpstr>Arden’s theorem </vt:lpstr>
      <vt:lpstr>Limitations of RE</vt:lpstr>
      <vt:lpstr> Contents  </vt:lpstr>
      <vt:lpstr>Left linear grammar to right linear grammar </vt:lpstr>
      <vt:lpstr>Example .  </vt:lpstr>
      <vt:lpstr>PowerPoint Presentation</vt:lpstr>
      <vt:lpstr>Right linear grammar to Left  linear grammar</vt:lpstr>
      <vt:lpstr>PowerPoint Presentation</vt:lpstr>
      <vt:lpstr>PowerPoint Presentation</vt:lpstr>
      <vt:lpstr>PowerPoint Presentation</vt:lpstr>
      <vt:lpstr>PowerPoint Presentation</vt:lpstr>
      <vt:lpstr>Show that the  language Leq consisting of all strings with an equal number of 0s and 1s (not in any particular order) is not a regular  language.</vt:lpstr>
      <vt:lpstr> xy  n and y  </vt:lpstr>
      <vt:lpstr>Show that the  language Lpal consisting of all strings of 0s and 1s which is a palindrome is not a regular language .</vt:lpstr>
      <vt:lpstr> xy  n and y  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 in Linux  Text File Search </vt:lpstr>
      <vt:lpstr>In linux operating System</vt:lpstr>
      <vt:lpstr>PowerPoint Presentation</vt:lpstr>
      <vt:lpstr>Editing Commands</vt:lpstr>
      <vt:lpstr>Editing Commands</vt:lpstr>
      <vt:lpstr>Application in Search Engine</vt:lpstr>
      <vt:lpstr>PowerPoint Presentation</vt:lpstr>
      <vt:lpstr>PowerPoint Presentation</vt:lpstr>
      <vt:lpstr>In web application String matching is used</vt:lpstr>
      <vt:lpstr>Regular Expressions in Lexical Analysis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Computation  TY BTech</dc:title>
  <dc:creator>IBM</dc:creator>
  <cp:lastModifiedBy>IBM</cp:lastModifiedBy>
  <cp:revision>287</cp:revision>
  <dcterms:created xsi:type="dcterms:W3CDTF">2019-06-26T11:51:00Z</dcterms:created>
  <dcterms:modified xsi:type="dcterms:W3CDTF">2019-07-02T10:07:09Z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2019-06-26T00:00:00Z</vt:filetime>
  </property>
</Properties>
</file>