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457" r:id="rId3"/>
    <p:sldId id="458" r:id="rId4"/>
    <p:sldId id="275" r:id="rId5"/>
    <p:sldId id="258" r:id="rId6"/>
    <p:sldId id="477" r:id="rId7"/>
    <p:sldId id="437" r:id="rId8"/>
    <p:sldId id="483" r:id="rId9"/>
    <p:sldId id="440" r:id="rId10"/>
    <p:sldId id="442" r:id="rId11"/>
    <p:sldId id="443" r:id="rId12"/>
    <p:sldId id="444" r:id="rId13"/>
    <p:sldId id="277" r:id="rId14"/>
    <p:sldId id="471" r:id="rId15"/>
    <p:sldId id="472" r:id="rId16"/>
    <p:sldId id="473" r:id="rId17"/>
    <p:sldId id="474" r:id="rId18"/>
    <p:sldId id="475" r:id="rId19"/>
    <p:sldId id="470" r:id="rId20"/>
    <p:sldId id="459" r:id="rId21"/>
    <p:sldId id="460" r:id="rId22"/>
    <p:sldId id="476" r:id="rId23"/>
    <p:sldId id="461" r:id="rId24"/>
    <p:sldId id="288" r:id="rId25"/>
    <p:sldId id="462" r:id="rId26"/>
    <p:sldId id="463" r:id="rId27"/>
    <p:sldId id="478" r:id="rId28"/>
    <p:sldId id="464" r:id="rId29"/>
    <p:sldId id="479" r:id="rId30"/>
    <p:sldId id="480" r:id="rId31"/>
    <p:sldId id="481" r:id="rId32"/>
    <p:sldId id="482" r:id="rId33"/>
    <p:sldId id="270" r:id="rId34"/>
    <p:sldId id="466" r:id="rId35"/>
    <p:sldId id="465" r:id="rId36"/>
    <p:sldId id="467" r:id="rId37"/>
    <p:sldId id="468" r:id="rId38"/>
    <p:sldId id="469" r:id="rId39"/>
    <p:sldId id="27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7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5" Type="http://schemas.openxmlformats.org/officeDocument/2006/relationships/image" Target="../media/image18.wmf"/><Relationship Id="rId4"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FB6571-D067-41C7-8A77-E0F4E7B0CAF5}" type="datetimeFigureOut">
              <a:rPr lang="en-IN" smtClean="0"/>
              <a:t>06-12-2024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039D5-5925-450B-A308-B0D2C18B0590}" type="slidenum">
              <a:rPr lang="en-IN" smtClean="0"/>
              <a:t>‹#›</a:t>
            </a:fld>
            <a:endParaRPr lang="en-IN"/>
          </a:p>
        </p:txBody>
      </p:sp>
    </p:spTree>
    <p:extLst>
      <p:ext uri="{BB962C8B-B14F-4D97-AF65-F5344CB8AC3E}">
        <p14:creationId xmlns:p14="http://schemas.microsoft.com/office/powerpoint/2010/main" val="2371843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10">
            <a:extLst>
              <a:ext uri="{FF2B5EF4-FFF2-40B4-BE49-F238E27FC236}">
                <a16:creationId xmlns:a16="http://schemas.microsoft.com/office/drawing/2014/main" id="{E4203951-E857-49CB-8D97-576A64CE05B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9pPr>
          </a:lstStyle>
          <a:p>
            <a:fld id="{FC574DC1-23D2-4528-87CF-A8B3766EED1B}" type="slidenum">
              <a:rPr lang="en-US" altLang="en-US" sz="1300">
                <a:solidFill>
                  <a:srgbClr val="000000"/>
                </a:solidFill>
                <a:cs typeface="DejaVu Sans" panose="020B0603030804020204" pitchFamily="34" charset="0"/>
              </a:rPr>
              <a:pPr/>
              <a:t>33</a:t>
            </a:fld>
            <a:endParaRPr lang="en-US" altLang="en-US" sz="1300">
              <a:solidFill>
                <a:srgbClr val="000000"/>
              </a:solidFill>
              <a:cs typeface="DejaVu Sans" panose="020B0603030804020204" pitchFamily="34" charset="0"/>
            </a:endParaRPr>
          </a:p>
        </p:txBody>
      </p:sp>
      <p:sp>
        <p:nvSpPr>
          <p:cNvPr id="57347" name="Rectangle 1">
            <a:extLst>
              <a:ext uri="{FF2B5EF4-FFF2-40B4-BE49-F238E27FC236}">
                <a16:creationId xmlns:a16="http://schemas.microsoft.com/office/drawing/2014/main" id="{3F6C7E8C-00BB-4BC6-863F-2AE2264F1AC0}"/>
              </a:ext>
            </a:extLst>
          </p:cNvPr>
          <p:cNvSpPr txBox="1">
            <a:spLocks noGrp="1" noRot="1" noChangeAspect="1" noChangeArrowheads="1" noTextEdit="1"/>
          </p:cNvSpPr>
          <p:nvPr>
            <p:ph type="sldImg"/>
          </p:nvPr>
        </p:nvSpPr>
        <p:spPr>
          <a:xfrm>
            <a:off x="458788" y="720725"/>
            <a:ext cx="6394450" cy="3597275"/>
          </a:xfrm>
          <a:solidFill>
            <a:srgbClr val="FFFFFF"/>
          </a:solidFill>
          <a:ln/>
        </p:spPr>
      </p:sp>
      <p:sp>
        <p:nvSpPr>
          <p:cNvPr id="57348" name="Text Box 2">
            <a:extLst>
              <a:ext uri="{FF2B5EF4-FFF2-40B4-BE49-F238E27FC236}">
                <a16:creationId xmlns:a16="http://schemas.microsoft.com/office/drawing/2014/main" id="{5A80FA93-9ECA-4B33-8CDA-B94ADD562984}"/>
              </a:ext>
            </a:extLst>
          </p:cNvPr>
          <p:cNvSpPr txBox="1">
            <a:spLocks noChangeArrowheads="1"/>
          </p:cNvSpPr>
          <p:nvPr/>
        </p:nvSpPr>
        <p:spPr bwMode="auto">
          <a:xfrm>
            <a:off x="731838" y="4560888"/>
            <a:ext cx="5848350" cy="431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65B4-5405-4601-B5BB-E863A5CBF9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03B99F1-D0E5-486F-8A9E-F1865AC6DD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0C29655-EDEE-4454-A5D9-55A3FFBD8347}"/>
              </a:ext>
            </a:extLst>
          </p:cNvPr>
          <p:cNvSpPr>
            <a:spLocks noGrp="1"/>
          </p:cNvSpPr>
          <p:nvPr>
            <p:ph type="dt" sz="half" idx="10"/>
          </p:nvPr>
        </p:nvSpPr>
        <p:spPr/>
        <p:txBody>
          <a:bodyPr/>
          <a:lstStyle/>
          <a:p>
            <a:fld id="{44DAFCF3-F418-419E-975F-6703F53DF93E}" type="datetimeFigureOut">
              <a:rPr lang="en-IN" smtClean="0"/>
              <a:t>06-12-2024</a:t>
            </a:fld>
            <a:endParaRPr lang="en-IN"/>
          </a:p>
        </p:txBody>
      </p:sp>
      <p:sp>
        <p:nvSpPr>
          <p:cNvPr id="5" name="Footer Placeholder 4">
            <a:extLst>
              <a:ext uri="{FF2B5EF4-FFF2-40B4-BE49-F238E27FC236}">
                <a16:creationId xmlns:a16="http://schemas.microsoft.com/office/drawing/2014/main" id="{D392D49B-80D9-4AD9-BED2-FC205408C7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77528A-E09B-4A39-8B1D-D154E52DAE9A}"/>
              </a:ext>
            </a:extLst>
          </p:cNvPr>
          <p:cNvSpPr>
            <a:spLocks noGrp="1"/>
          </p:cNvSpPr>
          <p:nvPr>
            <p:ph type="sldNum" sz="quarter" idx="12"/>
          </p:nvPr>
        </p:nvSpPr>
        <p:spPr/>
        <p:txBody>
          <a:bodyPr/>
          <a:lstStyle/>
          <a:p>
            <a:fld id="{87640BA7-CDD3-45C0-AB39-5BC70B959800}" type="slidenum">
              <a:rPr lang="en-IN" smtClean="0"/>
              <a:t>‹#›</a:t>
            </a:fld>
            <a:endParaRPr lang="en-IN"/>
          </a:p>
        </p:txBody>
      </p:sp>
    </p:spTree>
    <p:extLst>
      <p:ext uri="{BB962C8B-B14F-4D97-AF65-F5344CB8AC3E}">
        <p14:creationId xmlns:p14="http://schemas.microsoft.com/office/powerpoint/2010/main" val="221793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9471E-D21B-4D4E-AB63-2D521949D6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E88FD9-E9E0-4A98-BF61-98BE2BCB2F4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36FFF4-0303-4116-ADF1-C389CC74B755}"/>
              </a:ext>
            </a:extLst>
          </p:cNvPr>
          <p:cNvSpPr>
            <a:spLocks noGrp="1"/>
          </p:cNvSpPr>
          <p:nvPr>
            <p:ph type="dt" sz="half" idx="10"/>
          </p:nvPr>
        </p:nvSpPr>
        <p:spPr/>
        <p:txBody>
          <a:bodyPr/>
          <a:lstStyle/>
          <a:p>
            <a:fld id="{44DAFCF3-F418-419E-975F-6703F53DF93E}" type="datetimeFigureOut">
              <a:rPr lang="en-IN" smtClean="0"/>
              <a:t>06-12-2024</a:t>
            </a:fld>
            <a:endParaRPr lang="en-IN"/>
          </a:p>
        </p:txBody>
      </p:sp>
      <p:sp>
        <p:nvSpPr>
          <p:cNvPr id="5" name="Footer Placeholder 4">
            <a:extLst>
              <a:ext uri="{FF2B5EF4-FFF2-40B4-BE49-F238E27FC236}">
                <a16:creationId xmlns:a16="http://schemas.microsoft.com/office/drawing/2014/main" id="{DE4707C7-AD6C-4469-B932-AC3744543A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B7019D-83F0-4FF7-8ECE-9193A6066F5B}"/>
              </a:ext>
            </a:extLst>
          </p:cNvPr>
          <p:cNvSpPr>
            <a:spLocks noGrp="1"/>
          </p:cNvSpPr>
          <p:nvPr>
            <p:ph type="sldNum" sz="quarter" idx="12"/>
          </p:nvPr>
        </p:nvSpPr>
        <p:spPr/>
        <p:txBody>
          <a:bodyPr/>
          <a:lstStyle/>
          <a:p>
            <a:fld id="{87640BA7-CDD3-45C0-AB39-5BC70B959800}" type="slidenum">
              <a:rPr lang="en-IN" smtClean="0"/>
              <a:t>‹#›</a:t>
            </a:fld>
            <a:endParaRPr lang="en-IN"/>
          </a:p>
        </p:txBody>
      </p:sp>
    </p:spTree>
    <p:extLst>
      <p:ext uri="{BB962C8B-B14F-4D97-AF65-F5344CB8AC3E}">
        <p14:creationId xmlns:p14="http://schemas.microsoft.com/office/powerpoint/2010/main" val="4175619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34A4-8F38-4BBE-8AC4-4F42A2F542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CBFB5A-D939-447A-9F93-69D3523923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4A2696E-593C-4C51-BAAD-A24B36BCC49B}"/>
              </a:ext>
            </a:extLst>
          </p:cNvPr>
          <p:cNvSpPr>
            <a:spLocks noGrp="1"/>
          </p:cNvSpPr>
          <p:nvPr>
            <p:ph type="dt" sz="half" idx="10"/>
          </p:nvPr>
        </p:nvSpPr>
        <p:spPr/>
        <p:txBody>
          <a:bodyPr/>
          <a:lstStyle/>
          <a:p>
            <a:fld id="{44DAFCF3-F418-419E-975F-6703F53DF93E}" type="datetimeFigureOut">
              <a:rPr lang="en-IN" smtClean="0"/>
              <a:t>06-12-2024</a:t>
            </a:fld>
            <a:endParaRPr lang="en-IN"/>
          </a:p>
        </p:txBody>
      </p:sp>
      <p:sp>
        <p:nvSpPr>
          <p:cNvPr id="5" name="Footer Placeholder 4">
            <a:extLst>
              <a:ext uri="{FF2B5EF4-FFF2-40B4-BE49-F238E27FC236}">
                <a16:creationId xmlns:a16="http://schemas.microsoft.com/office/drawing/2014/main" id="{33D2597C-1799-454F-A594-762CABAB69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B2429B-DA36-43DD-87E8-1639E8C5825D}"/>
              </a:ext>
            </a:extLst>
          </p:cNvPr>
          <p:cNvSpPr>
            <a:spLocks noGrp="1"/>
          </p:cNvSpPr>
          <p:nvPr>
            <p:ph type="sldNum" sz="quarter" idx="12"/>
          </p:nvPr>
        </p:nvSpPr>
        <p:spPr/>
        <p:txBody>
          <a:bodyPr/>
          <a:lstStyle/>
          <a:p>
            <a:fld id="{87640BA7-CDD3-45C0-AB39-5BC70B959800}" type="slidenum">
              <a:rPr lang="en-IN" smtClean="0"/>
              <a:t>‹#›</a:t>
            </a:fld>
            <a:endParaRPr lang="en-IN"/>
          </a:p>
        </p:txBody>
      </p:sp>
    </p:spTree>
    <p:extLst>
      <p:ext uri="{BB962C8B-B14F-4D97-AF65-F5344CB8AC3E}">
        <p14:creationId xmlns:p14="http://schemas.microsoft.com/office/powerpoint/2010/main" val="3231931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E4E67-DC87-4BEE-ABD1-A5295279BD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59665F-A38D-4B89-A4A6-A751E6FBBC3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3793B3-C8D7-4164-9D57-F3189854260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604180-A70F-457B-A29D-418A23403F37}"/>
              </a:ext>
            </a:extLst>
          </p:cNvPr>
          <p:cNvSpPr>
            <a:spLocks noGrp="1"/>
          </p:cNvSpPr>
          <p:nvPr>
            <p:ph type="dt" sz="half" idx="10"/>
          </p:nvPr>
        </p:nvSpPr>
        <p:spPr/>
        <p:txBody>
          <a:bodyPr/>
          <a:lstStyle/>
          <a:p>
            <a:fld id="{44DAFCF3-F418-419E-975F-6703F53DF93E}" type="datetimeFigureOut">
              <a:rPr lang="en-IN" smtClean="0"/>
              <a:t>06-12-2024</a:t>
            </a:fld>
            <a:endParaRPr lang="en-IN"/>
          </a:p>
        </p:txBody>
      </p:sp>
      <p:sp>
        <p:nvSpPr>
          <p:cNvPr id="6" name="Footer Placeholder 5">
            <a:extLst>
              <a:ext uri="{FF2B5EF4-FFF2-40B4-BE49-F238E27FC236}">
                <a16:creationId xmlns:a16="http://schemas.microsoft.com/office/drawing/2014/main" id="{CB3781A9-C7A2-4A34-93DA-F32AB3C21E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5699D5-F7DA-49F4-AB8C-BAD4CB510A27}"/>
              </a:ext>
            </a:extLst>
          </p:cNvPr>
          <p:cNvSpPr>
            <a:spLocks noGrp="1"/>
          </p:cNvSpPr>
          <p:nvPr>
            <p:ph type="sldNum" sz="quarter" idx="12"/>
          </p:nvPr>
        </p:nvSpPr>
        <p:spPr/>
        <p:txBody>
          <a:bodyPr/>
          <a:lstStyle/>
          <a:p>
            <a:fld id="{87640BA7-CDD3-45C0-AB39-5BC70B959800}" type="slidenum">
              <a:rPr lang="en-IN" smtClean="0"/>
              <a:t>‹#›</a:t>
            </a:fld>
            <a:endParaRPr lang="en-IN"/>
          </a:p>
        </p:txBody>
      </p:sp>
    </p:spTree>
    <p:extLst>
      <p:ext uri="{BB962C8B-B14F-4D97-AF65-F5344CB8AC3E}">
        <p14:creationId xmlns:p14="http://schemas.microsoft.com/office/powerpoint/2010/main" val="138293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8B08F-7F7C-49DE-9ED8-9A41F62884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13662E-3733-48C5-8F45-32138FBCAF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785F581-B751-4224-B316-3D7BE181009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FFA9DD4-F164-4DE9-B33D-0B7DE978D8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0CC5C35-66A0-4F51-884E-BB08CA1A928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2534BE7-320D-41AD-BDDB-CD33CF41939F}"/>
              </a:ext>
            </a:extLst>
          </p:cNvPr>
          <p:cNvSpPr>
            <a:spLocks noGrp="1"/>
          </p:cNvSpPr>
          <p:nvPr>
            <p:ph type="dt" sz="half" idx="10"/>
          </p:nvPr>
        </p:nvSpPr>
        <p:spPr/>
        <p:txBody>
          <a:bodyPr/>
          <a:lstStyle/>
          <a:p>
            <a:fld id="{44DAFCF3-F418-419E-975F-6703F53DF93E}" type="datetimeFigureOut">
              <a:rPr lang="en-IN" smtClean="0"/>
              <a:t>06-12-2024</a:t>
            </a:fld>
            <a:endParaRPr lang="en-IN"/>
          </a:p>
        </p:txBody>
      </p:sp>
      <p:sp>
        <p:nvSpPr>
          <p:cNvPr id="8" name="Footer Placeholder 7">
            <a:extLst>
              <a:ext uri="{FF2B5EF4-FFF2-40B4-BE49-F238E27FC236}">
                <a16:creationId xmlns:a16="http://schemas.microsoft.com/office/drawing/2014/main" id="{41547759-EA06-45D6-893D-E526A0AAE30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998B02E-9952-46C1-929F-D3941817A35B}"/>
              </a:ext>
            </a:extLst>
          </p:cNvPr>
          <p:cNvSpPr>
            <a:spLocks noGrp="1"/>
          </p:cNvSpPr>
          <p:nvPr>
            <p:ph type="sldNum" sz="quarter" idx="12"/>
          </p:nvPr>
        </p:nvSpPr>
        <p:spPr/>
        <p:txBody>
          <a:bodyPr/>
          <a:lstStyle/>
          <a:p>
            <a:fld id="{87640BA7-CDD3-45C0-AB39-5BC70B959800}" type="slidenum">
              <a:rPr lang="en-IN" smtClean="0"/>
              <a:t>‹#›</a:t>
            </a:fld>
            <a:endParaRPr lang="en-IN"/>
          </a:p>
        </p:txBody>
      </p:sp>
    </p:spTree>
    <p:extLst>
      <p:ext uri="{BB962C8B-B14F-4D97-AF65-F5344CB8AC3E}">
        <p14:creationId xmlns:p14="http://schemas.microsoft.com/office/powerpoint/2010/main" val="468536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55605-CD26-42A2-AA3E-11E0D7FBFD9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3AAB5C-0CBE-4DE9-9D88-237F754C776C}"/>
              </a:ext>
            </a:extLst>
          </p:cNvPr>
          <p:cNvSpPr>
            <a:spLocks noGrp="1"/>
          </p:cNvSpPr>
          <p:nvPr>
            <p:ph type="dt" sz="half" idx="10"/>
          </p:nvPr>
        </p:nvSpPr>
        <p:spPr/>
        <p:txBody>
          <a:bodyPr/>
          <a:lstStyle/>
          <a:p>
            <a:fld id="{44DAFCF3-F418-419E-975F-6703F53DF93E}" type="datetimeFigureOut">
              <a:rPr lang="en-IN" smtClean="0"/>
              <a:t>06-12-2024</a:t>
            </a:fld>
            <a:endParaRPr lang="en-IN"/>
          </a:p>
        </p:txBody>
      </p:sp>
      <p:sp>
        <p:nvSpPr>
          <p:cNvPr id="4" name="Footer Placeholder 3">
            <a:extLst>
              <a:ext uri="{FF2B5EF4-FFF2-40B4-BE49-F238E27FC236}">
                <a16:creationId xmlns:a16="http://schemas.microsoft.com/office/drawing/2014/main" id="{EE1FE00C-BA36-488D-BA8A-1BD55C8F9DF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96D178B-2AB7-4F97-AAF4-FFFF67DD8E7E}"/>
              </a:ext>
            </a:extLst>
          </p:cNvPr>
          <p:cNvSpPr>
            <a:spLocks noGrp="1"/>
          </p:cNvSpPr>
          <p:nvPr>
            <p:ph type="sldNum" sz="quarter" idx="12"/>
          </p:nvPr>
        </p:nvSpPr>
        <p:spPr/>
        <p:txBody>
          <a:bodyPr/>
          <a:lstStyle/>
          <a:p>
            <a:fld id="{87640BA7-CDD3-45C0-AB39-5BC70B959800}" type="slidenum">
              <a:rPr lang="en-IN" smtClean="0"/>
              <a:t>‹#›</a:t>
            </a:fld>
            <a:endParaRPr lang="en-IN"/>
          </a:p>
        </p:txBody>
      </p:sp>
    </p:spTree>
    <p:extLst>
      <p:ext uri="{BB962C8B-B14F-4D97-AF65-F5344CB8AC3E}">
        <p14:creationId xmlns:p14="http://schemas.microsoft.com/office/powerpoint/2010/main" val="2201495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0F2573-1F7F-4C5F-A8C0-7CE1C14C5B4E}"/>
              </a:ext>
            </a:extLst>
          </p:cNvPr>
          <p:cNvSpPr>
            <a:spLocks noGrp="1"/>
          </p:cNvSpPr>
          <p:nvPr>
            <p:ph type="dt" sz="half" idx="10"/>
          </p:nvPr>
        </p:nvSpPr>
        <p:spPr/>
        <p:txBody>
          <a:bodyPr/>
          <a:lstStyle/>
          <a:p>
            <a:fld id="{44DAFCF3-F418-419E-975F-6703F53DF93E}" type="datetimeFigureOut">
              <a:rPr lang="en-IN" smtClean="0"/>
              <a:t>06-12-2024</a:t>
            </a:fld>
            <a:endParaRPr lang="en-IN"/>
          </a:p>
        </p:txBody>
      </p:sp>
      <p:sp>
        <p:nvSpPr>
          <p:cNvPr id="3" name="Footer Placeholder 2">
            <a:extLst>
              <a:ext uri="{FF2B5EF4-FFF2-40B4-BE49-F238E27FC236}">
                <a16:creationId xmlns:a16="http://schemas.microsoft.com/office/drawing/2014/main" id="{5AD04963-278B-44E7-8FE3-A29556AD780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62229C-B1A9-44ED-AD90-799EA43F8F3C}"/>
              </a:ext>
            </a:extLst>
          </p:cNvPr>
          <p:cNvSpPr>
            <a:spLocks noGrp="1"/>
          </p:cNvSpPr>
          <p:nvPr>
            <p:ph type="sldNum" sz="quarter" idx="12"/>
          </p:nvPr>
        </p:nvSpPr>
        <p:spPr/>
        <p:txBody>
          <a:bodyPr/>
          <a:lstStyle/>
          <a:p>
            <a:fld id="{87640BA7-CDD3-45C0-AB39-5BC70B959800}" type="slidenum">
              <a:rPr lang="en-IN" smtClean="0"/>
              <a:t>‹#›</a:t>
            </a:fld>
            <a:endParaRPr lang="en-IN"/>
          </a:p>
        </p:txBody>
      </p:sp>
    </p:spTree>
    <p:extLst>
      <p:ext uri="{BB962C8B-B14F-4D97-AF65-F5344CB8AC3E}">
        <p14:creationId xmlns:p14="http://schemas.microsoft.com/office/powerpoint/2010/main" val="2396811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6A753-F71E-468E-8F80-0C7FA3F5D6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35D532-D5E7-4D5C-A253-04C1439F68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3A9DE2-4AA2-4AD5-8410-45F2C13FD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F8E87E4-3E42-412E-BC95-E43C2B0C286C}"/>
              </a:ext>
            </a:extLst>
          </p:cNvPr>
          <p:cNvSpPr>
            <a:spLocks noGrp="1"/>
          </p:cNvSpPr>
          <p:nvPr>
            <p:ph type="dt" sz="half" idx="10"/>
          </p:nvPr>
        </p:nvSpPr>
        <p:spPr/>
        <p:txBody>
          <a:bodyPr/>
          <a:lstStyle/>
          <a:p>
            <a:fld id="{44DAFCF3-F418-419E-975F-6703F53DF93E}" type="datetimeFigureOut">
              <a:rPr lang="en-IN" smtClean="0"/>
              <a:t>06-12-2024</a:t>
            </a:fld>
            <a:endParaRPr lang="en-IN"/>
          </a:p>
        </p:txBody>
      </p:sp>
      <p:sp>
        <p:nvSpPr>
          <p:cNvPr id="6" name="Footer Placeholder 5">
            <a:extLst>
              <a:ext uri="{FF2B5EF4-FFF2-40B4-BE49-F238E27FC236}">
                <a16:creationId xmlns:a16="http://schemas.microsoft.com/office/drawing/2014/main" id="{16FD1BD3-6DBD-4390-9041-0DD9C39C58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50AB5C-C145-4DB6-9750-7CF0D7813277}"/>
              </a:ext>
            </a:extLst>
          </p:cNvPr>
          <p:cNvSpPr>
            <a:spLocks noGrp="1"/>
          </p:cNvSpPr>
          <p:nvPr>
            <p:ph type="sldNum" sz="quarter" idx="12"/>
          </p:nvPr>
        </p:nvSpPr>
        <p:spPr/>
        <p:txBody>
          <a:bodyPr/>
          <a:lstStyle/>
          <a:p>
            <a:fld id="{87640BA7-CDD3-45C0-AB39-5BC70B959800}" type="slidenum">
              <a:rPr lang="en-IN" smtClean="0"/>
              <a:t>‹#›</a:t>
            </a:fld>
            <a:endParaRPr lang="en-IN"/>
          </a:p>
        </p:txBody>
      </p:sp>
    </p:spTree>
    <p:extLst>
      <p:ext uri="{BB962C8B-B14F-4D97-AF65-F5344CB8AC3E}">
        <p14:creationId xmlns:p14="http://schemas.microsoft.com/office/powerpoint/2010/main" val="918673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573F0-00A3-47BB-ABAC-4313DA5F20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0663133-B644-4968-8C74-5615E1F3F6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72DE903-A44D-4402-BBBA-432D9E663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32CD38C-0DD5-4199-A18A-B44FBEE8C4B9}"/>
              </a:ext>
            </a:extLst>
          </p:cNvPr>
          <p:cNvSpPr>
            <a:spLocks noGrp="1"/>
          </p:cNvSpPr>
          <p:nvPr>
            <p:ph type="dt" sz="half" idx="10"/>
          </p:nvPr>
        </p:nvSpPr>
        <p:spPr/>
        <p:txBody>
          <a:bodyPr/>
          <a:lstStyle/>
          <a:p>
            <a:fld id="{44DAFCF3-F418-419E-975F-6703F53DF93E}" type="datetimeFigureOut">
              <a:rPr lang="en-IN" smtClean="0"/>
              <a:t>06-12-2024</a:t>
            </a:fld>
            <a:endParaRPr lang="en-IN"/>
          </a:p>
        </p:txBody>
      </p:sp>
      <p:sp>
        <p:nvSpPr>
          <p:cNvPr id="6" name="Footer Placeholder 5">
            <a:extLst>
              <a:ext uri="{FF2B5EF4-FFF2-40B4-BE49-F238E27FC236}">
                <a16:creationId xmlns:a16="http://schemas.microsoft.com/office/drawing/2014/main" id="{81B32338-4ED8-40C8-AFEF-C8FB6DD9EF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1F26E4-3DCE-4992-961F-6E8FBDD6B9F8}"/>
              </a:ext>
            </a:extLst>
          </p:cNvPr>
          <p:cNvSpPr>
            <a:spLocks noGrp="1"/>
          </p:cNvSpPr>
          <p:nvPr>
            <p:ph type="sldNum" sz="quarter" idx="12"/>
          </p:nvPr>
        </p:nvSpPr>
        <p:spPr/>
        <p:txBody>
          <a:bodyPr/>
          <a:lstStyle/>
          <a:p>
            <a:fld id="{87640BA7-CDD3-45C0-AB39-5BC70B959800}" type="slidenum">
              <a:rPr lang="en-IN" smtClean="0"/>
              <a:t>‹#›</a:t>
            </a:fld>
            <a:endParaRPr lang="en-IN"/>
          </a:p>
        </p:txBody>
      </p:sp>
    </p:spTree>
    <p:extLst>
      <p:ext uri="{BB962C8B-B14F-4D97-AF65-F5344CB8AC3E}">
        <p14:creationId xmlns:p14="http://schemas.microsoft.com/office/powerpoint/2010/main" val="1512387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5BD7D-396C-4443-B69B-E692E735285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BD2563-316A-4D04-B5C3-6D28C8DD5E1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6340C4-7FE7-4C10-9473-7D02DCCEDE87}"/>
              </a:ext>
            </a:extLst>
          </p:cNvPr>
          <p:cNvSpPr>
            <a:spLocks noGrp="1"/>
          </p:cNvSpPr>
          <p:nvPr>
            <p:ph type="dt" sz="half" idx="10"/>
          </p:nvPr>
        </p:nvSpPr>
        <p:spPr/>
        <p:txBody>
          <a:bodyPr/>
          <a:lstStyle/>
          <a:p>
            <a:fld id="{44DAFCF3-F418-419E-975F-6703F53DF93E}" type="datetimeFigureOut">
              <a:rPr lang="en-IN" smtClean="0"/>
              <a:t>06-12-2024</a:t>
            </a:fld>
            <a:endParaRPr lang="en-IN"/>
          </a:p>
        </p:txBody>
      </p:sp>
      <p:sp>
        <p:nvSpPr>
          <p:cNvPr id="5" name="Footer Placeholder 4">
            <a:extLst>
              <a:ext uri="{FF2B5EF4-FFF2-40B4-BE49-F238E27FC236}">
                <a16:creationId xmlns:a16="http://schemas.microsoft.com/office/drawing/2014/main" id="{095738AB-CAE5-42F9-847F-FA72DB136B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D04B46-DFA2-4248-AD27-062AD495CA81}"/>
              </a:ext>
            </a:extLst>
          </p:cNvPr>
          <p:cNvSpPr>
            <a:spLocks noGrp="1"/>
          </p:cNvSpPr>
          <p:nvPr>
            <p:ph type="sldNum" sz="quarter" idx="12"/>
          </p:nvPr>
        </p:nvSpPr>
        <p:spPr/>
        <p:txBody>
          <a:bodyPr/>
          <a:lstStyle/>
          <a:p>
            <a:fld id="{87640BA7-CDD3-45C0-AB39-5BC70B959800}" type="slidenum">
              <a:rPr lang="en-IN" smtClean="0"/>
              <a:t>‹#›</a:t>
            </a:fld>
            <a:endParaRPr lang="en-IN"/>
          </a:p>
        </p:txBody>
      </p:sp>
    </p:spTree>
    <p:extLst>
      <p:ext uri="{BB962C8B-B14F-4D97-AF65-F5344CB8AC3E}">
        <p14:creationId xmlns:p14="http://schemas.microsoft.com/office/powerpoint/2010/main" val="3243604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1588B6-CE1F-4CE9-95A2-6A941D004C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90D247-EAAD-449F-A1DE-8CA18EE1B6E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AC13E6-5230-4A74-A891-847A47D75F23}"/>
              </a:ext>
            </a:extLst>
          </p:cNvPr>
          <p:cNvSpPr>
            <a:spLocks noGrp="1"/>
          </p:cNvSpPr>
          <p:nvPr>
            <p:ph type="dt" sz="half" idx="10"/>
          </p:nvPr>
        </p:nvSpPr>
        <p:spPr/>
        <p:txBody>
          <a:bodyPr/>
          <a:lstStyle/>
          <a:p>
            <a:fld id="{44DAFCF3-F418-419E-975F-6703F53DF93E}" type="datetimeFigureOut">
              <a:rPr lang="en-IN" smtClean="0"/>
              <a:t>06-12-2024</a:t>
            </a:fld>
            <a:endParaRPr lang="en-IN"/>
          </a:p>
        </p:txBody>
      </p:sp>
      <p:sp>
        <p:nvSpPr>
          <p:cNvPr id="5" name="Footer Placeholder 4">
            <a:extLst>
              <a:ext uri="{FF2B5EF4-FFF2-40B4-BE49-F238E27FC236}">
                <a16:creationId xmlns:a16="http://schemas.microsoft.com/office/drawing/2014/main" id="{AA8376EE-848F-4203-B520-80010D41FA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636562-BE30-408E-938F-FDB1C4777BBC}"/>
              </a:ext>
            </a:extLst>
          </p:cNvPr>
          <p:cNvSpPr>
            <a:spLocks noGrp="1"/>
          </p:cNvSpPr>
          <p:nvPr>
            <p:ph type="sldNum" sz="quarter" idx="12"/>
          </p:nvPr>
        </p:nvSpPr>
        <p:spPr/>
        <p:txBody>
          <a:bodyPr/>
          <a:lstStyle/>
          <a:p>
            <a:fld id="{87640BA7-CDD3-45C0-AB39-5BC70B959800}" type="slidenum">
              <a:rPr lang="en-IN" smtClean="0"/>
              <a:t>‹#›</a:t>
            </a:fld>
            <a:endParaRPr lang="en-IN"/>
          </a:p>
        </p:txBody>
      </p:sp>
    </p:spTree>
    <p:extLst>
      <p:ext uri="{BB962C8B-B14F-4D97-AF65-F5344CB8AC3E}">
        <p14:creationId xmlns:p14="http://schemas.microsoft.com/office/powerpoint/2010/main" val="629653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1F41A8-6DB0-493A-9CC5-504B88A746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4D2184-7B75-495D-AFFF-D00F012D72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0386F-70C9-46F7-9834-0347A31561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DAFCF3-F418-419E-975F-6703F53DF93E}" type="datetimeFigureOut">
              <a:rPr lang="en-IN" smtClean="0"/>
              <a:t>06-12-2024</a:t>
            </a:fld>
            <a:endParaRPr lang="en-IN"/>
          </a:p>
        </p:txBody>
      </p:sp>
      <p:sp>
        <p:nvSpPr>
          <p:cNvPr id="5" name="Footer Placeholder 4">
            <a:extLst>
              <a:ext uri="{FF2B5EF4-FFF2-40B4-BE49-F238E27FC236}">
                <a16:creationId xmlns:a16="http://schemas.microsoft.com/office/drawing/2014/main" id="{B23EB8BB-A9A2-492B-A675-23F6E452AA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10CA7D0-B26A-4F23-82D1-D47067CA68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640BA7-CDD3-45C0-AB39-5BC70B959800}" type="slidenum">
              <a:rPr lang="en-IN" smtClean="0"/>
              <a:t>‹#›</a:t>
            </a:fld>
            <a:endParaRPr lang="en-IN"/>
          </a:p>
        </p:txBody>
      </p:sp>
    </p:spTree>
    <p:extLst>
      <p:ext uri="{BB962C8B-B14F-4D97-AF65-F5344CB8AC3E}">
        <p14:creationId xmlns:p14="http://schemas.microsoft.com/office/powerpoint/2010/main" val="2800577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8.wmf"/><Relationship Id="rId3" Type="http://schemas.openxmlformats.org/officeDocument/2006/relationships/image" Target="../media/image3.png"/><Relationship Id="rId7" Type="http://schemas.openxmlformats.org/officeDocument/2006/relationships/image" Target="../media/image15.wmf"/><Relationship Id="rId12"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7.wmf"/><Relationship Id="rId5" Type="http://schemas.openxmlformats.org/officeDocument/2006/relationships/image" Target="../media/image14.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6.wmf"/></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2519680" y="3134901"/>
            <a:ext cx="7772400" cy="1600200"/>
          </a:xfrm>
        </p:spPr>
        <p:txBody>
          <a:bodyPr>
            <a:normAutofit fontScale="90000"/>
          </a:bodyPr>
          <a:lstStyle/>
          <a:p>
            <a:r>
              <a:rPr lang="en-US" sz="3600" dirty="0">
                <a:solidFill>
                  <a:srgbClr val="0000CC"/>
                </a:solidFill>
                <a:latin typeface="Times New Roman" pitchFamily="18" charset="0"/>
                <a:cs typeface="Times New Roman" pitchFamily="18" charset="0"/>
              </a:rPr>
              <a:t>Theory of Computation</a:t>
            </a:r>
            <a:br>
              <a:rPr lang="en-US" sz="3600" dirty="0">
                <a:solidFill>
                  <a:srgbClr val="0000CC"/>
                </a:solidFill>
                <a:latin typeface="Times New Roman" pitchFamily="18" charset="0"/>
                <a:cs typeface="Times New Roman" pitchFamily="18" charset="0"/>
              </a:rPr>
            </a:br>
            <a:r>
              <a:rPr lang="en-US" sz="3600" dirty="0">
                <a:solidFill>
                  <a:srgbClr val="0000CC"/>
                </a:solidFill>
                <a:latin typeface="Times New Roman" pitchFamily="18" charset="0"/>
                <a:cs typeface="Times New Roman" pitchFamily="18" charset="0"/>
              </a:rPr>
              <a:t>CSE ( CET2008B)</a:t>
            </a:r>
            <a:br>
              <a:rPr lang="en-US" sz="3600" dirty="0">
                <a:solidFill>
                  <a:srgbClr val="0000CC"/>
                </a:solidFill>
                <a:latin typeface="Times New Roman" pitchFamily="18" charset="0"/>
                <a:cs typeface="Times New Roman" pitchFamily="18" charset="0"/>
              </a:rPr>
            </a:br>
            <a:br>
              <a:rPr lang="en-US" sz="3600" dirty="0">
                <a:solidFill>
                  <a:srgbClr val="0000CC"/>
                </a:solidFill>
                <a:latin typeface="Times New Roman" pitchFamily="18" charset="0"/>
                <a:cs typeface="Times New Roman" pitchFamily="18" charset="0"/>
              </a:rPr>
            </a:br>
            <a:r>
              <a:rPr lang="en-US" sz="3600" dirty="0">
                <a:solidFill>
                  <a:schemeClr val="accent2">
                    <a:lumMod val="75000"/>
                  </a:schemeClr>
                </a:solidFill>
                <a:latin typeface="Times New Roman" pitchFamily="18" charset="0"/>
                <a:cs typeface="Times New Roman" pitchFamily="18" charset="0"/>
              </a:rPr>
              <a:t>TY BTech</a:t>
            </a:r>
            <a:br>
              <a:rPr lang="en-US" sz="3600" dirty="0">
                <a:solidFill>
                  <a:schemeClr val="accent2">
                    <a:lumMod val="75000"/>
                  </a:schemeClr>
                </a:solidFill>
                <a:latin typeface="Times New Roman" pitchFamily="18" charset="0"/>
                <a:cs typeface="Times New Roman" pitchFamily="18" charset="0"/>
              </a:rPr>
            </a:br>
            <a:br>
              <a:rPr lang="en-US" sz="3600" dirty="0">
                <a:solidFill>
                  <a:srgbClr val="0000CC"/>
                </a:solidFill>
                <a:latin typeface="Times New Roman" pitchFamily="18" charset="0"/>
                <a:cs typeface="Times New Roman" pitchFamily="18" charset="0"/>
              </a:rPr>
            </a:br>
            <a:r>
              <a:rPr lang="en-US" sz="3600" dirty="0">
                <a:solidFill>
                  <a:srgbClr val="0000CC"/>
                </a:solidFill>
                <a:latin typeface="Times New Roman" pitchFamily="18" charset="0"/>
                <a:cs typeface="Times New Roman" pitchFamily="18" charset="0"/>
              </a:rPr>
              <a:t>Unit V</a:t>
            </a:r>
            <a:br>
              <a:rPr lang="en-US" sz="3600" dirty="0">
                <a:solidFill>
                  <a:srgbClr val="0000CC"/>
                </a:solidFill>
                <a:latin typeface="Times New Roman" pitchFamily="18" charset="0"/>
                <a:cs typeface="Times New Roman" pitchFamily="18" charset="0"/>
              </a:rPr>
            </a:br>
            <a:r>
              <a:rPr lang="en-US" sz="3600" u="sng" dirty="0">
                <a:solidFill>
                  <a:schemeClr val="accent2">
                    <a:lumMod val="75000"/>
                  </a:schemeClr>
                </a:solidFill>
                <a:latin typeface="Times New Roman" pitchFamily="18" charset="0"/>
                <a:cs typeface="Times New Roman" pitchFamily="18" charset="0"/>
              </a:rPr>
              <a:t>Basic Introduction to Complexity</a:t>
            </a:r>
          </a:p>
        </p:txBody>
      </p:sp>
      <p:pic>
        <p:nvPicPr>
          <p:cNvPr id="1026" name="Picture 2" descr="MIT WP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1" y="152401"/>
            <a:ext cx="4762500" cy="13716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6794483-8E0F-422A-9235-BB5043C0B4CF}"/>
              </a:ext>
            </a:extLst>
          </p:cNvPr>
          <p:cNvSpPr/>
          <p:nvPr/>
        </p:nvSpPr>
        <p:spPr>
          <a:xfrm>
            <a:off x="3505200" y="762001"/>
            <a:ext cx="5181600" cy="954107"/>
          </a:xfrm>
          <a:prstGeom prst="rect">
            <a:avLst/>
          </a:prstGeom>
        </p:spPr>
        <p:txBody>
          <a:bodyPr wrap="square">
            <a:spAutoFit/>
          </a:bodyPr>
          <a:lstStyle/>
          <a:p>
            <a:pPr algn="ctr"/>
            <a:r>
              <a:rPr lang="en-US" sz="2800" dirty="0">
                <a:solidFill>
                  <a:srgbClr val="0000CC"/>
                </a:solidFill>
                <a:latin typeface="Times New Roman" pitchFamily="18" charset="0"/>
                <a:cs typeface="Times New Roman" pitchFamily="18" charset="0"/>
              </a:rPr>
              <a:t>Unit V</a:t>
            </a:r>
            <a:br>
              <a:rPr lang="en-US" sz="2800" dirty="0">
                <a:solidFill>
                  <a:srgbClr val="0000CC"/>
                </a:solidFill>
                <a:latin typeface="Times New Roman" pitchFamily="18" charset="0"/>
                <a:cs typeface="Times New Roman" pitchFamily="18" charset="0"/>
              </a:rPr>
            </a:br>
            <a:r>
              <a:rPr lang="en-US" sz="2800" u="sng" dirty="0">
                <a:solidFill>
                  <a:schemeClr val="accent2">
                    <a:lumMod val="75000"/>
                  </a:schemeClr>
                </a:solidFill>
                <a:latin typeface="Times New Roman" pitchFamily="18" charset="0"/>
                <a:cs typeface="Times New Roman" pitchFamily="18" charset="0"/>
              </a:rPr>
              <a:t>Basic Introduction of Complexity</a:t>
            </a:r>
            <a:endParaRPr lang="en-IN" sz="2800" dirty="0"/>
          </a:p>
        </p:txBody>
      </p:sp>
      <p:pic>
        <p:nvPicPr>
          <p:cNvPr id="2" name="Picture 1">
            <a:extLst>
              <a:ext uri="{FF2B5EF4-FFF2-40B4-BE49-F238E27FC236}">
                <a16:creationId xmlns:a16="http://schemas.microsoft.com/office/drawing/2014/main" id="{B0149A02-84BC-40BE-A697-32A39ACFB6B9}"/>
              </a:ext>
            </a:extLst>
          </p:cNvPr>
          <p:cNvPicPr>
            <a:picLocks noChangeAspect="1"/>
          </p:cNvPicPr>
          <p:nvPr/>
        </p:nvPicPr>
        <p:blipFill>
          <a:blip r:embed="rId2"/>
          <a:stretch>
            <a:fillRect/>
          </a:stretch>
        </p:blipFill>
        <p:spPr>
          <a:xfrm>
            <a:off x="2537952" y="2423133"/>
            <a:ext cx="8112855" cy="2718759"/>
          </a:xfrm>
          <a:prstGeom prst="rect">
            <a:avLst/>
          </a:prstGeom>
        </p:spPr>
      </p:pic>
    </p:spTree>
    <p:extLst>
      <p:ext uri="{BB962C8B-B14F-4D97-AF65-F5344CB8AC3E}">
        <p14:creationId xmlns:p14="http://schemas.microsoft.com/office/powerpoint/2010/main" val="816977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2819400" y="2"/>
            <a:ext cx="7848600" cy="1233167"/>
          </a:xfrm>
        </p:spPr>
        <p:txBody>
          <a:bodyPr/>
          <a:lstStyle/>
          <a:p>
            <a:pPr eaLnBrk="1" hangingPunct="1"/>
            <a:r>
              <a:rPr lang="en-US" sz="3600" dirty="0">
                <a:solidFill>
                  <a:srgbClr val="0070C0"/>
                </a:solidFill>
                <a:latin typeface="Times New Roman" pitchFamily="18" charset="0"/>
                <a:cs typeface="Times New Roman" pitchFamily="18" charset="0"/>
              </a:rPr>
              <a:t>Course Objective &amp; Course Outcomes</a:t>
            </a:r>
          </a:p>
        </p:txBody>
      </p:sp>
      <p:cxnSp>
        <p:nvCxnSpPr>
          <p:cNvPr id="5" name="Straight Connector 4"/>
          <p:cNvCxnSpPr/>
          <p:nvPr/>
        </p:nvCxnSpPr>
        <p:spPr>
          <a:xfrm>
            <a:off x="1524000" y="1468439"/>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524000" y="1468439"/>
            <a:ext cx="9144000" cy="4631268"/>
          </a:xfrm>
          <a:prstGeom prst="rect">
            <a:avLst/>
          </a:prstGeom>
        </p:spPr>
        <p:txBody>
          <a:bodyPr wrap="square">
            <a:spAutoFit/>
          </a:bodyPr>
          <a:lstStyle/>
          <a:p>
            <a:pPr marL="457200" indent="-457200" algn="just">
              <a:lnSpc>
                <a:spcPct val="107000"/>
              </a:lnSpc>
              <a:spcAft>
                <a:spcPts val="800"/>
              </a:spcAft>
              <a:buFont typeface="Arial" panose="020B0604020202020204" pitchFamily="34" charset="0"/>
              <a:buChar char="•"/>
            </a:pPr>
            <a:r>
              <a:rPr lang="en-US" sz="2000" b="1" spc="-5" dirty="0">
                <a:latin typeface="Times New Roman" panose="02020603050405020304" pitchFamily="18" charset="0"/>
                <a:ea typeface="Calibri" panose="020F0502020204030204" pitchFamily="34" charset="0"/>
                <a:cs typeface="Times New Roman" panose="02020603050405020304" pitchFamily="18" charset="0"/>
              </a:rPr>
              <a:t>Course Objectives:</a:t>
            </a:r>
          </a:p>
          <a:p>
            <a:pPr marL="914400" lvl="1" indent="-457200" algn="just">
              <a:lnSpc>
                <a:spcPct val="107000"/>
              </a:lnSpc>
              <a:spcAft>
                <a:spcPts val="800"/>
              </a:spcAft>
              <a:buFont typeface="+mj-lt"/>
              <a:buAutoNum type="arabicPeriod"/>
            </a:pPr>
            <a:r>
              <a:rPr lang="en-US" sz="2000" spc="-5" dirty="0">
                <a:latin typeface="Times New Roman" panose="02020603050405020304" pitchFamily="18" charset="0"/>
                <a:ea typeface="Calibri" panose="020F0502020204030204" pitchFamily="34" charset="0"/>
                <a:cs typeface="Times New Roman" panose="02020603050405020304" pitchFamily="18" charset="0"/>
              </a:rPr>
              <a:t>To </a:t>
            </a:r>
            <a:r>
              <a:rPr lang="en-US" sz="2000" spc="-10" dirty="0">
                <a:latin typeface="Times New Roman" panose="02020603050405020304" pitchFamily="18" charset="0"/>
                <a:ea typeface="Calibri" panose="020F0502020204030204" pitchFamily="34" charset="0"/>
                <a:cs typeface="Times New Roman" panose="02020603050405020304" pitchFamily="18" charset="0"/>
              </a:rPr>
              <a:t>Study </a:t>
            </a:r>
            <a:r>
              <a:rPr lang="en-US" sz="2000" spc="-5" dirty="0">
                <a:latin typeface="Times New Roman" panose="02020603050405020304" pitchFamily="18" charset="0"/>
                <a:ea typeface="Calibri" panose="020F0502020204030204" pitchFamily="34" charset="0"/>
                <a:cs typeface="Times New Roman" panose="02020603050405020304" pitchFamily="18" charset="0"/>
              </a:rPr>
              <a:t>computing machines by </a:t>
            </a:r>
            <a:r>
              <a:rPr lang="en-US" sz="2000" spc="-10" dirty="0">
                <a:latin typeface="Times New Roman" panose="02020603050405020304" pitchFamily="18" charset="0"/>
                <a:ea typeface="Calibri" panose="020F0502020204030204" pitchFamily="34" charset="0"/>
                <a:cs typeface="Times New Roman" panose="02020603050405020304" pitchFamily="18" charset="0"/>
              </a:rPr>
              <a:t>describing, </a:t>
            </a:r>
            <a:r>
              <a:rPr lang="en-US" sz="2000" spc="-5" dirty="0">
                <a:latin typeface="Times New Roman" panose="02020603050405020304" pitchFamily="18" charset="0"/>
                <a:ea typeface="Calibri" panose="020F0502020204030204" pitchFamily="34" charset="0"/>
                <a:cs typeface="Times New Roman" panose="02020603050405020304" pitchFamily="18" charset="0"/>
              </a:rPr>
              <a:t>classifying </a:t>
            </a:r>
            <a:r>
              <a:rPr lang="en-US" sz="2000" dirty="0">
                <a:latin typeface="Times New Roman" panose="02020603050405020304" pitchFamily="18" charset="0"/>
                <a:ea typeface="Calibri" panose="020F0502020204030204" pitchFamily="34" charset="0"/>
                <a:cs typeface="Times New Roman" panose="02020603050405020304" pitchFamily="18" charset="0"/>
              </a:rPr>
              <a:t>and </a:t>
            </a:r>
            <a:r>
              <a:rPr lang="en-US" sz="2000" spc="-5" dirty="0">
                <a:latin typeface="Times New Roman" panose="02020603050405020304" pitchFamily="18" charset="0"/>
                <a:ea typeface="Calibri" panose="020F0502020204030204" pitchFamily="34" charset="0"/>
                <a:cs typeface="Times New Roman" panose="02020603050405020304" pitchFamily="18" charset="0"/>
              </a:rPr>
              <a:t>comparing different types </a:t>
            </a:r>
            <a:r>
              <a:rPr lang="en-US" sz="2000" dirty="0">
                <a:latin typeface="Times New Roman" panose="02020603050405020304" pitchFamily="18" charset="0"/>
                <a:ea typeface="Calibri" panose="020F0502020204030204" pitchFamily="34" charset="0"/>
                <a:cs typeface="Times New Roman" panose="02020603050405020304" pitchFamily="18" charset="0"/>
              </a:rPr>
              <a:t>of </a:t>
            </a:r>
            <a:r>
              <a:rPr lang="en-US" sz="2000" spc="-5" dirty="0">
                <a:latin typeface="Times New Roman" panose="02020603050405020304" pitchFamily="18" charset="0"/>
                <a:ea typeface="Calibri" panose="020F0502020204030204" pitchFamily="34" charset="0"/>
                <a:cs typeface="Times New Roman" panose="02020603050405020304" pitchFamily="18" charset="0"/>
              </a:rPr>
              <a:t>computational models.</a:t>
            </a:r>
          </a:p>
          <a:p>
            <a:pPr marL="914400" lvl="1" indent="-457200" algn="just">
              <a:lnSpc>
                <a:spcPct val="107000"/>
              </a:lnSpc>
              <a:spcAft>
                <a:spcPts val="800"/>
              </a:spcAft>
              <a:buFont typeface="+mj-lt"/>
              <a:buAutoNum type="arabicPeriod"/>
            </a:pPr>
            <a:r>
              <a:rPr lang="en-US" sz="2000" spc="-5" dirty="0">
                <a:latin typeface="Times New Roman" panose="02020603050405020304" pitchFamily="18" charset="0"/>
                <a:ea typeface="Calibri" panose="020F0502020204030204" pitchFamily="34" charset="0"/>
                <a:cs typeface="Times New Roman" panose="02020603050405020304" pitchFamily="18" charset="0"/>
              </a:rPr>
              <a:t>Encourage students </a:t>
            </a:r>
            <a:r>
              <a:rPr lang="en-US" sz="2000" dirty="0">
                <a:latin typeface="Times New Roman" panose="02020603050405020304" pitchFamily="18" charset="0"/>
                <a:ea typeface="Calibri" panose="020F0502020204030204" pitchFamily="34" charset="0"/>
                <a:cs typeface="Times New Roman" panose="02020603050405020304" pitchFamily="18" charset="0"/>
              </a:rPr>
              <a:t>to </a:t>
            </a:r>
            <a:r>
              <a:rPr lang="en-US" sz="2000" spc="-10" dirty="0">
                <a:latin typeface="Times New Roman" panose="02020603050405020304" pitchFamily="18" charset="0"/>
                <a:ea typeface="Calibri" panose="020F0502020204030204" pitchFamily="34" charset="0"/>
                <a:cs typeface="Times New Roman" panose="02020603050405020304" pitchFamily="18" charset="0"/>
              </a:rPr>
              <a:t>study </a:t>
            </a:r>
            <a:r>
              <a:rPr lang="en-US" sz="2000" dirty="0">
                <a:latin typeface="Times New Roman" panose="02020603050405020304" pitchFamily="18" charset="0"/>
                <a:ea typeface="Calibri" panose="020F0502020204030204" pitchFamily="34" charset="0"/>
                <a:cs typeface="Times New Roman" panose="02020603050405020304" pitchFamily="18" charset="0"/>
              </a:rPr>
              <a:t>Theory of Computability and Complexity</a:t>
            </a:r>
            <a:r>
              <a:rPr lang="en-US" sz="2000" spc="-5" dirty="0">
                <a:latin typeface="Times New Roman" panose="02020603050405020304" pitchFamily="18" charset="0"/>
                <a:ea typeface="Calibri" panose="020F0502020204030204" pitchFamily="34" charset="0"/>
                <a:cs typeface="Times New Roman" panose="02020603050405020304" pitchFamily="18" charset="0"/>
              </a:rPr>
              <a:t>.</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07000"/>
              </a:lnSpc>
              <a:spcAft>
                <a:spcPts val="800"/>
              </a:spcAft>
              <a:buFont typeface="Arial" panose="020B0604020202020204" pitchFamily="34" charset="0"/>
              <a:buChar char="•"/>
            </a:pPr>
            <a:r>
              <a:rPr lang="en-US" sz="2000" b="1" spc="-5" dirty="0">
                <a:latin typeface="Times New Roman" panose="02020603050405020304" pitchFamily="18" charset="0"/>
                <a:ea typeface="Calibri" panose="020F0502020204030204" pitchFamily="34" charset="0"/>
                <a:cs typeface="Times New Roman" panose="02020603050405020304" pitchFamily="18" charset="0"/>
              </a:rPr>
              <a:t>Course Outcomes</a:t>
            </a:r>
            <a:r>
              <a:rPr lang="en-US" sz="2000" b="1" spc="5" dirty="0">
                <a:latin typeface="Times New Roman" panose="02020603050405020304" pitchFamily="18" charset="0"/>
                <a:ea typeface="Calibri" panose="020F0502020204030204" pitchFamily="34" charset="0"/>
                <a:cs typeface="Times New Roman" panose="02020603050405020304" pitchFamily="18" charset="0"/>
              </a:rPr>
              <a:t>:</a:t>
            </a:r>
            <a:endParaRPr lang="en-US" sz="2000" b="1" dirty="0">
              <a:latin typeface="Times New Roman" panose="02020603050405020304" pitchFamily="18" charset="0"/>
              <a:ea typeface="Calibri" panose="020F0502020204030204" pitchFamily="34" charset="0"/>
              <a:cs typeface="Times New Roman" panose="02020603050405020304" pitchFamily="18" charset="0"/>
            </a:endParaRPr>
          </a:p>
          <a:p>
            <a:pPr marL="182880" indent="457200" algn="just"/>
            <a:r>
              <a:rPr lang="en-US" sz="2000" b="1" dirty="0">
                <a:latin typeface="Times New Roman" panose="02020603050405020304" pitchFamily="18" charset="0"/>
                <a:ea typeface="Calibri" panose="020F0502020204030204" pitchFamily="34" charset="0"/>
                <a:cs typeface="Times New Roman" panose="02020603050405020304" pitchFamily="18" charset="0"/>
              </a:rPr>
              <a:t>After successful completion of this course students will be able to:</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endParaRPr lang="en-US" sz="2000" b="1" dirty="0">
              <a:latin typeface="Calibri" panose="020F0502020204030204" pitchFamily="34" charset="0"/>
              <a:ea typeface="Calibri" panose="020F0502020204030204" pitchFamily="34" charset="0"/>
              <a:cs typeface="Times New Roman" panose="02020603050405020304" pitchFamily="18" charset="0"/>
            </a:endParaRPr>
          </a:p>
          <a:p>
            <a:pPr marL="640080" indent="-457200" algn="just">
              <a:buFont typeface="+mj-lt"/>
              <a:buAutoNum type="arabicPeriod"/>
            </a:pPr>
            <a:r>
              <a:rPr lang="en-US" sz="2000" spc="-5" dirty="0">
                <a:latin typeface="Times New Roman" panose="02020603050405020304" pitchFamily="18" charset="0"/>
                <a:ea typeface="Calibri" panose="020F0502020204030204" pitchFamily="34" charset="0"/>
                <a:cs typeface="Times New Roman" panose="02020603050405020304" pitchFamily="18" charset="0"/>
              </a:rPr>
              <a:t>Construct finite state machines to solve problems in computing</a:t>
            </a:r>
          </a:p>
          <a:p>
            <a:pPr marL="640080" indent="-457200" algn="just">
              <a:buFont typeface="+mj-lt"/>
              <a:buAutoNum type="arabicPeriod"/>
            </a:pPr>
            <a:r>
              <a:rPr lang="en-US" sz="2000" spc="-5" dirty="0">
                <a:latin typeface="Times New Roman" panose="02020603050405020304" pitchFamily="18" charset="0"/>
                <a:ea typeface="Calibri" panose="020F0502020204030204" pitchFamily="34" charset="0"/>
                <a:cs typeface="Times New Roman" panose="02020603050405020304" pitchFamily="18" charset="0"/>
              </a:rPr>
              <a:t>Write mathematical expressions for the formal languages  </a:t>
            </a:r>
          </a:p>
          <a:p>
            <a:pPr marL="640080" indent="-457200" algn="just">
              <a:buFont typeface="+mj-lt"/>
              <a:buAutoNum type="arabicPeriod"/>
            </a:pPr>
            <a:r>
              <a:rPr lang="en-US" sz="2000" spc="-5" dirty="0">
                <a:latin typeface="Times New Roman" panose="02020603050405020304" pitchFamily="18" charset="0"/>
                <a:ea typeface="Calibri" panose="020F0502020204030204" pitchFamily="34" charset="0"/>
                <a:cs typeface="Times New Roman" panose="02020603050405020304" pitchFamily="18" charset="0"/>
              </a:rPr>
              <a:t>Apply well defined rules for syntax verification</a:t>
            </a:r>
          </a:p>
          <a:p>
            <a:pPr marL="640080" indent="-457200" algn="just">
              <a:buFont typeface="+mj-lt"/>
              <a:buAutoNum type="arabicPeriod"/>
            </a:pPr>
            <a:r>
              <a:rPr lang="en-US" sz="2000" spc="-5" dirty="0">
                <a:latin typeface="Times New Roman" panose="02020603050405020304" pitchFamily="18" charset="0"/>
                <a:ea typeface="Calibri" panose="020F0502020204030204" pitchFamily="34" charset="0"/>
                <a:cs typeface="Times New Roman" panose="02020603050405020304" pitchFamily="18" charset="0"/>
              </a:rPr>
              <a:t>Construct and analyze Push Down, Post and Turing Machine for formal languages</a:t>
            </a:r>
          </a:p>
          <a:p>
            <a:pPr marL="640080" indent="-457200" algn="just">
              <a:buFont typeface="+mj-lt"/>
              <a:buAutoNum type="arabicPeriod"/>
            </a:pPr>
            <a:r>
              <a:rPr lang="en-US" sz="2000" spc="-5" dirty="0">
                <a:latin typeface="Times New Roman" panose="02020603050405020304" pitchFamily="18" charset="0"/>
                <a:ea typeface="Calibri" panose="020F0502020204030204" pitchFamily="34" charset="0"/>
                <a:cs typeface="Times New Roman" panose="02020603050405020304" pitchFamily="18" charset="0"/>
              </a:rPr>
              <a:t>Express the understanding of the decidability and </a:t>
            </a:r>
            <a:r>
              <a:rPr lang="en-US" sz="2000" spc="-5" dirty="0" err="1">
                <a:latin typeface="Times New Roman" panose="02020603050405020304" pitchFamily="18" charset="0"/>
                <a:ea typeface="Calibri" panose="020F0502020204030204" pitchFamily="34" charset="0"/>
                <a:cs typeface="Times New Roman" panose="02020603050405020304" pitchFamily="18" charset="0"/>
              </a:rPr>
              <a:t>Undecidability</a:t>
            </a:r>
            <a:r>
              <a:rPr lang="en-US" sz="2000" spc="-5" dirty="0">
                <a:latin typeface="Times New Roman" panose="02020603050405020304" pitchFamily="18" charset="0"/>
                <a:ea typeface="Calibri" panose="020F0502020204030204" pitchFamily="34" charset="0"/>
                <a:cs typeface="Times New Roman" panose="02020603050405020304" pitchFamily="18" charset="0"/>
              </a:rPr>
              <a:t> problems</a:t>
            </a:r>
          </a:p>
          <a:p>
            <a:pPr marL="640080" indent="-457200" algn="just">
              <a:buFont typeface="+mj-lt"/>
              <a:buAutoNum type="arabicPeriod"/>
            </a:pPr>
            <a:r>
              <a:rPr lang="en-US" sz="2000" spc="-5" dirty="0">
                <a:latin typeface="Times New Roman" panose="02020603050405020304" pitchFamily="18" charset="0"/>
                <a:ea typeface="Calibri" panose="020F0502020204030204" pitchFamily="34" charset="0"/>
                <a:cs typeface="Times New Roman" panose="02020603050405020304" pitchFamily="18" charset="0"/>
              </a:rPr>
              <a:t>Express the understanding of computational complexity.</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50"/>
              </a:spcBef>
              <a:spcAft>
                <a:spcPts val="800"/>
              </a:spcAft>
            </a:pPr>
            <a:endParaRPr lang="en-US" sz="20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1440" y="101357"/>
            <a:ext cx="1143000" cy="7824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1524000" y="2"/>
            <a:ext cx="9144000" cy="1034731"/>
          </a:xfrm>
        </p:spPr>
        <p:txBody>
          <a:bodyPr/>
          <a:lstStyle/>
          <a:p>
            <a:pPr eaLnBrk="1" hangingPunct="1"/>
            <a:r>
              <a:rPr lang="en-US" sz="3600" dirty="0">
                <a:solidFill>
                  <a:srgbClr val="0070C0"/>
                </a:solidFill>
                <a:latin typeface="Times New Roman" pitchFamily="18" charset="0"/>
                <a:cs typeface="Times New Roman" pitchFamily="18" charset="0"/>
              </a:rPr>
              <a:t>Text Books &amp; Reference Books</a:t>
            </a:r>
          </a:p>
        </p:txBody>
      </p:sp>
      <p:cxnSp>
        <p:nvCxnSpPr>
          <p:cNvPr id="5" name="Straight Connector 4"/>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1905000" y="1143000"/>
            <a:ext cx="8077200" cy="5488554"/>
          </a:xfrm>
          <a:prstGeom prst="rect">
            <a:avLst/>
          </a:prstGeom>
        </p:spPr>
        <p:txBody>
          <a:bodyPr wrap="square">
            <a:spAutoFit/>
          </a:bodyPr>
          <a:lstStyle/>
          <a:p>
            <a:pPr marL="457200" indent="-457200" algn="just">
              <a:buFont typeface="Arial" panose="020B0604020202020204" pitchFamily="34" charset="0"/>
              <a:buChar char="•"/>
            </a:pPr>
            <a:r>
              <a:rPr lang="en-US" b="1" spc="-5" dirty="0">
                <a:latin typeface="Times New Roman" panose="02020603050405020304" pitchFamily="18" charset="0"/>
                <a:ea typeface="Calibri" panose="020F0502020204030204" pitchFamily="34" charset="0"/>
                <a:cs typeface="Times New Roman" panose="02020603050405020304" pitchFamily="18" charset="0"/>
              </a:rPr>
              <a:t>Text Books</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Michael </a:t>
            </a:r>
            <a:r>
              <a:rPr lang="en-US" dirty="0" err="1">
                <a:latin typeface="Times New Roman" panose="02020603050405020304" pitchFamily="18" charset="0"/>
                <a:cs typeface="Times New Roman" panose="02020603050405020304" pitchFamily="18" charset="0"/>
              </a:rPr>
              <a:t>Sipser</a:t>
            </a:r>
            <a:r>
              <a:rPr lang="en-US" dirty="0">
                <a:latin typeface="Times New Roman" panose="02020603050405020304" pitchFamily="18" charset="0"/>
                <a:cs typeface="Times New Roman" panose="02020603050405020304" pitchFamily="18" charset="0"/>
              </a:rPr>
              <a:t> “Introduction to the Theory of Computation” CENGAGE Learning, 3</a:t>
            </a:r>
            <a:r>
              <a:rPr lang="en-US" baseline="30000" dirty="0">
                <a:latin typeface="Times New Roman" panose="02020603050405020304" pitchFamily="18" charset="0"/>
                <a:cs typeface="Times New Roman" panose="02020603050405020304" pitchFamily="18" charset="0"/>
              </a:rPr>
              <a:t>rd</a:t>
            </a:r>
            <a:r>
              <a:rPr lang="en-US" dirty="0">
                <a:latin typeface="Times New Roman" panose="02020603050405020304" pitchFamily="18" charset="0"/>
                <a:cs typeface="Times New Roman" panose="02020603050405020304" pitchFamily="18" charset="0"/>
              </a:rPr>
              <a:t> Edition ISBN-13:978-81-315-2529-6</a:t>
            </a:r>
          </a:p>
          <a:p>
            <a:pPr marL="342900" indent="-342900" algn="just">
              <a:buFont typeface="+mj-lt"/>
              <a:buAutoNum type="arabicPeriod"/>
            </a:pPr>
            <a:r>
              <a:rPr lang="en-US" dirty="0" err="1">
                <a:latin typeface="Times New Roman" panose="02020603050405020304" pitchFamily="18" charset="0"/>
                <a:cs typeface="Times New Roman" panose="02020603050405020304" pitchFamily="18" charset="0"/>
              </a:rPr>
              <a:t>Vivek</a:t>
            </a:r>
            <a:r>
              <a:rPr lang="en-US" dirty="0">
                <a:latin typeface="Times New Roman" panose="02020603050405020304" pitchFamily="18" charset="0"/>
                <a:cs typeface="Times New Roman" panose="02020603050405020304" pitchFamily="18" charset="0"/>
              </a:rPr>
              <a:t> Kulkarni, “Theory of Computation”, Oxford University Press, </a:t>
            </a:r>
          </a:p>
          <a:p>
            <a:pPr algn="just"/>
            <a:r>
              <a:rPr lang="en-US" dirty="0">
                <a:latin typeface="Times New Roman" panose="02020603050405020304" pitchFamily="18" charset="0"/>
                <a:cs typeface="Times New Roman" panose="02020603050405020304" pitchFamily="18" charset="0"/>
              </a:rPr>
              <a:t>       ISBN-13: 978-0-19-808458-7</a:t>
            </a:r>
          </a:p>
          <a:p>
            <a:pPr algn="just"/>
            <a:endParaRPr lang="en-US" dirty="0">
              <a:latin typeface="Times New Roman" panose="02020603050405020304" pitchFamily="18" charset="0"/>
              <a:cs typeface="Times New Roman" panose="02020603050405020304" pitchFamily="18" charset="0"/>
            </a:endParaRPr>
          </a:p>
          <a:p>
            <a:pPr marL="514350" indent="-514350" algn="just">
              <a:lnSpc>
                <a:spcPct val="107000"/>
              </a:lnSpc>
              <a:spcAft>
                <a:spcPts val="800"/>
              </a:spcAft>
              <a:buFont typeface="Arial" panose="020B0604020202020204" pitchFamily="34" charset="0"/>
              <a:buChar char="•"/>
            </a:pPr>
            <a:r>
              <a:rPr lang="en-US" b="1" spc="-5" dirty="0">
                <a:latin typeface="Times New Roman" panose="02020603050405020304" pitchFamily="18" charset="0"/>
                <a:ea typeface="Calibri" panose="020F0502020204030204" pitchFamily="34" charset="0"/>
                <a:cs typeface="Times New Roman" panose="02020603050405020304" pitchFamily="18" charset="0"/>
              </a:rPr>
              <a:t>Reference Books</a:t>
            </a:r>
          </a:p>
          <a:p>
            <a:pPr marL="457200" indent="-457200" algn="just">
              <a:lnSpc>
                <a:spcPct val="107000"/>
              </a:lnSpc>
              <a:spcAft>
                <a:spcPts val="800"/>
              </a:spcAft>
              <a:buFont typeface="+mj-lt"/>
              <a:buAutoNum type="arabicPeriod"/>
            </a:pPr>
            <a:r>
              <a:rPr lang="en-US" dirty="0" err="1">
                <a:latin typeface="Times New Roman" panose="02020603050405020304" pitchFamily="18" charset="0"/>
                <a:cs typeface="Times New Roman" panose="02020603050405020304" pitchFamily="18" charset="0"/>
              </a:rPr>
              <a:t>Hopcroft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Ulman</a:t>
            </a:r>
            <a:r>
              <a:rPr lang="en-US" dirty="0">
                <a:latin typeface="Times New Roman" panose="02020603050405020304" pitchFamily="18" charset="0"/>
                <a:cs typeface="Times New Roman" panose="02020603050405020304" pitchFamily="18" charset="0"/>
              </a:rPr>
              <a:t>, “Introduction To Automata Theory, Languages And Computations”, Pearson Education Asia, 2</a:t>
            </a:r>
            <a:r>
              <a:rPr lang="en-US" baseline="30000" dirty="0">
                <a:latin typeface="Times New Roman" panose="02020603050405020304" pitchFamily="18" charset="0"/>
                <a:cs typeface="Times New Roman" panose="02020603050405020304" pitchFamily="18" charset="0"/>
              </a:rPr>
              <a:t>nd</a:t>
            </a:r>
            <a:r>
              <a:rPr lang="en-US" dirty="0">
                <a:latin typeface="Times New Roman" panose="02020603050405020304" pitchFamily="18" charset="0"/>
                <a:cs typeface="Times New Roman" panose="02020603050405020304" pitchFamily="18" charset="0"/>
              </a:rPr>
              <a:t> Edition</a:t>
            </a:r>
          </a:p>
          <a:p>
            <a:pPr marL="457200" indent="-457200" algn="just">
              <a:lnSpc>
                <a:spcPct val="107000"/>
              </a:lnSpc>
              <a:spcAft>
                <a:spcPts val="800"/>
              </a:spcAft>
              <a:buFont typeface="+mj-lt"/>
              <a:buAutoNum type="arabicPeriod"/>
            </a:pPr>
            <a:r>
              <a:rPr lang="en-US" dirty="0">
                <a:latin typeface="Times New Roman" panose="02020603050405020304" pitchFamily="18" charset="0"/>
                <a:cs typeface="Times New Roman" panose="02020603050405020304" pitchFamily="18" charset="0"/>
              </a:rPr>
              <a:t>Daniel. A. Cohen, “Introduction to Computer Theory” Wiley-India, ISBN:978-81-265-1334-5</a:t>
            </a:r>
          </a:p>
          <a:p>
            <a:pPr marL="457200" indent="-457200" algn="just">
              <a:lnSpc>
                <a:spcPct val="107000"/>
              </a:lnSpc>
              <a:spcAft>
                <a:spcPts val="800"/>
              </a:spcAft>
              <a:buFont typeface="+mj-lt"/>
              <a:buAutoNum type="arabicPeriod"/>
            </a:pPr>
            <a:r>
              <a:rPr lang="en-US" dirty="0">
                <a:latin typeface="Times New Roman" panose="02020603050405020304" pitchFamily="18" charset="0"/>
                <a:cs typeface="Times New Roman" panose="02020603050405020304" pitchFamily="18" charset="0"/>
              </a:rPr>
              <a:t>K.L.P Mishra ,N. </a:t>
            </a:r>
            <a:r>
              <a:rPr lang="en-US" dirty="0" err="1">
                <a:latin typeface="Times New Roman" panose="02020603050405020304" pitchFamily="18" charset="0"/>
                <a:cs typeface="Times New Roman" panose="02020603050405020304" pitchFamily="18" charset="0"/>
              </a:rPr>
              <a:t>Chandrasekaran</a:t>
            </a:r>
            <a:r>
              <a:rPr lang="en-US" dirty="0">
                <a:latin typeface="Times New Roman" panose="02020603050405020304" pitchFamily="18" charset="0"/>
                <a:cs typeface="Times New Roman" panose="02020603050405020304" pitchFamily="18" charset="0"/>
              </a:rPr>
              <a:t> ,“Theory Of Computer Science (Automata, Languages and Computation)”, Prentice Hall India,2</a:t>
            </a:r>
            <a:r>
              <a:rPr lang="en-US" baseline="30000" dirty="0">
                <a:latin typeface="Times New Roman" panose="02020603050405020304" pitchFamily="18" charset="0"/>
                <a:cs typeface="Times New Roman" panose="02020603050405020304" pitchFamily="18" charset="0"/>
              </a:rPr>
              <a:t>nd</a:t>
            </a:r>
            <a:r>
              <a:rPr lang="en-US" dirty="0">
                <a:latin typeface="Times New Roman" panose="02020603050405020304" pitchFamily="18" charset="0"/>
                <a:cs typeface="Times New Roman" panose="02020603050405020304" pitchFamily="18" charset="0"/>
              </a:rPr>
              <a:t> Edition</a:t>
            </a:r>
          </a:p>
          <a:p>
            <a:pPr marL="457200" indent="-457200" algn="just">
              <a:lnSpc>
                <a:spcPct val="107000"/>
              </a:lnSpc>
              <a:spcAft>
                <a:spcPts val="800"/>
              </a:spcAft>
              <a:buFont typeface="+mj-lt"/>
              <a:buAutoNum type="arabicPeriod"/>
            </a:pPr>
            <a:r>
              <a:rPr lang="en-US" dirty="0">
                <a:latin typeface="Times New Roman" panose="02020603050405020304" pitchFamily="18" charset="0"/>
                <a:cs typeface="Times New Roman" panose="02020603050405020304" pitchFamily="18" charset="0"/>
              </a:rPr>
              <a:t>John C. Martin, “Introduction to Language and Theory of Computation”, TMH, 3</a:t>
            </a:r>
            <a:r>
              <a:rPr lang="en-US" baseline="30000" dirty="0">
                <a:latin typeface="Times New Roman" panose="02020603050405020304" pitchFamily="18" charset="0"/>
                <a:cs typeface="Times New Roman" panose="02020603050405020304" pitchFamily="18" charset="0"/>
              </a:rPr>
              <a:t>rd</a:t>
            </a:r>
            <a:r>
              <a:rPr lang="en-US" dirty="0">
                <a:latin typeface="Times New Roman" panose="02020603050405020304" pitchFamily="18" charset="0"/>
                <a:cs typeface="Times New Roman" panose="02020603050405020304" pitchFamily="18" charset="0"/>
              </a:rPr>
              <a:t>  Edition ISBN: 978-0-07-066048-9</a:t>
            </a:r>
          </a:p>
          <a:p>
            <a:pPr marL="457200" indent="-457200" algn="just">
              <a:buFont typeface="+mj-lt"/>
              <a:buAutoNum type="arabicPeriod"/>
            </a:pPr>
            <a:r>
              <a:rPr lang="en-US" dirty="0" err="1">
                <a:latin typeface="Times New Roman" panose="02020603050405020304" pitchFamily="18" charset="0"/>
                <a:cs typeface="Times New Roman" panose="02020603050405020304" pitchFamily="18" charset="0"/>
              </a:rPr>
              <a:t>Kavi</a:t>
            </a:r>
            <a:r>
              <a:rPr lang="en-US" dirty="0">
                <a:latin typeface="Times New Roman" panose="02020603050405020304" pitchFamily="18" charset="0"/>
                <a:cs typeface="Times New Roman" panose="02020603050405020304" pitchFamily="18" charset="0"/>
              </a:rPr>
              <a:t> Mahesh, “Theory of Computation: A Problem Solving Approach”, Wiley-India, ISBN: 978-81-265-3311-4</a:t>
            </a:r>
          </a:p>
        </p:txBody>
      </p:sp>
      <p:pic>
        <p:nvPicPr>
          <p:cNvPr id="6" name="Picture 5"/>
          <p:cNvPicPr>
            <a:picLocks noChangeAspect="1"/>
          </p:cNvPicPr>
          <p:nvPr/>
        </p:nvPicPr>
        <p:blipFill>
          <a:blip r:embed="rId2"/>
          <a:stretch>
            <a:fillRect/>
          </a:stretch>
        </p:blipFill>
        <p:spPr>
          <a:xfrm>
            <a:off x="91440" y="0"/>
            <a:ext cx="1143000" cy="782411"/>
          </a:xfrm>
          <a:prstGeom prst="rect">
            <a:avLst/>
          </a:prstGeom>
        </p:spPr>
      </p:pic>
    </p:spTree>
    <p:extLst>
      <p:ext uri="{BB962C8B-B14F-4D97-AF65-F5344CB8AC3E}">
        <p14:creationId xmlns:p14="http://schemas.microsoft.com/office/powerpoint/2010/main" val="2799588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2029460" y="140849"/>
            <a:ext cx="9144000" cy="1470025"/>
          </a:xfrm>
        </p:spPr>
        <p:txBody>
          <a:bodyPr>
            <a:normAutofit fontScale="90000"/>
          </a:bodyPr>
          <a:lstStyle/>
          <a:p>
            <a:pPr eaLnBrk="1" hangingPunct="1"/>
            <a:br>
              <a:rPr lang="en-US" dirty="0">
                <a:latin typeface="Arial Rounded MT Bold" pitchFamily="34" charset="0"/>
                <a:cs typeface="Arial" charset="0"/>
              </a:rPr>
            </a:br>
            <a:r>
              <a:rPr lang="en-US" sz="4000" dirty="0">
                <a:solidFill>
                  <a:srgbClr val="0070C0"/>
                </a:solidFill>
                <a:latin typeface="Times New Roman" pitchFamily="18" charset="0"/>
                <a:cs typeface="Times New Roman" pitchFamily="18" charset="0"/>
              </a:rPr>
              <a:t>Turing Machine</a:t>
            </a:r>
            <a:br>
              <a:rPr lang="en-US" dirty="0">
                <a:latin typeface="Arial Rounded MT Bold" pitchFamily="34" charset="0"/>
                <a:cs typeface="Arial" charset="0"/>
              </a:rPr>
            </a:br>
            <a:endParaRPr lang="en-US" dirty="0">
              <a:latin typeface="Times New Roman" pitchFamily="18" charset="0"/>
              <a:cs typeface="Times New Roman" pitchFamily="18" charset="0"/>
            </a:endParaRPr>
          </a:p>
        </p:txBody>
      </p:sp>
      <p:cxnSp>
        <p:nvCxnSpPr>
          <p:cNvPr id="4" name="Straight Connector 3"/>
          <p:cNvCxnSpPr/>
          <p:nvPr/>
        </p:nvCxnSpPr>
        <p:spPr>
          <a:xfrm>
            <a:off x="1335088" y="956945"/>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17145" y="21480"/>
            <a:ext cx="1143000" cy="782411"/>
          </a:xfrm>
          <a:prstGeom prst="rect">
            <a:avLst/>
          </a:prstGeom>
        </p:spPr>
      </p:pic>
      <p:sp>
        <p:nvSpPr>
          <p:cNvPr id="13" name="Text Box 2">
            <a:extLst>
              <a:ext uri="{FF2B5EF4-FFF2-40B4-BE49-F238E27FC236}">
                <a16:creationId xmlns:a16="http://schemas.microsoft.com/office/drawing/2014/main" id="{8D2B38FE-28CE-4BD4-B2AB-A13F4A05EA3B}"/>
              </a:ext>
            </a:extLst>
          </p:cNvPr>
          <p:cNvSpPr txBox="1">
            <a:spLocks noChangeArrowheads="1"/>
          </p:cNvSpPr>
          <p:nvPr/>
        </p:nvSpPr>
        <p:spPr bwMode="auto">
          <a:xfrm>
            <a:off x="1160145" y="1055492"/>
            <a:ext cx="8128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ctr" eaLnBrk="0" hangingPunct="0">
              <a:defRPr sz="2800">
                <a:solidFill>
                  <a:schemeClr val="bg1"/>
                </a:solidFill>
                <a:latin typeface="Arial" panose="020B0604020202020204" pitchFamily="34" charset="0"/>
              </a:defRPr>
            </a:lvl1pPr>
            <a:lvl2pPr marL="742950" indent="-285750" algn="ctr" eaLnBrk="0" hangingPunct="0">
              <a:defRPr sz="2800">
                <a:solidFill>
                  <a:schemeClr val="bg1"/>
                </a:solidFill>
                <a:latin typeface="Arial" panose="020B0604020202020204" pitchFamily="34" charset="0"/>
              </a:defRPr>
            </a:lvl2pPr>
            <a:lvl3pPr marL="1143000" indent="-228600" algn="ctr" eaLnBrk="0" hangingPunct="0">
              <a:defRPr sz="2800">
                <a:solidFill>
                  <a:schemeClr val="bg1"/>
                </a:solidFill>
                <a:latin typeface="Arial" panose="020B0604020202020204" pitchFamily="34" charset="0"/>
              </a:defRPr>
            </a:lvl3pPr>
            <a:lvl4pPr marL="1600200" indent="-228600" algn="ctr" eaLnBrk="0" hangingPunct="0">
              <a:defRPr sz="2800">
                <a:solidFill>
                  <a:schemeClr val="bg1"/>
                </a:solidFill>
                <a:latin typeface="Arial" panose="020B0604020202020204" pitchFamily="34" charset="0"/>
              </a:defRPr>
            </a:lvl4pPr>
            <a:lvl5pPr marL="2057400" indent="-228600" algn="ctr" eaLnBrk="0" hangingPunct="0">
              <a:defRPr sz="2800">
                <a:solidFill>
                  <a:schemeClr val="bg1"/>
                </a:solidFill>
                <a:latin typeface="Arial" panose="020B0604020202020204" pitchFamily="34" charset="0"/>
              </a:defRPr>
            </a:lvl5pPr>
            <a:lvl6pPr marL="2514600" indent="-228600" algn="ctr" eaLnBrk="0" fontAlgn="base" hangingPunct="0">
              <a:spcBef>
                <a:spcPct val="0"/>
              </a:spcBef>
              <a:spcAft>
                <a:spcPct val="0"/>
              </a:spcAft>
              <a:defRPr sz="2800">
                <a:solidFill>
                  <a:schemeClr val="bg1"/>
                </a:solidFill>
                <a:latin typeface="Arial" panose="020B0604020202020204" pitchFamily="34" charset="0"/>
              </a:defRPr>
            </a:lvl6pPr>
            <a:lvl7pPr marL="2971800" indent="-228600" algn="ctr" eaLnBrk="0" fontAlgn="base" hangingPunct="0">
              <a:spcBef>
                <a:spcPct val="0"/>
              </a:spcBef>
              <a:spcAft>
                <a:spcPct val="0"/>
              </a:spcAft>
              <a:defRPr sz="2800">
                <a:solidFill>
                  <a:schemeClr val="bg1"/>
                </a:solidFill>
                <a:latin typeface="Arial" panose="020B0604020202020204" pitchFamily="34" charset="0"/>
              </a:defRPr>
            </a:lvl7pPr>
            <a:lvl8pPr marL="3429000" indent="-228600" algn="ctr" eaLnBrk="0" fontAlgn="base" hangingPunct="0">
              <a:spcBef>
                <a:spcPct val="0"/>
              </a:spcBef>
              <a:spcAft>
                <a:spcPct val="0"/>
              </a:spcAft>
              <a:defRPr sz="2800">
                <a:solidFill>
                  <a:schemeClr val="bg1"/>
                </a:solidFill>
                <a:latin typeface="Arial" panose="020B0604020202020204" pitchFamily="34" charset="0"/>
              </a:defRPr>
            </a:lvl8pPr>
            <a:lvl9pPr marL="3886200" indent="-228600" algn="ctr" eaLnBrk="0" fontAlgn="base" hangingPunct="0">
              <a:spcBef>
                <a:spcPct val="0"/>
              </a:spcBef>
              <a:spcAft>
                <a:spcPct val="0"/>
              </a:spcAft>
              <a:defRPr sz="2800">
                <a:solidFill>
                  <a:schemeClr val="bg1"/>
                </a:solidFill>
                <a:latin typeface="Arial" panose="020B0604020202020204" pitchFamily="34" charset="0"/>
              </a:defRPr>
            </a:lvl9pPr>
          </a:lstStyle>
          <a:p>
            <a:pPr algn="l" eaLnBrk="1" hangingPunct="1"/>
            <a:r>
              <a:rPr lang="en-US" altLang="en-US" dirty="0">
                <a:solidFill>
                  <a:schemeClr val="tx1"/>
                </a:solidFill>
                <a:latin typeface="Times New Roman" panose="02020603050405020304" pitchFamily="18" charset="0"/>
                <a:cs typeface="Times New Roman" panose="02020603050405020304" pitchFamily="18" charset="0"/>
              </a:rPr>
              <a:t>A Turing Machine is represented by a 7-tuple </a:t>
            </a:r>
          </a:p>
          <a:p>
            <a:pPr algn="l" eaLnBrk="1" hangingPunct="1"/>
            <a:r>
              <a:rPr lang="en-US" altLang="en-US" dirty="0">
                <a:solidFill>
                  <a:schemeClr val="tx1"/>
                </a:solidFill>
                <a:latin typeface="Times New Roman" panose="02020603050405020304" pitchFamily="18" charset="0"/>
                <a:cs typeface="Times New Roman" panose="02020603050405020304" pitchFamily="18" charset="0"/>
              </a:rPr>
              <a:t>T = (Q, </a:t>
            </a:r>
            <a:r>
              <a:rPr lang="el-GR" altLang="en-US" dirty="0">
                <a:solidFill>
                  <a:schemeClr val="tx1"/>
                </a:solidFill>
                <a:latin typeface="Times New Roman" panose="02020603050405020304" pitchFamily="18" charset="0"/>
                <a:cs typeface="Times New Roman" panose="02020603050405020304" pitchFamily="18" charset="0"/>
              </a:rPr>
              <a:t>Σ</a:t>
            </a:r>
            <a:r>
              <a:rPr lang="en-US" altLang="en-US" dirty="0">
                <a:solidFill>
                  <a:schemeClr val="tx1"/>
                </a:solidFill>
                <a:latin typeface="Times New Roman" panose="02020603050405020304" pitchFamily="18" charset="0"/>
                <a:cs typeface="Times New Roman" panose="02020603050405020304" pitchFamily="18" charset="0"/>
              </a:rPr>
              <a:t>, </a:t>
            </a:r>
            <a:r>
              <a:rPr lang="el-GR" altLang="en-US"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Γ</a:t>
            </a:r>
            <a:r>
              <a:rPr lang="en-US" altLang="en-US"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 q</a:t>
            </a:r>
            <a:r>
              <a:rPr lang="en-US" altLang="en-US"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0</a:t>
            </a:r>
            <a:r>
              <a:rPr lang="en-US" altLang="en-US"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q</a:t>
            </a:r>
            <a:r>
              <a:rPr lang="en-US" altLang="en-US" baseline="-2500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accept</a:t>
            </a:r>
            <a:r>
              <a:rPr lang="en-US" altLang="en-US"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q</a:t>
            </a:r>
            <a:r>
              <a:rPr lang="en-US" altLang="en-US" baseline="-2500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reject</a:t>
            </a:r>
            <a:r>
              <a:rPr lang="en-US" altLang="en-US"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dirty="0">
                <a:solidFill>
                  <a:schemeClr val="tx1"/>
                </a:solidFill>
                <a:latin typeface="Times New Roman" panose="02020603050405020304" pitchFamily="18" charset="0"/>
                <a:cs typeface="Times New Roman" panose="02020603050405020304" pitchFamily="18" charset="0"/>
              </a:rPr>
              <a:t> </a:t>
            </a:r>
          </a:p>
        </p:txBody>
      </p:sp>
      <p:sp>
        <p:nvSpPr>
          <p:cNvPr id="14" name="Text Box 3">
            <a:extLst>
              <a:ext uri="{FF2B5EF4-FFF2-40B4-BE49-F238E27FC236}">
                <a16:creationId xmlns:a16="http://schemas.microsoft.com/office/drawing/2014/main" id="{A8C750EC-7E77-48F6-8FF1-A4B7EB01EC21}"/>
              </a:ext>
            </a:extLst>
          </p:cNvPr>
          <p:cNvSpPr txBox="1">
            <a:spLocks noChangeArrowheads="1"/>
          </p:cNvSpPr>
          <p:nvPr/>
        </p:nvSpPr>
        <p:spPr bwMode="auto">
          <a:xfrm>
            <a:off x="722313" y="2180908"/>
            <a:ext cx="36295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ctr" eaLnBrk="0" hangingPunct="0">
              <a:defRPr sz="2800">
                <a:solidFill>
                  <a:schemeClr val="bg1"/>
                </a:solidFill>
                <a:latin typeface="Arial" panose="020B0604020202020204" pitchFamily="34" charset="0"/>
              </a:defRPr>
            </a:lvl1pPr>
            <a:lvl2pPr marL="742950" indent="-285750" algn="ctr" eaLnBrk="0" hangingPunct="0">
              <a:defRPr sz="2800">
                <a:solidFill>
                  <a:schemeClr val="bg1"/>
                </a:solidFill>
                <a:latin typeface="Arial" panose="020B0604020202020204" pitchFamily="34" charset="0"/>
              </a:defRPr>
            </a:lvl2pPr>
            <a:lvl3pPr marL="1143000" indent="-228600" algn="ctr" eaLnBrk="0" hangingPunct="0">
              <a:defRPr sz="2800">
                <a:solidFill>
                  <a:schemeClr val="bg1"/>
                </a:solidFill>
                <a:latin typeface="Arial" panose="020B0604020202020204" pitchFamily="34" charset="0"/>
              </a:defRPr>
            </a:lvl3pPr>
            <a:lvl4pPr marL="1600200" indent="-228600" algn="ctr" eaLnBrk="0" hangingPunct="0">
              <a:defRPr sz="2800">
                <a:solidFill>
                  <a:schemeClr val="bg1"/>
                </a:solidFill>
                <a:latin typeface="Arial" panose="020B0604020202020204" pitchFamily="34" charset="0"/>
              </a:defRPr>
            </a:lvl4pPr>
            <a:lvl5pPr marL="2057400" indent="-228600" algn="ctr" eaLnBrk="0" hangingPunct="0">
              <a:defRPr sz="2800">
                <a:solidFill>
                  <a:schemeClr val="bg1"/>
                </a:solidFill>
                <a:latin typeface="Arial" panose="020B0604020202020204" pitchFamily="34" charset="0"/>
              </a:defRPr>
            </a:lvl5pPr>
            <a:lvl6pPr marL="2514600" indent="-228600" algn="ctr" eaLnBrk="0" fontAlgn="base" hangingPunct="0">
              <a:spcBef>
                <a:spcPct val="0"/>
              </a:spcBef>
              <a:spcAft>
                <a:spcPct val="0"/>
              </a:spcAft>
              <a:defRPr sz="2800">
                <a:solidFill>
                  <a:schemeClr val="bg1"/>
                </a:solidFill>
                <a:latin typeface="Arial" panose="020B0604020202020204" pitchFamily="34" charset="0"/>
              </a:defRPr>
            </a:lvl6pPr>
            <a:lvl7pPr marL="2971800" indent="-228600" algn="ctr" eaLnBrk="0" fontAlgn="base" hangingPunct="0">
              <a:spcBef>
                <a:spcPct val="0"/>
              </a:spcBef>
              <a:spcAft>
                <a:spcPct val="0"/>
              </a:spcAft>
              <a:defRPr sz="2800">
                <a:solidFill>
                  <a:schemeClr val="bg1"/>
                </a:solidFill>
                <a:latin typeface="Arial" panose="020B0604020202020204" pitchFamily="34" charset="0"/>
              </a:defRPr>
            </a:lvl7pPr>
            <a:lvl8pPr marL="3429000" indent="-228600" algn="ctr" eaLnBrk="0" fontAlgn="base" hangingPunct="0">
              <a:spcBef>
                <a:spcPct val="0"/>
              </a:spcBef>
              <a:spcAft>
                <a:spcPct val="0"/>
              </a:spcAft>
              <a:defRPr sz="2800">
                <a:solidFill>
                  <a:schemeClr val="bg1"/>
                </a:solidFill>
                <a:latin typeface="Arial" panose="020B0604020202020204" pitchFamily="34" charset="0"/>
              </a:defRPr>
            </a:lvl8pPr>
            <a:lvl9pPr marL="3886200" indent="-228600" algn="ctr" eaLnBrk="0" fontAlgn="base" hangingPunct="0">
              <a:spcBef>
                <a:spcPct val="0"/>
              </a:spcBef>
              <a:spcAft>
                <a:spcPct val="0"/>
              </a:spcAft>
              <a:defRPr sz="2800">
                <a:solidFill>
                  <a:schemeClr val="bg1"/>
                </a:solidFill>
                <a:latin typeface="Arial" panose="020B0604020202020204" pitchFamily="34" charset="0"/>
              </a:defRPr>
            </a:lvl9pPr>
          </a:lstStyle>
          <a:p>
            <a:pPr algn="l" eaLnBrk="1" hangingPunct="1"/>
            <a:r>
              <a:rPr lang="en-US" altLang="en-US" dirty="0">
                <a:solidFill>
                  <a:schemeClr val="tx1"/>
                </a:solidFill>
                <a:latin typeface="Times New Roman" panose="02020603050405020304" pitchFamily="18" charset="0"/>
                <a:cs typeface="Times New Roman" panose="02020603050405020304" pitchFamily="18" charset="0"/>
              </a:rPr>
              <a:t>Q is a finite set of states</a:t>
            </a:r>
          </a:p>
        </p:txBody>
      </p:sp>
      <p:sp>
        <p:nvSpPr>
          <p:cNvPr id="15" name="Text Box 4">
            <a:extLst>
              <a:ext uri="{FF2B5EF4-FFF2-40B4-BE49-F238E27FC236}">
                <a16:creationId xmlns:a16="http://schemas.microsoft.com/office/drawing/2014/main" id="{EDEA6EFF-5B5D-47C2-8933-306674C6080F}"/>
              </a:ext>
            </a:extLst>
          </p:cNvPr>
          <p:cNvSpPr txBox="1">
            <a:spLocks noChangeArrowheads="1"/>
          </p:cNvSpPr>
          <p:nvPr/>
        </p:nvSpPr>
        <p:spPr bwMode="auto">
          <a:xfrm>
            <a:off x="722313" y="3447733"/>
            <a:ext cx="66720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ctr" eaLnBrk="0" hangingPunct="0">
              <a:defRPr sz="2800">
                <a:solidFill>
                  <a:schemeClr val="bg1"/>
                </a:solidFill>
                <a:latin typeface="Arial" panose="020B0604020202020204" pitchFamily="34" charset="0"/>
              </a:defRPr>
            </a:lvl1pPr>
            <a:lvl2pPr marL="742950" indent="-285750" algn="ctr" eaLnBrk="0" hangingPunct="0">
              <a:defRPr sz="2800">
                <a:solidFill>
                  <a:schemeClr val="bg1"/>
                </a:solidFill>
                <a:latin typeface="Arial" panose="020B0604020202020204" pitchFamily="34" charset="0"/>
              </a:defRPr>
            </a:lvl2pPr>
            <a:lvl3pPr marL="1143000" indent="-228600" algn="ctr" eaLnBrk="0" hangingPunct="0">
              <a:defRPr sz="2800">
                <a:solidFill>
                  <a:schemeClr val="bg1"/>
                </a:solidFill>
                <a:latin typeface="Arial" panose="020B0604020202020204" pitchFamily="34" charset="0"/>
              </a:defRPr>
            </a:lvl3pPr>
            <a:lvl4pPr marL="1600200" indent="-228600" algn="ctr" eaLnBrk="0" hangingPunct="0">
              <a:defRPr sz="2800">
                <a:solidFill>
                  <a:schemeClr val="bg1"/>
                </a:solidFill>
                <a:latin typeface="Arial" panose="020B0604020202020204" pitchFamily="34" charset="0"/>
              </a:defRPr>
            </a:lvl4pPr>
            <a:lvl5pPr marL="2057400" indent="-228600" algn="ctr" eaLnBrk="0" hangingPunct="0">
              <a:defRPr sz="2800">
                <a:solidFill>
                  <a:schemeClr val="bg1"/>
                </a:solidFill>
                <a:latin typeface="Arial" panose="020B0604020202020204" pitchFamily="34" charset="0"/>
              </a:defRPr>
            </a:lvl5pPr>
            <a:lvl6pPr marL="2514600" indent="-228600" algn="ctr" eaLnBrk="0" fontAlgn="base" hangingPunct="0">
              <a:spcBef>
                <a:spcPct val="0"/>
              </a:spcBef>
              <a:spcAft>
                <a:spcPct val="0"/>
              </a:spcAft>
              <a:defRPr sz="2800">
                <a:solidFill>
                  <a:schemeClr val="bg1"/>
                </a:solidFill>
                <a:latin typeface="Arial" panose="020B0604020202020204" pitchFamily="34" charset="0"/>
              </a:defRPr>
            </a:lvl6pPr>
            <a:lvl7pPr marL="2971800" indent="-228600" algn="ctr" eaLnBrk="0" fontAlgn="base" hangingPunct="0">
              <a:spcBef>
                <a:spcPct val="0"/>
              </a:spcBef>
              <a:spcAft>
                <a:spcPct val="0"/>
              </a:spcAft>
              <a:defRPr sz="2800">
                <a:solidFill>
                  <a:schemeClr val="bg1"/>
                </a:solidFill>
                <a:latin typeface="Arial" panose="020B0604020202020204" pitchFamily="34" charset="0"/>
              </a:defRPr>
            </a:lvl7pPr>
            <a:lvl8pPr marL="3429000" indent="-228600" algn="ctr" eaLnBrk="0" fontAlgn="base" hangingPunct="0">
              <a:spcBef>
                <a:spcPct val="0"/>
              </a:spcBef>
              <a:spcAft>
                <a:spcPct val="0"/>
              </a:spcAft>
              <a:defRPr sz="2800">
                <a:solidFill>
                  <a:schemeClr val="bg1"/>
                </a:solidFill>
                <a:latin typeface="Arial" panose="020B0604020202020204" pitchFamily="34" charset="0"/>
              </a:defRPr>
            </a:lvl8pPr>
            <a:lvl9pPr marL="3886200" indent="-228600" algn="ctr" eaLnBrk="0" fontAlgn="base" hangingPunct="0">
              <a:spcBef>
                <a:spcPct val="0"/>
              </a:spcBef>
              <a:spcAft>
                <a:spcPct val="0"/>
              </a:spcAft>
              <a:defRPr sz="2800">
                <a:solidFill>
                  <a:schemeClr val="bg1"/>
                </a:solidFill>
                <a:latin typeface="Arial" panose="020B0604020202020204" pitchFamily="34" charset="0"/>
              </a:defRPr>
            </a:lvl9pPr>
          </a:lstStyle>
          <a:p>
            <a:pPr algn="l" eaLnBrk="1" hangingPunct="1"/>
            <a:r>
              <a:rPr lang="el-GR" altLang="en-US" dirty="0">
                <a:solidFill>
                  <a:schemeClr val="tx1"/>
                </a:solidFill>
                <a:latin typeface="Times New Roman" panose="02020603050405020304" pitchFamily="18" charset="0"/>
                <a:cs typeface="Times New Roman" panose="02020603050405020304" pitchFamily="18" charset="0"/>
              </a:rPr>
              <a:t>Γ</a:t>
            </a:r>
            <a:r>
              <a:rPr lang="en-US" altLang="en-US" dirty="0">
                <a:solidFill>
                  <a:schemeClr val="tx1"/>
                </a:solidFill>
                <a:latin typeface="Times New Roman" panose="02020603050405020304" pitchFamily="18" charset="0"/>
                <a:cs typeface="Times New Roman" panose="02020603050405020304" pitchFamily="18" charset="0"/>
              </a:rPr>
              <a:t> is the tape alphabet, a superset of </a:t>
            </a:r>
            <a:r>
              <a:rPr lang="el-GR" altLang="en-US" dirty="0">
                <a:solidFill>
                  <a:schemeClr val="tx1"/>
                </a:solidFill>
                <a:latin typeface="Times New Roman" panose="02020603050405020304" pitchFamily="18" charset="0"/>
                <a:cs typeface="Times New Roman" panose="02020603050405020304" pitchFamily="18" charset="0"/>
              </a:rPr>
              <a:t>Σ</a:t>
            </a:r>
            <a:r>
              <a:rPr lang="en-US" altLang="en-US"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Z</a:t>
            </a:r>
            <a:r>
              <a:rPr lang="en-US" altLang="en-US" baseline="-25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0 </a:t>
            </a:r>
            <a:r>
              <a:rPr lang="en-US" altLang="en-US"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l-GR" altLang="en-US" dirty="0">
                <a:solidFill>
                  <a:schemeClr val="tx1"/>
                </a:solidFill>
                <a:latin typeface="Times New Roman" panose="02020603050405020304" pitchFamily="18" charset="0"/>
                <a:cs typeface="Times New Roman" panose="02020603050405020304" pitchFamily="18" charset="0"/>
              </a:rPr>
              <a:t>Γ</a:t>
            </a:r>
            <a:endParaRPr lang="en-US" altLang="en-US" dirty="0">
              <a:solidFill>
                <a:schemeClr val="tx1"/>
              </a:solidFill>
              <a:latin typeface="Times New Roman" panose="02020603050405020304" pitchFamily="18" charset="0"/>
              <a:cs typeface="Times New Roman" panose="02020603050405020304" pitchFamily="18" charset="0"/>
            </a:endParaRPr>
          </a:p>
        </p:txBody>
      </p:sp>
      <p:sp>
        <p:nvSpPr>
          <p:cNvPr id="16" name="Text Box 5">
            <a:extLst>
              <a:ext uri="{FF2B5EF4-FFF2-40B4-BE49-F238E27FC236}">
                <a16:creationId xmlns:a16="http://schemas.microsoft.com/office/drawing/2014/main" id="{1F6DF040-9FF4-485F-AF52-199C6CA1EDDA}"/>
              </a:ext>
            </a:extLst>
          </p:cNvPr>
          <p:cNvSpPr txBox="1">
            <a:spLocks noChangeArrowheads="1"/>
          </p:cNvSpPr>
          <p:nvPr/>
        </p:nvSpPr>
        <p:spPr bwMode="auto">
          <a:xfrm>
            <a:off x="722313" y="4714558"/>
            <a:ext cx="35782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ctr" eaLnBrk="0" hangingPunct="0">
              <a:defRPr sz="2800">
                <a:solidFill>
                  <a:schemeClr val="bg1"/>
                </a:solidFill>
                <a:latin typeface="Arial" panose="020B0604020202020204" pitchFamily="34" charset="0"/>
              </a:defRPr>
            </a:lvl1pPr>
            <a:lvl2pPr marL="742950" indent="-285750" algn="ctr" eaLnBrk="0" hangingPunct="0">
              <a:defRPr sz="2800">
                <a:solidFill>
                  <a:schemeClr val="bg1"/>
                </a:solidFill>
                <a:latin typeface="Arial" panose="020B0604020202020204" pitchFamily="34" charset="0"/>
              </a:defRPr>
            </a:lvl2pPr>
            <a:lvl3pPr marL="1143000" indent="-228600" algn="ctr" eaLnBrk="0" hangingPunct="0">
              <a:defRPr sz="2800">
                <a:solidFill>
                  <a:schemeClr val="bg1"/>
                </a:solidFill>
                <a:latin typeface="Arial" panose="020B0604020202020204" pitchFamily="34" charset="0"/>
              </a:defRPr>
            </a:lvl3pPr>
            <a:lvl4pPr marL="1600200" indent="-228600" algn="ctr" eaLnBrk="0" hangingPunct="0">
              <a:defRPr sz="2800">
                <a:solidFill>
                  <a:schemeClr val="bg1"/>
                </a:solidFill>
                <a:latin typeface="Arial" panose="020B0604020202020204" pitchFamily="34" charset="0"/>
              </a:defRPr>
            </a:lvl4pPr>
            <a:lvl5pPr marL="2057400" indent="-228600" algn="ctr" eaLnBrk="0" hangingPunct="0">
              <a:defRPr sz="2800">
                <a:solidFill>
                  <a:schemeClr val="bg1"/>
                </a:solidFill>
                <a:latin typeface="Arial" panose="020B0604020202020204" pitchFamily="34" charset="0"/>
              </a:defRPr>
            </a:lvl5pPr>
            <a:lvl6pPr marL="2514600" indent="-228600" algn="ctr" eaLnBrk="0" fontAlgn="base" hangingPunct="0">
              <a:spcBef>
                <a:spcPct val="0"/>
              </a:spcBef>
              <a:spcAft>
                <a:spcPct val="0"/>
              </a:spcAft>
              <a:defRPr sz="2800">
                <a:solidFill>
                  <a:schemeClr val="bg1"/>
                </a:solidFill>
                <a:latin typeface="Arial" panose="020B0604020202020204" pitchFamily="34" charset="0"/>
              </a:defRPr>
            </a:lvl6pPr>
            <a:lvl7pPr marL="2971800" indent="-228600" algn="ctr" eaLnBrk="0" fontAlgn="base" hangingPunct="0">
              <a:spcBef>
                <a:spcPct val="0"/>
              </a:spcBef>
              <a:spcAft>
                <a:spcPct val="0"/>
              </a:spcAft>
              <a:defRPr sz="2800">
                <a:solidFill>
                  <a:schemeClr val="bg1"/>
                </a:solidFill>
                <a:latin typeface="Arial" panose="020B0604020202020204" pitchFamily="34" charset="0"/>
              </a:defRPr>
            </a:lvl7pPr>
            <a:lvl8pPr marL="3429000" indent="-228600" algn="ctr" eaLnBrk="0" fontAlgn="base" hangingPunct="0">
              <a:spcBef>
                <a:spcPct val="0"/>
              </a:spcBef>
              <a:spcAft>
                <a:spcPct val="0"/>
              </a:spcAft>
              <a:defRPr sz="2800">
                <a:solidFill>
                  <a:schemeClr val="bg1"/>
                </a:solidFill>
                <a:latin typeface="Arial" panose="020B0604020202020204" pitchFamily="34" charset="0"/>
              </a:defRPr>
            </a:lvl8pPr>
            <a:lvl9pPr marL="3886200" indent="-228600" algn="ctr" eaLnBrk="0" fontAlgn="base" hangingPunct="0">
              <a:spcBef>
                <a:spcPct val="0"/>
              </a:spcBef>
              <a:spcAft>
                <a:spcPct val="0"/>
              </a:spcAft>
              <a:defRPr sz="2800">
                <a:solidFill>
                  <a:schemeClr val="bg1"/>
                </a:solidFill>
                <a:latin typeface="Arial" panose="020B0604020202020204" pitchFamily="34" charset="0"/>
              </a:defRPr>
            </a:lvl9pPr>
          </a:lstStyle>
          <a:p>
            <a:pPr algn="l" eaLnBrk="1" hangingPunct="1"/>
            <a:r>
              <a:rPr lang="en-US" altLang="en-US">
                <a:solidFill>
                  <a:schemeClr val="tx1"/>
                </a:solidFill>
                <a:latin typeface="Times New Roman" panose="02020603050405020304" pitchFamily="18" charset="0"/>
                <a:cs typeface="Times New Roman" panose="02020603050405020304" pitchFamily="18" charset="0"/>
              </a:rPr>
              <a:t>q</a:t>
            </a:r>
            <a:r>
              <a:rPr lang="en-US" altLang="en-US" baseline="-25000">
                <a:solidFill>
                  <a:schemeClr val="tx1"/>
                </a:solidFill>
                <a:latin typeface="Times New Roman" panose="02020603050405020304" pitchFamily="18" charset="0"/>
                <a:cs typeface="Times New Roman" panose="02020603050405020304" pitchFamily="18" charset="0"/>
              </a:rPr>
              <a:t>0</a:t>
            </a:r>
            <a:r>
              <a:rPr lang="en-US" altLang="en-US">
                <a:solidFill>
                  <a:schemeClr val="tx1"/>
                </a:solidFill>
                <a:latin typeface="Times New Roman" panose="02020603050405020304" pitchFamily="18" charset="0"/>
                <a:cs typeface="Times New Roman" panose="02020603050405020304" pitchFamily="18" charset="0"/>
              </a:rPr>
              <a:t> </a:t>
            </a:r>
            <a:r>
              <a:rPr lang="en-US" altLang="en-US">
                <a:solidFill>
                  <a:schemeClr val="tx1"/>
                </a:solidFill>
                <a:latin typeface="Times New Roman" panose="02020603050405020304" pitchFamily="18" charset="0"/>
                <a:cs typeface="Times New Roman" panose="02020603050405020304" pitchFamily="18" charset="0"/>
                <a:sym typeface="Symbol" panose="05050102010706020507" pitchFamily="18" charset="2"/>
              </a:rPr>
              <a:t> Q  is the start state</a:t>
            </a:r>
          </a:p>
        </p:txBody>
      </p:sp>
      <p:sp>
        <p:nvSpPr>
          <p:cNvPr id="17" name="Text Box 7">
            <a:extLst>
              <a:ext uri="{FF2B5EF4-FFF2-40B4-BE49-F238E27FC236}">
                <a16:creationId xmlns:a16="http://schemas.microsoft.com/office/drawing/2014/main" id="{E78C6747-3AE9-4042-87C0-44DF3981C794}"/>
              </a:ext>
            </a:extLst>
          </p:cNvPr>
          <p:cNvSpPr txBox="1">
            <a:spLocks noChangeArrowheads="1"/>
          </p:cNvSpPr>
          <p:nvPr/>
        </p:nvSpPr>
        <p:spPr bwMode="auto">
          <a:xfrm>
            <a:off x="722313" y="2814320"/>
            <a:ext cx="56589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ctr" eaLnBrk="0" hangingPunct="0">
              <a:defRPr sz="2800">
                <a:solidFill>
                  <a:schemeClr val="bg1"/>
                </a:solidFill>
                <a:latin typeface="Arial" panose="020B0604020202020204" pitchFamily="34" charset="0"/>
              </a:defRPr>
            </a:lvl1pPr>
            <a:lvl2pPr marL="742950" indent="-285750" algn="ctr" eaLnBrk="0" hangingPunct="0">
              <a:defRPr sz="2800">
                <a:solidFill>
                  <a:schemeClr val="bg1"/>
                </a:solidFill>
                <a:latin typeface="Arial" panose="020B0604020202020204" pitchFamily="34" charset="0"/>
              </a:defRPr>
            </a:lvl2pPr>
            <a:lvl3pPr marL="1143000" indent="-228600" algn="ctr" eaLnBrk="0" hangingPunct="0">
              <a:defRPr sz="2800">
                <a:solidFill>
                  <a:schemeClr val="bg1"/>
                </a:solidFill>
                <a:latin typeface="Arial" panose="020B0604020202020204" pitchFamily="34" charset="0"/>
              </a:defRPr>
            </a:lvl3pPr>
            <a:lvl4pPr marL="1600200" indent="-228600" algn="ctr" eaLnBrk="0" hangingPunct="0">
              <a:defRPr sz="2800">
                <a:solidFill>
                  <a:schemeClr val="bg1"/>
                </a:solidFill>
                <a:latin typeface="Arial" panose="020B0604020202020204" pitchFamily="34" charset="0"/>
              </a:defRPr>
            </a:lvl4pPr>
            <a:lvl5pPr marL="2057400" indent="-228600" algn="ctr" eaLnBrk="0" hangingPunct="0">
              <a:defRPr sz="2800">
                <a:solidFill>
                  <a:schemeClr val="bg1"/>
                </a:solidFill>
                <a:latin typeface="Arial" panose="020B0604020202020204" pitchFamily="34" charset="0"/>
              </a:defRPr>
            </a:lvl5pPr>
            <a:lvl6pPr marL="2514600" indent="-228600" algn="ctr" eaLnBrk="0" fontAlgn="base" hangingPunct="0">
              <a:spcBef>
                <a:spcPct val="0"/>
              </a:spcBef>
              <a:spcAft>
                <a:spcPct val="0"/>
              </a:spcAft>
              <a:defRPr sz="2800">
                <a:solidFill>
                  <a:schemeClr val="bg1"/>
                </a:solidFill>
                <a:latin typeface="Arial" panose="020B0604020202020204" pitchFamily="34" charset="0"/>
              </a:defRPr>
            </a:lvl6pPr>
            <a:lvl7pPr marL="2971800" indent="-228600" algn="ctr" eaLnBrk="0" fontAlgn="base" hangingPunct="0">
              <a:spcBef>
                <a:spcPct val="0"/>
              </a:spcBef>
              <a:spcAft>
                <a:spcPct val="0"/>
              </a:spcAft>
              <a:defRPr sz="2800">
                <a:solidFill>
                  <a:schemeClr val="bg1"/>
                </a:solidFill>
                <a:latin typeface="Arial" panose="020B0604020202020204" pitchFamily="34" charset="0"/>
              </a:defRPr>
            </a:lvl7pPr>
            <a:lvl8pPr marL="3429000" indent="-228600" algn="ctr" eaLnBrk="0" fontAlgn="base" hangingPunct="0">
              <a:spcBef>
                <a:spcPct val="0"/>
              </a:spcBef>
              <a:spcAft>
                <a:spcPct val="0"/>
              </a:spcAft>
              <a:defRPr sz="2800">
                <a:solidFill>
                  <a:schemeClr val="bg1"/>
                </a:solidFill>
                <a:latin typeface="Arial" panose="020B0604020202020204" pitchFamily="34" charset="0"/>
              </a:defRPr>
            </a:lvl8pPr>
            <a:lvl9pPr marL="3886200" indent="-228600" algn="ctr" eaLnBrk="0" fontAlgn="base" hangingPunct="0">
              <a:spcBef>
                <a:spcPct val="0"/>
              </a:spcBef>
              <a:spcAft>
                <a:spcPct val="0"/>
              </a:spcAft>
              <a:defRPr sz="2800">
                <a:solidFill>
                  <a:schemeClr val="bg1"/>
                </a:solidFill>
                <a:latin typeface="Arial" panose="020B0604020202020204" pitchFamily="34" charset="0"/>
              </a:defRPr>
            </a:lvl9pPr>
          </a:lstStyle>
          <a:p>
            <a:pPr algn="l" eaLnBrk="1" hangingPunct="1"/>
            <a:r>
              <a:rPr lang="el-GR" altLang="en-US" dirty="0">
                <a:solidFill>
                  <a:schemeClr val="tx1"/>
                </a:solidFill>
                <a:latin typeface="Times New Roman" panose="02020603050405020304" pitchFamily="18" charset="0"/>
                <a:cs typeface="Times New Roman" panose="02020603050405020304" pitchFamily="18" charset="0"/>
              </a:rPr>
              <a:t>Σ</a:t>
            </a:r>
            <a:r>
              <a:rPr lang="en-US" altLang="en-US" dirty="0">
                <a:solidFill>
                  <a:schemeClr val="tx1"/>
                </a:solidFill>
                <a:latin typeface="Times New Roman" panose="02020603050405020304" pitchFamily="18" charset="0"/>
                <a:cs typeface="Times New Roman" panose="02020603050405020304" pitchFamily="18" charset="0"/>
              </a:rPr>
              <a:t> is the input alphabet, where </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Z</a:t>
            </a:r>
            <a:r>
              <a:rPr lang="en-US" altLang="en-US" baseline="-25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0</a:t>
            </a:r>
            <a:r>
              <a:rPr lang="en-US" altLang="en-US"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l-GR" altLang="en-US" dirty="0">
                <a:solidFill>
                  <a:schemeClr val="tx1"/>
                </a:solidFill>
                <a:latin typeface="Times New Roman" panose="02020603050405020304" pitchFamily="18" charset="0"/>
                <a:cs typeface="Times New Roman" panose="02020603050405020304" pitchFamily="18" charset="0"/>
              </a:rPr>
              <a:t>Σ</a:t>
            </a:r>
            <a:r>
              <a:rPr lang="en-US" altLang="en-US"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p>
        </p:txBody>
      </p:sp>
      <p:sp>
        <p:nvSpPr>
          <p:cNvPr id="18" name="Text Box 10">
            <a:extLst>
              <a:ext uri="{FF2B5EF4-FFF2-40B4-BE49-F238E27FC236}">
                <a16:creationId xmlns:a16="http://schemas.microsoft.com/office/drawing/2014/main" id="{F14CB484-3FDF-49FB-A00E-671568A051DE}"/>
              </a:ext>
            </a:extLst>
          </p:cNvPr>
          <p:cNvSpPr txBox="1">
            <a:spLocks noChangeArrowheads="1"/>
          </p:cNvSpPr>
          <p:nvPr/>
        </p:nvSpPr>
        <p:spPr bwMode="auto">
          <a:xfrm>
            <a:off x="722313" y="5347970"/>
            <a:ext cx="436369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ctr" eaLnBrk="0" hangingPunct="0">
              <a:defRPr sz="2800">
                <a:solidFill>
                  <a:schemeClr val="bg1"/>
                </a:solidFill>
                <a:latin typeface="Arial" panose="020B0604020202020204" pitchFamily="34" charset="0"/>
              </a:defRPr>
            </a:lvl1pPr>
            <a:lvl2pPr marL="742950" indent="-285750" algn="ctr" eaLnBrk="0" hangingPunct="0">
              <a:defRPr sz="2800">
                <a:solidFill>
                  <a:schemeClr val="bg1"/>
                </a:solidFill>
                <a:latin typeface="Arial" panose="020B0604020202020204" pitchFamily="34" charset="0"/>
              </a:defRPr>
            </a:lvl2pPr>
            <a:lvl3pPr marL="1143000" indent="-228600" algn="ctr" eaLnBrk="0" hangingPunct="0">
              <a:defRPr sz="2800">
                <a:solidFill>
                  <a:schemeClr val="bg1"/>
                </a:solidFill>
                <a:latin typeface="Arial" panose="020B0604020202020204" pitchFamily="34" charset="0"/>
              </a:defRPr>
            </a:lvl3pPr>
            <a:lvl4pPr marL="1600200" indent="-228600" algn="ctr" eaLnBrk="0" hangingPunct="0">
              <a:defRPr sz="2800">
                <a:solidFill>
                  <a:schemeClr val="bg1"/>
                </a:solidFill>
                <a:latin typeface="Arial" panose="020B0604020202020204" pitchFamily="34" charset="0"/>
              </a:defRPr>
            </a:lvl4pPr>
            <a:lvl5pPr marL="2057400" indent="-228600" algn="ctr" eaLnBrk="0" hangingPunct="0">
              <a:defRPr sz="2800">
                <a:solidFill>
                  <a:schemeClr val="bg1"/>
                </a:solidFill>
                <a:latin typeface="Arial" panose="020B0604020202020204" pitchFamily="34" charset="0"/>
              </a:defRPr>
            </a:lvl5pPr>
            <a:lvl6pPr marL="2514600" indent="-228600" algn="ctr" eaLnBrk="0" fontAlgn="base" hangingPunct="0">
              <a:spcBef>
                <a:spcPct val="0"/>
              </a:spcBef>
              <a:spcAft>
                <a:spcPct val="0"/>
              </a:spcAft>
              <a:defRPr sz="2800">
                <a:solidFill>
                  <a:schemeClr val="bg1"/>
                </a:solidFill>
                <a:latin typeface="Arial" panose="020B0604020202020204" pitchFamily="34" charset="0"/>
              </a:defRPr>
            </a:lvl6pPr>
            <a:lvl7pPr marL="2971800" indent="-228600" algn="ctr" eaLnBrk="0" fontAlgn="base" hangingPunct="0">
              <a:spcBef>
                <a:spcPct val="0"/>
              </a:spcBef>
              <a:spcAft>
                <a:spcPct val="0"/>
              </a:spcAft>
              <a:defRPr sz="2800">
                <a:solidFill>
                  <a:schemeClr val="bg1"/>
                </a:solidFill>
                <a:latin typeface="Arial" panose="020B0604020202020204" pitchFamily="34" charset="0"/>
              </a:defRPr>
            </a:lvl7pPr>
            <a:lvl8pPr marL="3429000" indent="-228600" algn="ctr" eaLnBrk="0" fontAlgn="base" hangingPunct="0">
              <a:spcBef>
                <a:spcPct val="0"/>
              </a:spcBef>
              <a:spcAft>
                <a:spcPct val="0"/>
              </a:spcAft>
              <a:defRPr sz="2800">
                <a:solidFill>
                  <a:schemeClr val="bg1"/>
                </a:solidFill>
                <a:latin typeface="Arial" panose="020B0604020202020204" pitchFamily="34" charset="0"/>
              </a:defRPr>
            </a:lvl8pPr>
            <a:lvl9pPr marL="3886200" indent="-228600" algn="ctr" eaLnBrk="0" fontAlgn="base" hangingPunct="0">
              <a:spcBef>
                <a:spcPct val="0"/>
              </a:spcBef>
              <a:spcAft>
                <a:spcPct val="0"/>
              </a:spcAft>
              <a:defRPr sz="2800">
                <a:solidFill>
                  <a:schemeClr val="bg1"/>
                </a:solidFill>
                <a:latin typeface="Arial" panose="020B0604020202020204" pitchFamily="34" charset="0"/>
              </a:defRPr>
            </a:lvl9pPr>
          </a:lstStyle>
          <a:p>
            <a:pPr algn="l" eaLnBrk="1" hangingPunct="1"/>
            <a:r>
              <a:rPr lang="en-US" altLang="en-US">
                <a:solidFill>
                  <a:schemeClr val="tx1"/>
                </a:solidFill>
                <a:latin typeface="Times New Roman" panose="02020603050405020304" pitchFamily="18" charset="0"/>
                <a:cs typeface="Times New Roman" panose="02020603050405020304" pitchFamily="18" charset="0"/>
              </a:rPr>
              <a:t>q</a:t>
            </a:r>
            <a:r>
              <a:rPr lang="en-US" altLang="en-US" baseline="-25000">
                <a:solidFill>
                  <a:schemeClr val="tx1"/>
                </a:solidFill>
                <a:latin typeface="Times New Roman" panose="02020603050405020304" pitchFamily="18" charset="0"/>
                <a:cs typeface="Times New Roman" panose="02020603050405020304" pitchFamily="18" charset="0"/>
              </a:rPr>
              <a:t>accept</a:t>
            </a:r>
            <a:r>
              <a:rPr lang="en-US" altLang="en-US">
                <a:solidFill>
                  <a:schemeClr val="tx1"/>
                </a:solidFill>
                <a:latin typeface="Times New Roman" panose="02020603050405020304" pitchFamily="18" charset="0"/>
                <a:cs typeface="Times New Roman" panose="02020603050405020304" pitchFamily="18" charset="0"/>
              </a:rPr>
              <a:t> </a:t>
            </a:r>
            <a:r>
              <a:rPr lang="en-US" altLang="en-US">
                <a:solidFill>
                  <a:schemeClr val="tx1"/>
                </a:solidFill>
                <a:latin typeface="Times New Roman" panose="02020603050405020304" pitchFamily="18" charset="0"/>
                <a:cs typeface="Times New Roman" panose="02020603050405020304" pitchFamily="18" charset="0"/>
                <a:sym typeface="Symbol" panose="05050102010706020507" pitchFamily="18" charset="2"/>
              </a:rPr>
              <a:t> Q  is the accept state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1524000" y="1"/>
            <a:ext cx="9144000" cy="1056237"/>
          </a:xfrm>
        </p:spPr>
        <p:txBody>
          <a:bodyPr/>
          <a:lstStyle/>
          <a:p>
            <a:pPr eaLnBrk="1" hangingPunct="1"/>
            <a:r>
              <a:rPr lang="en-US" dirty="0">
                <a:solidFill>
                  <a:srgbClr val="0070C0"/>
                </a:solidFill>
                <a:latin typeface="Times New Roman" pitchFamily="18" charset="0"/>
                <a:cs typeface="Times New Roman" pitchFamily="18" charset="0"/>
              </a:rPr>
              <a:t>       </a:t>
            </a:r>
            <a:r>
              <a:rPr lang="en-US" sz="3600" dirty="0">
                <a:solidFill>
                  <a:srgbClr val="0070C0"/>
                </a:solidFill>
                <a:latin typeface="Times New Roman" pitchFamily="18" charset="0"/>
                <a:cs typeface="Times New Roman" pitchFamily="18" charset="0"/>
              </a:rPr>
              <a:t>Solvable and Semi-Solvable Problems</a:t>
            </a:r>
          </a:p>
        </p:txBody>
      </p:sp>
      <p:sp>
        <p:nvSpPr>
          <p:cNvPr id="3" name="Subtitle 2"/>
          <p:cNvSpPr>
            <a:spLocks noGrp="1"/>
          </p:cNvSpPr>
          <p:nvPr>
            <p:ph type="subTitle" idx="1"/>
          </p:nvPr>
        </p:nvSpPr>
        <p:spPr>
          <a:xfrm>
            <a:off x="1524000" y="1447800"/>
            <a:ext cx="9144000" cy="5410200"/>
          </a:xfrm>
        </p:spPr>
        <p:txBody>
          <a:bodyPr rtlCol="0">
            <a:normAutofit/>
          </a:bodyPr>
          <a:lstStyle/>
          <a:p>
            <a:pPr algn="just">
              <a:lnSpc>
                <a:spcPct val="80000"/>
              </a:lnSpc>
              <a:buFont typeface="Arial" pitchFamily="34" charset="0"/>
              <a:buChar char="•"/>
              <a:defRPr/>
            </a:pPr>
            <a:endParaRPr lang="en-US" sz="2000" dirty="0">
              <a:solidFill>
                <a:srgbClr val="006600"/>
              </a:solidFill>
            </a:endParaRPr>
          </a:p>
          <a:p>
            <a:pPr algn="just">
              <a:buFont typeface="Arial" pitchFamily="34" charset="0"/>
              <a:buChar char="•"/>
              <a:defRPr/>
            </a:pPr>
            <a:endParaRPr lang="en-US" dirty="0"/>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136913"/>
            <a:ext cx="1143000" cy="782411"/>
          </a:xfrm>
          <a:prstGeom prst="rect">
            <a:avLst/>
          </a:prstGeom>
        </p:spPr>
      </p:pic>
      <p:sp>
        <p:nvSpPr>
          <p:cNvPr id="12" name="object 5"/>
          <p:cNvSpPr txBox="1"/>
          <p:nvPr/>
        </p:nvSpPr>
        <p:spPr>
          <a:xfrm>
            <a:off x="1097280" y="1231350"/>
            <a:ext cx="9441180" cy="4629472"/>
          </a:xfrm>
          <a:prstGeom prst="rect">
            <a:avLst/>
          </a:prstGeom>
        </p:spPr>
        <p:txBody>
          <a:bodyPr vert="horz" wrap="square" lIns="0" tIns="12700" rIns="0" bIns="0" rtlCol="0">
            <a:spAutoFit/>
          </a:bodyPr>
          <a:lstStyle/>
          <a:p>
            <a:pPr marL="12700">
              <a:spcBef>
                <a:spcPts val="100"/>
              </a:spcBef>
              <a:tabLst>
                <a:tab pos="1351915" algn="l"/>
                <a:tab pos="2418715" algn="l"/>
                <a:tab pos="2924810" algn="l"/>
                <a:tab pos="3639820" algn="l"/>
                <a:tab pos="4563745" algn="l"/>
                <a:tab pos="4914265" algn="l"/>
                <a:tab pos="5534660" algn="l"/>
                <a:tab pos="5800090" algn="l"/>
                <a:tab pos="6866890" algn="l"/>
              </a:tabLst>
            </a:pPr>
            <a:r>
              <a:rPr sz="2000" dirty="0">
                <a:solidFill>
                  <a:srgbClr val="D24717"/>
                </a:solidFill>
                <a:latin typeface="Wingdings"/>
                <a:cs typeface="Wingdings"/>
              </a:rPr>
              <a:t></a:t>
            </a:r>
            <a:r>
              <a:rPr sz="2000" spc="-95" dirty="0">
                <a:solidFill>
                  <a:srgbClr val="D24717"/>
                </a:solidFill>
                <a:latin typeface="Times New Roman"/>
                <a:cs typeface="Times New Roman"/>
              </a:rPr>
              <a:t> </a:t>
            </a:r>
            <a:r>
              <a:rPr sz="2000" b="1" dirty="0">
                <a:solidFill>
                  <a:srgbClr val="252525"/>
                </a:solidFill>
                <a:latin typeface="Book Antiqua"/>
                <a:cs typeface="Book Antiqua"/>
              </a:rPr>
              <a:t>Sol</a:t>
            </a:r>
            <a:r>
              <a:rPr sz="2000" b="1" spc="-10" dirty="0">
                <a:solidFill>
                  <a:srgbClr val="252525"/>
                </a:solidFill>
                <a:latin typeface="Book Antiqua"/>
                <a:cs typeface="Book Antiqua"/>
              </a:rPr>
              <a:t>v</a:t>
            </a:r>
            <a:r>
              <a:rPr sz="2000" b="1" dirty="0">
                <a:solidFill>
                  <a:srgbClr val="252525"/>
                </a:solidFill>
                <a:latin typeface="Book Antiqua"/>
                <a:cs typeface="Book Antiqua"/>
              </a:rPr>
              <a:t>able	</a:t>
            </a:r>
            <a:r>
              <a:rPr sz="2000" spc="-5" dirty="0">
                <a:solidFill>
                  <a:srgbClr val="252525"/>
                </a:solidFill>
                <a:latin typeface="Book Antiqua"/>
                <a:cs typeface="Book Antiqua"/>
              </a:rPr>
              <a:t>p</a:t>
            </a:r>
            <a:r>
              <a:rPr sz="2000" spc="-10" dirty="0">
                <a:solidFill>
                  <a:srgbClr val="252525"/>
                </a:solidFill>
                <a:latin typeface="Book Antiqua"/>
                <a:cs typeface="Book Antiqua"/>
              </a:rPr>
              <a:t>r</a:t>
            </a:r>
            <a:r>
              <a:rPr sz="2000" dirty="0">
                <a:solidFill>
                  <a:srgbClr val="252525"/>
                </a:solidFill>
                <a:latin typeface="Book Antiqua"/>
                <a:cs typeface="Book Antiqua"/>
              </a:rPr>
              <a:t>o</a:t>
            </a:r>
            <a:r>
              <a:rPr sz="2000" spc="5" dirty="0">
                <a:solidFill>
                  <a:srgbClr val="252525"/>
                </a:solidFill>
                <a:latin typeface="Book Antiqua"/>
                <a:cs typeface="Book Antiqua"/>
              </a:rPr>
              <a:t>b</a:t>
            </a:r>
            <a:r>
              <a:rPr sz="2000" dirty="0">
                <a:solidFill>
                  <a:srgbClr val="252525"/>
                </a:solidFill>
                <a:latin typeface="Book Antiqua"/>
                <a:cs typeface="Book Antiqua"/>
              </a:rPr>
              <a:t>lem:	</a:t>
            </a:r>
            <a:r>
              <a:rPr sz="2000" spc="-15" dirty="0">
                <a:solidFill>
                  <a:srgbClr val="252525"/>
                </a:solidFill>
                <a:latin typeface="Book Antiqua"/>
                <a:cs typeface="Book Antiqua"/>
              </a:rPr>
              <a:t>T</a:t>
            </a:r>
            <a:r>
              <a:rPr sz="2000" dirty="0">
                <a:solidFill>
                  <a:srgbClr val="252525"/>
                </a:solidFill>
                <a:latin typeface="Book Antiqua"/>
                <a:cs typeface="Book Antiqua"/>
              </a:rPr>
              <a:t>M	w</a:t>
            </a:r>
            <a:r>
              <a:rPr sz="2000" spc="-10" dirty="0">
                <a:solidFill>
                  <a:srgbClr val="252525"/>
                </a:solidFill>
                <a:latin typeface="Book Antiqua"/>
                <a:cs typeface="Book Antiqua"/>
              </a:rPr>
              <a:t>h</a:t>
            </a:r>
            <a:r>
              <a:rPr sz="2000" spc="-15" dirty="0">
                <a:solidFill>
                  <a:srgbClr val="252525"/>
                </a:solidFill>
                <a:latin typeface="Book Antiqua"/>
                <a:cs typeface="Book Antiqua"/>
              </a:rPr>
              <a:t>e</a:t>
            </a:r>
            <a:r>
              <a:rPr sz="2000" dirty="0">
                <a:solidFill>
                  <a:srgbClr val="252525"/>
                </a:solidFill>
                <a:latin typeface="Book Antiqua"/>
                <a:cs typeface="Book Antiqua"/>
              </a:rPr>
              <a:t>n	ap</a:t>
            </a:r>
            <a:r>
              <a:rPr sz="2000" spc="-10" dirty="0">
                <a:solidFill>
                  <a:srgbClr val="252525"/>
                </a:solidFill>
                <a:latin typeface="Book Antiqua"/>
                <a:cs typeface="Book Antiqua"/>
              </a:rPr>
              <a:t>p</a:t>
            </a:r>
            <a:r>
              <a:rPr sz="2000" dirty="0">
                <a:solidFill>
                  <a:srgbClr val="252525"/>
                </a:solidFill>
                <a:latin typeface="Book Antiqua"/>
                <a:cs typeface="Book Antiqua"/>
              </a:rPr>
              <a:t>l</a:t>
            </a:r>
            <a:r>
              <a:rPr sz="2000" spc="5" dirty="0">
                <a:solidFill>
                  <a:srgbClr val="252525"/>
                </a:solidFill>
                <a:latin typeface="Book Antiqua"/>
                <a:cs typeface="Book Antiqua"/>
              </a:rPr>
              <a:t>i</a:t>
            </a:r>
            <a:r>
              <a:rPr sz="2000" dirty="0">
                <a:solidFill>
                  <a:srgbClr val="252525"/>
                </a:solidFill>
                <a:latin typeface="Book Antiqua"/>
                <a:cs typeface="Book Antiqua"/>
              </a:rPr>
              <a:t>ed	to	such	a	</a:t>
            </a:r>
            <a:r>
              <a:rPr sz="2000" spc="-5" dirty="0">
                <a:solidFill>
                  <a:srgbClr val="252525"/>
                </a:solidFill>
                <a:latin typeface="Book Antiqua"/>
                <a:cs typeface="Book Antiqua"/>
              </a:rPr>
              <a:t>p</a:t>
            </a:r>
            <a:r>
              <a:rPr sz="2000" spc="-10" dirty="0">
                <a:solidFill>
                  <a:srgbClr val="252525"/>
                </a:solidFill>
                <a:latin typeface="Book Antiqua"/>
                <a:cs typeface="Book Antiqua"/>
              </a:rPr>
              <a:t>r</a:t>
            </a:r>
            <a:r>
              <a:rPr sz="2000" dirty="0">
                <a:solidFill>
                  <a:srgbClr val="252525"/>
                </a:solidFill>
                <a:latin typeface="Book Antiqua"/>
                <a:cs typeface="Book Antiqua"/>
              </a:rPr>
              <a:t>obl</a:t>
            </a:r>
            <a:r>
              <a:rPr sz="2000" spc="10" dirty="0">
                <a:solidFill>
                  <a:srgbClr val="252525"/>
                </a:solidFill>
                <a:latin typeface="Book Antiqua"/>
                <a:cs typeface="Book Antiqua"/>
              </a:rPr>
              <a:t>e</a:t>
            </a:r>
            <a:r>
              <a:rPr sz="2000" spc="-10" dirty="0">
                <a:solidFill>
                  <a:srgbClr val="252525"/>
                </a:solidFill>
                <a:latin typeface="Book Antiqua"/>
                <a:cs typeface="Book Antiqua"/>
              </a:rPr>
              <a:t>m</a:t>
            </a:r>
            <a:r>
              <a:rPr sz="2000" dirty="0">
                <a:solidFill>
                  <a:srgbClr val="252525"/>
                </a:solidFill>
                <a:latin typeface="Book Antiqua"/>
                <a:cs typeface="Book Antiqua"/>
              </a:rPr>
              <a:t>,	alwa</a:t>
            </a:r>
            <a:r>
              <a:rPr sz="2000" spc="-20" dirty="0">
                <a:solidFill>
                  <a:srgbClr val="252525"/>
                </a:solidFill>
                <a:latin typeface="Book Antiqua"/>
                <a:cs typeface="Book Antiqua"/>
              </a:rPr>
              <a:t>y</a:t>
            </a:r>
            <a:r>
              <a:rPr sz="2000" dirty="0">
                <a:solidFill>
                  <a:srgbClr val="252525"/>
                </a:solidFill>
                <a:latin typeface="Book Antiqua"/>
                <a:cs typeface="Book Antiqua"/>
              </a:rPr>
              <a:t>s</a:t>
            </a:r>
            <a:endParaRPr sz="2000" dirty="0">
              <a:latin typeface="Book Antiqua"/>
              <a:cs typeface="Book Antiqua"/>
            </a:endParaRPr>
          </a:p>
          <a:p>
            <a:pPr marL="286385">
              <a:spcBef>
                <a:spcPts val="5"/>
              </a:spcBef>
            </a:pPr>
            <a:r>
              <a:rPr sz="2000" spc="-5" dirty="0">
                <a:solidFill>
                  <a:srgbClr val="252525"/>
                </a:solidFill>
                <a:latin typeface="Book Antiqua"/>
                <a:cs typeface="Book Antiqua"/>
              </a:rPr>
              <a:t>eventually terminates </a:t>
            </a:r>
            <a:r>
              <a:rPr sz="2000" dirty="0">
                <a:solidFill>
                  <a:srgbClr val="252525"/>
                </a:solidFill>
                <a:latin typeface="Book Antiqua"/>
                <a:cs typeface="Book Antiqua"/>
              </a:rPr>
              <a:t>with </a:t>
            </a:r>
            <a:r>
              <a:rPr sz="2000" spc="-5" dirty="0">
                <a:solidFill>
                  <a:srgbClr val="252525"/>
                </a:solidFill>
                <a:latin typeface="Book Antiqua"/>
                <a:cs typeface="Book Antiqua"/>
              </a:rPr>
              <a:t>the correct </a:t>
            </a:r>
            <a:r>
              <a:rPr sz="2000" dirty="0">
                <a:solidFill>
                  <a:srgbClr val="252525"/>
                </a:solidFill>
                <a:latin typeface="Book Antiqua"/>
                <a:cs typeface="Book Antiqua"/>
              </a:rPr>
              <a:t>“yes” or “no”</a:t>
            </a:r>
            <a:r>
              <a:rPr sz="2000" spc="40" dirty="0">
                <a:solidFill>
                  <a:srgbClr val="252525"/>
                </a:solidFill>
                <a:latin typeface="Book Antiqua"/>
                <a:cs typeface="Book Antiqua"/>
              </a:rPr>
              <a:t> </a:t>
            </a:r>
            <a:r>
              <a:rPr sz="2000" dirty="0">
                <a:solidFill>
                  <a:srgbClr val="252525"/>
                </a:solidFill>
                <a:latin typeface="Book Antiqua"/>
                <a:cs typeface="Book Antiqua"/>
              </a:rPr>
              <a:t>answer</a:t>
            </a:r>
            <a:endParaRPr sz="2000" dirty="0">
              <a:latin typeface="Book Antiqua"/>
              <a:cs typeface="Book Antiqua"/>
            </a:endParaRPr>
          </a:p>
          <a:p>
            <a:pPr marL="321945">
              <a:spcBef>
                <a:spcPts val="414"/>
              </a:spcBef>
            </a:pPr>
            <a:r>
              <a:rPr sz="2000" spc="5" dirty="0">
                <a:solidFill>
                  <a:srgbClr val="D24717"/>
                </a:solidFill>
                <a:latin typeface="Wingdings"/>
                <a:cs typeface="Wingdings"/>
              </a:rPr>
              <a:t></a:t>
            </a:r>
            <a:r>
              <a:rPr sz="2000" spc="5" dirty="0">
                <a:solidFill>
                  <a:srgbClr val="D24717"/>
                </a:solidFill>
                <a:latin typeface="Times New Roman"/>
                <a:cs typeface="Times New Roman"/>
              </a:rPr>
              <a:t> </a:t>
            </a:r>
            <a:r>
              <a:rPr sz="2000" dirty="0">
                <a:solidFill>
                  <a:srgbClr val="252525"/>
                </a:solidFill>
                <a:latin typeface="Book Antiqua"/>
                <a:cs typeface="Book Antiqua"/>
              </a:rPr>
              <a:t>A </a:t>
            </a:r>
            <a:r>
              <a:rPr sz="2000" spc="-5" dirty="0">
                <a:solidFill>
                  <a:srgbClr val="252525"/>
                </a:solidFill>
                <a:latin typeface="Book Antiqua"/>
                <a:cs typeface="Book Antiqua"/>
              </a:rPr>
              <a:t>class </a:t>
            </a:r>
            <a:r>
              <a:rPr sz="2000" dirty="0">
                <a:solidFill>
                  <a:srgbClr val="252525"/>
                </a:solidFill>
                <a:latin typeface="Book Antiqua"/>
                <a:cs typeface="Book Antiqua"/>
              </a:rPr>
              <a:t>of all such problems </a:t>
            </a:r>
            <a:r>
              <a:rPr sz="2000" spc="-5" dirty="0">
                <a:solidFill>
                  <a:srgbClr val="252525"/>
                </a:solidFill>
                <a:latin typeface="Book Antiqua"/>
                <a:cs typeface="Book Antiqua"/>
              </a:rPr>
              <a:t>is </a:t>
            </a:r>
            <a:r>
              <a:rPr sz="2000" dirty="0">
                <a:solidFill>
                  <a:srgbClr val="252525"/>
                </a:solidFill>
                <a:latin typeface="Book Antiqua"/>
                <a:cs typeface="Book Antiqua"/>
              </a:rPr>
              <a:t>called as </a:t>
            </a:r>
            <a:r>
              <a:rPr sz="2000" b="1" spc="-5" dirty="0">
                <a:solidFill>
                  <a:srgbClr val="252525"/>
                </a:solidFill>
                <a:latin typeface="Book Antiqua"/>
                <a:cs typeface="Book Antiqua"/>
              </a:rPr>
              <a:t>Recursive</a:t>
            </a:r>
            <a:r>
              <a:rPr sz="2000" b="1" spc="-10" dirty="0">
                <a:solidFill>
                  <a:srgbClr val="252525"/>
                </a:solidFill>
                <a:latin typeface="Book Antiqua"/>
                <a:cs typeface="Book Antiqua"/>
              </a:rPr>
              <a:t> </a:t>
            </a:r>
            <a:r>
              <a:rPr sz="2000" b="1" dirty="0">
                <a:solidFill>
                  <a:srgbClr val="252525"/>
                </a:solidFill>
                <a:latin typeface="Book Antiqua"/>
                <a:cs typeface="Book Antiqua"/>
              </a:rPr>
              <a:t>language</a:t>
            </a:r>
            <a:endParaRPr sz="2000" dirty="0">
              <a:latin typeface="Book Antiqua"/>
              <a:cs typeface="Book Antiqua"/>
            </a:endParaRPr>
          </a:p>
          <a:p>
            <a:pPr marL="596265" marR="5080" indent="-274320">
              <a:spcBef>
                <a:spcPts val="395"/>
              </a:spcBef>
            </a:pPr>
            <a:r>
              <a:rPr sz="2000" spc="5" dirty="0">
                <a:solidFill>
                  <a:srgbClr val="D24717"/>
                </a:solidFill>
                <a:latin typeface="Wingdings"/>
                <a:cs typeface="Wingdings"/>
              </a:rPr>
              <a:t></a:t>
            </a:r>
            <a:r>
              <a:rPr sz="2000" spc="5" dirty="0">
                <a:solidFill>
                  <a:srgbClr val="D24717"/>
                </a:solidFill>
                <a:latin typeface="Times New Roman"/>
                <a:cs typeface="Times New Roman"/>
              </a:rPr>
              <a:t> </a:t>
            </a:r>
            <a:r>
              <a:rPr sz="2000" dirty="0">
                <a:solidFill>
                  <a:srgbClr val="252525"/>
                </a:solidFill>
                <a:latin typeface="Book Antiqua"/>
                <a:cs typeface="Book Antiqua"/>
              </a:rPr>
              <a:t>The </a:t>
            </a:r>
            <a:r>
              <a:rPr sz="2000" spc="-5" dirty="0">
                <a:solidFill>
                  <a:srgbClr val="252525"/>
                </a:solidFill>
                <a:latin typeface="Book Antiqua"/>
                <a:cs typeface="Book Antiqua"/>
              </a:rPr>
              <a:t>mathematical </a:t>
            </a:r>
            <a:r>
              <a:rPr sz="2000" dirty="0">
                <a:solidFill>
                  <a:srgbClr val="252525"/>
                </a:solidFill>
                <a:latin typeface="Book Antiqua"/>
                <a:cs typeface="Book Antiqua"/>
              </a:rPr>
              <a:t>functions </a:t>
            </a:r>
            <a:r>
              <a:rPr sz="2000" spc="-5" dirty="0">
                <a:solidFill>
                  <a:srgbClr val="252525"/>
                </a:solidFill>
                <a:latin typeface="Book Antiqua"/>
                <a:cs typeface="Book Antiqua"/>
              </a:rPr>
              <a:t>that </a:t>
            </a:r>
            <a:r>
              <a:rPr sz="2000" dirty="0">
                <a:solidFill>
                  <a:srgbClr val="252525"/>
                </a:solidFill>
                <a:latin typeface="Book Antiqua"/>
                <a:cs typeface="Book Antiqua"/>
              </a:rPr>
              <a:t>denote </a:t>
            </a:r>
            <a:r>
              <a:rPr sz="2000" spc="-5" dirty="0">
                <a:solidFill>
                  <a:srgbClr val="252525"/>
                </a:solidFill>
                <a:latin typeface="Book Antiqua"/>
                <a:cs typeface="Book Antiqua"/>
              </a:rPr>
              <a:t>these type </a:t>
            </a:r>
            <a:r>
              <a:rPr sz="2000" dirty="0">
                <a:solidFill>
                  <a:srgbClr val="252525"/>
                </a:solidFill>
                <a:latin typeface="Book Antiqua"/>
                <a:cs typeface="Book Antiqua"/>
              </a:rPr>
              <a:t>of </a:t>
            </a:r>
            <a:r>
              <a:rPr sz="2000" spc="-5" dirty="0">
                <a:solidFill>
                  <a:srgbClr val="252525"/>
                </a:solidFill>
                <a:latin typeface="Book Antiqua"/>
                <a:cs typeface="Book Antiqua"/>
              </a:rPr>
              <a:t>problems </a:t>
            </a:r>
            <a:r>
              <a:rPr sz="2000" dirty="0">
                <a:solidFill>
                  <a:srgbClr val="252525"/>
                </a:solidFill>
                <a:latin typeface="Book Antiqua"/>
                <a:cs typeface="Book Antiqua"/>
              </a:rPr>
              <a:t>are </a:t>
            </a:r>
            <a:r>
              <a:rPr sz="2000" spc="-5" dirty="0">
                <a:solidFill>
                  <a:srgbClr val="252525"/>
                </a:solidFill>
                <a:latin typeface="Book Antiqua"/>
                <a:cs typeface="Book Antiqua"/>
              </a:rPr>
              <a:t>called  </a:t>
            </a:r>
            <a:r>
              <a:rPr sz="2000" dirty="0">
                <a:solidFill>
                  <a:srgbClr val="252525"/>
                </a:solidFill>
                <a:latin typeface="Book Antiqua"/>
                <a:cs typeface="Book Antiqua"/>
              </a:rPr>
              <a:t>as </a:t>
            </a:r>
            <a:r>
              <a:rPr sz="2000" b="1" dirty="0">
                <a:solidFill>
                  <a:srgbClr val="252525"/>
                </a:solidFill>
                <a:latin typeface="Book Antiqua"/>
                <a:cs typeface="Book Antiqua"/>
              </a:rPr>
              <a:t>Total </a:t>
            </a:r>
            <a:r>
              <a:rPr sz="2000" b="1" spc="-5" dirty="0">
                <a:solidFill>
                  <a:srgbClr val="252525"/>
                </a:solidFill>
                <a:latin typeface="Book Antiqua"/>
                <a:cs typeface="Book Antiqua"/>
              </a:rPr>
              <a:t>Recursive</a:t>
            </a:r>
            <a:r>
              <a:rPr sz="2000" b="1" spc="-60" dirty="0">
                <a:solidFill>
                  <a:srgbClr val="252525"/>
                </a:solidFill>
                <a:latin typeface="Book Antiqua"/>
                <a:cs typeface="Book Antiqua"/>
              </a:rPr>
              <a:t> </a:t>
            </a:r>
            <a:r>
              <a:rPr sz="2000" b="1" dirty="0">
                <a:solidFill>
                  <a:srgbClr val="252525"/>
                </a:solidFill>
                <a:latin typeface="Book Antiqua"/>
                <a:cs typeface="Book Antiqua"/>
              </a:rPr>
              <a:t>Functions</a:t>
            </a:r>
            <a:endParaRPr sz="2000" dirty="0">
              <a:latin typeface="Book Antiqua"/>
              <a:cs typeface="Book Antiqua"/>
            </a:endParaRPr>
          </a:p>
          <a:p>
            <a:pPr marL="321945">
              <a:spcBef>
                <a:spcPts val="395"/>
              </a:spcBef>
            </a:pPr>
            <a:r>
              <a:rPr sz="2000" spc="5" dirty="0">
                <a:solidFill>
                  <a:srgbClr val="D24717"/>
                </a:solidFill>
                <a:latin typeface="Wingdings"/>
                <a:cs typeface="Wingdings"/>
              </a:rPr>
              <a:t></a:t>
            </a:r>
            <a:r>
              <a:rPr sz="2000" spc="5" dirty="0">
                <a:solidFill>
                  <a:srgbClr val="D24717"/>
                </a:solidFill>
                <a:latin typeface="Times New Roman"/>
                <a:cs typeface="Times New Roman"/>
              </a:rPr>
              <a:t> </a:t>
            </a:r>
            <a:r>
              <a:rPr sz="2000" dirty="0">
                <a:solidFill>
                  <a:srgbClr val="252525"/>
                </a:solidFill>
                <a:latin typeface="Book Antiqua"/>
                <a:cs typeface="Book Antiqua"/>
              </a:rPr>
              <a:t>Simple Examples - multiplication, addition, concatenation and many</a:t>
            </a:r>
            <a:r>
              <a:rPr sz="2000" spc="-75" dirty="0">
                <a:solidFill>
                  <a:srgbClr val="252525"/>
                </a:solidFill>
                <a:latin typeface="Book Antiqua"/>
                <a:cs typeface="Book Antiqua"/>
              </a:rPr>
              <a:t> </a:t>
            </a:r>
            <a:r>
              <a:rPr sz="2000" dirty="0">
                <a:solidFill>
                  <a:srgbClr val="252525"/>
                </a:solidFill>
                <a:latin typeface="Book Antiqua"/>
                <a:cs typeface="Book Antiqua"/>
              </a:rPr>
              <a:t>other</a:t>
            </a:r>
            <a:endParaRPr sz="2000" dirty="0">
              <a:latin typeface="Book Antiqua"/>
              <a:cs typeface="Book Antiqua"/>
            </a:endParaRPr>
          </a:p>
          <a:p>
            <a:pPr>
              <a:spcBef>
                <a:spcPts val="15"/>
              </a:spcBef>
            </a:pPr>
            <a:endParaRPr sz="2000" dirty="0">
              <a:latin typeface="Times New Roman"/>
              <a:cs typeface="Times New Roman"/>
            </a:endParaRPr>
          </a:p>
          <a:p>
            <a:pPr marL="286385" marR="5715" indent="-274320" algn="just">
              <a:spcBef>
                <a:spcPts val="5"/>
              </a:spcBef>
            </a:pPr>
            <a:r>
              <a:rPr sz="2000" dirty="0">
                <a:solidFill>
                  <a:srgbClr val="D24717"/>
                </a:solidFill>
                <a:latin typeface="Wingdings"/>
                <a:cs typeface="Wingdings"/>
              </a:rPr>
              <a:t></a:t>
            </a:r>
            <a:r>
              <a:rPr sz="2000" dirty="0">
                <a:solidFill>
                  <a:srgbClr val="D24717"/>
                </a:solidFill>
                <a:latin typeface="Times New Roman"/>
                <a:cs typeface="Times New Roman"/>
              </a:rPr>
              <a:t> </a:t>
            </a:r>
            <a:r>
              <a:rPr sz="2000" b="1" spc="-5" dirty="0">
                <a:solidFill>
                  <a:srgbClr val="252525"/>
                </a:solidFill>
                <a:latin typeface="Book Antiqua"/>
                <a:cs typeface="Book Antiqua"/>
              </a:rPr>
              <a:t>Semi-solvable </a:t>
            </a:r>
            <a:r>
              <a:rPr sz="2000" spc="-5" dirty="0">
                <a:solidFill>
                  <a:srgbClr val="252525"/>
                </a:solidFill>
                <a:latin typeface="Book Antiqua"/>
                <a:cs typeface="Book Antiqua"/>
              </a:rPr>
              <a:t>problem: </a:t>
            </a:r>
            <a:r>
              <a:rPr sz="2000" dirty="0">
                <a:solidFill>
                  <a:srgbClr val="252525"/>
                </a:solidFill>
                <a:latin typeface="Book Antiqua"/>
                <a:cs typeface="Book Antiqua"/>
              </a:rPr>
              <a:t>TM when applied to such a </a:t>
            </a:r>
            <a:r>
              <a:rPr sz="2000" spc="-5" dirty="0">
                <a:solidFill>
                  <a:srgbClr val="252525"/>
                </a:solidFill>
                <a:latin typeface="Book Antiqua"/>
                <a:cs typeface="Book Antiqua"/>
              </a:rPr>
              <a:t>problem, always  eventually terminates </a:t>
            </a:r>
            <a:r>
              <a:rPr sz="2000" dirty="0">
                <a:solidFill>
                  <a:srgbClr val="252525"/>
                </a:solidFill>
                <a:latin typeface="Book Antiqua"/>
                <a:cs typeface="Book Antiqua"/>
              </a:rPr>
              <a:t>with </a:t>
            </a:r>
            <a:r>
              <a:rPr sz="2000" spc="-5" dirty="0">
                <a:solidFill>
                  <a:srgbClr val="252525"/>
                </a:solidFill>
                <a:latin typeface="Book Antiqua"/>
                <a:cs typeface="Book Antiqua"/>
              </a:rPr>
              <a:t>correct </a:t>
            </a:r>
            <a:r>
              <a:rPr sz="2000" dirty="0">
                <a:solidFill>
                  <a:srgbClr val="252525"/>
                </a:solidFill>
                <a:latin typeface="Book Antiqua"/>
                <a:cs typeface="Book Antiqua"/>
              </a:rPr>
              <a:t>answer when answer </a:t>
            </a:r>
            <a:r>
              <a:rPr sz="2000" spc="-5" dirty="0">
                <a:solidFill>
                  <a:srgbClr val="252525"/>
                </a:solidFill>
                <a:latin typeface="Book Antiqua"/>
                <a:cs typeface="Book Antiqua"/>
              </a:rPr>
              <a:t>is “yes” </a:t>
            </a:r>
            <a:r>
              <a:rPr sz="2000" dirty="0">
                <a:solidFill>
                  <a:srgbClr val="252525"/>
                </a:solidFill>
                <a:latin typeface="Book Antiqua"/>
                <a:cs typeface="Book Antiqua"/>
              </a:rPr>
              <a:t>and  </a:t>
            </a:r>
            <a:r>
              <a:rPr sz="2000" spc="-5" dirty="0">
                <a:solidFill>
                  <a:srgbClr val="252525"/>
                </a:solidFill>
                <a:latin typeface="Book Antiqua"/>
                <a:cs typeface="Book Antiqua"/>
              </a:rPr>
              <a:t>may </a:t>
            </a:r>
            <a:r>
              <a:rPr sz="2000" dirty="0">
                <a:solidFill>
                  <a:srgbClr val="252525"/>
                </a:solidFill>
                <a:latin typeface="Book Antiqua"/>
                <a:cs typeface="Book Antiqua"/>
              </a:rPr>
              <a:t>or </a:t>
            </a:r>
            <a:r>
              <a:rPr sz="2000" spc="-5" dirty="0">
                <a:solidFill>
                  <a:srgbClr val="252525"/>
                </a:solidFill>
                <a:latin typeface="Book Antiqua"/>
                <a:cs typeface="Book Antiqua"/>
              </a:rPr>
              <a:t>may not terminate </a:t>
            </a:r>
            <a:r>
              <a:rPr sz="2000" dirty="0">
                <a:solidFill>
                  <a:srgbClr val="252525"/>
                </a:solidFill>
                <a:latin typeface="Book Antiqua"/>
                <a:cs typeface="Book Antiqua"/>
              </a:rPr>
              <a:t>when </a:t>
            </a:r>
            <a:r>
              <a:rPr sz="2000" spc="-5" dirty="0">
                <a:solidFill>
                  <a:srgbClr val="252525"/>
                </a:solidFill>
                <a:latin typeface="Book Antiqua"/>
                <a:cs typeface="Book Antiqua"/>
              </a:rPr>
              <a:t>the correct </a:t>
            </a:r>
            <a:r>
              <a:rPr sz="2000" dirty="0">
                <a:solidFill>
                  <a:srgbClr val="252525"/>
                </a:solidFill>
                <a:latin typeface="Book Antiqua"/>
                <a:cs typeface="Book Antiqua"/>
              </a:rPr>
              <a:t>answer is</a:t>
            </a:r>
            <a:r>
              <a:rPr sz="2000" spc="40" dirty="0">
                <a:solidFill>
                  <a:srgbClr val="252525"/>
                </a:solidFill>
                <a:latin typeface="Book Antiqua"/>
                <a:cs typeface="Book Antiqua"/>
              </a:rPr>
              <a:t> </a:t>
            </a:r>
            <a:r>
              <a:rPr sz="2000" dirty="0">
                <a:solidFill>
                  <a:srgbClr val="252525"/>
                </a:solidFill>
                <a:latin typeface="Book Antiqua"/>
                <a:cs typeface="Book Antiqua"/>
              </a:rPr>
              <a:t>“no”</a:t>
            </a:r>
            <a:endParaRPr sz="2000" dirty="0">
              <a:latin typeface="Book Antiqua"/>
              <a:cs typeface="Book Antiqua"/>
            </a:endParaRPr>
          </a:p>
          <a:p>
            <a:pPr marL="321945">
              <a:spcBef>
                <a:spcPts val="415"/>
              </a:spcBef>
            </a:pPr>
            <a:r>
              <a:rPr sz="2000" spc="5" dirty="0">
                <a:solidFill>
                  <a:srgbClr val="D24717"/>
                </a:solidFill>
                <a:latin typeface="Wingdings"/>
                <a:cs typeface="Wingdings"/>
              </a:rPr>
              <a:t></a:t>
            </a:r>
            <a:r>
              <a:rPr sz="2000" spc="5" dirty="0">
                <a:solidFill>
                  <a:srgbClr val="D24717"/>
                </a:solidFill>
                <a:latin typeface="Times New Roman"/>
                <a:cs typeface="Times New Roman"/>
              </a:rPr>
              <a:t> </a:t>
            </a:r>
            <a:r>
              <a:rPr sz="2000" dirty="0">
                <a:solidFill>
                  <a:srgbClr val="252525"/>
                </a:solidFill>
                <a:latin typeface="Book Antiqua"/>
                <a:cs typeface="Book Antiqua"/>
              </a:rPr>
              <a:t>A </a:t>
            </a:r>
            <a:r>
              <a:rPr sz="2000" spc="-5" dirty="0">
                <a:solidFill>
                  <a:srgbClr val="252525"/>
                </a:solidFill>
                <a:latin typeface="Book Antiqua"/>
                <a:cs typeface="Book Antiqua"/>
              </a:rPr>
              <a:t>class </a:t>
            </a:r>
            <a:r>
              <a:rPr sz="2000" dirty="0">
                <a:solidFill>
                  <a:srgbClr val="252525"/>
                </a:solidFill>
                <a:latin typeface="Book Antiqua"/>
                <a:cs typeface="Book Antiqua"/>
              </a:rPr>
              <a:t>of all such problems </a:t>
            </a:r>
            <a:r>
              <a:rPr sz="2000" spc="-5" dirty="0">
                <a:solidFill>
                  <a:srgbClr val="252525"/>
                </a:solidFill>
                <a:latin typeface="Book Antiqua"/>
                <a:cs typeface="Book Antiqua"/>
              </a:rPr>
              <a:t>is </a:t>
            </a:r>
            <a:r>
              <a:rPr sz="2000" dirty="0">
                <a:solidFill>
                  <a:srgbClr val="252525"/>
                </a:solidFill>
                <a:latin typeface="Book Antiqua"/>
                <a:cs typeface="Book Antiqua"/>
              </a:rPr>
              <a:t>called as </a:t>
            </a:r>
            <a:r>
              <a:rPr sz="2000" b="1" spc="-5" dirty="0">
                <a:solidFill>
                  <a:srgbClr val="252525"/>
                </a:solidFill>
                <a:latin typeface="Book Antiqua"/>
                <a:cs typeface="Book Antiqua"/>
              </a:rPr>
              <a:t>Recursively </a:t>
            </a:r>
            <a:r>
              <a:rPr sz="2000" b="1" dirty="0">
                <a:solidFill>
                  <a:srgbClr val="252525"/>
                </a:solidFill>
                <a:latin typeface="Book Antiqua"/>
                <a:cs typeface="Book Antiqua"/>
              </a:rPr>
              <a:t>Enumerable language</a:t>
            </a:r>
            <a:endParaRPr sz="2000" dirty="0">
              <a:latin typeface="Book Antiqua"/>
              <a:cs typeface="Book Antiqua"/>
            </a:endParaRPr>
          </a:p>
          <a:p>
            <a:pPr marL="596265" marR="5080" indent="-274320">
              <a:spcBef>
                <a:spcPts val="395"/>
              </a:spcBef>
            </a:pPr>
            <a:r>
              <a:rPr sz="2000" spc="5" dirty="0">
                <a:solidFill>
                  <a:srgbClr val="D24717"/>
                </a:solidFill>
                <a:latin typeface="Wingdings"/>
                <a:cs typeface="Wingdings"/>
              </a:rPr>
              <a:t></a:t>
            </a:r>
            <a:r>
              <a:rPr sz="2000" spc="5" dirty="0">
                <a:solidFill>
                  <a:srgbClr val="D24717"/>
                </a:solidFill>
                <a:latin typeface="Times New Roman"/>
                <a:cs typeface="Times New Roman"/>
              </a:rPr>
              <a:t> </a:t>
            </a:r>
            <a:r>
              <a:rPr sz="2000" dirty="0">
                <a:solidFill>
                  <a:srgbClr val="252525"/>
                </a:solidFill>
                <a:latin typeface="Book Antiqua"/>
                <a:cs typeface="Book Antiqua"/>
              </a:rPr>
              <a:t>The </a:t>
            </a:r>
            <a:r>
              <a:rPr sz="2000" spc="-5" dirty="0">
                <a:solidFill>
                  <a:srgbClr val="252525"/>
                </a:solidFill>
                <a:latin typeface="Book Antiqua"/>
                <a:cs typeface="Book Antiqua"/>
              </a:rPr>
              <a:t>mathematical </a:t>
            </a:r>
            <a:r>
              <a:rPr sz="2000" dirty="0">
                <a:solidFill>
                  <a:srgbClr val="252525"/>
                </a:solidFill>
                <a:latin typeface="Book Antiqua"/>
                <a:cs typeface="Book Antiqua"/>
              </a:rPr>
              <a:t>functions </a:t>
            </a:r>
            <a:r>
              <a:rPr sz="2000" spc="-5" dirty="0">
                <a:solidFill>
                  <a:srgbClr val="252525"/>
                </a:solidFill>
                <a:latin typeface="Book Antiqua"/>
                <a:cs typeface="Book Antiqua"/>
              </a:rPr>
              <a:t>that </a:t>
            </a:r>
            <a:r>
              <a:rPr sz="2000" dirty="0">
                <a:solidFill>
                  <a:srgbClr val="252525"/>
                </a:solidFill>
                <a:latin typeface="Book Antiqua"/>
                <a:cs typeface="Book Antiqua"/>
              </a:rPr>
              <a:t>denote </a:t>
            </a:r>
            <a:r>
              <a:rPr sz="2000" spc="-5" dirty="0">
                <a:solidFill>
                  <a:srgbClr val="252525"/>
                </a:solidFill>
                <a:latin typeface="Book Antiqua"/>
                <a:cs typeface="Book Antiqua"/>
              </a:rPr>
              <a:t>these type </a:t>
            </a:r>
            <a:r>
              <a:rPr sz="2000" dirty="0">
                <a:solidFill>
                  <a:srgbClr val="252525"/>
                </a:solidFill>
                <a:latin typeface="Book Antiqua"/>
                <a:cs typeface="Book Antiqua"/>
              </a:rPr>
              <a:t>of </a:t>
            </a:r>
            <a:r>
              <a:rPr sz="2000" spc="-5" dirty="0">
                <a:solidFill>
                  <a:srgbClr val="252525"/>
                </a:solidFill>
                <a:latin typeface="Book Antiqua"/>
                <a:cs typeface="Book Antiqua"/>
              </a:rPr>
              <a:t>problems </a:t>
            </a:r>
            <a:r>
              <a:rPr sz="2000" dirty="0">
                <a:solidFill>
                  <a:srgbClr val="252525"/>
                </a:solidFill>
                <a:latin typeface="Book Antiqua"/>
                <a:cs typeface="Book Antiqua"/>
              </a:rPr>
              <a:t>are </a:t>
            </a:r>
            <a:r>
              <a:rPr sz="2000" spc="-5" dirty="0">
                <a:solidFill>
                  <a:srgbClr val="252525"/>
                </a:solidFill>
                <a:latin typeface="Book Antiqua"/>
                <a:cs typeface="Book Antiqua"/>
              </a:rPr>
              <a:t>called  </a:t>
            </a:r>
            <a:r>
              <a:rPr sz="2000" dirty="0">
                <a:solidFill>
                  <a:srgbClr val="252525"/>
                </a:solidFill>
                <a:latin typeface="Book Antiqua"/>
                <a:cs typeface="Book Antiqua"/>
              </a:rPr>
              <a:t>as </a:t>
            </a:r>
            <a:r>
              <a:rPr sz="2000" b="1" dirty="0">
                <a:solidFill>
                  <a:srgbClr val="252525"/>
                </a:solidFill>
                <a:latin typeface="Book Antiqua"/>
                <a:cs typeface="Book Antiqua"/>
              </a:rPr>
              <a:t>Partial </a:t>
            </a:r>
            <a:r>
              <a:rPr sz="2000" b="1" spc="-5" dirty="0">
                <a:solidFill>
                  <a:srgbClr val="252525"/>
                </a:solidFill>
                <a:latin typeface="Book Antiqua"/>
                <a:cs typeface="Book Antiqua"/>
              </a:rPr>
              <a:t>Recursive</a:t>
            </a:r>
            <a:r>
              <a:rPr sz="2000" b="1" spc="-65" dirty="0">
                <a:solidFill>
                  <a:srgbClr val="252525"/>
                </a:solidFill>
                <a:latin typeface="Book Antiqua"/>
                <a:cs typeface="Book Antiqua"/>
              </a:rPr>
              <a:t> </a:t>
            </a:r>
            <a:r>
              <a:rPr sz="2000" b="1" dirty="0">
                <a:solidFill>
                  <a:srgbClr val="252525"/>
                </a:solidFill>
                <a:latin typeface="Book Antiqua"/>
                <a:cs typeface="Book Antiqua"/>
              </a:rPr>
              <a:t>Functions</a:t>
            </a:r>
            <a:endParaRPr sz="2000" dirty="0">
              <a:latin typeface="Book Antiqua"/>
              <a:cs typeface="Book Antiqua"/>
            </a:endParaRPr>
          </a:p>
          <a:p>
            <a:pPr marL="321945">
              <a:spcBef>
                <a:spcPts val="395"/>
              </a:spcBef>
            </a:pPr>
            <a:r>
              <a:rPr sz="2000" spc="5" dirty="0">
                <a:solidFill>
                  <a:srgbClr val="D24717"/>
                </a:solidFill>
                <a:latin typeface="Wingdings"/>
                <a:cs typeface="Wingdings"/>
              </a:rPr>
              <a:t></a:t>
            </a:r>
            <a:r>
              <a:rPr sz="2000" spc="5" dirty="0">
                <a:solidFill>
                  <a:srgbClr val="D24717"/>
                </a:solidFill>
                <a:latin typeface="Times New Roman"/>
                <a:cs typeface="Times New Roman"/>
              </a:rPr>
              <a:t> </a:t>
            </a:r>
            <a:r>
              <a:rPr sz="2000" dirty="0">
                <a:solidFill>
                  <a:srgbClr val="252525"/>
                </a:solidFill>
                <a:latin typeface="Book Antiqua"/>
                <a:cs typeface="Book Antiqua"/>
              </a:rPr>
              <a:t>Simple </a:t>
            </a:r>
            <a:r>
              <a:rPr sz="2000" spc="-5" dirty="0">
                <a:solidFill>
                  <a:srgbClr val="252525"/>
                </a:solidFill>
                <a:latin typeface="Book Antiqua"/>
                <a:cs typeface="Book Antiqua"/>
              </a:rPr>
              <a:t>Examples </a:t>
            </a:r>
            <a:r>
              <a:rPr sz="2000" dirty="0">
                <a:solidFill>
                  <a:srgbClr val="252525"/>
                </a:solidFill>
                <a:latin typeface="Book Antiqua"/>
                <a:cs typeface="Book Antiqua"/>
              </a:rPr>
              <a:t>- </a:t>
            </a:r>
            <a:r>
              <a:rPr sz="2000" spc="-5" dirty="0">
                <a:solidFill>
                  <a:srgbClr val="252525"/>
                </a:solidFill>
                <a:latin typeface="Book Antiqua"/>
                <a:cs typeface="Book Antiqua"/>
              </a:rPr>
              <a:t>division, </a:t>
            </a:r>
            <a:r>
              <a:rPr sz="2000" dirty="0">
                <a:solidFill>
                  <a:srgbClr val="252525"/>
                </a:solidFill>
                <a:latin typeface="Book Antiqua"/>
                <a:cs typeface="Book Antiqua"/>
              </a:rPr>
              <a:t>factorial and many</a:t>
            </a:r>
            <a:r>
              <a:rPr sz="2000" spc="-20" dirty="0">
                <a:solidFill>
                  <a:srgbClr val="252525"/>
                </a:solidFill>
                <a:latin typeface="Book Antiqua"/>
                <a:cs typeface="Book Antiqua"/>
              </a:rPr>
              <a:t> </a:t>
            </a:r>
            <a:r>
              <a:rPr sz="2000" spc="-5" dirty="0">
                <a:solidFill>
                  <a:srgbClr val="252525"/>
                </a:solidFill>
                <a:latin typeface="Book Antiqua"/>
                <a:cs typeface="Book Antiqua"/>
              </a:rPr>
              <a:t>other</a:t>
            </a:r>
            <a:endParaRPr sz="2000" dirty="0">
              <a:latin typeface="Book Antiqua"/>
              <a:cs typeface="Book Antiqua"/>
            </a:endParaRPr>
          </a:p>
        </p:txBody>
      </p:sp>
    </p:spTree>
    <p:extLst>
      <p:ext uri="{BB962C8B-B14F-4D97-AF65-F5344CB8AC3E}">
        <p14:creationId xmlns:p14="http://schemas.microsoft.com/office/powerpoint/2010/main" val="1394377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1524000" y="1"/>
            <a:ext cx="10251440" cy="955339"/>
          </a:xfrm>
        </p:spPr>
        <p:txBody>
          <a:bodyPr>
            <a:normAutofit/>
          </a:bodyPr>
          <a:lstStyle/>
          <a:p>
            <a:pPr eaLnBrk="1" hangingPunct="1"/>
            <a:r>
              <a:rPr lang="en-US" dirty="0">
                <a:solidFill>
                  <a:srgbClr val="0070C0"/>
                </a:solidFill>
                <a:latin typeface="Times New Roman" pitchFamily="18" charset="0"/>
                <a:cs typeface="Times New Roman" pitchFamily="18" charset="0"/>
              </a:rPr>
              <a:t>       </a:t>
            </a:r>
            <a:r>
              <a:rPr lang="en-US" sz="3600" dirty="0">
                <a:solidFill>
                  <a:srgbClr val="0070C0"/>
                </a:solidFill>
                <a:latin typeface="Times New Roman" pitchFamily="18" charset="0"/>
                <a:cs typeface="Times New Roman" pitchFamily="18" charset="0"/>
              </a:rPr>
              <a:t>Halting Problem and Unsolvablity</a:t>
            </a:r>
            <a:endParaRPr lang="en-US" dirty="0">
              <a:solidFill>
                <a:srgbClr val="0070C0"/>
              </a:solidFill>
              <a:latin typeface="Times New Roman" pitchFamily="18" charset="0"/>
              <a:cs typeface="Times New Roman" pitchFamily="18" charset="0"/>
            </a:endParaRPr>
          </a:p>
        </p:txBody>
      </p:sp>
      <p:sp>
        <p:nvSpPr>
          <p:cNvPr id="3" name="Subtitle 2"/>
          <p:cNvSpPr>
            <a:spLocks noGrp="1"/>
          </p:cNvSpPr>
          <p:nvPr>
            <p:ph type="subTitle" idx="1"/>
          </p:nvPr>
        </p:nvSpPr>
        <p:spPr>
          <a:xfrm>
            <a:off x="1524000" y="1447800"/>
            <a:ext cx="9144000" cy="5410200"/>
          </a:xfrm>
        </p:spPr>
        <p:txBody>
          <a:bodyPr rtlCol="0">
            <a:normAutofit/>
          </a:bodyPr>
          <a:lstStyle/>
          <a:p>
            <a:pPr algn="just">
              <a:lnSpc>
                <a:spcPct val="80000"/>
              </a:lnSpc>
              <a:buFont typeface="Arial" pitchFamily="34" charset="0"/>
              <a:buChar char="•"/>
              <a:defRPr/>
            </a:pPr>
            <a:endParaRPr lang="en-US" sz="2000" dirty="0">
              <a:solidFill>
                <a:srgbClr val="006600"/>
              </a:solidFill>
            </a:endParaRPr>
          </a:p>
          <a:p>
            <a:pPr algn="just">
              <a:buFont typeface="Arial" pitchFamily="34" charset="0"/>
              <a:buChar char="•"/>
              <a:defRPr/>
            </a:pPr>
            <a:endParaRPr lang="en-US" dirty="0"/>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31729" y="41118"/>
            <a:ext cx="1143000" cy="782411"/>
          </a:xfrm>
          <a:prstGeom prst="rect">
            <a:avLst/>
          </a:prstGeom>
        </p:spPr>
      </p:pic>
      <p:sp>
        <p:nvSpPr>
          <p:cNvPr id="2" name="Rectangle 1">
            <a:extLst>
              <a:ext uri="{FF2B5EF4-FFF2-40B4-BE49-F238E27FC236}">
                <a16:creationId xmlns:a16="http://schemas.microsoft.com/office/drawing/2014/main" id="{AE835BEB-92D7-47D8-B6A2-6CF1ECA899C8}"/>
              </a:ext>
            </a:extLst>
          </p:cNvPr>
          <p:cNvSpPr/>
          <p:nvPr/>
        </p:nvSpPr>
        <p:spPr>
          <a:xfrm>
            <a:off x="1361440" y="1258852"/>
            <a:ext cx="10251440" cy="3926716"/>
          </a:xfrm>
          <a:prstGeom prst="rect">
            <a:avLst/>
          </a:prstGeom>
        </p:spPr>
        <p:txBody>
          <a:bodyPr wrap="square">
            <a:spAutoFit/>
          </a:bodyPr>
          <a:lstStyle/>
          <a:p>
            <a:pPr marL="338138" indent="-333375">
              <a:spcBef>
                <a:spcPts val="500"/>
              </a:spcBef>
              <a:buFont typeface="Times New Roman" pitchFamily="16" charset="0"/>
              <a:buChar char="•"/>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n-US" sz="2000" dirty="0">
                <a:solidFill>
                  <a:srgbClr val="000000"/>
                </a:solidFill>
                <a:latin typeface="Times New Roman" pitchFamily="16" charset="0"/>
              </a:rPr>
              <a:t>The </a:t>
            </a:r>
            <a:r>
              <a:rPr lang="en-US" sz="2000" b="1" dirty="0">
                <a:solidFill>
                  <a:srgbClr val="000000"/>
                </a:solidFill>
                <a:latin typeface="Times New Roman" pitchFamily="16" charset="0"/>
              </a:rPr>
              <a:t>halting problem</a:t>
            </a:r>
            <a:r>
              <a:rPr lang="en-US" sz="2000" dirty="0">
                <a:solidFill>
                  <a:srgbClr val="000000"/>
                </a:solidFill>
                <a:latin typeface="Times New Roman" pitchFamily="16" charset="0"/>
              </a:rPr>
              <a:t> is the problem of determining, from a description of an arbitrary computer program and an input, </a:t>
            </a:r>
            <a:r>
              <a:rPr lang="en-US" sz="2000" dirty="0">
                <a:solidFill>
                  <a:srgbClr val="FF0000"/>
                </a:solidFill>
                <a:latin typeface="Times New Roman" pitchFamily="16" charset="0"/>
              </a:rPr>
              <a:t>whether the program will finish running or continue to run forever. </a:t>
            </a:r>
          </a:p>
          <a:p>
            <a:pPr marL="341313" indent="-336550">
              <a:spcBef>
                <a:spcPts val="500"/>
              </a:spcBef>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endParaRPr lang="en-US" sz="2000" dirty="0">
              <a:solidFill>
                <a:srgbClr val="FF0000"/>
              </a:solidFill>
              <a:latin typeface="Times New Roman" pitchFamily="16" charset="0"/>
            </a:endParaRPr>
          </a:p>
          <a:p>
            <a:pPr marL="338138" indent="-333375">
              <a:spcBef>
                <a:spcPts val="500"/>
              </a:spcBef>
              <a:buFont typeface="Times New Roman" pitchFamily="16" charset="0"/>
              <a:buChar char="•"/>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n-US" sz="2000" dirty="0">
                <a:solidFill>
                  <a:srgbClr val="000000"/>
                </a:solidFill>
                <a:latin typeface="Times New Roman" pitchFamily="16" charset="0"/>
              </a:rPr>
              <a:t>the halting problem is </a:t>
            </a:r>
            <a:r>
              <a:rPr lang="en-US" sz="2000" i="1" dirty="0">
                <a:solidFill>
                  <a:srgbClr val="FF0000"/>
                </a:solidFill>
                <a:latin typeface="Times New Roman" pitchFamily="16" charset="0"/>
              </a:rPr>
              <a:t>undecidable</a:t>
            </a:r>
            <a:r>
              <a:rPr lang="en-US" sz="2000" dirty="0">
                <a:solidFill>
                  <a:srgbClr val="FF0000"/>
                </a:solidFill>
                <a:latin typeface="Times New Roman" pitchFamily="16" charset="0"/>
              </a:rPr>
              <a:t> </a:t>
            </a:r>
            <a:r>
              <a:rPr lang="en-US" sz="2000" dirty="0">
                <a:solidFill>
                  <a:srgbClr val="000000"/>
                </a:solidFill>
                <a:latin typeface="Times New Roman" pitchFamily="16" charset="0"/>
              </a:rPr>
              <a:t>over Turing machines. It is one of the first examples of a </a:t>
            </a:r>
            <a:r>
              <a:rPr lang="en-US" sz="2000" dirty="0">
                <a:solidFill>
                  <a:srgbClr val="FF0000"/>
                </a:solidFill>
                <a:latin typeface="Times New Roman" pitchFamily="16" charset="0"/>
              </a:rPr>
              <a:t>decision problem.</a:t>
            </a:r>
          </a:p>
          <a:p>
            <a:pPr marL="341313" indent="-336550">
              <a:spcBef>
                <a:spcPts val="500"/>
              </a:spcBef>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endParaRPr lang="en-US" sz="2000" dirty="0">
              <a:solidFill>
                <a:srgbClr val="FF0000"/>
              </a:solidFill>
              <a:latin typeface="Times New Roman" pitchFamily="16" charset="0"/>
            </a:endParaRPr>
          </a:p>
          <a:p>
            <a:pPr marL="338138" indent="-333375">
              <a:spcBef>
                <a:spcPts val="500"/>
              </a:spcBef>
              <a:buFont typeface="Times New Roman" pitchFamily="16" charset="0"/>
              <a:buChar char="•"/>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n-US" sz="2000" dirty="0">
                <a:solidFill>
                  <a:srgbClr val="000000"/>
                </a:solidFill>
                <a:latin typeface="Times New Roman" pitchFamily="16" charset="0"/>
              </a:rPr>
              <a:t>For example, in pseudo code, the program:</a:t>
            </a:r>
          </a:p>
          <a:p>
            <a:pPr marL="736600" lvl="1" indent="-279400">
              <a:spcBef>
                <a:spcPts val="500"/>
              </a:spcBef>
              <a:buClr>
                <a:srgbClr val="FF0000"/>
              </a:buClr>
              <a:buFont typeface="Times New Roman" pitchFamily="16" charset="0"/>
              <a:buChar char="–"/>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n-US" sz="2000" dirty="0">
                <a:solidFill>
                  <a:srgbClr val="FF0000"/>
                </a:solidFill>
                <a:latin typeface="Times New Roman" pitchFamily="16" charset="0"/>
              </a:rPr>
              <a:t>while (true) continue </a:t>
            </a:r>
          </a:p>
          <a:p>
            <a:pPr marL="341313" indent="-336550">
              <a:spcBef>
                <a:spcPts val="500"/>
              </a:spcBef>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n-US" sz="2000" dirty="0">
                <a:solidFill>
                  <a:srgbClr val="000000"/>
                </a:solidFill>
                <a:latin typeface="Times New Roman" pitchFamily="16" charset="0"/>
              </a:rPr>
              <a:t>	does not halt; rather, it goes on forever in an infinite loop. On the other hand, the program</a:t>
            </a:r>
          </a:p>
          <a:p>
            <a:pPr marL="736600" lvl="1" indent="-279400">
              <a:spcBef>
                <a:spcPts val="500"/>
              </a:spcBef>
              <a:buClr>
                <a:srgbClr val="FF0000"/>
              </a:buClr>
              <a:buFont typeface="Times New Roman" pitchFamily="16" charset="0"/>
              <a:buChar char="–"/>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n-US" sz="2000" dirty="0">
                <a:solidFill>
                  <a:srgbClr val="FF0000"/>
                </a:solidFill>
                <a:latin typeface="Times New Roman" pitchFamily="16" charset="0"/>
              </a:rPr>
              <a:t>print "Hello, world!" </a:t>
            </a:r>
          </a:p>
        </p:txBody>
      </p:sp>
    </p:spTree>
    <p:extLst>
      <p:ext uri="{BB962C8B-B14F-4D97-AF65-F5344CB8AC3E}">
        <p14:creationId xmlns:p14="http://schemas.microsoft.com/office/powerpoint/2010/main" val="2227481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1524000" y="1"/>
            <a:ext cx="10251440" cy="955339"/>
          </a:xfrm>
        </p:spPr>
        <p:txBody>
          <a:bodyPr>
            <a:normAutofit/>
          </a:bodyPr>
          <a:lstStyle/>
          <a:p>
            <a:pPr eaLnBrk="1" hangingPunct="1"/>
            <a:r>
              <a:rPr lang="en-US" dirty="0">
                <a:solidFill>
                  <a:srgbClr val="0070C0"/>
                </a:solidFill>
                <a:latin typeface="Times New Roman" pitchFamily="18" charset="0"/>
                <a:cs typeface="Times New Roman" pitchFamily="18" charset="0"/>
              </a:rPr>
              <a:t>       </a:t>
            </a:r>
            <a:r>
              <a:rPr lang="en-US" sz="3600" dirty="0">
                <a:solidFill>
                  <a:srgbClr val="0070C0"/>
                </a:solidFill>
                <a:latin typeface="Times New Roman" pitchFamily="18" charset="0"/>
                <a:cs typeface="Times New Roman" pitchFamily="18" charset="0"/>
              </a:rPr>
              <a:t>Halting Problem and Unsolvablity</a:t>
            </a:r>
            <a:endParaRPr lang="en-US" dirty="0">
              <a:solidFill>
                <a:srgbClr val="0070C0"/>
              </a:solidFill>
              <a:latin typeface="Times New Roman" pitchFamily="18" charset="0"/>
              <a:cs typeface="Times New Roman" pitchFamily="18" charset="0"/>
            </a:endParaRPr>
          </a:p>
        </p:txBody>
      </p:sp>
      <p:sp>
        <p:nvSpPr>
          <p:cNvPr id="3" name="Subtitle 2"/>
          <p:cNvSpPr>
            <a:spLocks noGrp="1"/>
          </p:cNvSpPr>
          <p:nvPr>
            <p:ph type="subTitle" idx="1"/>
          </p:nvPr>
        </p:nvSpPr>
        <p:spPr>
          <a:xfrm>
            <a:off x="1524000" y="1447800"/>
            <a:ext cx="9144000" cy="5410200"/>
          </a:xfrm>
        </p:spPr>
        <p:txBody>
          <a:bodyPr rtlCol="0">
            <a:normAutofit/>
          </a:bodyPr>
          <a:lstStyle/>
          <a:p>
            <a:pPr algn="just">
              <a:lnSpc>
                <a:spcPct val="80000"/>
              </a:lnSpc>
              <a:buFont typeface="Arial" pitchFamily="34" charset="0"/>
              <a:buChar char="•"/>
              <a:defRPr/>
            </a:pPr>
            <a:endParaRPr lang="en-US" sz="2000" dirty="0">
              <a:solidFill>
                <a:srgbClr val="006600"/>
              </a:solidFill>
            </a:endParaRPr>
          </a:p>
          <a:p>
            <a:pPr algn="just">
              <a:buFont typeface="Arial" pitchFamily="34" charset="0"/>
              <a:buChar char="•"/>
              <a:defRPr/>
            </a:pPr>
            <a:endParaRPr lang="en-US" dirty="0"/>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31729" y="41118"/>
            <a:ext cx="1143000" cy="782411"/>
          </a:xfrm>
          <a:prstGeom prst="rect">
            <a:avLst/>
          </a:prstGeom>
        </p:spPr>
      </p:pic>
      <p:sp>
        <p:nvSpPr>
          <p:cNvPr id="9" name="object 5"/>
          <p:cNvSpPr txBox="1"/>
          <p:nvPr/>
        </p:nvSpPr>
        <p:spPr>
          <a:xfrm>
            <a:off x="984209" y="1284881"/>
            <a:ext cx="4724400" cy="2987997"/>
          </a:xfrm>
          <a:prstGeom prst="rect">
            <a:avLst/>
          </a:prstGeom>
        </p:spPr>
        <p:txBody>
          <a:bodyPr vert="horz" wrap="square" lIns="0" tIns="12700" rIns="0" bIns="0" rtlCol="0">
            <a:spAutoFit/>
          </a:bodyPr>
          <a:lstStyle/>
          <a:p>
            <a:pPr marL="286385" marR="6985" indent="-274320" algn="just">
              <a:spcBef>
                <a:spcPts val="100"/>
              </a:spcBef>
            </a:pPr>
            <a:r>
              <a:rPr sz="1500" dirty="0">
                <a:solidFill>
                  <a:srgbClr val="D24717"/>
                </a:solidFill>
                <a:latin typeface="Wingdings"/>
                <a:cs typeface="Wingdings"/>
              </a:rPr>
              <a:t></a:t>
            </a:r>
            <a:r>
              <a:rPr sz="1500" dirty="0">
                <a:solidFill>
                  <a:srgbClr val="D24717"/>
                </a:solidFill>
                <a:latin typeface="Times New Roman"/>
                <a:cs typeface="Times New Roman"/>
              </a:rPr>
              <a:t> </a:t>
            </a:r>
            <a:r>
              <a:rPr dirty="0">
                <a:solidFill>
                  <a:srgbClr val="252525"/>
                </a:solidFill>
                <a:latin typeface="Book Antiqua"/>
                <a:cs typeface="Book Antiqua"/>
              </a:rPr>
              <a:t>For a </a:t>
            </a:r>
            <a:r>
              <a:rPr spc="-5" dirty="0">
                <a:solidFill>
                  <a:srgbClr val="252525"/>
                </a:solidFill>
                <a:latin typeface="Book Antiqua"/>
                <a:cs typeface="Book Antiqua"/>
              </a:rPr>
              <a:t>given input </a:t>
            </a:r>
            <a:r>
              <a:rPr dirty="0">
                <a:solidFill>
                  <a:srgbClr val="252525"/>
                </a:solidFill>
                <a:latin typeface="Book Antiqua"/>
                <a:cs typeface="Book Antiqua"/>
              </a:rPr>
              <a:t>for any </a:t>
            </a:r>
            <a:r>
              <a:rPr spc="-5" dirty="0">
                <a:solidFill>
                  <a:srgbClr val="252525"/>
                </a:solidFill>
                <a:latin typeface="Book Antiqua"/>
                <a:cs typeface="Book Antiqua"/>
              </a:rPr>
              <a:t>general </a:t>
            </a:r>
            <a:r>
              <a:rPr dirty="0">
                <a:solidFill>
                  <a:srgbClr val="252525"/>
                </a:solidFill>
                <a:latin typeface="Book Antiqua"/>
                <a:cs typeface="Book Antiqua"/>
              </a:rPr>
              <a:t>TM </a:t>
            </a:r>
            <a:r>
              <a:rPr spc="-5" dirty="0">
                <a:solidFill>
                  <a:srgbClr val="252525"/>
                </a:solidFill>
                <a:latin typeface="Book Antiqua"/>
                <a:cs typeface="Book Antiqua"/>
              </a:rPr>
              <a:t>two  cases arise,</a:t>
            </a:r>
            <a:endParaRPr dirty="0">
              <a:latin typeface="Book Antiqua"/>
              <a:cs typeface="Book Antiqua"/>
            </a:endParaRPr>
          </a:p>
          <a:p>
            <a:pPr marL="596265" marR="5080" indent="-274320">
              <a:spcBef>
                <a:spcPts val="360"/>
              </a:spcBef>
            </a:pPr>
            <a:r>
              <a:rPr dirty="0">
                <a:solidFill>
                  <a:srgbClr val="D24717"/>
                </a:solidFill>
                <a:latin typeface="Wingdings"/>
                <a:cs typeface="Wingdings"/>
              </a:rPr>
              <a:t></a:t>
            </a:r>
            <a:r>
              <a:rPr dirty="0">
                <a:solidFill>
                  <a:srgbClr val="D24717"/>
                </a:solidFill>
                <a:latin typeface="Times New Roman"/>
                <a:cs typeface="Times New Roman"/>
              </a:rPr>
              <a:t> </a:t>
            </a:r>
            <a:r>
              <a:rPr dirty="0">
                <a:solidFill>
                  <a:srgbClr val="252525"/>
                </a:solidFill>
                <a:latin typeface="Book Antiqua"/>
                <a:cs typeface="Book Antiqua"/>
              </a:rPr>
              <a:t>The </a:t>
            </a:r>
            <a:r>
              <a:rPr spc="-5" dirty="0">
                <a:solidFill>
                  <a:srgbClr val="252525"/>
                </a:solidFill>
                <a:latin typeface="Book Antiqua"/>
                <a:cs typeface="Book Antiqua"/>
              </a:rPr>
              <a:t>machine may </a:t>
            </a:r>
            <a:r>
              <a:rPr dirty="0">
                <a:solidFill>
                  <a:srgbClr val="252525"/>
                </a:solidFill>
                <a:latin typeface="Book Antiqua"/>
                <a:cs typeface="Book Antiqua"/>
              </a:rPr>
              <a:t>halt </a:t>
            </a:r>
            <a:r>
              <a:rPr spc="-5" dirty="0">
                <a:solidFill>
                  <a:srgbClr val="252525"/>
                </a:solidFill>
                <a:latin typeface="Book Antiqua"/>
                <a:cs typeface="Book Antiqua"/>
              </a:rPr>
              <a:t>after </a:t>
            </a:r>
            <a:r>
              <a:rPr dirty="0">
                <a:solidFill>
                  <a:srgbClr val="252525"/>
                </a:solidFill>
                <a:latin typeface="Book Antiqua"/>
                <a:cs typeface="Book Antiqua"/>
              </a:rPr>
              <a:t>a finite  </a:t>
            </a:r>
            <a:r>
              <a:rPr spc="-5" dirty="0">
                <a:solidFill>
                  <a:srgbClr val="252525"/>
                </a:solidFill>
                <a:latin typeface="Book Antiqua"/>
                <a:cs typeface="Book Antiqua"/>
              </a:rPr>
              <a:t>number of</a:t>
            </a:r>
            <a:r>
              <a:rPr spc="-10" dirty="0">
                <a:solidFill>
                  <a:srgbClr val="252525"/>
                </a:solidFill>
                <a:latin typeface="Book Antiqua"/>
                <a:cs typeface="Book Antiqua"/>
              </a:rPr>
              <a:t> </a:t>
            </a:r>
            <a:r>
              <a:rPr spc="-5" dirty="0">
                <a:solidFill>
                  <a:srgbClr val="252525"/>
                </a:solidFill>
                <a:latin typeface="Book Antiqua"/>
                <a:cs typeface="Book Antiqua"/>
              </a:rPr>
              <a:t>steps</a:t>
            </a:r>
            <a:endParaRPr dirty="0">
              <a:latin typeface="Book Antiqua"/>
              <a:cs typeface="Book Antiqua"/>
            </a:endParaRPr>
          </a:p>
          <a:p>
            <a:pPr marL="596265" marR="5080" indent="-274320">
              <a:spcBef>
                <a:spcPts val="360"/>
              </a:spcBef>
            </a:pPr>
            <a:r>
              <a:rPr dirty="0">
                <a:solidFill>
                  <a:srgbClr val="D24717"/>
                </a:solidFill>
                <a:latin typeface="Wingdings"/>
                <a:cs typeface="Wingdings"/>
              </a:rPr>
              <a:t></a:t>
            </a:r>
            <a:r>
              <a:rPr dirty="0">
                <a:solidFill>
                  <a:srgbClr val="D24717"/>
                </a:solidFill>
                <a:latin typeface="Times New Roman"/>
                <a:cs typeface="Times New Roman"/>
              </a:rPr>
              <a:t> </a:t>
            </a:r>
            <a:r>
              <a:rPr dirty="0">
                <a:solidFill>
                  <a:srgbClr val="252525"/>
                </a:solidFill>
                <a:latin typeface="Book Antiqua"/>
                <a:cs typeface="Book Antiqua"/>
              </a:rPr>
              <a:t>The </a:t>
            </a:r>
            <a:r>
              <a:rPr spc="-5" dirty="0">
                <a:solidFill>
                  <a:srgbClr val="252525"/>
                </a:solidFill>
                <a:latin typeface="Book Antiqua"/>
                <a:cs typeface="Book Antiqua"/>
              </a:rPr>
              <a:t>machine may </a:t>
            </a:r>
            <a:r>
              <a:rPr dirty="0">
                <a:solidFill>
                  <a:srgbClr val="252525"/>
                </a:solidFill>
                <a:latin typeface="Book Antiqua"/>
                <a:cs typeface="Book Antiqua"/>
              </a:rPr>
              <a:t>not </a:t>
            </a:r>
            <a:r>
              <a:rPr spc="-5" dirty="0">
                <a:solidFill>
                  <a:srgbClr val="252525"/>
                </a:solidFill>
                <a:latin typeface="Book Antiqua"/>
                <a:cs typeface="Book Antiqua"/>
              </a:rPr>
              <a:t>ever </a:t>
            </a:r>
            <a:r>
              <a:rPr dirty="0">
                <a:solidFill>
                  <a:srgbClr val="252525"/>
                </a:solidFill>
                <a:latin typeface="Book Antiqua"/>
                <a:cs typeface="Book Antiqua"/>
              </a:rPr>
              <a:t>halt no  </a:t>
            </a:r>
            <a:r>
              <a:rPr spc="-5" dirty="0">
                <a:solidFill>
                  <a:srgbClr val="252525"/>
                </a:solidFill>
                <a:latin typeface="Book Antiqua"/>
                <a:cs typeface="Book Antiqua"/>
              </a:rPr>
              <a:t>matter </a:t>
            </a:r>
            <a:r>
              <a:rPr dirty="0">
                <a:solidFill>
                  <a:srgbClr val="252525"/>
                </a:solidFill>
                <a:latin typeface="Book Antiqua"/>
                <a:cs typeface="Book Antiqua"/>
              </a:rPr>
              <a:t>how </a:t>
            </a:r>
            <a:r>
              <a:rPr spc="-5" dirty="0">
                <a:solidFill>
                  <a:srgbClr val="252525"/>
                </a:solidFill>
                <a:latin typeface="Book Antiqua"/>
                <a:cs typeface="Book Antiqua"/>
              </a:rPr>
              <a:t>long it runs</a:t>
            </a:r>
            <a:endParaRPr dirty="0">
              <a:latin typeface="Book Antiqua"/>
              <a:cs typeface="Book Antiqua"/>
            </a:endParaRPr>
          </a:p>
          <a:p>
            <a:pPr marL="286385" marR="6350" indent="-274320" algn="just">
              <a:lnSpc>
                <a:spcPct val="100200"/>
              </a:lnSpc>
              <a:spcBef>
                <a:spcPts val="360"/>
              </a:spcBef>
            </a:pPr>
            <a:r>
              <a:rPr dirty="0">
                <a:solidFill>
                  <a:srgbClr val="D24717"/>
                </a:solidFill>
                <a:latin typeface="Wingdings"/>
                <a:cs typeface="Wingdings"/>
              </a:rPr>
              <a:t></a:t>
            </a:r>
            <a:r>
              <a:rPr dirty="0">
                <a:solidFill>
                  <a:srgbClr val="D24717"/>
                </a:solidFill>
                <a:latin typeface="Times New Roman"/>
                <a:cs typeface="Times New Roman"/>
              </a:rPr>
              <a:t> </a:t>
            </a:r>
            <a:r>
              <a:rPr spc="-5" dirty="0">
                <a:solidFill>
                  <a:srgbClr val="252525"/>
                </a:solidFill>
                <a:latin typeface="Book Antiqua"/>
                <a:cs typeface="Book Antiqua"/>
              </a:rPr>
              <a:t>Given </a:t>
            </a:r>
            <a:r>
              <a:rPr dirty="0">
                <a:solidFill>
                  <a:srgbClr val="252525"/>
                </a:solidFill>
                <a:latin typeface="Book Antiqua"/>
                <a:cs typeface="Book Antiqua"/>
              </a:rPr>
              <a:t>any TM, </a:t>
            </a:r>
            <a:r>
              <a:rPr spc="-5" dirty="0">
                <a:solidFill>
                  <a:srgbClr val="252525"/>
                </a:solidFill>
                <a:latin typeface="Book Antiqua"/>
                <a:cs typeface="Book Antiqua"/>
              </a:rPr>
              <a:t>problem of  algorithmically determining </a:t>
            </a:r>
            <a:r>
              <a:rPr dirty="0">
                <a:solidFill>
                  <a:srgbClr val="252525"/>
                </a:solidFill>
                <a:latin typeface="Book Antiqua"/>
                <a:cs typeface="Book Antiqua"/>
              </a:rPr>
              <a:t>whether </a:t>
            </a:r>
            <a:r>
              <a:rPr spc="-5" dirty="0">
                <a:solidFill>
                  <a:srgbClr val="252525"/>
                </a:solidFill>
                <a:latin typeface="Book Antiqua"/>
                <a:cs typeface="Book Antiqua"/>
              </a:rPr>
              <a:t>it  </a:t>
            </a:r>
            <a:r>
              <a:rPr dirty="0">
                <a:solidFill>
                  <a:srgbClr val="252525"/>
                </a:solidFill>
                <a:latin typeface="Book Antiqua"/>
                <a:cs typeface="Book Antiqua"/>
              </a:rPr>
              <a:t>ever </a:t>
            </a:r>
            <a:r>
              <a:rPr spc="-5" dirty="0">
                <a:solidFill>
                  <a:srgbClr val="252525"/>
                </a:solidFill>
                <a:latin typeface="Book Antiqua"/>
                <a:cs typeface="Book Antiqua"/>
              </a:rPr>
              <a:t>halts or </a:t>
            </a:r>
            <a:r>
              <a:rPr dirty="0">
                <a:solidFill>
                  <a:srgbClr val="252525"/>
                </a:solidFill>
                <a:latin typeface="Book Antiqua"/>
                <a:cs typeface="Book Antiqua"/>
              </a:rPr>
              <a:t>not, </a:t>
            </a:r>
            <a:r>
              <a:rPr spc="-5" dirty="0">
                <a:solidFill>
                  <a:srgbClr val="252525"/>
                </a:solidFill>
                <a:latin typeface="Book Antiqua"/>
                <a:cs typeface="Book Antiqua"/>
              </a:rPr>
              <a:t>is called </a:t>
            </a:r>
            <a:r>
              <a:rPr dirty="0">
                <a:solidFill>
                  <a:srgbClr val="252525"/>
                </a:solidFill>
                <a:latin typeface="Book Antiqua"/>
                <a:cs typeface="Book Antiqua"/>
              </a:rPr>
              <a:t>as the </a:t>
            </a:r>
            <a:r>
              <a:rPr b="1" dirty="0">
                <a:solidFill>
                  <a:srgbClr val="252525"/>
                </a:solidFill>
                <a:latin typeface="Book Antiqua"/>
                <a:cs typeface="Book Antiqua"/>
              </a:rPr>
              <a:t>Halting  </a:t>
            </a:r>
            <a:r>
              <a:rPr b="1" spc="-5" dirty="0">
                <a:solidFill>
                  <a:srgbClr val="252525"/>
                </a:solidFill>
                <a:latin typeface="Book Antiqua"/>
                <a:cs typeface="Book Antiqua"/>
              </a:rPr>
              <a:t>Problem</a:t>
            </a:r>
            <a:endParaRPr dirty="0">
              <a:latin typeface="Book Antiqua"/>
              <a:cs typeface="Book Antiqua"/>
            </a:endParaRPr>
          </a:p>
          <a:p>
            <a:pPr marL="12700">
              <a:spcBef>
                <a:spcPts val="350"/>
              </a:spcBef>
            </a:pPr>
            <a:r>
              <a:rPr dirty="0">
                <a:solidFill>
                  <a:srgbClr val="D24717"/>
                </a:solidFill>
                <a:latin typeface="Wingdings"/>
                <a:cs typeface="Wingdings"/>
              </a:rPr>
              <a:t></a:t>
            </a:r>
            <a:r>
              <a:rPr dirty="0">
                <a:solidFill>
                  <a:srgbClr val="D24717"/>
                </a:solidFill>
                <a:latin typeface="Times New Roman"/>
                <a:cs typeface="Times New Roman"/>
              </a:rPr>
              <a:t> </a:t>
            </a:r>
            <a:r>
              <a:rPr dirty="0">
                <a:solidFill>
                  <a:srgbClr val="252525"/>
                </a:solidFill>
                <a:latin typeface="Book Antiqua"/>
                <a:cs typeface="Book Antiqua"/>
              </a:rPr>
              <a:t>The </a:t>
            </a:r>
            <a:r>
              <a:rPr spc="-5" dirty="0">
                <a:solidFill>
                  <a:srgbClr val="252525"/>
                </a:solidFill>
                <a:latin typeface="Book Antiqua"/>
                <a:cs typeface="Book Antiqua"/>
              </a:rPr>
              <a:t>halting problem is</a:t>
            </a:r>
            <a:r>
              <a:rPr spc="-90" dirty="0">
                <a:solidFill>
                  <a:srgbClr val="252525"/>
                </a:solidFill>
                <a:latin typeface="Book Antiqua"/>
                <a:cs typeface="Book Antiqua"/>
              </a:rPr>
              <a:t> </a:t>
            </a:r>
            <a:r>
              <a:rPr b="1" spc="-5" dirty="0">
                <a:solidFill>
                  <a:srgbClr val="252525"/>
                </a:solidFill>
                <a:latin typeface="Book Antiqua"/>
                <a:cs typeface="Book Antiqua"/>
              </a:rPr>
              <a:t>unsolvable</a:t>
            </a:r>
            <a:endParaRPr dirty="0">
              <a:latin typeface="Book Antiqua"/>
              <a:cs typeface="Book Antiqua"/>
            </a:endParaRPr>
          </a:p>
        </p:txBody>
      </p:sp>
      <p:sp>
        <p:nvSpPr>
          <p:cNvPr id="10" name="object 7"/>
          <p:cNvSpPr/>
          <p:nvPr/>
        </p:nvSpPr>
        <p:spPr>
          <a:xfrm>
            <a:off x="6626861" y="1540568"/>
            <a:ext cx="3665219" cy="1383780"/>
          </a:xfrm>
          <a:prstGeom prst="rect">
            <a:avLst/>
          </a:prstGeom>
          <a:blipFill>
            <a:blip r:embed="rId3" cstate="print"/>
            <a:stretch>
              <a:fillRect/>
            </a:stretch>
          </a:blipFill>
        </p:spPr>
        <p:txBody>
          <a:bodyPr wrap="square" lIns="0" tIns="0" rIns="0" bIns="0" rtlCol="0"/>
          <a:lstStyle/>
          <a:p>
            <a:endParaRPr/>
          </a:p>
        </p:txBody>
      </p:sp>
      <p:sp>
        <p:nvSpPr>
          <p:cNvPr id="11" name="object 8"/>
          <p:cNvSpPr/>
          <p:nvPr/>
        </p:nvSpPr>
        <p:spPr>
          <a:xfrm>
            <a:off x="6626861" y="3429000"/>
            <a:ext cx="3837325" cy="1814207"/>
          </a:xfrm>
          <a:prstGeom prst="rect">
            <a:avLst/>
          </a:prstGeom>
          <a:blipFill>
            <a:blip r:embed="rId4" cstate="print"/>
            <a:stretch>
              <a:fillRect/>
            </a:stretch>
          </a:blipFill>
        </p:spPr>
        <p:txBody>
          <a:bodyPr wrap="square" lIns="0" tIns="0" rIns="0" bIns="0" rtlCol="0"/>
          <a:lstStyle/>
          <a:p>
            <a:endParaRPr/>
          </a:p>
        </p:txBody>
      </p:sp>
      <p:sp>
        <p:nvSpPr>
          <p:cNvPr id="12" name="object 9"/>
          <p:cNvSpPr/>
          <p:nvPr/>
        </p:nvSpPr>
        <p:spPr>
          <a:xfrm>
            <a:off x="2216129" y="4714494"/>
            <a:ext cx="3492480" cy="1391666"/>
          </a:xfrm>
          <a:prstGeom prst="rect">
            <a:avLst/>
          </a:prstGeom>
          <a:blipFill>
            <a:blip r:embed="rId5"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585565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1828800" y="-173831"/>
            <a:ext cx="9144000" cy="1167701"/>
          </a:xfrm>
        </p:spPr>
        <p:txBody>
          <a:bodyPr/>
          <a:lstStyle/>
          <a:p>
            <a:r>
              <a:rPr lang="en-US" sz="3600" dirty="0">
                <a:solidFill>
                  <a:srgbClr val="0070C0"/>
                </a:solidFill>
                <a:latin typeface="Times New Roman" panose="02020603050405020304" pitchFamily="18" charset="0"/>
                <a:cs typeface="Times New Roman" panose="02020603050405020304" pitchFamily="18" charset="0"/>
              </a:rPr>
              <a:t>Proof :-Halting problem is undecidable </a:t>
            </a:r>
          </a:p>
        </p:txBody>
      </p:sp>
      <p:sp>
        <p:nvSpPr>
          <p:cNvPr id="3" name="Subtitle 2"/>
          <p:cNvSpPr>
            <a:spLocks noGrp="1"/>
          </p:cNvSpPr>
          <p:nvPr>
            <p:ph type="subTitle" idx="1"/>
          </p:nvPr>
        </p:nvSpPr>
        <p:spPr>
          <a:xfrm>
            <a:off x="1524000" y="1447800"/>
            <a:ext cx="9144000" cy="5410200"/>
          </a:xfrm>
        </p:spPr>
        <p:txBody>
          <a:bodyPr rtlCol="0">
            <a:normAutofit/>
          </a:bodyPr>
          <a:lstStyle/>
          <a:p>
            <a:pPr marL="342900" indent="-3429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Proof by contradiction</a:t>
            </a:r>
          </a:p>
          <a:p>
            <a:pPr marL="342900" indent="-3429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There is a Turing machine T that will decide the halting problem.&lt;M&gt; this is the description of Turing machine M and string W . T write "accept" when  M halts on w, and reject If M does not halts on W</a:t>
            </a:r>
          </a:p>
          <a:p>
            <a:pPr marL="342900" indent="-342900" algn="l">
              <a:buFont typeface="Arial" panose="020B0604020202020204" pitchFamily="34" charset="0"/>
              <a:buChar char="•"/>
            </a:pPr>
            <a:endParaRPr lang="en-US" dirty="0">
              <a:solidFill>
                <a:schemeClr val="tx1"/>
              </a:solidFill>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76200" y="91196"/>
            <a:ext cx="1143000" cy="782411"/>
          </a:xfrm>
          <a:prstGeom prst="rect">
            <a:avLst/>
          </a:prstGeom>
        </p:spPr>
      </p:pic>
      <p:pic>
        <p:nvPicPr>
          <p:cNvPr id="15" name="Picture 14"/>
          <p:cNvPicPr>
            <a:picLocks noChangeAspect="1"/>
          </p:cNvPicPr>
          <p:nvPr/>
        </p:nvPicPr>
        <p:blipFill>
          <a:blip r:embed="rId3" cstate="print"/>
          <a:stretch>
            <a:fillRect/>
          </a:stretch>
        </p:blipFill>
        <p:spPr>
          <a:xfrm>
            <a:off x="3048001" y="4419600"/>
            <a:ext cx="6531853" cy="1986058"/>
          </a:xfrm>
          <a:prstGeom prst="rect">
            <a:avLst/>
          </a:prstGeom>
        </p:spPr>
      </p:pic>
    </p:spTree>
    <p:extLst>
      <p:ext uri="{BB962C8B-B14F-4D97-AF65-F5344CB8AC3E}">
        <p14:creationId xmlns:p14="http://schemas.microsoft.com/office/powerpoint/2010/main" val="3137488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09440" y="1335997"/>
            <a:ext cx="7727795" cy="2301656"/>
          </a:xfrm>
          <a:prstGeom prst="rect">
            <a:avLst/>
          </a:prstGeom>
        </p:spPr>
        <p:txBody>
          <a:bodyPr wrap="square">
            <a:spAutoFit/>
          </a:bodyPr>
          <a:lstStyle/>
          <a:p>
            <a:pPr>
              <a:lnSpc>
                <a:spcPct val="107000"/>
              </a:lnSpc>
              <a:spcAft>
                <a:spcPts val="600"/>
              </a:spcAft>
            </a:pPr>
            <a:r>
              <a:rPr lang="en-GB" sz="2700" dirty="0">
                <a:latin typeface="Times New Roman" panose="02020603050405020304" pitchFamily="18" charset="0"/>
                <a:ea typeface="Calibri" panose="020F0502020204030204" pitchFamily="34" charset="0"/>
                <a:cs typeface="Arial" panose="020B0604020202020204" pitchFamily="34" charset="0"/>
              </a:rPr>
              <a:t>We build a Turing machine Tm and here we standardizing T so when T write yes and halt then Tm will goes into loop forever  </a:t>
            </a:r>
            <a:endParaRPr lang="en-US" sz="27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600"/>
              </a:spcAft>
            </a:pPr>
            <a:r>
              <a:rPr lang="en-GB" sz="2700" dirty="0">
                <a:latin typeface="Times New Roman" panose="02020603050405020304" pitchFamily="18" charset="0"/>
                <a:ea typeface="Calibri" panose="020F0502020204030204" pitchFamily="34" charset="0"/>
                <a:cs typeface="Arial" panose="020B0604020202020204" pitchFamily="34" charset="0"/>
              </a:rPr>
              <a:t> </a:t>
            </a:r>
            <a:endParaRPr lang="en-US" sz="2700" dirty="0">
              <a:latin typeface="Calibri" panose="020F0502020204030204" pitchFamily="34" charset="0"/>
              <a:ea typeface="Calibri" panose="020F0502020204030204" pitchFamily="34" charset="0"/>
              <a:cs typeface="Arial" panose="020B0604020202020204" pitchFamily="34" charset="0"/>
            </a:endParaRPr>
          </a:p>
          <a:p>
            <a:r>
              <a:rPr lang="en-GB" dirty="0">
                <a:latin typeface="Times New Roman" panose="02020603050405020304" pitchFamily="18" charset="0"/>
                <a:ea typeface="Calibri" panose="020F0502020204030204" pitchFamily="34" charset="0"/>
              </a:rPr>
              <a:t>                </a:t>
            </a:r>
            <a:endParaRPr lang="en-US" dirty="0"/>
          </a:p>
        </p:txBody>
      </p:sp>
      <p:pic>
        <p:nvPicPr>
          <p:cNvPr id="5" name="Picture 4"/>
          <p:cNvPicPr>
            <a:picLocks noChangeAspect="1"/>
          </p:cNvPicPr>
          <p:nvPr/>
        </p:nvPicPr>
        <p:blipFill>
          <a:blip r:embed="rId2" cstate="print"/>
          <a:stretch>
            <a:fillRect/>
          </a:stretch>
        </p:blipFill>
        <p:spPr>
          <a:xfrm>
            <a:off x="2577791" y="2964831"/>
            <a:ext cx="6473283" cy="2785018"/>
          </a:xfrm>
          <a:prstGeom prst="rect">
            <a:avLst/>
          </a:prstGeom>
        </p:spPr>
      </p:pic>
      <p:sp>
        <p:nvSpPr>
          <p:cNvPr id="7" name="Title 1"/>
          <p:cNvSpPr txBox="1">
            <a:spLocks/>
          </p:cNvSpPr>
          <p:nvPr/>
        </p:nvSpPr>
        <p:spPr>
          <a:xfrm>
            <a:off x="1752600" y="252972"/>
            <a:ext cx="9144000" cy="771404"/>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sz="3600" dirty="0">
                <a:solidFill>
                  <a:srgbClr val="0070C0"/>
                </a:solidFill>
                <a:latin typeface="Times New Roman" panose="02020603050405020304" pitchFamily="18" charset="0"/>
                <a:cs typeface="Times New Roman" panose="02020603050405020304" pitchFamily="18" charset="0"/>
              </a:rPr>
              <a:t>Proof :-Halting problem is undecidable </a:t>
            </a:r>
          </a:p>
        </p:txBody>
      </p:sp>
      <p:cxnSp>
        <p:nvCxnSpPr>
          <p:cNvPr id="8" name="Straight Connector 7"/>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0" y="8754"/>
            <a:ext cx="1143000" cy="782411"/>
          </a:xfrm>
          <a:prstGeom prst="rect">
            <a:avLst/>
          </a:prstGeom>
        </p:spPr>
      </p:pic>
    </p:spTree>
    <p:extLst>
      <p:ext uri="{BB962C8B-B14F-4D97-AF65-F5344CB8AC3E}">
        <p14:creationId xmlns:p14="http://schemas.microsoft.com/office/powerpoint/2010/main" val="3292411291"/>
      </p:ext>
    </p:extLst>
  </p:cSld>
  <p:clrMapOvr>
    <a:masterClrMapping/>
  </p:clrMapOvr>
  <p:transition advTm="22012"/>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75625" y="1463002"/>
            <a:ext cx="8363414" cy="2797945"/>
          </a:xfrm>
          <a:prstGeom prst="rect">
            <a:avLst/>
          </a:prstGeom>
        </p:spPr>
        <p:txBody>
          <a:bodyPr wrap="square">
            <a:spAutoFit/>
          </a:bodyPr>
          <a:lstStyle/>
          <a:p>
            <a:pPr>
              <a:lnSpc>
                <a:spcPct val="107000"/>
              </a:lnSpc>
              <a:spcAft>
                <a:spcPts val="600"/>
              </a:spcAft>
            </a:pPr>
            <a:r>
              <a:rPr lang="en-GB" sz="2400" dirty="0">
                <a:latin typeface="Times New Roman" panose="02020603050405020304" pitchFamily="18" charset="0"/>
                <a:ea typeface="Calibri" panose="020F0502020204030204" pitchFamily="34" charset="0"/>
                <a:cs typeface="Arial" panose="020B0604020202020204" pitchFamily="34" charset="0"/>
              </a:rPr>
              <a:t>we build </a:t>
            </a:r>
            <a:r>
              <a:rPr lang="en-GB" sz="2400" dirty="0" err="1">
                <a:latin typeface="Times New Roman" panose="02020603050405020304" pitchFamily="18" charset="0"/>
                <a:ea typeface="Calibri" panose="020F0502020204030204" pitchFamily="34" charset="0"/>
                <a:cs typeface="Arial" panose="020B0604020202020204" pitchFamily="34" charset="0"/>
              </a:rPr>
              <a:t>Tc</a:t>
            </a:r>
            <a:r>
              <a:rPr lang="en-GB" sz="2400" dirty="0">
                <a:latin typeface="Times New Roman" panose="02020603050405020304" pitchFamily="18" charset="0"/>
                <a:ea typeface="Calibri" panose="020F0502020204030204" pitchFamily="34" charset="0"/>
                <a:cs typeface="Arial" panose="020B0604020202020204" pitchFamily="34" charset="0"/>
              </a:rPr>
              <a:t> with the help of TM. Here we take Tc  as input  which is the description of Turing machine M  and we write it in this way  d(M)  now we copies it to obtain the string d(M)*d(M), where * is a symbol that break up  the two copies of d(M) and then provide  d(M)*d(M) to the Turing machine Tm </a:t>
            </a:r>
            <a:r>
              <a:rPr lang="en-GB" sz="3000" dirty="0">
                <a:latin typeface="Times New Roman" panose="02020603050405020304" pitchFamily="18" charset="0"/>
                <a:ea typeface="Calibri" panose="020F0502020204030204" pitchFamily="34" charset="0"/>
                <a:cs typeface="Arial" panose="020B0604020202020204" pitchFamily="34" charset="0"/>
              </a:rPr>
              <a:t>. </a:t>
            </a:r>
            <a:endParaRPr lang="en-US" sz="3000" dirty="0">
              <a:latin typeface="Calibri" panose="020F0502020204030204" pitchFamily="34" charset="0"/>
              <a:ea typeface="Calibri" panose="020F0502020204030204" pitchFamily="34" charset="0"/>
              <a:cs typeface="Arial" panose="020B0604020202020204" pitchFamily="34" charset="0"/>
            </a:endParaRPr>
          </a:p>
          <a:p>
            <a:br>
              <a:rPr lang="en-GB" dirty="0">
                <a:latin typeface="Times New Roman" panose="02020603050405020304" pitchFamily="18" charset="0"/>
                <a:ea typeface="Calibri" panose="020F0502020204030204" pitchFamily="34" charset="0"/>
              </a:rPr>
            </a:br>
            <a:endParaRPr lang="en-US" dirty="0"/>
          </a:p>
        </p:txBody>
      </p:sp>
      <p:pic>
        <p:nvPicPr>
          <p:cNvPr id="3" name="Picture 2" descr="http://www.cs.odu.edu/~toida/nerzic/390teched/figures/unsolv-3.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00258" y="3876445"/>
            <a:ext cx="6385109" cy="1957755"/>
          </a:xfrm>
          <a:prstGeom prst="rect">
            <a:avLst/>
          </a:prstGeom>
          <a:noFill/>
          <a:ln>
            <a:noFill/>
          </a:ln>
        </p:spPr>
      </p:pic>
      <p:sp>
        <p:nvSpPr>
          <p:cNvPr id="5" name="Title 1"/>
          <p:cNvSpPr txBox="1">
            <a:spLocks/>
          </p:cNvSpPr>
          <p:nvPr/>
        </p:nvSpPr>
        <p:spPr>
          <a:xfrm>
            <a:off x="1752600" y="263363"/>
            <a:ext cx="9144000" cy="1470025"/>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sz="3600" dirty="0">
                <a:solidFill>
                  <a:srgbClr val="0070C0"/>
                </a:solidFill>
                <a:latin typeface="Times New Roman" panose="02020603050405020304" pitchFamily="18" charset="0"/>
                <a:cs typeface="Times New Roman" panose="02020603050405020304" pitchFamily="18" charset="0"/>
              </a:rPr>
              <a:t>Proof :-Halting problem is undecidable </a:t>
            </a:r>
          </a:p>
        </p:txBody>
      </p:sp>
      <p:cxnSp>
        <p:nvCxnSpPr>
          <p:cNvPr id="6" name="Straight Connector 5"/>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3"/>
          <a:stretch>
            <a:fillRect/>
          </a:stretch>
        </p:blipFill>
        <p:spPr>
          <a:xfrm>
            <a:off x="71120" y="111516"/>
            <a:ext cx="1143000" cy="782411"/>
          </a:xfrm>
          <a:prstGeom prst="rect">
            <a:avLst/>
          </a:prstGeom>
        </p:spPr>
      </p:pic>
    </p:spTree>
    <p:extLst>
      <p:ext uri="{BB962C8B-B14F-4D97-AF65-F5344CB8AC3E}">
        <p14:creationId xmlns:p14="http://schemas.microsoft.com/office/powerpoint/2010/main" val="1173553194"/>
      </p:ext>
    </p:extLst>
  </p:cSld>
  <p:clrMapOvr>
    <a:masterClrMapping/>
  </p:clrMapOvr>
  <p:transition advTm="6411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09084" y="1414675"/>
            <a:ext cx="7878336" cy="2621615"/>
          </a:xfrm>
          <a:prstGeom prst="rect">
            <a:avLst/>
          </a:prstGeom>
        </p:spPr>
        <p:txBody>
          <a:bodyPr wrap="square">
            <a:spAutoFit/>
          </a:bodyPr>
          <a:lstStyle/>
          <a:p>
            <a:pPr>
              <a:lnSpc>
                <a:spcPct val="107000"/>
              </a:lnSpc>
              <a:spcAft>
                <a:spcPts val="600"/>
              </a:spcAft>
            </a:pPr>
            <a:r>
              <a:rPr lang="en-GB" sz="2400" dirty="0">
                <a:latin typeface="Times New Roman" panose="02020603050405020304" pitchFamily="18" charset="0"/>
                <a:ea typeface="Calibri" panose="020F0502020204030204" pitchFamily="34" charset="0"/>
                <a:cs typeface="Arial" panose="020B0604020202020204" pitchFamily="34" charset="0"/>
              </a:rPr>
              <a:t>What Turing machine Tc does when a string given to it which describe Tc itself</a:t>
            </a:r>
            <a:endParaRPr lang="en-US" sz="2400" dirty="0">
              <a:latin typeface="Calibri" panose="020F0502020204030204" pitchFamily="34" charset="0"/>
              <a:ea typeface="Calibri" panose="020F0502020204030204" pitchFamily="34" charset="0"/>
              <a:cs typeface="Arial" panose="020B0604020202020204" pitchFamily="34" charset="0"/>
            </a:endParaRPr>
          </a:p>
          <a:p>
            <a:r>
              <a:rPr lang="en-GB" sz="2400" dirty="0">
                <a:latin typeface="Times New Roman" panose="02020603050405020304" pitchFamily="18" charset="0"/>
                <a:ea typeface="Calibri" panose="020F0502020204030204" pitchFamily="34" charset="0"/>
              </a:rPr>
              <a:t>d(Tc) is given as input to  Tc it make copy of it and build the string d(Tc)*d(Tc) and  allot to standardized T.so the altered T is specified a description of Tc and string d(Tc)</a:t>
            </a:r>
            <a:br>
              <a:rPr lang="en-GB" sz="2400" dirty="0">
                <a:latin typeface="Times New Roman" panose="02020603050405020304" pitchFamily="18" charset="0"/>
                <a:ea typeface="Calibri" panose="020F0502020204030204" pitchFamily="34" charset="0"/>
              </a:rPr>
            </a:br>
            <a:br>
              <a:rPr lang="en-GB" dirty="0">
                <a:latin typeface="Times New Roman" panose="02020603050405020304" pitchFamily="18" charset="0"/>
                <a:ea typeface="Calibri" panose="020F0502020204030204" pitchFamily="34" charset="0"/>
              </a:rPr>
            </a:br>
            <a:endParaRPr lang="en-US" dirty="0"/>
          </a:p>
        </p:txBody>
      </p:sp>
      <p:pic>
        <p:nvPicPr>
          <p:cNvPr id="4" name="Picture 3" descr="http://www.cs.odu.edu/~toida/nerzic/390teched/figures/unsolv-4.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6412" y="3600451"/>
            <a:ext cx="6591566" cy="1964685"/>
          </a:xfrm>
          <a:prstGeom prst="rect">
            <a:avLst/>
          </a:prstGeom>
          <a:noFill/>
          <a:ln>
            <a:noFill/>
          </a:ln>
        </p:spPr>
      </p:pic>
      <p:sp>
        <p:nvSpPr>
          <p:cNvPr id="6" name="Title 1"/>
          <p:cNvSpPr txBox="1">
            <a:spLocks/>
          </p:cNvSpPr>
          <p:nvPr/>
        </p:nvSpPr>
        <p:spPr>
          <a:xfrm>
            <a:off x="1828800" y="242581"/>
            <a:ext cx="9144000" cy="1470025"/>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sz="3600" dirty="0">
                <a:solidFill>
                  <a:srgbClr val="0070C0"/>
                </a:solidFill>
                <a:latin typeface="Times New Roman" panose="02020603050405020304" pitchFamily="18" charset="0"/>
                <a:cs typeface="Times New Roman" panose="02020603050405020304" pitchFamily="18" charset="0"/>
              </a:rPr>
              <a:t>Proof :-Halting problem is undecidable </a:t>
            </a:r>
          </a:p>
        </p:txBody>
      </p:sp>
      <p:cxnSp>
        <p:nvCxnSpPr>
          <p:cNvPr id="7" name="Straight Connector 6"/>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3"/>
          <a:stretch>
            <a:fillRect/>
          </a:stretch>
        </p:blipFill>
        <p:spPr>
          <a:xfrm>
            <a:off x="0" y="91196"/>
            <a:ext cx="1143000" cy="782411"/>
          </a:xfrm>
          <a:prstGeom prst="rect">
            <a:avLst/>
          </a:prstGeom>
        </p:spPr>
      </p:pic>
    </p:spTree>
    <p:extLst>
      <p:ext uri="{BB962C8B-B14F-4D97-AF65-F5344CB8AC3E}">
        <p14:creationId xmlns:p14="http://schemas.microsoft.com/office/powerpoint/2010/main" val="1535298734"/>
      </p:ext>
    </p:extLst>
  </p:cSld>
  <p:clrMapOvr>
    <a:masterClrMapping/>
  </p:clrMapOvr>
  <p:transition advTm="56226"/>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158428"/>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r>
              <a:rPr lang="en-US" sz="4900" dirty="0">
                <a:solidFill>
                  <a:srgbClr val="0070C0"/>
                </a:solidFill>
                <a:latin typeface="Times New Roman" pitchFamily="18" charset="0"/>
                <a:cs typeface="Times New Roman" pitchFamily="18" charset="0"/>
              </a:rPr>
              <a:t>Post Correspondence Problem </a:t>
            </a:r>
            <a:endParaRPr lang="en-US" dirty="0">
              <a:solidFill>
                <a:srgbClr val="0000CC"/>
              </a:solidFill>
              <a:latin typeface="Times New Roman" pitchFamily="18" charset="0"/>
              <a:cs typeface="Times New Roman" pitchFamily="18" charset="0"/>
            </a:endParaRPr>
          </a:p>
        </p:txBody>
      </p:sp>
      <p:sp>
        <p:nvSpPr>
          <p:cNvPr id="4099" name="Subtitle 2"/>
          <p:cNvSpPr>
            <a:spLocks noGrp="1"/>
          </p:cNvSpPr>
          <p:nvPr>
            <p:ph type="subTitle" idx="1"/>
          </p:nvPr>
        </p:nvSpPr>
        <p:spPr>
          <a:xfrm>
            <a:off x="1524000" y="1447800"/>
            <a:ext cx="9144000" cy="5410200"/>
          </a:xfrm>
        </p:spPr>
        <p:txBody>
          <a:bodyPr>
            <a:normAutofit/>
          </a:bodyPr>
          <a:lstStyle/>
          <a:p>
            <a:pPr marL="355600" indent="-3429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First introduced by Emil Post in 1946, the Post Correspondence Problem (𝑃𝐶𝑃) </a:t>
            </a:r>
          </a:p>
          <a:p>
            <a:pPr marL="355600" indent="-3429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It is a well-known example of an undecidable decision problem. </a:t>
            </a:r>
          </a:p>
          <a:p>
            <a:pPr marL="355600" indent="-3429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The goal of the problem is to determine whether or not a given set of dominos has a match, which means that dominos from the set can be arranged in a way (with repetition) such that the top and the bottom strings are identical. </a:t>
            </a:r>
          </a:p>
          <a:p>
            <a:pPr marL="355600" indent="-342900" algn="just">
              <a:lnSpc>
                <a:spcPct val="100000"/>
              </a:lnSpc>
              <a:spcBef>
                <a:spcPts val="105"/>
              </a:spcBef>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50557"/>
            <a:ext cx="1143000" cy="782411"/>
          </a:xfrm>
          <a:prstGeom prst="rect">
            <a:avLst/>
          </a:prstGeom>
        </p:spPr>
      </p:pic>
      <p:pic>
        <p:nvPicPr>
          <p:cNvPr id="3" name="Picture 2">
            <a:extLst>
              <a:ext uri="{FF2B5EF4-FFF2-40B4-BE49-F238E27FC236}">
                <a16:creationId xmlns:a16="http://schemas.microsoft.com/office/drawing/2014/main" id="{433A5AA0-25C4-43B4-AE95-2BFBF5A5114B}"/>
              </a:ext>
            </a:extLst>
          </p:cNvPr>
          <p:cNvPicPr>
            <a:picLocks noChangeAspect="1"/>
          </p:cNvPicPr>
          <p:nvPr/>
        </p:nvPicPr>
        <p:blipFill>
          <a:blip r:embed="rId3"/>
          <a:stretch>
            <a:fillRect/>
          </a:stretch>
        </p:blipFill>
        <p:spPr>
          <a:xfrm>
            <a:off x="4689729" y="5410200"/>
            <a:ext cx="2812541" cy="645171"/>
          </a:xfrm>
          <a:prstGeom prst="rect">
            <a:avLst/>
          </a:prstGeom>
        </p:spPr>
      </p:pic>
    </p:spTree>
    <p:extLst>
      <p:ext uri="{BB962C8B-B14F-4D97-AF65-F5344CB8AC3E}">
        <p14:creationId xmlns:p14="http://schemas.microsoft.com/office/powerpoint/2010/main" val="3234286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158428"/>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r>
              <a:rPr lang="en-US" sz="4900" dirty="0">
                <a:solidFill>
                  <a:srgbClr val="0070C0"/>
                </a:solidFill>
                <a:latin typeface="Times New Roman" pitchFamily="18" charset="0"/>
                <a:cs typeface="Times New Roman" pitchFamily="18" charset="0"/>
              </a:rPr>
              <a:t>Post Correspondence Problem </a:t>
            </a: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50557"/>
            <a:ext cx="1143000" cy="782411"/>
          </a:xfrm>
          <a:prstGeom prst="rect">
            <a:avLst/>
          </a:prstGeom>
        </p:spPr>
      </p:pic>
      <p:pic>
        <p:nvPicPr>
          <p:cNvPr id="7" name="Picture 6">
            <a:extLst>
              <a:ext uri="{FF2B5EF4-FFF2-40B4-BE49-F238E27FC236}">
                <a16:creationId xmlns:a16="http://schemas.microsoft.com/office/drawing/2014/main" id="{499A88CF-C784-48FD-BD0E-5D51841743B2}"/>
              </a:ext>
            </a:extLst>
          </p:cNvPr>
          <p:cNvPicPr>
            <a:picLocks noChangeAspect="1"/>
          </p:cNvPicPr>
          <p:nvPr/>
        </p:nvPicPr>
        <p:blipFill>
          <a:blip r:embed="rId3"/>
          <a:stretch>
            <a:fillRect/>
          </a:stretch>
        </p:blipFill>
        <p:spPr>
          <a:xfrm>
            <a:off x="935837" y="1376653"/>
            <a:ext cx="7263283" cy="1244245"/>
          </a:xfrm>
          <a:prstGeom prst="rect">
            <a:avLst/>
          </a:prstGeom>
        </p:spPr>
      </p:pic>
      <p:pic>
        <p:nvPicPr>
          <p:cNvPr id="8" name="Picture 7">
            <a:extLst>
              <a:ext uri="{FF2B5EF4-FFF2-40B4-BE49-F238E27FC236}">
                <a16:creationId xmlns:a16="http://schemas.microsoft.com/office/drawing/2014/main" id="{330F5E08-ADB5-4B96-89F1-8563F97A0474}"/>
              </a:ext>
            </a:extLst>
          </p:cNvPr>
          <p:cNvPicPr>
            <a:picLocks noChangeAspect="1"/>
          </p:cNvPicPr>
          <p:nvPr/>
        </p:nvPicPr>
        <p:blipFill>
          <a:blip r:embed="rId4"/>
          <a:stretch>
            <a:fillRect/>
          </a:stretch>
        </p:blipFill>
        <p:spPr>
          <a:xfrm>
            <a:off x="935837" y="2140133"/>
            <a:ext cx="7466483" cy="4193939"/>
          </a:xfrm>
          <a:prstGeom prst="rect">
            <a:avLst/>
          </a:prstGeom>
        </p:spPr>
      </p:pic>
    </p:spTree>
    <p:extLst>
      <p:ext uri="{BB962C8B-B14F-4D97-AF65-F5344CB8AC3E}">
        <p14:creationId xmlns:p14="http://schemas.microsoft.com/office/powerpoint/2010/main" val="1315132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158428"/>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r>
              <a:rPr lang="en-US" sz="4900" dirty="0">
                <a:solidFill>
                  <a:srgbClr val="0070C0"/>
                </a:solidFill>
                <a:latin typeface="Times New Roman" pitchFamily="18" charset="0"/>
                <a:cs typeface="Times New Roman" pitchFamily="18" charset="0"/>
              </a:rPr>
              <a:t>Post Correspondence Problem </a:t>
            </a: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stretch>
            <a:fillRect/>
          </a:stretch>
        </p:blipFill>
        <p:spPr>
          <a:xfrm>
            <a:off x="0" y="50557"/>
            <a:ext cx="1143000" cy="782411"/>
          </a:xfrm>
          <a:prstGeom prst="rect">
            <a:avLst/>
          </a:prstGeom>
        </p:spPr>
      </p:pic>
      <p:sp>
        <p:nvSpPr>
          <p:cNvPr id="10" name="Text Box 3">
            <a:extLst>
              <a:ext uri="{FF2B5EF4-FFF2-40B4-BE49-F238E27FC236}">
                <a16:creationId xmlns:a16="http://schemas.microsoft.com/office/drawing/2014/main" id="{54295104-5A3F-4C11-8E19-2CE16E5C62CE}"/>
              </a:ext>
            </a:extLst>
          </p:cNvPr>
          <p:cNvSpPr txBox="1">
            <a:spLocks noChangeArrowheads="1"/>
          </p:cNvSpPr>
          <p:nvPr/>
        </p:nvSpPr>
        <p:spPr bwMode="auto">
          <a:xfrm>
            <a:off x="1524000" y="1343818"/>
            <a:ext cx="13620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solidFill>
                  <a:srgbClr val="009900"/>
                </a:solidFill>
              </a:rPr>
              <a:t>Input:</a:t>
            </a:r>
          </a:p>
        </p:txBody>
      </p:sp>
      <p:sp>
        <p:nvSpPr>
          <p:cNvPr id="11" name="Text Box 4">
            <a:extLst>
              <a:ext uri="{FF2B5EF4-FFF2-40B4-BE49-F238E27FC236}">
                <a16:creationId xmlns:a16="http://schemas.microsoft.com/office/drawing/2014/main" id="{A4258811-CF48-43CC-9833-F5C300BC6B28}"/>
              </a:ext>
            </a:extLst>
          </p:cNvPr>
          <p:cNvSpPr txBox="1">
            <a:spLocks noChangeArrowheads="1"/>
          </p:cNvSpPr>
          <p:nvPr/>
        </p:nvSpPr>
        <p:spPr bwMode="auto">
          <a:xfrm>
            <a:off x="2819400" y="1295400"/>
            <a:ext cx="228184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Two sets of        strings</a:t>
            </a:r>
          </a:p>
        </p:txBody>
      </p:sp>
      <p:graphicFrame>
        <p:nvGraphicFramePr>
          <p:cNvPr id="12" name="Object 5">
            <a:extLst>
              <a:ext uri="{FF2B5EF4-FFF2-40B4-BE49-F238E27FC236}">
                <a16:creationId xmlns:a16="http://schemas.microsoft.com/office/drawing/2014/main" id="{73A65587-6244-42DF-95D2-96A38873AA79}"/>
              </a:ext>
            </a:extLst>
          </p:cNvPr>
          <p:cNvGraphicFramePr>
            <a:graphicFrameLocks noChangeAspect="1"/>
          </p:cNvGraphicFramePr>
          <p:nvPr>
            <p:extLst>
              <p:ext uri="{D42A27DB-BD31-4B8C-83A1-F6EECF244321}">
                <p14:modId xmlns:p14="http://schemas.microsoft.com/office/powerpoint/2010/main" val="3187327140"/>
              </p:ext>
            </p:extLst>
          </p:nvPr>
        </p:nvGraphicFramePr>
        <p:xfrm>
          <a:off x="2806700" y="1729486"/>
          <a:ext cx="3289300" cy="531813"/>
        </p:xfrm>
        <a:graphic>
          <a:graphicData uri="http://schemas.openxmlformats.org/presentationml/2006/ole">
            <mc:AlternateContent xmlns:mc="http://schemas.openxmlformats.org/markup-compatibility/2006">
              <mc:Choice xmlns:v="urn:schemas-microsoft-com:vml" Requires="v">
                <p:oleObj spid="_x0000_s1080" name="Equation" r:id="rId4" imgW="3288960" imgH="533160" progId="Equation.3">
                  <p:embed/>
                </p:oleObj>
              </mc:Choice>
              <mc:Fallback>
                <p:oleObj name="Equation" r:id="rId4" imgW="3288960" imgH="533160" progId="Equation.3">
                  <p:embed/>
                  <p:pic>
                    <p:nvPicPr>
                      <p:cNvPr id="1116165" name="Object 5">
                        <a:extLst>
                          <a:ext uri="{FF2B5EF4-FFF2-40B4-BE49-F238E27FC236}">
                            <a16:creationId xmlns:a16="http://schemas.microsoft.com/office/drawing/2014/main" id="{A4A29E10-0F37-45EF-9D2F-3E2A76D016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6700" y="1729486"/>
                        <a:ext cx="32893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7">
            <a:extLst>
              <a:ext uri="{FF2B5EF4-FFF2-40B4-BE49-F238E27FC236}">
                <a16:creationId xmlns:a16="http://schemas.microsoft.com/office/drawing/2014/main" id="{E55FA47B-51D3-47DF-AFDE-A33AF82D3178}"/>
              </a:ext>
            </a:extLst>
          </p:cNvPr>
          <p:cNvGraphicFramePr>
            <a:graphicFrameLocks noChangeAspect="1"/>
          </p:cNvGraphicFramePr>
          <p:nvPr>
            <p:extLst>
              <p:ext uri="{D42A27DB-BD31-4B8C-83A1-F6EECF244321}">
                <p14:modId xmlns:p14="http://schemas.microsoft.com/office/powerpoint/2010/main" val="2519871606"/>
              </p:ext>
            </p:extLst>
          </p:nvPr>
        </p:nvGraphicFramePr>
        <p:xfrm>
          <a:off x="2735642" y="2404588"/>
          <a:ext cx="2984500" cy="531813"/>
        </p:xfrm>
        <a:graphic>
          <a:graphicData uri="http://schemas.openxmlformats.org/presentationml/2006/ole">
            <mc:AlternateContent xmlns:mc="http://schemas.openxmlformats.org/markup-compatibility/2006">
              <mc:Choice xmlns:v="urn:schemas-microsoft-com:vml" Requires="v">
                <p:oleObj spid="_x0000_s1081" name="Equation" r:id="rId6" imgW="2984400" imgH="533160" progId="Equation.3">
                  <p:embed/>
                </p:oleObj>
              </mc:Choice>
              <mc:Fallback>
                <p:oleObj name="Equation" r:id="rId6" imgW="2984400" imgH="533160" progId="Equation.3">
                  <p:embed/>
                  <p:pic>
                    <p:nvPicPr>
                      <p:cNvPr id="1116167" name="Object 7">
                        <a:extLst>
                          <a:ext uri="{FF2B5EF4-FFF2-40B4-BE49-F238E27FC236}">
                            <a16:creationId xmlns:a16="http://schemas.microsoft.com/office/drawing/2014/main" id="{B2225459-F2F5-41DF-8CB5-4340CB34C72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35642" y="2404588"/>
                        <a:ext cx="29845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8">
            <a:extLst>
              <a:ext uri="{FF2B5EF4-FFF2-40B4-BE49-F238E27FC236}">
                <a16:creationId xmlns:a16="http://schemas.microsoft.com/office/drawing/2014/main" id="{E37393B0-514D-4E7D-B356-416333D7EB87}"/>
              </a:ext>
            </a:extLst>
          </p:cNvPr>
          <p:cNvGraphicFramePr>
            <a:graphicFrameLocks noChangeAspect="1"/>
          </p:cNvGraphicFramePr>
          <p:nvPr>
            <p:extLst>
              <p:ext uri="{D42A27DB-BD31-4B8C-83A1-F6EECF244321}">
                <p14:modId xmlns:p14="http://schemas.microsoft.com/office/powerpoint/2010/main" val="225154038"/>
              </p:ext>
            </p:extLst>
          </p:nvPr>
        </p:nvGraphicFramePr>
        <p:xfrm>
          <a:off x="4022725" y="1323657"/>
          <a:ext cx="288925" cy="304800"/>
        </p:xfrm>
        <a:graphic>
          <a:graphicData uri="http://schemas.openxmlformats.org/presentationml/2006/ole">
            <mc:AlternateContent xmlns:mc="http://schemas.openxmlformats.org/markup-compatibility/2006">
              <mc:Choice xmlns:v="urn:schemas-microsoft-com:vml" Requires="v">
                <p:oleObj spid="_x0000_s1082" name="Equation" r:id="rId8" imgW="241200" imgH="253800" progId="Equation.3">
                  <p:embed/>
                </p:oleObj>
              </mc:Choice>
              <mc:Fallback>
                <p:oleObj name="Equation" r:id="rId8" imgW="241200" imgH="253800" progId="Equation.3">
                  <p:embed/>
                  <p:pic>
                    <p:nvPicPr>
                      <p:cNvPr id="1116168" name="Object 8">
                        <a:extLst>
                          <a:ext uri="{FF2B5EF4-FFF2-40B4-BE49-F238E27FC236}">
                            <a16:creationId xmlns:a16="http://schemas.microsoft.com/office/drawing/2014/main" id="{044F60AF-69D3-4C12-A058-5F9E031A1AA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22725" y="1323657"/>
                        <a:ext cx="2889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Rectangle 1">
            <a:extLst>
              <a:ext uri="{FF2B5EF4-FFF2-40B4-BE49-F238E27FC236}">
                <a16:creationId xmlns:a16="http://schemas.microsoft.com/office/drawing/2014/main" id="{C2204F12-DBD2-4BF2-90E4-C40F7823916F}"/>
              </a:ext>
            </a:extLst>
          </p:cNvPr>
          <p:cNvSpPr/>
          <p:nvPr/>
        </p:nvSpPr>
        <p:spPr>
          <a:xfrm>
            <a:off x="1373567" y="2988834"/>
            <a:ext cx="8693150" cy="646331"/>
          </a:xfrm>
          <a:prstGeom prst="rect">
            <a:avLst/>
          </a:prstGeom>
        </p:spPr>
        <p:txBody>
          <a:bodyPr wrap="square">
            <a:spAutoFit/>
          </a:bodyPr>
          <a:lstStyle/>
          <a:p>
            <a:r>
              <a:rPr lang="en-US" altLang="en-US" dirty="0"/>
              <a:t>There is a </a:t>
            </a:r>
            <a:r>
              <a:rPr lang="en-US" altLang="en-US" b="1" dirty="0"/>
              <a:t>P</a:t>
            </a:r>
            <a:r>
              <a:rPr lang="en-US" altLang="en-US" dirty="0"/>
              <a:t>ost </a:t>
            </a:r>
            <a:r>
              <a:rPr lang="en-US" altLang="en-US" b="1" dirty="0"/>
              <a:t>C</a:t>
            </a:r>
            <a:r>
              <a:rPr lang="en-US" altLang="en-US" dirty="0"/>
              <a:t>orrespondence Solution</a:t>
            </a:r>
          </a:p>
          <a:p>
            <a:r>
              <a:rPr lang="en-US" altLang="en-US" dirty="0"/>
              <a:t>if there is a sequence                              such that:</a:t>
            </a:r>
          </a:p>
        </p:txBody>
      </p:sp>
      <p:graphicFrame>
        <p:nvGraphicFramePr>
          <p:cNvPr id="15" name="Object 3">
            <a:extLst>
              <a:ext uri="{FF2B5EF4-FFF2-40B4-BE49-F238E27FC236}">
                <a16:creationId xmlns:a16="http://schemas.microsoft.com/office/drawing/2014/main" id="{4E7FF8CD-D8B4-4CF9-8EB8-36360D0A25A0}"/>
              </a:ext>
            </a:extLst>
          </p:cNvPr>
          <p:cNvGraphicFramePr>
            <a:graphicFrameLocks noChangeAspect="1"/>
          </p:cNvGraphicFramePr>
          <p:nvPr>
            <p:extLst>
              <p:ext uri="{D42A27DB-BD31-4B8C-83A1-F6EECF244321}">
                <p14:modId xmlns:p14="http://schemas.microsoft.com/office/powerpoint/2010/main" val="65143386"/>
              </p:ext>
            </p:extLst>
          </p:nvPr>
        </p:nvGraphicFramePr>
        <p:xfrm>
          <a:off x="3465892" y="3326877"/>
          <a:ext cx="1524000" cy="481013"/>
        </p:xfrm>
        <a:graphic>
          <a:graphicData uri="http://schemas.openxmlformats.org/presentationml/2006/ole">
            <mc:AlternateContent xmlns:mc="http://schemas.openxmlformats.org/markup-compatibility/2006">
              <mc:Choice xmlns:v="urn:schemas-microsoft-com:vml" Requires="v">
                <p:oleObj spid="_x0000_s1083" name="Equation" r:id="rId10" imgW="1523880" imgH="482400" progId="Equation.3">
                  <p:embed/>
                </p:oleObj>
              </mc:Choice>
              <mc:Fallback>
                <p:oleObj name="Equation" r:id="rId10" imgW="1523880" imgH="482400" progId="Equation.3">
                  <p:embed/>
                  <p:pic>
                    <p:nvPicPr>
                      <p:cNvPr id="1117187" name="Object 3">
                        <a:extLst>
                          <a:ext uri="{FF2B5EF4-FFF2-40B4-BE49-F238E27FC236}">
                            <a16:creationId xmlns:a16="http://schemas.microsoft.com/office/drawing/2014/main" id="{63409B33-6283-4FE4-BB0D-3CAB1A3C85C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65892" y="3326877"/>
                        <a:ext cx="1524000"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Rectangle 2">
            <a:extLst>
              <a:ext uri="{FF2B5EF4-FFF2-40B4-BE49-F238E27FC236}">
                <a16:creationId xmlns:a16="http://schemas.microsoft.com/office/drawing/2014/main" id="{60F4F479-1B30-415A-85C5-058FE5F0710C}"/>
              </a:ext>
            </a:extLst>
          </p:cNvPr>
          <p:cNvSpPr/>
          <p:nvPr/>
        </p:nvSpPr>
        <p:spPr>
          <a:xfrm>
            <a:off x="1373567" y="4027341"/>
            <a:ext cx="1319592" cy="369332"/>
          </a:xfrm>
          <a:prstGeom prst="rect">
            <a:avLst/>
          </a:prstGeom>
        </p:spPr>
        <p:txBody>
          <a:bodyPr wrap="none">
            <a:spAutoFit/>
          </a:bodyPr>
          <a:lstStyle/>
          <a:p>
            <a:r>
              <a:rPr lang="en-US" altLang="en-US" dirty="0">
                <a:solidFill>
                  <a:srgbClr val="FF0000"/>
                </a:solidFill>
              </a:rPr>
              <a:t>PC-solution:</a:t>
            </a:r>
          </a:p>
        </p:txBody>
      </p:sp>
      <p:graphicFrame>
        <p:nvGraphicFramePr>
          <p:cNvPr id="16" name="Object 4">
            <a:extLst>
              <a:ext uri="{FF2B5EF4-FFF2-40B4-BE49-F238E27FC236}">
                <a16:creationId xmlns:a16="http://schemas.microsoft.com/office/drawing/2014/main" id="{76786369-CB0A-4F81-A9AC-5F0A97BB0FAA}"/>
              </a:ext>
            </a:extLst>
          </p:cNvPr>
          <p:cNvGraphicFramePr>
            <a:graphicFrameLocks noChangeAspect="1"/>
          </p:cNvGraphicFramePr>
          <p:nvPr>
            <p:extLst>
              <p:ext uri="{D42A27DB-BD31-4B8C-83A1-F6EECF244321}">
                <p14:modId xmlns:p14="http://schemas.microsoft.com/office/powerpoint/2010/main" val="3267619762"/>
              </p:ext>
            </p:extLst>
          </p:nvPr>
        </p:nvGraphicFramePr>
        <p:xfrm>
          <a:off x="2886075" y="4105545"/>
          <a:ext cx="4102100" cy="609600"/>
        </p:xfrm>
        <a:graphic>
          <a:graphicData uri="http://schemas.openxmlformats.org/presentationml/2006/ole">
            <mc:AlternateContent xmlns:mc="http://schemas.openxmlformats.org/markup-compatibility/2006">
              <mc:Choice xmlns:v="urn:schemas-microsoft-com:vml" Requires="v">
                <p:oleObj spid="_x0000_s1084" name="Equation" r:id="rId12" imgW="4101840" imgH="609480" progId="Equation.3">
                  <p:embed/>
                </p:oleObj>
              </mc:Choice>
              <mc:Fallback>
                <p:oleObj name="Equation" r:id="rId12" imgW="4101840" imgH="609480" progId="Equation.3">
                  <p:embed/>
                  <p:pic>
                    <p:nvPicPr>
                      <p:cNvPr id="1117188" name="Object 4">
                        <a:extLst>
                          <a:ext uri="{FF2B5EF4-FFF2-40B4-BE49-F238E27FC236}">
                            <a16:creationId xmlns:a16="http://schemas.microsoft.com/office/drawing/2014/main" id="{77B94D07-5A1F-48EA-A7FE-A5D019D4EA4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86075" y="4105545"/>
                        <a:ext cx="41021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02873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158428"/>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r>
              <a:rPr lang="en-US" sz="4900" dirty="0">
                <a:solidFill>
                  <a:srgbClr val="0070C0"/>
                </a:solidFill>
                <a:latin typeface="Times New Roman" pitchFamily="18" charset="0"/>
                <a:cs typeface="Times New Roman" pitchFamily="18" charset="0"/>
              </a:rPr>
              <a:t>Post Correspondence Problem </a:t>
            </a: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50557"/>
            <a:ext cx="1143000" cy="782411"/>
          </a:xfrm>
          <a:prstGeom prst="rect">
            <a:avLst/>
          </a:prstGeom>
        </p:spPr>
      </p:pic>
      <p:pic>
        <p:nvPicPr>
          <p:cNvPr id="6" name="Picture 5">
            <a:extLst>
              <a:ext uri="{FF2B5EF4-FFF2-40B4-BE49-F238E27FC236}">
                <a16:creationId xmlns:a16="http://schemas.microsoft.com/office/drawing/2014/main" id="{DDA5E290-7E7A-43B0-A730-7F56F9487A85}"/>
              </a:ext>
            </a:extLst>
          </p:cNvPr>
          <p:cNvPicPr>
            <a:picLocks noChangeAspect="1"/>
          </p:cNvPicPr>
          <p:nvPr/>
        </p:nvPicPr>
        <p:blipFill>
          <a:blip r:embed="rId3"/>
          <a:stretch>
            <a:fillRect/>
          </a:stretch>
        </p:blipFill>
        <p:spPr>
          <a:xfrm>
            <a:off x="1268620" y="1084588"/>
            <a:ext cx="7946500" cy="5465022"/>
          </a:xfrm>
          <a:prstGeom prst="rect">
            <a:avLst/>
          </a:prstGeom>
        </p:spPr>
      </p:pic>
    </p:spTree>
    <p:extLst>
      <p:ext uri="{BB962C8B-B14F-4D97-AF65-F5344CB8AC3E}">
        <p14:creationId xmlns:p14="http://schemas.microsoft.com/office/powerpoint/2010/main" val="2941426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158428"/>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r>
              <a:rPr lang="en-US" sz="4900" dirty="0">
                <a:solidFill>
                  <a:srgbClr val="0070C0"/>
                </a:solidFill>
                <a:latin typeface="Times New Roman" pitchFamily="18" charset="0"/>
                <a:cs typeface="Times New Roman" pitchFamily="18" charset="0"/>
              </a:rPr>
              <a:t>Post Correspondence Problem </a:t>
            </a: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50557"/>
            <a:ext cx="1143000" cy="782411"/>
          </a:xfrm>
          <a:prstGeom prst="rect">
            <a:avLst/>
          </a:prstGeom>
        </p:spPr>
      </p:pic>
      <p:pic>
        <p:nvPicPr>
          <p:cNvPr id="6" name="Picture 5">
            <a:extLst>
              <a:ext uri="{FF2B5EF4-FFF2-40B4-BE49-F238E27FC236}">
                <a16:creationId xmlns:a16="http://schemas.microsoft.com/office/drawing/2014/main" id="{DDA5E290-7E7A-43B0-A730-7F56F9487A85}"/>
              </a:ext>
            </a:extLst>
          </p:cNvPr>
          <p:cNvPicPr>
            <a:picLocks noChangeAspect="1"/>
          </p:cNvPicPr>
          <p:nvPr/>
        </p:nvPicPr>
        <p:blipFill>
          <a:blip r:embed="rId3"/>
          <a:stretch>
            <a:fillRect/>
          </a:stretch>
        </p:blipFill>
        <p:spPr>
          <a:xfrm>
            <a:off x="1268620" y="1084588"/>
            <a:ext cx="7946500" cy="5465022"/>
          </a:xfrm>
          <a:prstGeom prst="rect">
            <a:avLst/>
          </a:prstGeom>
        </p:spPr>
      </p:pic>
    </p:spTree>
    <p:extLst>
      <p:ext uri="{BB962C8B-B14F-4D97-AF65-F5344CB8AC3E}">
        <p14:creationId xmlns:p14="http://schemas.microsoft.com/office/powerpoint/2010/main" val="4276170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158428"/>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r>
              <a:rPr lang="en-US" sz="4900" dirty="0">
                <a:solidFill>
                  <a:srgbClr val="0070C0"/>
                </a:solidFill>
                <a:latin typeface="Times New Roman" pitchFamily="18" charset="0"/>
                <a:cs typeface="Times New Roman" pitchFamily="18" charset="0"/>
              </a:rPr>
              <a:t>Post Correspondence Problem </a:t>
            </a: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50557"/>
            <a:ext cx="1143000" cy="782411"/>
          </a:xfrm>
          <a:prstGeom prst="rect">
            <a:avLst/>
          </a:prstGeom>
        </p:spPr>
      </p:pic>
      <p:sp>
        <p:nvSpPr>
          <p:cNvPr id="3" name="Rectangle 2">
            <a:extLst>
              <a:ext uri="{FF2B5EF4-FFF2-40B4-BE49-F238E27FC236}">
                <a16:creationId xmlns:a16="http://schemas.microsoft.com/office/drawing/2014/main" id="{BD5DA760-B031-4FCC-B3E2-DC22ADD9FC2F}"/>
              </a:ext>
            </a:extLst>
          </p:cNvPr>
          <p:cNvSpPr/>
          <p:nvPr/>
        </p:nvSpPr>
        <p:spPr>
          <a:xfrm>
            <a:off x="1524000" y="5296860"/>
            <a:ext cx="9136569" cy="646331"/>
          </a:xfrm>
          <a:prstGeom prst="rect">
            <a:avLst/>
          </a:prstGeom>
        </p:spPr>
        <p:txBody>
          <a:bodyPr wrap="square">
            <a:spAutoFit/>
          </a:bodyPr>
          <a:lstStyle/>
          <a:p>
            <a:r>
              <a:rPr lang="en-US" altLang="en-US" dirty="0"/>
              <a:t>Because total length of strings from  B</a:t>
            </a:r>
          </a:p>
          <a:p>
            <a:r>
              <a:rPr lang="en-US" altLang="en-US" dirty="0"/>
              <a:t>is  smaller than total length of strings from  A</a:t>
            </a:r>
          </a:p>
        </p:txBody>
      </p:sp>
      <p:pic>
        <p:nvPicPr>
          <p:cNvPr id="7" name="Picture 6">
            <a:extLst>
              <a:ext uri="{FF2B5EF4-FFF2-40B4-BE49-F238E27FC236}">
                <a16:creationId xmlns:a16="http://schemas.microsoft.com/office/drawing/2014/main" id="{723EBEA1-9A75-4BB2-A606-44954608F62B}"/>
              </a:ext>
            </a:extLst>
          </p:cNvPr>
          <p:cNvPicPr>
            <a:picLocks noChangeAspect="1"/>
          </p:cNvPicPr>
          <p:nvPr/>
        </p:nvPicPr>
        <p:blipFill>
          <a:blip r:embed="rId3"/>
          <a:stretch>
            <a:fillRect/>
          </a:stretch>
        </p:blipFill>
        <p:spPr>
          <a:xfrm>
            <a:off x="1702947" y="1296194"/>
            <a:ext cx="7278493" cy="3736293"/>
          </a:xfrm>
          <a:prstGeom prst="rect">
            <a:avLst/>
          </a:prstGeom>
        </p:spPr>
      </p:pic>
    </p:spTree>
    <p:extLst>
      <p:ext uri="{BB962C8B-B14F-4D97-AF65-F5344CB8AC3E}">
        <p14:creationId xmlns:p14="http://schemas.microsoft.com/office/powerpoint/2010/main" val="1593526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r>
              <a:rPr lang="en-US" dirty="0">
                <a:solidFill>
                  <a:srgbClr val="0070C0"/>
                </a:solidFill>
                <a:latin typeface="Times New Roman" pitchFamily="18" charset="0"/>
                <a:cs typeface="Times New Roman" pitchFamily="18" charset="0"/>
              </a:rPr>
              <a:t>Turing Machine</a:t>
            </a:r>
            <a:endParaRPr lang="en-US" dirty="0">
              <a:solidFill>
                <a:srgbClr val="0000CC"/>
              </a:solidFill>
              <a:latin typeface="Times New Roman" pitchFamily="18" charset="0"/>
              <a:cs typeface="Times New Roman" pitchFamily="18" charset="0"/>
            </a:endParaRPr>
          </a:p>
        </p:txBody>
      </p:sp>
      <p:sp>
        <p:nvSpPr>
          <p:cNvPr id="4099" name="Subtitle 2"/>
          <p:cNvSpPr>
            <a:spLocks noGrp="1"/>
          </p:cNvSpPr>
          <p:nvPr>
            <p:ph type="subTitle" idx="1"/>
          </p:nvPr>
        </p:nvSpPr>
        <p:spPr>
          <a:xfrm>
            <a:off x="1524000" y="1447800"/>
            <a:ext cx="9144000" cy="5410200"/>
          </a:xfrm>
        </p:spPr>
        <p:txBody>
          <a:bodyPr/>
          <a:lstStyle/>
          <a:p>
            <a:pPr marL="355600" indent="-3429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Invented </a:t>
            </a:r>
            <a:r>
              <a:rPr lang="en-US" sz="2800" dirty="0">
                <a:latin typeface="Times New Roman" panose="02020603050405020304" pitchFamily="18" charset="0"/>
                <a:cs typeface="Times New Roman" panose="02020603050405020304" pitchFamily="18" charset="0"/>
              </a:rPr>
              <a:t>by </a:t>
            </a:r>
            <a:r>
              <a:rPr lang="en-US" sz="2800" spc="-5" dirty="0">
                <a:latin typeface="Times New Roman" panose="02020603050405020304" pitchFamily="18" charset="0"/>
                <a:cs typeface="Times New Roman" panose="02020603050405020304" pitchFamily="18" charset="0"/>
              </a:rPr>
              <a:t>Alan Turing </a:t>
            </a:r>
            <a:r>
              <a:rPr lang="en-US" sz="2800" dirty="0">
                <a:latin typeface="Times New Roman" panose="02020603050405020304" pitchFamily="18" charset="0"/>
                <a:cs typeface="Times New Roman" panose="02020603050405020304" pitchFamily="18" charset="0"/>
              </a:rPr>
              <a:t>in</a:t>
            </a:r>
            <a:r>
              <a:rPr lang="en-US" sz="2800" spc="-85" dirty="0">
                <a:latin typeface="Times New Roman" panose="02020603050405020304" pitchFamily="18" charset="0"/>
                <a:cs typeface="Times New Roman" panose="02020603050405020304" pitchFamily="18" charset="0"/>
              </a:rPr>
              <a:t> </a:t>
            </a:r>
            <a:r>
              <a:rPr lang="en-US" sz="2800" spc="-5" dirty="0">
                <a:latin typeface="Times New Roman" panose="02020603050405020304" pitchFamily="18" charset="0"/>
                <a:cs typeface="Times New Roman" panose="02020603050405020304" pitchFamily="18" charset="0"/>
              </a:rPr>
              <a:t>1936</a:t>
            </a:r>
            <a:endParaRPr lang="en-US" sz="2800" dirty="0">
              <a:latin typeface="Times New Roman" panose="02020603050405020304" pitchFamily="18" charset="0"/>
              <a:cs typeface="Times New Roman" panose="02020603050405020304" pitchFamily="18" charset="0"/>
            </a:endParaRPr>
          </a:p>
          <a:p>
            <a:pPr marL="571500" indent="-571500" algn="just">
              <a:lnSpc>
                <a:spcPct val="100000"/>
              </a:lnSpc>
              <a:spcBef>
                <a:spcPts val="30"/>
              </a:spcBef>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355600" marR="414020" indent="-342900" algn="just">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a:t>
            </a:r>
            <a:r>
              <a:rPr lang="en-US" sz="2800" spc="-5" dirty="0">
                <a:latin typeface="Times New Roman" panose="02020603050405020304" pitchFamily="18" charset="0"/>
                <a:cs typeface="Times New Roman" panose="02020603050405020304" pitchFamily="18" charset="0"/>
              </a:rPr>
              <a:t>simple mathematical model </a:t>
            </a:r>
            <a:r>
              <a:rPr lang="en-US" sz="2800" spc="-10" dirty="0">
                <a:latin typeface="Times New Roman" panose="02020603050405020304" pitchFamily="18" charset="0"/>
                <a:cs typeface="Times New Roman" panose="02020603050405020304" pitchFamily="18" charset="0"/>
              </a:rPr>
              <a:t>of </a:t>
            </a:r>
            <a:r>
              <a:rPr lang="en-US" sz="2800" dirty="0">
                <a:latin typeface="Times New Roman" panose="02020603050405020304" pitchFamily="18" charset="0"/>
                <a:cs typeface="Times New Roman" panose="02020603050405020304" pitchFamily="18" charset="0"/>
              </a:rPr>
              <a:t>a </a:t>
            </a:r>
            <a:r>
              <a:rPr lang="en-US" sz="2800" spc="-5" dirty="0">
                <a:latin typeface="Times New Roman" panose="02020603050405020304" pitchFamily="18" charset="0"/>
                <a:cs typeface="Times New Roman" panose="02020603050405020304" pitchFamily="18" charset="0"/>
              </a:rPr>
              <a:t>general  purpose</a:t>
            </a:r>
            <a:r>
              <a:rPr lang="en-US" sz="2800" spc="-45" dirty="0">
                <a:latin typeface="Times New Roman" panose="02020603050405020304" pitchFamily="18" charset="0"/>
                <a:cs typeface="Times New Roman" panose="02020603050405020304" pitchFamily="18" charset="0"/>
              </a:rPr>
              <a:t> </a:t>
            </a:r>
            <a:r>
              <a:rPr lang="en-US" sz="2800" spc="-5" dirty="0">
                <a:latin typeface="Times New Roman" panose="02020603050405020304" pitchFamily="18" charset="0"/>
                <a:cs typeface="Times New Roman" panose="02020603050405020304" pitchFamily="18" charset="0"/>
              </a:rPr>
              <a:t>computer</a:t>
            </a:r>
            <a:endParaRPr lang="en-US" sz="2800" dirty="0">
              <a:latin typeface="Times New Roman" panose="02020603050405020304" pitchFamily="18" charset="0"/>
              <a:cs typeface="Times New Roman" panose="02020603050405020304" pitchFamily="18" charset="0"/>
            </a:endParaRPr>
          </a:p>
          <a:p>
            <a:pPr marL="571500" indent="-571500" algn="just">
              <a:lnSpc>
                <a:spcPct val="100000"/>
              </a:lnSpc>
              <a:spcBef>
                <a:spcPts val="30"/>
              </a:spcBef>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355600" marR="5080" indent="-342900" algn="just">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capable of </a:t>
            </a:r>
            <a:r>
              <a:rPr lang="en-US" sz="2800" spc="-5" dirty="0">
                <a:latin typeface="Times New Roman" panose="02020603050405020304" pitchFamily="18" charset="0"/>
                <a:cs typeface="Times New Roman" panose="02020603050405020304" pitchFamily="18" charset="0"/>
              </a:rPr>
              <a:t>performing any </a:t>
            </a:r>
            <a:r>
              <a:rPr lang="en-US" sz="2800" dirty="0">
                <a:latin typeface="Times New Roman" panose="02020603050405020304" pitchFamily="18" charset="0"/>
                <a:cs typeface="Times New Roman" panose="02020603050405020304" pitchFamily="18" charset="0"/>
              </a:rPr>
              <a:t>calculation  which can be </a:t>
            </a:r>
            <a:r>
              <a:rPr lang="en-US" sz="2800" spc="-5" dirty="0">
                <a:latin typeface="Times New Roman" panose="02020603050405020304" pitchFamily="18" charset="0"/>
                <a:cs typeface="Times New Roman" panose="02020603050405020304" pitchFamily="18" charset="0"/>
              </a:rPr>
              <a:t>performed </a:t>
            </a:r>
            <a:r>
              <a:rPr lang="en-US" sz="2800" dirty="0">
                <a:latin typeface="Times New Roman" panose="02020603050405020304" pitchFamily="18" charset="0"/>
                <a:cs typeface="Times New Roman" panose="02020603050405020304" pitchFamily="18" charset="0"/>
              </a:rPr>
              <a:t>by </a:t>
            </a:r>
            <a:r>
              <a:rPr lang="en-US" sz="2800" spc="-5" dirty="0">
                <a:latin typeface="Times New Roman" panose="02020603050405020304" pitchFamily="18" charset="0"/>
                <a:cs typeface="Times New Roman" panose="02020603050405020304" pitchFamily="18" charset="0"/>
              </a:rPr>
              <a:t>any</a:t>
            </a:r>
            <a:r>
              <a:rPr lang="en-US" sz="2800" spc="-120" dirty="0">
                <a:latin typeface="Times New Roman" panose="02020603050405020304" pitchFamily="18" charset="0"/>
                <a:cs typeface="Times New Roman" panose="02020603050405020304" pitchFamily="18" charset="0"/>
              </a:rPr>
              <a:t> </a:t>
            </a:r>
            <a:r>
              <a:rPr lang="en-US" sz="2800" spc="-5" dirty="0">
                <a:latin typeface="Times New Roman" panose="02020603050405020304" pitchFamily="18" charset="0"/>
                <a:cs typeface="Times New Roman" panose="02020603050405020304" pitchFamily="18" charset="0"/>
              </a:rPr>
              <a:t>computing  machine</a:t>
            </a:r>
            <a:endParaRPr lang="en-US" sz="2800" dirty="0">
              <a:latin typeface="Times New Roman" panose="02020603050405020304" pitchFamily="18" charset="0"/>
              <a:cs typeface="Times New Roman" panose="02020603050405020304" pitchFamily="18" charset="0"/>
            </a:endParaRPr>
          </a:p>
          <a:p>
            <a:pPr algn="just" eaLnBrk="1" hangingPunct="1">
              <a:buFont typeface="Arial" pitchFamily="34" charset="0"/>
              <a:buChar char="•"/>
            </a:pPr>
            <a:endParaRPr lang="en-US"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50557"/>
            <a:ext cx="1143000" cy="782411"/>
          </a:xfrm>
          <a:prstGeom prst="rect">
            <a:avLst/>
          </a:prstGeom>
        </p:spPr>
      </p:pic>
    </p:spTree>
    <p:extLst>
      <p:ext uri="{BB962C8B-B14F-4D97-AF65-F5344CB8AC3E}">
        <p14:creationId xmlns:p14="http://schemas.microsoft.com/office/powerpoint/2010/main" val="4117660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r>
              <a:rPr lang="en-US" dirty="0">
                <a:solidFill>
                  <a:srgbClr val="0070C0"/>
                </a:solidFill>
                <a:latin typeface="Times New Roman" pitchFamily="18" charset="0"/>
                <a:cs typeface="Times New Roman" pitchFamily="18" charset="0"/>
              </a:rPr>
              <a:t>Turing Machine</a:t>
            </a:r>
            <a:endParaRPr lang="en-US" dirty="0">
              <a:solidFill>
                <a:srgbClr val="0000CC"/>
              </a:solidFill>
              <a:latin typeface="Times New Roman" pitchFamily="18" charset="0"/>
              <a:cs typeface="Times New Roman" pitchFamily="18" charset="0"/>
            </a:endParaRPr>
          </a:p>
        </p:txBody>
      </p:sp>
      <p:sp>
        <p:nvSpPr>
          <p:cNvPr id="4099" name="Subtitle 2"/>
          <p:cNvSpPr>
            <a:spLocks noGrp="1"/>
          </p:cNvSpPr>
          <p:nvPr>
            <p:ph type="subTitle" idx="1"/>
          </p:nvPr>
        </p:nvSpPr>
        <p:spPr>
          <a:xfrm>
            <a:off x="1524000" y="1447800"/>
            <a:ext cx="9144000" cy="5410200"/>
          </a:xfrm>
        </p:spPr>
        <p:txBody>
          <a:bodyPr/>
          <a:lstStyle/>
          <a:p>
            <a:pPr marL="355600" indent="-3429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Invented </a:t>
            </a:r>
            <a:r>
              <a:rPr lang="en-US" sz="2800" dirty="0">
                <a:latin typeface="Times New Roman" panose="02020603050405020304" pitchFamily="18" charset="0"/>
                <a:cs typeface="Times New Roman" panose="02020603050405020304" pitchFamily="18" charset="0"/>
              </a:rPr>
              <a:t>by </a:t>
            </a:r>
            <a:r>
              <a:rPr lang="en-US" sz="2800" spc="-5" dirty="0">
                <a:latin typeface="Times New Roman" panose="02020603050405020304" pitchFamily="18" charset="0"/>
                <a:cs typeface="Times New Roman" panose="02020603050405020304" pitchFamily="18" charset="0"/>
              </a:rPr>
              <a:t>Alan Turing </a:t>
            </a:r>
            <a:r>
              <a:rPr lang="en-US" sz="2800" dirty="0">
                <a:latin typeface="Times New Roman" panose="02020603050405020304" pitchFamily="18" charset="0"/>
                <a:cs typeface="Times New Roman" panose="02020603050405020304" pitchFamily="18" charset="0"/>
              </a:rPr>
              <a:t>in</a:t>
            </a:r>
            <a:r>
              <a:rPr lang="en-US" sz="2800" spc="-85" dirty="0">
                <a:latin typeface="Times New Roman" panose="02020603050405020304" pitchFamily="18" charset="0"/>
                <a:cs typeface="Times New Roman" panose="02020603050405020304" pitchFamily="18" charset="0"/>
              </a:rPr>
              <a:t> </a:t>
            </a:r>
            <a:r>
              <a:rPr lang="en-US" sz="2800" spc="-5" dirty="0">
                <a:latin typeface="Times New Roman" panose="02020603050405020304" pitchFamily="18" charset="0"/>
                <a:cs typeface="Times New Roman" panose="02020603050405020304" pitchFamily="18" charset="0"/>
              </a:rPr>
              <a:t>1936</a:t>
            </a:r>
            <a:endParaRPr lang="en-US" sz="2800" dirty="0">
              <a:latin typeface="Times New Roman" panose="02020603050405020304" pitchFamily="18" charset="0"/>
              <a:cs typeface="Times New Roman" panose="02020603050405020304" pitchFamily="18" charset="0"/>
            </a:endParaRPr>
          </a:p>
          <a:p>
            <a:pPr marL="571500" indent="-571500" algn="just">
              <a:lnSpc>
                <a:spcPct val="100000"/>
              </a:lnSpc>
              <a:spcBef>
                <a:spcPts val="30"/>
              </a:spcBef>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355600" marR="414020" indent="-342900" algn="just">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a:t>
            </a:r>
            <a:r>
              <a:rPr lang="en-US" sz="2800" spc="-5" dirty="0">
                <a:latin typeface="Times New Roman" panose="02020603050405020304" pitchFamily="18" charset="0"/>
                <a:cs typeface="Times New Roman" panose="02020603050405020304" pitchFamily="18" charset="0"/>
              </a:rPr>
              <a:t>simple mathematical model </a:t>
            </a:r>
            <a:r>
              <a:rPr lang="en-US" sz="2800" spc="-10" dirty="0">
                <a:latin typeface="Times New Roman" panose="02020603050405020304" pitchFamily="18" charset="0"/>
                <a:cs typeface="Times New Roman" panose="02020603050405020304" pitchFamily="18" charset="0"/>
              </a:rPr>
              <a:t>of </a:t>
            </a:r>
            <a:r>
              <a:rPr lang="en-US" sz="2800" dirty="0">
                <a:latin typeface="Times New Roman" panose="02020603050405020304" pitchFamily="18" charset="0"/>
                <a:cs typeface="Times New Roman" panose="02020603050405020304" pitchFamily="18" charset="0"/>
              </a:rPr>
              <a:t>a </a:t>
            </a:r>
            <a:r>
              <a:rPr lang="en-US" sz="2800" spc="-5" dirty="0">
                <a:latin typeface="Times New Roman" panose="02020603050405020304" pitchFamily="18" charset="0"/>
                <a:cs typeface="Times New Roman" panose="02020603050405020304" pitchFamily="18" charset="0"/>
              </a:rPr>
              <a:t>general  purpose</a:t>
            </a:r>
            <a:r>
              <a:rPr lang="en-US" sz="2800" spc="-45" dirty="0">
                <a:latin typeface="Times New Roman" panose="02020603050405020304" pitchFamily="18" charset="0"/>
                <a:cs typeface="Times New Roman" panose="02020603050405020304" pitchFamily="18" charset="0"/>
              </a:rPr>
              <a:t> </a:t>
            </a:r>
            <a:r>
              <a:rPr lang="en-US" sz="2800" spc="-5" dirty="0">
                <a:latin typeface="Times New Roman" panose="02020603050405020304" pitchFamily="18" charset="0"/>
                <a:cs typeface="Times New Roman" panose="02020603050405020304" pitchFamily="18" charset="0"/>
              </a:rPr>
              <a:t>computer</a:t>
            </a:r>
            <a:endParaRPr lang="en-US" sz="2800" dirty="0">
              <a:latin typeface="Times New Roman" panose="02020603050405020304" pitchFamily="18" charset="0"/>
              <a:cs typeface="Times New Roman" panose="02020603050405020304" pitchFamily="18" charset="0"/>
            </a:endParaRPr>
          </a:p>
          <a:p>
            <a:pPr marL="571500" indent="-571500" algn="just">
              <a:lnSpc>
                <a:spcPct val="100000"/>
              </a:lnSpc>
              <a:spcBef>
                <a:spcPts val="30"/>
              </a:spcBef>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355600" marR="5080" indent="-342900" algn="just">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capable of </a:t>
            </a:r>
            <a:r>
              <a:rPr lang="en-US" sz="2800" spc="-5" dirty="0">
                <a:latin typeface="Times New Roman" panose="02020603050405020304" pitchFamily="18" charset="0"/>
                <a:cs typeface="Times New Roman" panose="02020603050405020304" pitchFamily="18" charset="0"/>
              </a:rPr>
              <a:t>performing any </a:t>
            </a:r>
            <a:r>
              <a:rPr lang="en-US" sz="2800" dirty="0">
                <a:latin typeface="Times New Roman" panose="02020603050405020304" pitchFamily="18" charset="0"/>
                <a:cs typeface="Times New Roman" panose="02020603050405020304" pitchFamily="18" charset="0"/>
              </a:rPr>
              <a:t>calculation  which can be </a:t>
            </a:r>
            <a:r>
              <a:rPr lang="en-US" sz="2800" spc="-5" dirty="0">
                <a:latin typeface="Times New Roman" panose="02020603050405020304" pitchFamily="18" charset="0"/>
                <a:cs typeface="Times New Roman" panose="02020603050405020304" pitchFamily="18" charset="0"/>
              </a:rPr>
              <a:t>performed </a:t>
            </a:r>
            <a:r>
              <a:rPr lang="en-US" sz="2800" dirty="0">
                <a:latin typeface="Times New Roman" panose="02020603050405020304" pitchFamily="18" charset="0"/>
                <a:cs typeface="Times New Roman" panose="02020603050405020304" pitchFamily="18" charset="0"/>
              </a:rPr>
              <a:t>by </a:t>
            </a:r>
            <a:r>
              <a:rPr lang="en-US" sz="2800" spc="-5" dirty="0">
                <a:latin typeface="Times New Roman" panose="02020603050405020304" pitchFamily="18" charset="0"/>
                <a:cs typeface="Times New Roman" panose="02020603050405020304" pitchFamily="18" charset="0"/>
              </a:rPr>
              <a:t>any</a:t>
            </a:r>
            <a:r>
              <a:rPr lang="en-US" sz="2800" spc="-120" dirty="0">
                <a:latin typeface="Times New Roman" panose="02020603050405020304" pitchFamily="18" charset="0"/>
                <a:cs typeface="Times New Roman" panose="02020603050405020304" pitchFamily="18" charset="0"/>
              </a:rPr>
              <a:t> </a:t>
            </a:r>
            <a:r>
              <a:rPr lang="en-US" sz="2800" spc="-5" dirty="0">
                <a:latin typeface="Times New Roman" panose="02020603050405020304" pitchFamily="18" charset="0"/>
                <a:cs typeface="Times New Roman" panose="02020603050405020304" pitchFamily="18" charset="0"/>
              </a:rPr>
              <a:t>computing  machine</a:t>
            </a:r>
            <a:endParaRPr lang="en-US" sz="2800" dirty="0">
              <a:latin typeface="Times New Roman" panose="02020603050405020304" pitchFamily="18" charset="0"/>
              <a:cs typeface="Times New Roman" panose="02020603050405020304" pitchFamily="18" charset="0"/>
            </a:endParaRPr>
          </a:p>
          <a:p>
            <a:pPr algn="just" eaLnBrk="1" hangingPunct="1">
              <a:buFont typeface="Arial" pitchFamily="34" charset="0"/>
              <a:buChar char="•"/>
            </a:pPr>
            <a:endParaRPr lang="en-US"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25279"/>
            <a:ext cx="1143000" cy="782411"/>
          </a:xfrm>
          <a:prstGeom prst="rect">
            <a:avLst/>
          </a:prstGeom>
        </p:spPr>
      </p:pic>
    </p:spTree>
    <p:extLst>
      <p:ext uri="{BB962C8B-B14F-4D97-AF65-F5344CB8AC3E}">
        <p14:creationId xmlns:p14="http://schemas.microsoft.com/office/powerpoint/2010/main" val="1255231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r>
              <a:rPr lang="en-US" dirty="0">
                <a:solidFill>
                  <a:srgbClr val="0070C0"/>
                </a:solidFill>
                <a:latin typeface="Times New Roman" pitchFamily="18" charset="0"/>
                <a:cs typeface="Times New Roman" pitchFamily="18" charset="0"/>
              </a:rPr>
              <a:t>Turing Machine</a:t>
            </a:r>
            <a:endParaRPr lang="en-US" dirty="0">
              <a:solidFill>
                <a:srgbClr val="0000CC"/>
              </a:solidFill>
              <a:latin typeface="Times New Roman" pitchFamily="18" charset="0"/>
              <a:cs typeface="Times New Roman" pitchFamily="18" charset="0"/>
            </a:endParaRPr>
          </a:p>
        </p:txBody>
      </p:sp>
      <p:sp>
        <p:nvSpPr>
          <p:cNvPr id="4099" name="Subtitle 2"/>
          <p:cNvSpPr>
            <a:spLocks noGrp="1"/>
          </p:cNvSpPr>
          <p:nvPr>
            <p:ph type="subTitle" idx="1"/>
          </p:nvPr>
        </p:nvSpPr>
        <p:spPr>
          <a:xfrm>
            <a:off x="1117600" y="1143000"/>
            <a:ext cx="9794240" cy="5410200"/>
          </a:xfrm>
        </p:spPr>
        <p:txBody>
          <a:bodyPr/>
          <a:lstStyle/>
          <a:p>
            <a:pPr marL="355600" indent="-3429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Types of Problems</a:t>
            </a:r>
          </a:p>
          <a:p>
            <a:pPr marL="812800" lvl="1" indent="-342900" algn="just">
              <a:lnSpc>
                <a:spcPct val="100000"/>
              </a:lnSpc>
              <a:spcBef>
                <a:spcPts val="105"/>
              </a:spcBef>
              <a:buFont typeface="Arial" panose="020B0604020202020204" pitchFamily="34" charset="0"/>
              <a:buChar char="•"/>
            </a:pPr>
            <a:r>
              <a:rPr lang="en-US" sz="2400" spc="-5" dirty="0">
                <a:latin typeface="Times New Roman" panose="02020603050405020304" pitchFamily="18" charset="0"/>
                <a:cs typeface="Times New Roman" panose="02020603050405020304" pitchFamily="18" charset="0"/>
              </a:rPr>
              <a:t>Decidable</a:t>
            </a:r>
          </a:p>
          <a:p>
            <a:pPr marL="812800" lvl="1" indent="-342900" algn="just">
              <a:lnSpc>
                <a:spcPct val="100000"/>
              </a:lnSpc>
              <a:spcBef>
                <a:spcPts val="105"/>
              </a:spcBef>
              <a:buFont typeface="Arial" panose="020B0604020202020204" pitchFamily="34" charset="0"/>
              <a:buChar char="•"/>
            </a:pPr>
            <a:r>
              <a:rPr lang="en-US" sz="2400" spc="-5" dirty="0">
                <a:latin typeface="Times New Roman" panose="02020603050405020304" pitchFamily="18" charset="0"/>
                <a:cs typeface="Times New Roman" panose="02020603050405020304" pitchFamily="18" charset="0"/>
              </a:rPr>
              <a:t>Undecidable</a:t>
            </a:r>
          </a:p>
          <a:p>
            <a:pPr marL="469900" lvl="1" algn="just">
              <a:lnSpc>
                <a:spcPct val="100000"/>
              </a:lnSpc>
              <a:spcBef>
                <a:spcPts val="105"/>
              </a:spcBef>
            </a:pPr>
            <a:endParaRPr lang="en-US" sz="2400" spc="-5" dirty="0">
              <a:latin typeface="Times New Roman" panose="02020603050405020304" pitchFamily="18" charset="0"/>
              <a:cs typeface="Times New Roman" panose="02020603050405020304" pitchFamily="18" charset="0"/>
            </a:endParaRPr>
          </a:p>
          <a:p>
            <a:pPr marL="12700" algn="just">
              <a:lnSpc>
                <a:spcPct val="100000"/>
              </a:lnSpc>
              <a:spcBef>
                <a:spcPts val="105"/>
              </a:spcBef>
            </a:pPr>
            <a:endParaRPr lang="en-US" sz="2800" spc="-5" dirty="0">
              <a:latin typeface="Times New Roman" panose="02020603050405020304" pitchFamily="18" charset="0"/>
              <a:cs typeface="Times New Roman" panose="02020603050405020304" pitchFamily="18" charset="0"/>
            </a:endParaRPr>
          </a:p>
          <a:p>
            <a:pPr marL="355600" indent="-3429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Decidable : Problems that can be solvable in a reasonable(polynomial) time.</a:t>
            </a:r>
          </a:p>
          <a:p>
            <a:pPr marL="355600" indent="-3429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Undecidable : Some problems are intractable, as they grow large, we are unable to solve them in reasonable time</a:t>
            </a:r>
            <a:endParaRPr lang="en-US"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162560" y="50557"/>
            <a:ext cx="1143000" cy="782411"/>
          </a:xfrm>
          <a:prstGeom prst="rect">
            <a:avLst/>
          </a:prstGeom>
        </p:spPr>
      </p:pic>
    </p:spTree>
    <p:extLst>
      <p:ext uri="{BB962C8B-B14F-4D97-AF65-F5344CB8AC3E}">
        <p14:creationId xmlns:p14="http://schemas.microsoft.com/office/powerpoint/2010/main" val="551837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1524000" y="1"/>
            <a:ext cx="9144000" cy="1056237"/>
          </a:xfrm>
        </p:spPr>
        <p:txBody>
          <a:bodyPr/>
          <a:lstStyle/>
          <a:p>
            <a:pPr eaLnBrk="1" hangingPunct="1"/>
            <a:r>
              <a:rPr lang="en-US" dirty="0">
                <a:solidFill>
                  <a:srgbClr val="0070C0"/>
                </a:solidFill>
                <a:latin typeface="Times New Roman" pitchFamily="18" charset="0"/>
                <a:cs typeface="Times New Roman" pitchFamily="18" charset="0"/>
              </a:rPr>
              <a:t>       </a:t>
            </a:r>
            <a:r>
              <a:rPr lang="en-US" sz="3600" dirty="0">
                <a:solidFill>
                  <a:srgbClr val="0070C0"/>
                </a:solidFill>
                <a:latin typeface="Times New Roman" pitchFamily="18" charset="0"/>
                <a:cs typeface="Times New Roman" pitchFamily="18" charset="0"/>
              </a:rPr>
              <a:t>Complexity of TM</a:t>
            </a:r>
          </a:p>
        </p:txBody>
      </p:sp>
      <p:sp>
        <p:nvSpPr>
          <p:cNvPr id="3" name="Subtitle 2"/>
          <p:cNvSpPr>
            <a:spLocks noGrp="1"/>
          </p:cNvSpPr>
          <p:nvPr>
            <p:ph type="subTitle" idx="1"/>
          </p:nvPr>
        </p:nvSpPr>
        <p:spPr>
          <a:xfrm>
            <a:off x="1524000" y="1447800"/>
            <a:ext cx="9144000" cy="5410200"/>
          </a:xfrm>
        </p:spPr>
        <p:txBody>
          <a:bodyPr rtlCol="0">
            <a:normAutofit/>
          </a:bodyPr>
          <a:lstStyle/>
          <a:p>
            <a:pPr algn="just">
              <a:lnSpc>
                <a:spcPct val="80000"/>
              </a:lnSpc>
              <a:buFont typeface="Arial" pitchFamily="34" charset="0"/>
              <a:buChar char="•"/>
              <a:defRPr/>
            </a:pPr>
            <a:endParaRPr lang="en-US" sz="2000" dirty="0">
              <a:solidFill>
                <a:srgbClr val="006600"/>
              </a:solidFill>
            </a:endParaRPr>
          </a:p>
          <a:p>
            <a:pPr algn="just">
              <a:buFont typeface="Arial" pitchFamily="34" charset="0"/>
              <a:buChar char="•"/>
              <a:defRPr/>
            </a:pPr>
            <a:endParaRPr lang="en-US" dirty="0"/>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136913"/>
            <a:ext cx="1143000" cy="782411"/>
          </a:xfrm>
          <a:prstGeom prst="rect">
            <a:avLst/>
          </a:prstGeom>
        </p:spPr>
      </p:pic>
      <p:sp>
        <p:nvSpPr>
          <p:cNvPr id="7" name="Text Box 2">
            <a:extLst>
              <a:ext uri="{FF2B5EF4-FFF2-40B4-BE49-F238E27FC236}">
                <a16:creationId xmlns:a16="http://schemas.microsoft.com/office/drawing/2014/main" id="{61D67DBD-CF08-4EEC-B6B7-977B9CEE7AC7}"/>
              </a:ext>
            </a:extLst>
          </p:cNvPr>
          <p:cNvSpPr txBox="1">
            <a:spLocks noChangeArrowheads="1"/>
          </p:cNvSpPr>
          <p:nvPr/>
        </p:nvSpPr>
        <p:spPr bwMode="auto">
          <a:xfrm>
            <a:off x="1630680" y="1447800"/>
            <a:ext cx="7769225" cy="4111625"/>
          </a:xfrm>
          <a:prstGeom prst="rect">
            <a:avLst/>
          </a:prstGeom>
          <a:noFill/>
          <a:ln w="9525" cap="flat">
            <a:noFill/>
            <a:round/>
            <a:headEnd/>
            <a:tailEnd/>
          </a:ln>
          <a:effectLst/>
        </p:spPr>
        <p:txBody>
          <a:bodyPr lIns="90000" tIns="46800" rIns="90000" bIns="46800"/>
          <a:lstStyle/>
          <a:p>
            <a:pPr marL="339725" indent="-339725" algn="just">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sz="2800" dirty="0">
                <a:solidFill>
                  <a:srgbClr val="000000"/>
                </a:solidFill>
                <a:latin typeface="Times New Roman" pitchFamily="16" charset="0"/>
              </a:rPr>
              <a:t>For a Turing machine, the time complexity refers to </a:t>
            </a:r>
            <a:r>
              <a:rPr lang="en-US" sz="2800" b="1" dirty="0">
                <a:solidFill>
                  <a:srgbClr val="000000"/>
                </a:solidFill>
                <a:latin typeface="Times New Roman" pitchFamily="16" charset="0"/>
              </a:rPr>
              <a:t>the measure of the number of times the tape moves when the machine is initialized for some input symbols.</a:t>
            </a:r>
          </a:p>
          <a:p>
            <a:pPr marL="341313" indent="-339725" algn="just">
              <a:spcBef>
                <a:spcPts val="8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sz="2800" dirty="0">
              <a:solidFill>
                <a:srgbClr val="000000"/>
              </a:solidFill>
              <a:latin typeface="Times New Roman" pitchFamily="16" charset="0"/>
            </a:endParaRPr>
          </a:p>
          <a:p>
            <a:pPr marL="339725" indent="-339725" algn="just">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sz="2800" dirty="0">
                <a:solidFill>
                  <a:srgbClr val="000000"/>
                </a:solidFill>
                <a:latin typeface="Times New Roman" pitchFamily="16" charset="0"/>
              </a:rPr>
              <a:t>The time-complexity of a NTM is defined as </a:t>
            </a:r>
            <a:r>
              <a:rPr lang="en-US" sz="2800" b="1" dirty="0">
                <a:solidFill>
                  <a:srgbClr val="000000"/>
                </a:solidFill>
                <a:latin typeface="Times New Roman" pitchFamily="16" charset="0"/>
              </a:rPr>
              <a:t>the maximum number of steps it uses on any branch on any input of length n</a:t>
            </a:r>
            <a:r>
              <a:rPr lang="en-US" sz="2800" dirty="0">
                <a:solidFill>
                  <a:srgbClr val="000000"/>
                </a:solidFill>
                <a:latin typeface="Times New Roman" pitchFamily="16" charset="0"/>
              </a:rPr>
              <a:t>.</a:t>
            </a:r>
          </a:p>
        </p:txBody>
      </p:sp>
    </p:spTree>
    <p:extLst>
      <p:ext uri="{BB962C8B-B14F-4D97-AF65-F5344CB8AC3E}">
        <p14:creationId xmlns:p14="http://schemas.microsoft.com/office/powerpoint/2010/main" val="1090119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r>
              <a:rPr lang="en-US" dirty="0">
                <a:solidFill>
                  <a:srgbClr val="0070C0"/>
                </a:solidFill>
                <a:latin typeface="Times New Roman" pitchFamily="18" charset="0"/>
                <a:cs typeface="Times New Roman" pitchFamily="18" charset="0"/>
              </a:rPr>
              <a:t>Turing Machine</a:t>
            </a:r>
            <a:endParaRPr lang="en-US" dirty="0">
              <a:solidFill>
                <a:srgbClr val="0000CC"/>
              </a:solidFill>
              <a:latin typeface="Times New Roman" pitchFamily="18" charset="0"/>
              <a:cs typeface="Times New Roman" pitchFamily="18" charset="0"/>
            </a:endParaRPr>
          </a:p>
        </p:txBody>
      </p:sp>
      <p:sp>
        <p:nvSpPr>
          <p:cNvPr id="4099" name="Subtitle 2"/>
          <p:cNvSpPr>
            <a:spLocks noGrp="1"/>
          </p:cNvSpPr>
          <p:nvPr>
            <p:ph type="subTitle" idx="1"/>
          </p:nvPr>
        </p:nvSpPr>
        <p:spPr>
          <a:xfrm>
            <a:off x="1117600" y="1143000"/>
            <a:ext cx="9794240" cy="5410200"/>
          </a:xfrm>
        </p:spPr>
        <p:txBody>
          <a:bodyPr/>
          <a:lstStyle/>
          <a:p>
            <a:pPr marL="355600" indent="-3429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What constitutes reasonable time?</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Standard working definition: polynomial time</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On an input of size n the worst-case running time is O(</a:t>
            </a:r>
            <a:r>
              <a:rPr lang="en-US" sz="2800" spc="-5" dirty="0" err="1">
                <a:latin typeface="Times New Roman" panose="02020603050405020304" pitchFamily="18" charset="0"/>
                <a:cs typeface="Times New Roman" panose="02020603050405020304" pitchFamily="18" charset="0"/>
              </a:rPr>
              <a:t>nk</a:t>
            </a:r>
            <a:r>
              <a:rPr lang="en-US" sz="2800" spc="-5" dirty="0">
                <a:latin typeface="Times New Roman" panose="02020603050405020304" pitchFamily="18" charset="0"/>
                <a:cs typeface="Times New Roman" panose="02020603050405020304" pitchFamily="18" charset="0"/>
              </a:rPr>
              <a:t>) for some constant k</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O(n2), O(n3), O(1), O(n lg n), O(2n), O(</a:t>
            </a:r>
            <a:r>
              <a:rPr lang="en-US" sz="2800" spc="-5" dirty="0" err="1">
                <a:latin typeface="Times New Roman" panose="02020603050405020304" pitchFamily="18" charset="0"/>
                <a:cs typeface="Times New Roman" panose="02020603050405020304" pitchFamily="18" charset="0"/>
              </a:rPr>
              <a:t>nn</a:t>
            </a:r>
            <a:r>
              <a:rPr lang="en-US" sz="2800" spc="-5" dirty="0">
                <a:latin typeface="Times New Roman" panose="02020603050405020304" pitchFamily="18" charset="0"/>
                <a:cs typeface="Times New Roman" panose="02020603050405020304" pitchFamily="18" charset="0"/>
              </a:rPr>
              <a:t>), O(n!)</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Polynomial time: O(n2), O(n3), O(1), O(n lg n)</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Not in polynomial time: O(2n), O(</a:t>
            </a:r>
            <a:r>
              <a:rPr lang="en-US" sz="2800" spc="-5" dirty="0" err="1">
                <a:latin typeface="Times New Roman" panose="02020603050405020304" pitchFamily="18" charset="0"/>
                <a:cs typeface="Times New Roman" panose="02020603050405020304" pitchFamily="18" charset="0"/>
              </a:rPr>
              <a:t>nn</a:t>
            </a:r>
            <a:r>
              <a:rPr lang="en-US" sz="2800" spc="-5" dirty="0">
                <a:latin typeface="Times New Roman" panose="02020603050405020304" pitchFamily="18" charset="0"/>
                <a:cs typeface="Times New Roman" panose="02020603050405020304" pitchFamily="18" charset="0"/>
              </a:rPr>
              <a:t>), O(n!)</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Are all problems solvable in polynomial time?</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No: Turing’s “Halting Problem” is not solvable by any computer, no matter how much time is given. </a:t>
            </a:r>
            <a:endParaRPr lang="en-US"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0"/>
            <a:ext cx="1143000" cy="782411"/>
          </a:xfrm>
          <a:prstGeom prst="rect">
            <a:avLst/>
          </a:prstGeom>
        </p:spPr>
      </p:pic>
    </p:spTree>
    <p:extLst>
      <p:ext uri="{BB962C8B-B14F-4D97-AF65-F5344CB8AC3E}">
        <p14:creationId xmlns:p14="http://schemas.microsoft.com/office/powerpoint/2010/main" val="1230580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FA66BEBC-E912-4413-9DA1-233DAF596F4A}"/>
              </a:ext>
            </a:extLst>
          </p:cNvPr>
          <p:cNvSpPr>
            <a:spLocks noGrp="1"/>
          </p:cNvSpPr>
          <p:nvPr>
            <p:ph type="title"/>
          </p:nvPr>
        </p:nvSpPr>
        <p:spPr>
          <a:xfrm>
            <a:off x="2209800" y="609600"/>
            <a:ext cx="7766050" cy="762000"/>
          </a:xfrm>
        </p:spPr>
        <p:txBody>
          <a:bodyPr/>
          <a:lstStyle/>
          <a:p>
            <a:r>
              <a:rPr lang="en-US" altLang="en-US"/>
              <a:t>Time complexity graph</a:t>
            </a:r>
          </a:p>
        </p:txBody>
      </p:sp>
      <p:pic>
        <p:nvPicPr>
          <p:cNvPr id="7171" name="Picture 2">
            <a:extLst>
              <a:ext uri="{FF2B5EF4-FFF2-40B4-BE49-F238E27FC236}">
                <a16:creationId xmlns:a16="http://schemas.microsoft.com/office/drawing/2014/main" id="{4913FC5B-17BB-49C3-A88A-2D76AACDE6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752601"/>
            <a:ext cx="6972300" cy="427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121920" y="50557"/>
            <a:ext cx="1143000" cy="782411"/>
          </a:xfrm>
          <a:prstGeom prst="rect">
            <a:avLst/>
          </a:prstGeom>
        </p:spPr>
      </p:pic>
      <p:sp>
        <p:nvSpPr>
          <p:cNvPr id="6" name="Rectangle 5">
            <a:extLst>
              <a:ext uri="{FF2B5EF4-FFF2-40B4-BE49-F238E27FC236}">
                <a16:creationId xmlns:a16="http://schemas.microsoft.com/office/drawing/2014/main" id="{0908423F-1B00-4518-92F0-6454C534DF76}"/>
              </a:ext>
            </a:extLst>
          </p:cNvPr>
          <p:cNvSpPr/>
          <p:nvPr/>
        </p:nvSpPr>
        <p:spPr>
          <a:xfrm>
            <a:off x="3749666" y="2844225"/>
            <a:ext cx="5827493" cy="646331"/>
          </a:xfrm>
          <a:prstGeom prst="rect">
            <a:avLst/>
          </a:prstGeom>
        </p:spPr>
        <p:txBody>
          <a:bodyPr wrap="none">
            <a:spAutoFit/>
          </a:bodyPr>
          <a:lstStyle/>
          <a:p>
            <a:r>
              <a:rPr lang="en-IN" sz="3600" dirty="0">
                <a:latin typeface="Times New Roman" panose="02020603050405020304" pitchFamily="18" charset="0"/>
                <a:cs typeface="Times New Roman" panose="02020603050405020304" pitchFamily="18" charset="0"/>
              </a:rPr>
              <a:t>P, NP, NP-Hard, NP-Complete</a:t>
            </a:r>
          </a:p>
        </p:txBody>
      </p:sp>
    </p:spTree>
    <p:extLst>
      <p:ext uri="{BB962C8B-B14F-4D97-AF65-F5344CB8AC3E}">
        <p14:creationId xmlns:p14="http://schemas.microsoft.com/office/powerpoint/2010/main" val="3107111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br>
              <a:rPr lang="en-US" dirty="0">
                <a:solidFill>
                  <a:srgbClr val="0000CC"/>
                </a:solidFill>
                <a:latin typeface="Arial Rounded MT Bold" pitchFamily="34" charset="0"/>
                <a:cs typeface="Arial" charset="0"/>
              </a:rPr>
            </a:br>
            <a:r>
              <a:rPr lang="en-US" sz="4000" dirty="0">
                <a:solidFill>
                  <a:srgbClr val="0070C0"/>
                </a:solidFill>
                <a:latin typeface="Times New Roman" pitchFamily="18" charset="0"/>
                <a:cs typeface="Times New Roman" pitchFamily="18" charset="0"/>
              </a:rPr>
              <a:t>The Class P </a:t>
            </a:r>
            <a:r>
              <a:rPr lang="en-US" sz="3600" dirty="0">
                <a:solidFill>
                  <a:srgbClr val="0070C0"/>
                </a:solidFill>
                <a:latin typeface="Times New Roman" pitchFamily="18" charset="0"/>
                <a:cs typeface="Times New Roman" pitchFamily="18" charset="0"/>
              </a:rPr>
              <a:t>(Polynomial-time)</a:t>
            </a:r>
            <a:endParaRPr lang="en-US" dirty="0">
              <a:solidFill>
                <a:srgbClr val="0000CC"/>
              </a:solidFill>
              <a:latin typeface="Times New Roman" pitchFamily="18" charset="0"/>
              <a:cs typeface="Times New Roman" pitchFamily="18" charset="0"/>
            </a:endParaRPr>
          </a:p>
        </p:txBody>
      </p:sp>
      <p:sp>
        <p:nvSpPr>
          <p:cNvPr id="4099" name="Subtitle 2"/>
          <p:cNvSpPr>
            <a:spLocks noGrp="1"/>
          </p:cNvSpPr>
          <p:nvPr>
            <p:ph type="subTitle" idx="1"/>
          </p:nvPr>
        </p:nvSpPr>
        <p:spPr>
          <a:xfrm>
            <a:off x="1117600" y="1143000"/>
            <a:ext cx="9794240" cy="5410200"/>
          </a:xfrm>
        </p:spPr>
        <p:txBody>
          <a:bodyPr>
            <a:normAutofit/>
          </a:bodyPr>
          <a:lstStyle/>
          <a:p>
            <a:pPr marL="12700" algn="just">
              <a:lnSpc>
                <a:spcPct val="100000"/>
              </a:lnSpc>
              <a:spcBef>
                <a:spcPts val="105"/>
              </a:spcBef>
            </a:pPr>
            <a:r>
              <a:rPr lang="en-US" sz="2600" b="1" spc="-5" dirty="0">
                <a:latin typeface="Times New Roman" panose="02020603050405020304" pitchFamily="18" charset="0"/>
                <a:cs typeface="Times New Roman" panose="02020603050405020304" pitchFamily="18" charset="0"/>
              </a:rPr>
              <a:t>P</a:t>
            </a:r>
            <a:r>
              <a:rPr lang="en-US" sz="2600" spc="-5" dirty="0">
                <a:latin typeface="Times New Roman" panose="02020603050405020304" pitchFamily="18" charset="0"/>
                <a:cs typeface="Times New Roman" panose="02020603050405020304" pitchFamily="18" charset="0"/>
              </a:rPr>
              <a:t>: the class of problems that have polynomial-time deterministic algorithms.</a:t>
            </a:r>
          </a:p>
          <a:p>
            <a:pPr marL="12700" algn="just">
              <a:lnSpc>
                <a:spcPct val="100000"/>
              </a:lnSpc>
              <a:spcBef>
                <a:spcPts val="105"/>
              </a:spcBef>
            </a:pPr>
            <a:r>
              <a:rPr lang="en-US" sz="2600" spc="-5" dirty="0">
                <a:latin typeface="Times New Roman" panose="02020603050405020304" pitchFamily="18" charset="0"/>
                <a:cs typeface="Times New Roman" panose="02020603050405020304" pitchFamily="18" charset="0"/>
              </a:rPr>
              <a:t>– That is, they are solvable in O(p(n)), where p(n) is a polynomial on n</a:t>
            </a:r>
          </a:p>
          <a:p>
            <a:pPr marL="12700" algn="just">
              <a:lnSpc>
                <a:spcPct val="100000"/>
              </a:lnSpc>
              <a:spcBef>
                <a:spcPts val="105"/>
              </a:spcBef>
            </a:pPr>
            <a:r>
              <a:rPr lang="en-US" sz="2600" spc="-5" dirty="0">
                <a:latin typeface="Times New Roman" panose="02020603050405020304" pitchFamily="18" charset="0"/>
                <a:cs typeface="Times New Roman" panose="02020603050405020304" pitchFamily="18" charset="0"/>
              </a:rPr>
              <a:t>– A deterministic algorithm is (essentially) one that always</a:t>
            </a:r>
          </a:p>
          <a:p>
            <a:pPr marL="12700" algn="just">
              <a:lnSpc>
                <a:spcPct val="100000"/>
              </a:lnSpc>
              <a:spcBef>
                <a:spcPts val="105"/>
              </a:spcBef>
            </a:pPr>
            <a:r>
              <a:rPr lang="en-US" sz="2600" spc="-5" dirty="0">
                <a:latin typeface="Times New Roman" panose="02020603050405020304" pitchFamily="18" charset="0"/>
                <a:cs typeface="Times New Roman" panose="02020603050405020304" pitchFamily="18" charset="0"/>
              </a:rPr>
              <a:t>computes the correct answer</a:t>
            </a:r>
          </a:p>
          <a:p>
            <a:pPr marL="12700" algn="just">
              <a:lnSpc>
                <a:spcPct val="100000"/>
              </a:lnSpc>
              <a:spcBef>
                <a:spcPts val="105"/>
              </a:spcBef>
            </a:pPr>
            <a:r>
              <a:rPr lang="en-US" sz="2600" spc="-5" dirty="0">
                <a:latin typeface="Times New Roman" panose="02020603050405020304" pitchFamily="18" charset="0"/>
                <a:cs typeface="Times New Roman" panose="02020603050405020304" pitchFamily="18" charset="0"/>
              </a:rPr>
              <a:t>-</a:t>
            </a:r>
            <a:r>
              <a:rPr lang="en-US" sz="2600" dirty="0">
                <a:solidFill>
                  <a:srgbClr val="000000"/>
                </a:solidFill>
                <a:latin typeface="Times New Roman" pitchFamily="16" charset="0"/>
              </a:rPr>
              <a:t>They are simple to solve, easy to verify and take computationally acceptable time for solving any instance of the problem. Such problems are also known as </a:t>
            </a:r>
            <a:r>
              <a:rPr lang="en-US" sz="2600" i="1" dirty="0">
                <a:solidFill>
                  <a:srgbClr val="000000"/>
                </a:solidFill>
                <a:latin typeface="Times New Roman" pitchFamily="16" charset="0"/>
              </a:rPr>
              <a:t>“tractable”</a:t>
            </a:r>
            <a:r>
              <a:rPr lang="en-US" sz="2600" dirty="0">
                <a:solidFill>
                  <a:srgbClr val="000000"/>
                </a:solidFill>
                <a:latin typeface="Times New Roman" pitchFamily="16" charset="0"/>
              </a:rPr>
              <a:t>.</a:t>
            </a:r>
          </a:p>
          <a:p>
            <a:pPr marL="342900" indent="-339725" algn="just">
              <a:spcBef>
                <a:spcPts val="800"/>
              </a:spcBef>
              <a:tabLst>
                <a:tab pos="742950" algn="l"/>
                <a:tab pos="1190625" algn="l"/>
                <a:tab pos="1639888" algn="l"/>
                <a:tab pos="2089150" algn="l"/>
                <a:tab pos="2538413" algn="l"/>
                <a:tab pos="2987675" algn="l"/>
                <a:tab pos="3436938" algn="l"/>
                <a:tab pos="3886200" algn="l"/>
                <a:tab pos="4335463" algn="l"/>
                <a:tab pos="4784725" algn="l"/>
                <a:tab pos="5233988" algn="l"/>
                <a:tab pos="5683250" algn="l"/>
                <a:tab pos="6132513" algn="l"/>
                <a:tab pos="6581775" algn="l"/>
                <a:tab pos="7031038" algn="l"/>
                <a:tab pos="7480300" algn="l"/>
                <a:tab pos="7929563" algn="l"/>
                <a:tab pos="8378825" algn="l"/>
                <a:tab pos="8828088" algn="l"/>
                <a:tab pos="9277350" algn="l"/>
                <a:tab pos="9726613" algn="l"/>
              </a:tabLst>
              <a:defRPr/>
            </a:pPr>
            <a:r>
              <a:rPr lang="en-US" dirty="0">
                <a:solidFill>
                  <a:srgbClr val="000000"/>
                </a:solidFill>
                <a:latin typeface="Times New Roman" pitchFamily="16" charset="0"/>
                <a:ea typeface="SimSun" charset="-122"/>
              </a:rPr>
              <a:t>-Why polynomial?</a:t>
            </a:r>
          </a:p>
          <a:p>
            <a:pPr marL="739775" lvl="1" indent="-279400" algn="just">
              <a:spcBef>
                <a:spcPts val="700"/>
              </a:spcBef>
              <a:buFont typeface="Times New Roman" pitchFamily="16" charset="0"/>
              <a:buChar char="–"/>
              <a:tabLst>
                <a:tab pos="742950" algn="l"/>
                <a:tab pos="1190625" algn="l"/>
                <a:tab pos="1639888" algn="l"/>
                <a:tab pos="2089150" algn="l"/>
                <a:tab pos="2538413" algn="l"/>
                <a:tab pos="2987675" algn="l"/>
                <a:tab pos="3436938" algn="l"/>
                <a:tab pos="3886200" algn="l"/>
                <a:tab pos="4335463" algn="l"/>
                <a:tab pos="4784725" algn="l"/>
                <a:tab pos="5233988" algn="l"/>
                <a:tab pos="5683250" algn="l"/>
                <a:tab pos="6132513" algn="l"/>
                <a:tab pos="6581775" algn="l"/>
                <a:tab pos="7031038" algn="l"/>
                <a:tab pos="7480300" algn="l"/>
                <a:tab pos="7929563" algn="l"/>
                <a:tab pos="8378825" algn="l"/>
                <a:tab pos="8828088" algn="l"/>
                <a:tab pos="9277350" algn="l"/>
                <a:tab pos="9726613" algn="l"/>
              </a:tabLst>
              <a:defRPr/>
            </a:pPr>
            <a:r>
              <a:rPr lang="en-US" dirty="0">
                <a:solidFill>
                  <a:srgbClr val="000000"/>
                </a:solidFill>
                <a:latin typeface="Times New Roman" pitchFamily="16" charset="0"/>
                <a:ea typeface="SimSun" charset="-122"/>
              </a:rPr>
              <a:t>efficient</a:t>
            </a:r>
          </a:p>
          <a:p>
            <a:pPr marL="739775" lvl="1" indent="-279400" algn="just">
              <a:spcBef>
                <a:spcPts val="700"/>
              </a:spcBef>
              <a:buFont typeface="Times New Roman" pitchFamily="16" charset="0"/>
              <a:buChar char="–"/>
              <a:tabLst>
                <a:tab pos="742950" algn="l"/>
                <a:tab pos="1190625" algn="l"/>
                <a:tab pos="1639888" algn="l"/>
                <a:tab pos="2089150" algn="l"/>
                <a:tab pos="2538413" algn="l"/>
                <a:tab pos="2987675" algn="l"/>
                <a:tab pos="3436938" algn="l"/>
                <a:tab pos="3886200" algn="l"/>
                <a:tab pos="4335463" algn="l"/>
                <a:tab pos="4784725" algn="l"/>
                <a:tab pos="5233988" algn="l"/>
                <a:tab pos="5683250" algn="l"/>
                <a:tab pos="6132513" algn="l"/>
                <a:tab pos="6581775" algn="l"/>
                <a:tab pos="7031038" algn="l"/>
                <a:tab pos="7480300" algn="l"/>
                <a:tab pos="7929563" algn="l"/>
                <a:tab pos="8378825" algn="l"/>
                <a:tab pos="8828088" algn="l"/>
                <a:tab pos="9277350" algn="l"/>
                <a:tab pos="9726613" algn="l"/>
              </a:tabLst>
              <a:defRPr/>
            </a:pPr>
            <a:r>
              <a:rPr lang="en-US" dirty="0">
                <a:solidFill>
                  <a:srgbClr val="000000"/>
                </a:solidFill>
                <a:latin typeface="Times New Roman" pitchFamily="16" charset="0"/>
                <a:ea typeface="SimSun" charset="-122"/>
              </a:rPr>
              <a:t>nice closure properties </a:t>
            </a:r>
          </a:p>
          <a:p>
            <a:pPr lvl="2" algn="just">
              <a:spcBef>
                <a:spcPts val="600"/>
              </a:spcBef>
              <a:buFont typeface="Times New Roman" pitchFamily="16" charset="0"/>
              <a:buChar char="•"/>
              <a:tabLst>
                <a:tab pos="742950" algn="l"/>
                <a:tab pos="1190625" algn="l"/>
                <a:tab pos="1639888" algn="l"/>
                <a:tab pos="2089150" algn="l"/>
                <a:tab pos="2538413" algn="l"/>
                <a:tab pos="2987675" algn="l"/>
                <a:tab pos="3436938" algn="l"/>
                <a:tab pos="3886200" algn="l"/>
                <a:tab pos="4335463" algn="l"/>
                <a:tab pos="4784725" algn="l"/>
                <a:tab pos="5233988" algn="l"/>
                <a:tab pos="5683250" algn="l"/>
                <a:tab pos="6132513" algn="l"/>
                <a:tab pos="6581775" algn="l"/>
                <a:tab pos="7031038" algn="l"/>
                <a:tab pos="7480300" algn="l"/>
                <a:tab pos="7929563" algn="l"/>
                <a:tab pos="8378825" algn="l"/>
                <a:tab pos="8828088" algn="l"/>
                <a:tab pos="9277350" algn="l"/>
                <a:tab pos="9726613" algn="l"/>
              </a:tabLst>
              <a:defRPr/>
            </a:pPr>
            <a:r>
              <a:rPr lang="en-US" i="1" dirty="0">
                <a:solidFill>
                  <a:srgbClr val="000000"/>
                </a:solidFill>
                <a:latin typeface="Times New Roman" pitchFamily="16" charset="0"/>
                <a:ea typeface="SimSun" charset="-122"/>
              </a:rPr>
              <a:t>the sum and composition of two polynomials are always polynomials too</a:t>
            </a:r>
          </a:p>
          <a:p>
            <a:pPr marL="12700" algn="just">
              <a:lnSpc>
                <a:spcPct val="100000"/>
              </a:lnSpc>
              <a:spcBef>
                <a:spcPts val="105"/>
              </a:spcBef>
            </a:pPr>
            <a:endParaRPr lang="en-US" sz="2800" spc="-5" dirty="0">
              <a:latin typeface="Times New Roman" panose="02020603050405020304" pitchFamily="18" charset="0"/>
              <a:cs typeface="Times New Roman" panose="02020603050405020304" pitchFamily="18" charset="0"/>
            </a:endParaRPr>
          </a:p>
          <a:p>
            <a:pPr marL="12700" algn="just">
              <a:lnSpc>
                <a:spcPct val="100000"/>
              </a:lnSpc>
              <a:spcBef>
                <a:spcPts val="105"/>
              </a:spcBef>
            </a:pPr>
            <a:endParaRPr lang="en-US" sz="2800" spc="-5"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25279"/>
            <a:ext cx="1143000" cy="782411"/>
          </a:xfrm>
          <a:prstGeom prst="rect">
            <a:avLst/>
          </a:prstGeom>
        </p:spPr>
      </p:pic>
    </p:spTree>
    <p:extLst>
      <p:ext uri="{BB962C8B-B14F-4D97-AF65-F5344CB8AC3E}">
        <p14:creationId xmlns:p14="http://schemas.microsoft.com/office/powerpoint/2010/main" val="1637255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br>
              <a:rPr lang="en-US" dirty="0">
                <a:solidFill>
                  <a:srgbClr val="0000CC"/>
                </a:solidFill>
                <a:latin typeface="Arial Rounded MT Bold" pitchFamily="34" charset="0"/>
                <a:cs typeface="Arial" charset="0"/>
              </a:rPr>
            </a:br>
            <a:r>
              <a:rPr lang="en-US" sz="4000" dirty="0">
                <a:solidFill>
                  <a:srgbClr val="0070C0"/>
                </a:solidFill>
                <a:latin typeface="Times New Roman" pitchFamily="18" charset="0"/>
                <a:cs typeface="Times New Roman" pitchFamily="18" charset="0"/>
              </a:rPr>
              <a:t>The Class P </a:t>
            </a:r>
            <a:r>
              <a:rPr lang="en-US" sz="3600" dirty="0">
                <a:solidFill>
                  <a:srgbClr val="0070C0"/>
                </a:solidFill>
                <a:latin typeface="Times New Roman" pitchFamily="18" charset="0"/>
                <a:cs typeface="Times New Roman" pitchFamily="18" charset="0"/>
              </a:rPr>
              <a:t>(Polynomial-time)</a:t>
            </a: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25279"/>
            <a:ext cx="1143000" cy="782411"/>
          </a:xfrm>
          <a:prstGeom prst="rect">
            <a:avLst/>
          </a:prstGeom>
        </p:spPr>
      </p:pic>
      <p:sp>
        <p:nvSpPr>
          <p:cNvPr id="3" name="Subtitle 2">
            <a:extLst>
              <a:ext uri="{FF2B5EF4-FFF2-40B4-BE49-F238E27FC236}">
                <a16:creationId xmlns:a16="http://schemas.microsoft.com/office/drawing/2014/main" id="{2C6E5301-C58E-4B9D-9B66-EED74920C0FF}"/>
              </a:ext>
            </a:extLst>
          </p:cNvPr>
          <p:cNvSpPr>
            <a:spLocks noGrp="1"/>
          </p:cNvSpPr>
          <p:nvPr>
            <p:ph type="subTitle" idx="1"/>
          </p:nvPr>
        </p:nvSpPr>
        <p:spPr>
          <a:xfrm>
            <a:off x="1239520" y="1168718"/>
            <a:ext cx="9276080" cy="3836986"/>
          </a:xfrm>
        </p:spPr>
        <p:txBody>
          <a:bodyPr>
            <a:normAutofit/>
          </a:bodyPr>
          <a:lstStyle/>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Searching an element in the array (O(n)), </a:t>
            </a:r>
          </a:p>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inserting an element at the end of a linked list (O(n)),</a:t>
            </a:r>
          </a:p>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 sorting data using selection sort(O(n</a:t>
            </a:r>
            <a:r>
              <a:rPr lang="en-US" altLang="en-US" sz="2800" baseline="30000" dirty="0">
                <a:solidFill>
                  <a:srgbClr val="000000"/>
                </a:solidFill>
                <a:latin typeface="Times New Roman" panose="02020603050405020304" pitchFamily="18" charset="0"/>
                <a:cs typeface="Times New Roman" panose="02020603050405020304" pitchFamily="18" charset="0"/>
              </a:rPr>
              <a:t>2</a:t>
            </a:r>
            <a:r>
              <a:rPr lang="en-US" altLang="en-US" sz="2800" dirty="0">
                <a:solidFill>
                  <a:srgbClr val="000000"/>
                </a:solidFill>
                <a:latin typeface="Times New Roman" panose="02020603050405020304" pitchFamily="18" charset="0"/>
                <a:cs typeface="Times New Roman" panose="02020603050405020304" pitchFamily="18" charset="0"/>
              </a:rPr>
              <a:t>)), </a:t>
            </a:r>
          </a:p>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finding the height of the tree (O(log</a:t>
            </a:r>
            <a:r>
              <a:rPr lang="en-US" altLang="en-US" sz="2800" baseline="-25000" dirty="0">
                <a:solidFill>
                  <a:srgbClr val="000000"/>
                </a:solidFill>
                <a:latin typeface="Times New Roman" panose="02020603050405020304" pitchFamily="18" charset="0"/>
                <a:cs typeface="Times New Roman" panose="02020603050405020304" pitchFamily="18" charset="0"/>
              </a:rPr>
              <a:t>2</a:t>
            </a:r>
            <a:r>
              <a:rPr lang="en-US" altLang="en-US" sz="2800" dirty="0">
                <a:solidFill>
                  <a:srgbClr val="000000"/>
                </a:solidFill>
                <a:latin typeface="Times New Roman" panose="02020603050405020304" pitchFamily="18" charset="0"/>
                <a:cs typeface="Times New Roman" panose="02020603050405020304" pitchFamily="18" charset="0"/>
              </a:rPr>
              <a:t>n)), </a:t>
            </a:r>
          </a:p>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sort data using merge sort(O(nlog</a:t>
            </a:r>
            <a:r>
              <a:rPr lang="en-US" altLang="en-US" sz="2800" baseline="-25000" dirty="0">
                <a:solidFill>
                  <a:srgbClr val="000000"/>
                </a:solidFill>
                <a:latin typeface="Times New Roman" panose="02020603050405020304" pitchFamily="18" charset="0"/>
                <a:cs typeface="Times New Roman" panose="02020603050405020304" pitchFamily="18" charset="0"/>
              </a:rPr>
              <a:t>2</a:t>
            </a:r>
            <a:r>
              <a:rPr lang="en-US" altLang="en-US" sz="2800" dirty="0">
                <a:solidFill>
                  <a:srgbClr val="000000"/>
                </a:solidFill>
                <a:latin typeface="Times New Roman" panose="02020603050405020304" pitchFamily="18" charset="0"/>
                <a:cs typeface="Times New Roman" panose="02020603050405020304" pitchFamily="18" charset="0"/>
              </a:rPr>
              <a:t>n)), </a:t>
            </a:r>
          </a:p>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matrix multiplication O(n</a:t>
            </a:r>
            <a:r>
              <a:rPr lang="en-US" altLang="en-US" sz="2800" baseline="30000" dirty="0">
                <a:solidFill>
                  <a:srgbClr val="000000"/>
                </a:solidFill>
                <a:latin typeface="Times New Roman" panose="02020603050405020304" pitchFamily="18" charset="0"/>
                <a:cs typeface="Times New Roman" panose="02020603050405020304" pitchFamily="18" charset="0"/>
              </a:rPr>
              <a:t>3</a:t>
            </a:r>
            <a:r>
              <a:rPr lang="en-US" altLang="en-US" sz="2800" dirty="0">
                <a:solidFill>
                  <a:srgbClr val="000000"/>
                </a:solidFill>
                <a:latin typeface="Times New Roman" panose="02020603050405020304" pitchFamily="18" charset="0"/>
                <a:cs typeface="Times New Roman" panose="02020603050405020304" pitchFamily="18" charset="0"/>
              </a:rPr>
              <a:t>).</a:t>
            </a:r>
          </a:p>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MST</a:t>
            </a:r>
          </a:p>
          <a:p>
            <a:endParaRPr lang="en-IN" dirty="0"/>
          </a:p>
        </p:txBody>
      </p:sp>
    </p:spTree>
    <p:extLst>
      <p:ext uri="{BB962C8B-B14F-4D97-AF65-F5344CB8AC3E}">
        <p14:creationId xmlns:p14="http://schemas.microsoft.com/office/powerpoint/2010/main" val="4848253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129740"/>
            <a:ext cx="9144000" cy="832966"/>
          </a:xfrm>
        </p:spPr>
        <p:txBody>
          <a:bodyPr>
            <a:normAutofit fontScale="90000"/>
          </a:bodyPr>
          <a:lstStyle/>
          <a:p>
            <a:pPr algn="l"/>
            <a:br>
              <a:rPr lang="en-US" dirty="0">
                <a:solidFill>
                  <a:srgbClr val="0000CC"/>
                </a:solidFill>
                <a:latin typeface="Arial Rounded MT Bold" pitchFamily="34" charset="0"/>
                <a:cs typeface="Arial" charset="0"/>
              </a:rPr>
            </a:br>
            <a:r>
              <a:rPr lang="en-US" sz="4400" dirty="0">
                <a:solidFill>
                  <a:srgbClr val="0070C0"/>
                </a:solidFill>
                <a:latin typeface="Times New Roman" pitchFamily="18" charset="0"/>
                <a:cs typeface="Times New Roman" pitchFamily="18" charset="0"/>
              </a:rPr>
              <a:t>The Class NP</a:t>
            </a:r>
            <a:r>
              <a:rPr lang="en-US" sz="3600" dirty="0">
                <a:solidFill>
                  <a:srgbClr val="0070C0"/>
                </a:solidFill>
                <a:latin typeface="Times New Roman" pitchFamily="18" charset="0"/>
                <a:cs typeface="Times New Roman" pitchFamily="18" charset="0"/>
              </a:rPr>
              <a:t>(Nondeterministic Polynomial-time)</a:t>
            </a:r>
            <a:endParaRPr lang="en-US" dirty="0">
              <a:solidFill>
                <a:srgbClr val="0000CC"/>
              </a:solidFill>
              <a:latin typeface="Times New Roman" pitchFamily="18" charset="0"/>
              <a:cs typeface="Times New Roman" pitchFamily="18" charset="0"/>
            </a:endParaRPr>
          </a:p>
        </p:txBody>
      </p:sp>
      <p:sp>
        <p:nvSpPr>
          <p:cNvPr id="4099" name="Subtitle 2"/>
          <p:cNvSpPr>
            <a:spLocks noGrp="1"/>
          </p:cNvSpPr>
          <p:nvPr>
            <p:ph type="subTitle" idx="1"/>
          </p:nvPr>
        </p:nvSpPr>
        <p:spPr>
          <a:xfrm>
            <a:off x="1117600" y="1143000"/>
            <a:ext cx="10718800" cy="5410200"/>
          </a:xfrm>
        </p:spPr>
        <p:txBody>
          <a:bodyPr>
            <a:normAutofit/>
          </a:bodyPr>
          <a:lstStyle/>
          <a:p>
            <a:pPr marL="12700" algn="just">
              <a:lnSpc>
                <a:spcPct val="100000"/>
              </a:lnSpc>
              <a:spcBef>
                <a:spcPts val="105"/>
              </a:spcBef>
            </a:pPr>
            <a:r>
              <a:rPr lang="en-US" b="1" spc="-5" dirty="0">
                <a:latin typeface="Times New Roman" panose="02020603050405020304" pitchFamily="18" charset="0"/>
                <a:cs typeface="Times New Roman" panose="02020603050405020304" pitchFamily="18" charset="0"/>
              </a:rPr>
              <a:t>NP</a:t>
            </a:r>
            <a:r>
              <a:rPr lang="en-US" spc="-5" dirty="0">
                <a:latin typeface="Times New Roman" panose="02020603050405020304" pitchFamily="18" charset="0"/>
                <a:cs typeface="Times New Roman" panose="02020603050405020304" pitchFamily="18" charset="0"/>
              </a:rPr>
              <a:t>: the class of decision problems that are solvable in polynomial time on a nondeterministic machine (or with a nondeterministic algorithm)</a:t>
            </a:r>
          </a:p>
          <a:p>
            <a:pPr marL="12700" algn="just">
              <a:lnSpc>
                <a:spcPct val="100000"/>
              </a:lnSpc>
              <a:spcBef>
                <a:spcPts val="105"/>
              </a:spcBef>
            </a:pPr>
            <a:r>
              <a:rPr lang="en-US" spc="-5" dirty="0">
                <a:latin typeface="Times New Roman" panose="02020603050405020304" pitchFamily="18" charset="0"/>
                <a:cs typeface="Times New Roman" panose="02020603050405020304" pitchFamily="18" charset="0"/>
              </a:rPr>
              <a:t>– (A </a:t>
            </a:r>
            <a:r>
              <a:rPr lang="en-US" spc="-5" dirty="0" err="1">
                <a:latin typeface="Times New Roman" panose="02020603050405020304" pitchFamily="18" charset="0"/>
                <a:cs typeface="Times New Roman" panose="02020603050405020304" pitchFamily="18" charset="0"/>
              </a:rPr>
              <a:t>determinstic</a:t>
            </a:r>
            <a:r>
              <a:rPr lang="en-US" spc="-5" dirty="0">
                <a:latin typeface="Times New Roman" panose="02020603050405020304" pitchFamily="18" charset="0"/>
                <a:cs typeface="Times New Roman" panose="02020603050405020304" pitchFamily="18" charset="0"/>
              </a:rPr>
              <a:t> computer is what we know)</a:t>
            </a:r>
          </a:p>
          <a:p>
            <a:pPr marL="12700" algn="just">
              <a:lnSpc>
                <a:spcPct val="100000"/>
              </a:lnSpc>
              <a:spcBef>
                <a:spcPts val="105"/>
              </a:spcBef>
            </a:pPr>
            <a:r>
              <a:rPr lang="en-US" spc="-5" dirty="0">
                <a:latin typeface="Times New Roman" panose="02020603050405020304" pitchFamily="18" charset="0"/>
                <a:cs typeface="Times New Roman" panose="02020603050405020304" pitchFamily="18" charset="0"/>
              </a:rPr>
              <a:t>– A nondeterministic computer is one that can “guess” the right answer or solution</a:t>
            </a:r>
          </a:p>
          <a:p>
            <a:pPr marL="12700" algn="just">
              <a:lnSpc>
                <a:spcPct val="100000"/>
              </a:lnSpc>
              <a:spcBef>
                <a:spcPts val="105"/>
              </a:spcBef>
            </a:pPr>
            <a:r>
              <a:rPr lang="en-US" spc="-5" dirty="0">
                <a:latin typeface="Times New Roman" panose="02020603050405020304" pitchFamily="18" charset="0"/>
                <a:cs typeface="Times New Roman" panose="02020603050405020304" pitchFamily="18" charset="0"/>
              </a:rPr>
              <a:t>• Think of a nondeterministic computer as a parallel machine that can freely spawn an infinite number of processes</a:t>
            </a:r>
          </a:p>
          <a:p>
            <a:pPr marL="12700" algn="just">
              <a:lnSpc>
                <a:spcPct val="100000"/>
              </a:lnSpc>
              <a:spcBef>
                <a:spcPts val="105"/>
              </a:spcBef>
            </a:pPr>
            <a:r>
              <a:rPr lang="en-US" spc="-5" dirty="0">
                <a:latin typeface="Times New Roman" panose="02020603050405020304" pitchFamily="18" charset="0"/>
                <a:cs typeface="Times New Roman" panose="02020603050405020304" pitchFamily="18" charset="0"/>
              </a:rPr>
              <a:t>• Thus NP can also be thought of as the class of problems “whose solutions can be verified in polynomial time”</a:t>
            </a:r>
          </a:p>
          <a:p>
            <a:pPr marL="12700" algn="just">
              <a:lnSpc>
                <a:spcPct val="100000"/>
              </a:lnSpc>
              <a:spcBef>
                <a:spcPts val="105"/>
              </a:spcBef>
            </a:pPr>
            <a:r>
              <a:rPr lang="en-US" spc="-5" dirty="0">
                <a:latin typeface="Times New Roman" panose="02020603050405020304" pitchFamily="18" charset="0"/>
                <a:cs typeface="Times New Roman" panose="02020603050405020304" pitchFamily="18" charset="0"/>
              </a:rPr>
              <a:t>• Note that NP stands for “Nondeterministic Polynomial-time”</a:t>
            </a:r>
            <a:endParaRPr lang="en-US"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0"/>
            <a:ext cx="1143000" cy="782411"/>
          </a:xfrm>
          <a:prstGeom prst="rect">
            <a:avLst/>
          </a:prstGeom>
        </p:spPr>
      </p:pic>
    </p:spTree>
    <p:extLst>
      <p:ext uri="{BB962C8B-B14F-4D97-AF65-F5344CB8AC3E}">
        <p14:creationId xmlns:p14="http://schemas.microsoft.com/office/powerpoint/2010/main" val="1817503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br>
              <a:rPr lang="en-US" dirty="0">
                <a:solidFill>
                  <a:srgbClr val="0000CC"/>
                </a:solidFill>
                <a:latin typeface="Arial Rounded MT Bold" pitchFamily="34" charset="0"/>
                <a:cs typeface="Arial" charset="0"/>
              </a:rPr>
            </a:br>
            <a:r>
              <a:rPr lang="en-US" sz="4000" dirty="0">
                <a:solidFill>
                  <a:srgbClr val="0070C0"/>
                </a:solidFill>
                <a:latin typeface="Times New Roman" pitchFamily="18" charset="0"/>
                <a:cs typeface="Times New Roman" pitchFamily="18" charset="0"/>
              </a:rPr>
              <a:t>The Class NP </a:t>
            </a:r>
            <a:r>
              <a:rPr lang="en-US" sz="3600" dirty="0">
                <a:solidFill>
                  <a:srgbClr val="0070C0"/>
                </a:solidFill>
                <a:latin typeface="Times New Roman" pitchFamily="18" charset="0"/>
                <a:cs typeface="Times New Roman" pitchFamily="18" charset="0"/>
              </a:rPr>
              <a:t>(Non-Polynomial-time)</a:t>
            </a: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25279"/>
            <a:ext cx="1143000" cy="782411"/>
          </a:xfrm>
          <a:prstGeom prst="rect">
            <a:avLst/>
          </a:prstGeom>
        </p:spPr>
      </p:pic>
      <p:sp>
        <p:nvSpPr>
          <p:cNvPr id="3" name="Subtitle 2">
            <a:extLst>
              <a:ext uri="{FF2B5EF4-FFF2-40B4-BE49-F238E27FC236}">
                <a16:creationId xmlns:a16="http://schemas.microsoft.com/office/drawing/2014/main" id="{2C6E5301-C58E-4B9D-9B66-EED74920C0FF}"/>
              </a:ext>
            </a:extLst>
          </p:cNvPr>
          <p:cNvSpPr>
            <a:spLocks noGrp="1"/>
          </p:cNvSpPr>
          <p:nvPr>
            <p:ph type="subTitle" idx="1"/>
          </p:nvPr>
        </p:nvSpPr>
        <p:spPr>
          <a:xfrm>
            <a:off x="1239520" y="1168718"/>
            <a:ext cx="9276080" cy="3836986"/>
          </a:xfrm>
        </p:spPr>
        <p:txBody>
          <a:bodyPr>
            <a:normAutofit/>
          </a:bodyPr>
          <a:lstStyle/>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Travelling salesman problem (O(n!)), </a:t>
            </a:r>
          </a:p>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Hamiltonian cycle (O(n!))</a:t>
            </a:r>
          </a:p>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Tower of Hanoi (O(2n – 1)), </a:t>
            </a:r>
          </a:p>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Knapsack problem (O(2n)),</a:t>
            </a:r>
          </a:p>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Clique problem.</a:t>
            </a:r>
          </a:p>
          <a:p>
            <a:pPr algn="l">
              <a:spcBef>
                <a:spcPts val="800"/>
              </a:spcBef>
              <a:buFont typeface="Times New Roman" panose="02020603050405020304" pitchFamily="18" charset="0"/>
              <a:buChar char="•"/>
            </a:pPr>
            <a:r>
              <a:rPr lang="en-US" altLang="en-US" sz="2800" dirty="0">
                <a:solidFill>
                  <a:srgbClr val="000000"/>
                </a:solidFill>
                <a:latin typeface="Times New Roman" panose="02020603050405020304" pitchFamily="18" charset="0"/>
                <a:cs typeface="Times New Roman" panose="02020603050405020304" pitchFamily="18" charset="0"/>
              </a:rPr>
              <a:t>Vertex cover problem.</a:t>
            </a:r>
          </a:p>
          <a:p>
            <a:endParaRPr lang="en-IN" dirty="0"/>
          </a:p>
        </p:txBody>
      </p:sp>
    </p:spTree>
    <p:extLst>
      <p:ext uri="{BB962C8B-B14F-4D97-AF65-F5344CB8AC3E}">
        <p14:creationId xmlns:p14="http://schemas.microsoft.com/office/powerpoint/2010/main" val="3460488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br>
              <a:rPr lang="en-US" dirty="0">
                <a:solidFill>
                  <a:srgbClr val="0000CC"/>
                </a:solidFill>
                <a:latin typeface="Arial Rounded MT Bold" pitchFamily="34" charset="0"/>
                <a:cs typeface="Arial" charset="0"/>
              </a:rPr>
            </a:br>
            <a:r>
              <a:rPr lang="en-US" sz="4000" dirty="0">
                <a:solidFill>
                  <a:srgbClr val="0070C0"/>
                </a:solidFill>
                <a:latin typeface="Times New Roman" pitchFamily="18" charset="0"/>
                <a:cs typeface="Times New Roman" pitchFamily="18" charset="0"/>
              </a:rPr>
              <a:t>TSP</a:t>
            </a: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25279"/>
            <a:ext cx="1143000" cy="782411"/>
          </a:xfrm>
          <a:prstGeom prst="rect">
            <a:avLst/>
          </a:prstGeom>
        </p:spPr>
      </p:pic>
      <p:sp>
        <p:nvSpPr>
          <p:cNvPr id="9" name="Text Box 2">
            <a:extLst>
              <a:ext uri="{FF2B5EF4-FFF2-40B4-BE49-F238E27FC236}">
                <a16:creationId xmlns:a16="http://schemas.microsoft.com/office/drawing/2014/main" id="{69B39428-C321-4FBF-8EEF-6AF2DF17959F}"/>
              </a:ext>
            </a:extLst>
          </p:cNvPr>
          <p:cNvSpPr txBox="1">
            <a:spLocks noChangeArrowheads="1"/>
          </p:cNvSpPr>
          <p:nvPr/>
        </p:nvSpPr>
        <p:spPr bwMode="auto">
          <a:xfrm>
            <a:off x="1031240" y="1200149"/>
            <a:ext cx="7769225" cy="411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342900" indent="-339725">
              <a:tabLst>
                <a:tab pos="342900"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8983663" algn="l"/>
                <a:tab pos="9432925" algn="l"/>
                <a:tab pos="9882188" algn="l"/>
                <a:tab pos="10331450" algn="l"/>
                <a:tab pos="10780713" algn="l"/>
              </a:tabLst>
              <a:defRPr sz="2400">
                <a:solidFill>
                  <a:schemeClr val="bg1"/>
                </a:solidFill>
                <a:latin typeface="Times New Roman" panose="02020603050405020304" pitchFamily="18" charset="0"/>
                <a:cs typeface="Droid Sans Fallback" charset="0"/>
              </a:defRPr>
            </a:lvl1pPr>
            <a:lvl2pPr>
              <a:tabLst>
                <a:tab pos="342900"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8983663" algn="l"/>
                <a:tab pos="9432925" algn="l"/>
                <a:tab pos="9882188" algn="l"/>
                <a:tab pos="10331450" algn="l"/>
                <a:tab pos="10780713" algn="l"/>
              </a:tabLst>
              <a:defRPr sz="2400">
                <a:solidFill>
                  <a:schemeClr val="bg1"/>
                </a:solidFill>
                <a:latin typeface="Times New Roman" panose="02020603050405020304" pitchFamily="18" charset="0"/>
                <a:cs typeface="Droid Sans Fallback" charset="0"/>
              </a:defRPr>
            </a:lvl2pPr>
            <a:lvl3pPr>
              <a:tabLst>
                <a:tab pos="342900"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8983663" algn="l"/>
                <a:tab pos="9432925" algn="l"/>
                <a:tab pos="9882188" algn="l"/>
                <a:tab pos="10331450" algn="l"/>
                <a:tab pos="10780713" algn="l"/>
              </a:tabLst>
              <a:defRPr sz="2400">
                <a:solidFill>
                  <a:schemeClr val="bg1"/>
                </a:solidFill>
                <a:latin typeface="Times New Roman" panose="02020603050405020304" pitchFamily="18" charset="0"/>
                <a:cs typeface="Droid Sans Fallback" charset="0"/>
              </a:defRPr>
            </a:lvl3pPr>
            <a:lvl4pPr>
              <a:tabLst>
                <a:tab pos="342900"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8983663" algn="l"/>
                <a:tab pos="9432925" algn="l"/>
                <a:tab pos="9882188" algn="l"/>
                <a:tab pos="10331450" algn="l"/>
                <a:tab pos="10780713" algn="l"/>
              </a:tabLst>
              <a:defRPr sz="2400">
                <a:solidFill>
                  <a:schemeClr val="bg1"/>
                </a:solidFill>
                <a:latin typeface="Times New Roman" panose="02020603050405020304" pitchFamily="18" charset="0"/>
                <a:cs typeface="Droid Sans Fallback" charset="0"/>
              </a:defRPr>
            </a:lvl4pPr>
            <a:lvl5pPr>
              <a:tabLst>
                <a:tab pos="342900"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8983663" algn="l"/>
                <a:tab pos="9432925" algn="l"/>
                <a:tab pos="9882188" algn="l"/>
                <a:tab pos="10331450" algn="l"/>
                <a:tab pos="10780713" algn="l"/>
              </a:tabLst>
              <a:defRPr sz="2400">
                <a:solidFill>
                  <a:schemeClr val="bg1"/>
                </a:solidFill>
                <a:latin typeface="Times New Roman" panose="02020603050405020304" pitchFamily="18" charset="0"/>
                <a:cs typeface="Droid Sans Fallback"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8983663" algn="l"/>
                <a:tab pos="9432925" algn="l"/>
                <a:tab pos="9882188" algn="l"/>
                <a:tab pos="10331450" algn="l"/>
                <a:tab pos="10780713" algn="l"/>
              </a:tabLst>
              <a:defRPr sz="2400">
                <a:solidFill>
                  <a:schemeClr val="bg1"/>
                </a:solidFill>
                <a:latin typeface="Times New Roman" panose="02020603050405020304" pitchFamily="18" charset="0"/>
                <a:cs typeface="Droid Sans Fallback"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8983663" algn="l"/>
                <a:tab pos="9432925" algn="l"/>
                <a:tab pos="9882188" algn="l"/>
                <a:tab pos="10331450" algn="l"/>
                <a:tab pos="10780713" algn="l"/>
              </a:tabLst>
              <a:defRPr sz="2400">
                <a:solidFill>
                  <a:schemeClr val="bg1"/>
                </a:solidFill>
                <a:latin typeface="Times New Roman" panose="02020603050405020304" pitchFamily="18" charset="0"/>
                <a:cs typeface="Droid Sans Fallback"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8983663" algn="l"/>
                <a:tab pos="9432925" algn="l"/>
                <a:tab pos="9882188" algn="l"/>
                <a:tab pos="10331450" algn="l"/>
                <a:tab pos="10780713" algn="l"/>
              </a:tabLst>
              <a:defRPr sz="2400">
                <a:solidFill>
                  <a:schemeClr val="bg1"/>
                </a:solidFill>
                <a:latin typeface="Times New Roman" panose="02020603050405020304" pitchFamily="18" charset="0"/>
                <a:cs typeface="Droid Sans Fallback"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8983663" algn="l"/>
                <a:tab pos="9432925" algn="l"/>
                <a:tab pos="9882188" algn="l"/>
                <a:tab pos="10331450" algn="l"/>
                <a:tab pos="10780713" algn="l"/>
              </a:tabLst>
              <a:defRPr sz="2400">
                <a:solidFill>
                  <a:schemeClr val="bg1"/>
                </a:solidFill>
                <a:latin typeface="Times New Roman" panose="02020603050405020304" pitchFamily="18" charset="0"/>
                <a:cs typeface="Droid Sans Fallback" charset="0"/>
              </a:defRPr>
            </a:lvl9pPr>
          </a:lstStyle>
          <a:p>
            <a:pPr>
              <a:spcBef>
                <a:spcPts val="800"/>
              </a:spcBef>
              <a:buClrTx/>
              <a:buFontTx/>
              <a:buNone/>
            </a:pPr>
            <a:r>
              <a:rPr lang="en-US" altLang="en-US" dirty="0">
                <a:solidFill>
                  <a:srgbClr val="000000"/>
                </a:solidFill>
              </a:rPr>
              <a:t>	Given a set of cities and the distance between every pair of cities, the problem is to find the shortest possible route that visits every city exactly once and returns to the starting point. </a:t>
            </a:r>
          </a:p>
          <a:p>
            <a:pPr>
              <a:spcBef>
                <a:spcPts val="800"/>
              </a:spcBef>
              <a:buClrTx/>
              <a:buFontTx/>
              <a:buNone/>
            </a:pPr>
            <a:r>
              <a:rPr lang="en-US" altLang="en-US" dirty="0">
                <a:solidFill>
                  <a:srgbClr val="000000"/>
                </a:solidFill>
              </a:rPr>
              <a:t>	Note the difference between Hamiltonian Cycle and TSP. </a:t>
            </a:r>
          </a:p>
          <a:p>
            <a:pPr>
              <a:spcBef>
                <a:spcPts val="800"/>
              </a:spcBef>
              <a:buClrTx/>
              <a:buFontTx/>
              <a:buNone/>
            </a:pPr>
            <a:r>
              <a:rPr lang="en-US" altLang="en-US" dirty="0">
                <a:solidFill>
                  <a:srgbClr val="000000"/>
                </a:solidFill>
              </a:rPr>
              <a:t>	</a:t>
            </a:r>
            <a:r>
              <a:rPr lang="en-US" altLang="en-US" b="1" dirty="0">
                <a:solidFill>
                  <a:srgbClr val="000000"/>
                </a:solidFill>
              </a:rPr>
              <a:t>The Hamiltonian cycle problem is to find if there exists a tour that visits every city exactly once. </a:t>
            </a:r>
          </a:p>
          <a:p>
            <a:pPr>
              <a:spcBef>
                <a:spcPts val="800"/>
              </a:spcBef>
              <a:buClrTx/>
              <a:buFontTx/>
              <a:buNone/>
            </a:pPr>
            <a:r>
              <a:rPr lang="en-US" altLang="en-US" dirty="0">
                <a:solidFill>
                  <a:srgbClr val="000000"/>
                </a:solidFill>
              </a:rPr>
              <a:t>	Here we know that Hamiltonian Tour exists (because the graph is complete) and in fact, many such tours exist, the problem is to find a minimum weight Hamiltonian Cycle. </a:t>
            </a:r>
          </a:p>
        </p:txBody>
      </p:sp>
    </p:spTree>
    <p:extLst>
      <p:ext uri="{BB962C8B-B14F-4D97-AF65-F5344CB8AC3E}">
        <p14:creationId xmlns:p14="http://schemas.microsoft.com/office/powerpoint/2010/main" val="3030938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br>
              <a:rPr lang="en-US" dirty="0">
                <a:solidFill>
                  <a:srgbClr val="0000CC"/>
                </a:solidFill>
                <a:latin typeface="Arial Rounded MT Bold" pitchFamily="34" charset="0"/>
                <a:cs typeface="Arial" charset="0"/>
              </a:rPr>
            </a:br>
            <a:r>
              <a:rPr lang="en-US" sz="4000" dirty="0">
                <a:solidFill>
                  <a:srgbClr val="0070C0"/>
                </a:solidFill>
                <a:latin typeface="Times New Roman" pitchFamily="18" charset="0"/>
                <a:cs typeface="Times New Roman" pitchFamily="18" charset="0"/>
              </a:rPr>
              <a:t>Knapsack Problem</a:t>
            </a: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25279"/>
            <a:ext cx="1143000" cy="782411"/>
          </a:xfrm>
          <a:prstGeom prst="rect">
            <a:avLst/>
          </a:prstGeom>
        </p:spPr>
      </p:pic>
      <p:sp>
        <p:nvSpPr>
          <p:cNvPr id="6" name="Content Placeholder 2">
            <a:extLst>
              <a:ext uri="{FF2B5EF4-FFF2-40B4-BE49-F238E27FC236}">
                <a16:creationId xmlns:a16="http://schemas.microsoft.com/office/drawing/2014/main" id="{0356FCC6-1C89-4BEE-AE78-428025150267}"/>
              </a:ext>
            </a:extLst>
          </p:cNvPr>
          <p:cNvSpPr txBox="1">
            <a:spLocks/>
          </p:cNvSpPr>
          <p:nvPr/>
        </p:nvSpPr>
        <p:spPr>
          <a:xfrm>
            <a:off x="1275080" y="1315720"/>
            <a:ext cx="7766050" cy="160020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 typeface="Times New Roman" panose="02020603050405020304" pitchFamily="18" charset="0"/>
              <a:buNone/>
            </a:pPr>
            <a:r>
              <a:rPr lang="en-US" altLang="en-US" dirty="0">
                <a:latin typeface="Times New Roman" panose="02020603050405020304" pitchFamily="18" charset="0"/>
                <a:cs typeface="Times New Roman" panose="02020603050405020304" pitchFamily="18" charset="0"/>
              </a:rPr>
              <a:t>    Given a set of items, holding weights and profit values, one must determine the subset of the items to be added in a knapsack such that, the total weight of the items must not exceed the limit of the knapsack and its total profit value is maximum.</a:t>
            </a:r>
          </a:p>
        </p:txBody>
      </p:sp>
      <p:pic>
        <p:nvPicPr>
          <p:cNvPr id="7" name="Picture 2">
            <a:extLst>
              <a:ext uri="{FF2B5EF4-FFF2-40B4-BE49-F238E27FC236}">
                <a16:creationId xmlns:a16="http://schemas.microsoft.com/office/drawing/2014/main" id="{8EAA595B-40B7-4A0C-AF26-8228DCD5E5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646680" y="4053840"/>
            <a:ext cx="5402263" cy="2362200"/>
          </a:xfrm>
          <a:prstGeom prst="rect">
            <a:avLst/>
          </a:prstGeom>
          <a:extLs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D8D7DECF-A38D-4F64-8E65-0C3A2B7DAEF9}"/>
              </a:ext>
            </a:extLst>
          </p:cNvPr>
          <p:cNvSpPr/>
          <p:nvPr/>
        </p:nvSpPr>
        <p:spPr>
          <a:xfrm>
            <a:off x="1363786" y="3300214"/>
            <a:ext cx="3583032" cy="646331"/>
          </a:xfrm>
          <a:prstGeom prst="rect">
            <a:avLst/>
          </a:prstGeom>
        </p:spPr>
        <p:txBody>
          <a:bodyPr wrap="none">
            <a:spAutoFit/>
          </a:bodyPr>
          <a:lstStyle/>
          <a:p>
            <a:r>
              <a:rPr lang="en-US" altLang="en-US" sz="3600" dirty="0">
                <a:solidFill>
                  <a:srgbClr val="0070C0"/>
                </a:solidFill>
                <a:latin typeface="Times New Roman" pitchFamily="18" charset="0"/>
                <a:ea typeface="+mj-ea"/>
                <a:cs typeface="Times New Roman" pitchFamily="18" charset="0"/>
              </a:rPr>
              <a:t>Hamiltonian cycle</a:t>
            </a:r>
            <a:endParaRPr lang="en-IN" sz="3600" dirty="0">
              <a:solidFill>
                <a:srgbClr val="0070C0"/>
              </a:solidFill>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4337164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br>
              <a:rPr lang="en-US" dirty="0">
                <a:solidFill>
                  <a:srgbClr val="0000CC"/>
                </a:solidFill>
                <a:latin typeface="Arial Rounded MT Bold" pitchFamily="34" charset="0"/>
                <a:cs typeface="Arial" charset="0"/>
              </a:rPr>
            </a:br>
            <a:r>
              <a:rPr lang="en-US" sz="4000" dirty="0">
                <a:solidFill>
                  <a:srgbClr val="0070C0"/>
                </a:solidFill>
                <a:latin typeface="Times New Roman" pitchFamily="18" charset="0"/>
                <a:cs typeface="Times New Roman" pitchFamily="18" charset="0"/>
              </a:rPr>
              <a:t>Difference between N and NP</a:t>
            </a: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25279"/>
            <a:ext cx="1143000" cy="782411"/>
          </a:xfrm>
          <a:prstGeom prst="rect">
            <a:avLst/>
          </a:prstGeom>
        </p:spPr>
      </p:pic>
      <p:sp>
        <p:nvSpPr>
          <p:cNvPr id="8" name="Text Box 2">
            <a:extLst>
              <a:ext uri="{FF2B5EF4-FFF2-40B4-BE49-F238E27FC236}">
                <a16:creationId xmlns:a16="http://schemas.microsoft.com/office/drawing/2014/main" id="{69D9663E-2AF6-4869-B7B3-31EFE4D996EB}"/>
              </a:ext>
            </a:extLst>
          </p:cNvPr>
          <p:cNvSpPr txBox="1">
            <a:spLocks noChangeArrowheads="1"/>
          </p:cNvSpPr>
          <p:nvPr/>
        </p:nvSpPr>
        <p:spPr bwMode="auto">
          <a:xfrm>
            <a:off x="1143000" y="1454620"/>
            <a:ext cx="3808413" cy="4111625"/>
          </a:xfrm>
          <a:prstGeom prst="rect">
            <a:avLst/>
          </a:prstGeom>
          <a:noFill/>
          <a:ln w="9525" cap="flat">
            <a:noFill/>
            <a:round/>
            <a:headEnd/>
            <a:tailEnd/>
          </a:ln>
          <a:effectLst/>
        </p:spPr>
        <p:txBody>
          <a:bodyPr lIns="90000" tIns="46800" rIns="90000" bIns="46800"/>
          <a:lstStyle/>
          <a:p>
            <a:pPr marL="339725" indent="-339725">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latin typeface="Times New Roman" pitchFamily="16" charset="0"/>
              </a:rPr>
              <a:t>P problems are set of problems which can be solved in polynomial time by deterministic algorithms.</a:t>
            </a:r>
          </a:p>
          <a:p>
            <a:pPr marL="339725" indent="-339725">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latin typeface="Times New Roman" pitchFamily="16" charset="0"/>
              </a:rPr>
              <a:t>P Problems can be solved and verified in polynomial time</a:t>
            </a:r>
          </a:p>
          <a:p>
            <a:pPr marL="341313" indent="-339725">
              <a:spcBef>
                <a:spcPts val="800"/>
              </a:spcBef>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dirty="0">
              <a:solidFill>
                <a:srgbClr val="000000"/>
              </a:solidFill>
              <a:latin typeface="Times New Roman" pitchFamily="16" charset="0"/>
            </a:endParaRPr>
          </a:p>
          <a:p>
            <a:pPr marL="339725" indent="-339725">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latin typeface="Times New Roman" pitchFamily="16" charset="0"/>
              </a:rPr>
              <a:t>P problems are a subset of NP problems</a:t>
            </a:r>
          </a:p>
          <a:p>
            <a:pPr marL="339725" indent="-339725">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latin typeface="Times New Roman" pitchFamily="16" charset="0"/>
              </a:rPr>
              <a:t>All P problems are deterministic in nature</a:t>
            </a:r>
          </a:p>
          <a:p>
            <a:pPr marL="339725" indent="-339725">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b="1" dirty="0">
                <a:solidFill>
                  <a:srgbClr val="000000"/>
                </a:solidFill>
                <a:latin typeface="Times New Roman" pitchFamily="16" charset="0"/>
              </a:rPr>
              <a:t>Example:</a:t>
            </a:r>
            <a:r>
              <a:rPr lang="en-US" dirty="0">
                <a:solidFill>
                  <a:srgbClr val="000000"/>
                </a:solidFill>
                <a:latin typeface="Times New Roman" pitchFamily="16" charset="0"/>
              </a:rPr>
              <a:t> Selection sort, Linear search</a:t>
            </a:r>
          </a:p>
        </p:txBody>
      </p:sp>
      <p:sp>
        <p:nvSpPr>
          <p:cNvPr id="9" name="Text Box 3">
            <a:extLst>
              <a:ext uri="{FF2B5EF4-FFF2-40B4-BE49-F238E27FC236}">
                <a16:creationId xmlns:a16="http://schemas.microsoft.com/office/drawing/2014/main" id="{7F21434B-9119-4A49-A4E6-4CF12BBCD2BF}"/>
              </a:ext>
            </a:extLst>
          </p:cNvPr>
          <p:cNvSpPr txBox="1">
            <a:spLocks noChangeArrowheads="1"/>
          </p:cNvSpPr>
          <p:nvPr/>
        </p:nvSpPr>
        <p:spPr bwMode="auto">
          <a:xfrm>
            <a:off x="6353493" y="1454620"/>
            <a:ext cx="3808412" cy="411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339725" indent="-339725">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1pPr>
            <a:lvl2pP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2pPr>
            <a:lvl3pP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3pPr>
            <a:lvl4pP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4pPr>
            <a:lvl5pP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9pPr>
          </a:lstStyle>
          <a:p>
            <a:pPr>
              <a:spcBef>
                <a:spcPts val="800"/>
              </a:spcBef>
              <a:buFont typeface="Times New Roman" panose="02020603050405020304" pitchFamily="18" charset="0"/>
              <a:buChar char="•"/>
            </a:pPr>
            <a:r>
              <a:rPr lang="en-US" altLang="en-US" sz="1600" dirty="0">
                <a:solidFill>
                  <a:srgbClr val="000000"/>
                </a:solidFill>
              </a:rPr>
              <a:t>NP problems are problems which can </a:t>
            </a:r>
            <a:r>
              <a:rPr lang="en-US" altLang="en-US" sz="1800" dirty="0">
                <a:solidFill>
                  <a:srgbClr val="000000"/>
                </a:solidFill>
              </a:rPr>
              <a:t>be solved in nondeterministic polynomial time.</a:t>
            </a:r>
          </a:p>
          <a:p>
            <a:pPr>
              <a:spcBef>
                <a:spcPts val="800"/>
              </a:spcBef>
              <a:buFont typeface="Times New Roman" panose="02020603050405020304" pitchFamily="18" charset="0"/>
              <a:buChar char="•"/>
            </a:pPr>
            <a:r>
              <a:rPr lang="en-US" altLang="en-US" sz="1800" dirty="0">
                <a:solidFill>
                  <a:srgbClr val="000000"/>
                </a:solidFill>
              </a:rPr>
              <a:t>The solution to NP problems cannot be obtained in polynomial time, but if the solution is given, it can be verified in polynomial time.</a:t>
            </a:r>
          </a:p>
          <a:p>
            <a:pPr>
              <a:spcBef>
                <a:spcPts val="800"/>
              </a:spcBef>
              <a:buFont typeface="Times New Roman" panose="02020603050405020304" pitchFamily="18" charset="0"/>
              <a:buChar char="•"/>
            </a:pPr>
            <a:r>
              <a:rPr lang="en-US" altLang="en-US" sz="1800" dirty="0">
                <a:solidFill>
                  <a:srgbClr val="000000"/>
                </a:solidFill>
              </a:rPr>
              <a:t>NP Problems are a superset of P problems</a:t>
            </a:r>
          </a:p>
          <a:p>
            <a:pPr>
              <a:spcBef>
                <a:spcPts val="800"/>
              </a:spcBef>
              <a:buFont typeface="Times New Roman" panose="02020603050405020304" pitchFamily="18" charset="0"/>
              <a:buChar char="•"/>
            </a:pPr>
            <a:r>
              <a:rPr lang="en-US" altLang="en-US" sz="1800" dirty="0">
                <a:solidFill>
                  <a:srgbClr val="000000"/>
                </a:solidFill>
              </a:rPr>
              <a:t>All the NP problems are non-deterministic in nature</a:t>
            </a:r>
          </a:p>
          <a:p>
            <a:pPr>
              <a:spcBef>
                <a:spcPts val="800"/>
              </a:spcBef>
              <a:buFont typeface="Times New Roman" panose="02020603050405020304" pitchFamily="18" charset="0"/>
              <a:buChar char="•"/>
            </a:pPr>
            <a:r>
              <a:rPr lang="en-US" altLang="en-US" sz="1800" b="1" dirty="0">
                <a:solidFill>
                  <a:srgbClr val="000000"/>
                </a:solidFill>
              </a:rPr>
              <a:t>Example:</a:t>
            </a:r>
            <a:r>
              <a:rPr lang="en-US" altLang="en-US" sz="1800" dirty="0">
                <a:solidFill>
                  <a:srgbClr val="000000"/>
                </a:solidFill>
              </a:rPr>
              <a:t> TSP, Knapsack problem</a:t>
            </a:r>
          </a:p>
        </p:txBody>
      </p:sp>
      <p:cxnSp>
        <p:nvCxnSpPr>
          <p:cNvPr id="10" name="Straight Connector 9">
            <a:extLst>
              <a:ext uri="{FF2B5EF4-FFF2-40B4-BE49-F238E27FC236}">
                <a16:creationId xmlns:a16="http://schemas.microsoft.com/office/drawing/2014/main" id="{F936D163-13CE-462C-8B7B-C39E7903CE9D}"/>
              </a:ext>
            </a:extLst>
          </p:cNvPr>
          <p:cNvCxnSpPr>
            <a:cxnSpLocks/>
          </p:cNvCxnSpPr>
          <p:nvPr/>
        </p:nvCxnSpPr>
        <p:spPr>
          <a:xfrm>
            <a:off x="5659120" y="1143000"/>
            <a:ext cx="0" cy="48514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15349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1">
            <a:extLst>
              <a:ext uri="{FF2B5EF4-FFF2-40B4-BE49-F238E27FC236}">
                <a16:creationId xmlns:a16="http://schemas.microsoft.com/office/drawing/2014/main" id="{90495C9D-29B5-4808-8268-2628D6DA40CD}"/>
              </a:ext>
            </a:extLst>
          </p:cNvPr>
          <p:cNvSpPr txBox="1">
            <a:spLocks noChangeArrowheads="1"/>
          </p:cNvSpPr>
          <p:nvPr/>
        </p:nvSpPr>
        <p:spPr bwMode="auto">
          <a:xfrm>
            <a:off x="2209801" y="609601"/>
            <a:ext cx="7769225"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roid Sans Fallback" charset="0"/>
              </a:defRPr>
            </a:lvl9pPr>
          </a:lstStyle>
          <a:p>
            <a:pPr algn="ctr">
              <a:buClrTx/>
              <a:buFontTx/>
              <a:buNone/>
            </a:pPr>
            <a:r>
              <a:rPr lang="en-US" altLang="en-US" sz="4400" dirty="0">
                <a:solidFill>
                  <a:srgbClr val="000000"/>
                </a:solidFill>
              </a:rPr>
              <a:t>Difference between P and NP</a:t>
            </a:r>
          </a:p>
        </p:txBody>
      </p:sp>
      <p:sp>
        <p:nvSpPr>
          <p:cNvPr id="17410" name="Text Box 2">
            <a:extLst>
              <a:ext uri="{FF2B5EF4-FFF2-40B4-BE49-F238E27FC236}">
                <a16:creationId xmlns:a16="http://schemas.microsoft.com/office/drawing/2014/main" id="{88452A14-6925-4C9B-A020-2064CA95F844}"/>
              </a:ext>
            </a:extLst>
          </p:cNvPr>
          <p:cNvSpPr txBox="1">
            <a:spLocks noChangeArrowheads="1"/>
          </p:cNvSpPr>
          <p:nvPr/>
        </p:nvSpPr>
        <p:spPr bwMode="auto">
          <a:xfrm>
            <a:off x="2209801" y="1981201"/>
            <a:ext cx="3808413" cy="4111625"/>
          </a:xfrm>
          <a:prstGeom prst="rect">
            <a:avLst/>
          </a:prstGeom>
          <a:noFill/>
          <a:ln w="9525" cap="flat">
            <a:noFill/>
            <a:round/>
            <a:headEnd/>
            <a:tailEnd/>
          </a:ln>
          <a:effectLst/>
        </p:spPr>
        <p:txBody>
          <a:bodyPr lIns="90000" tIns="46800" rIns="90000" bIns="46800"/>
          <a:lstStyle/>
          <a:p>
            <a:pPr marL="339725" indent="-339725">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latin typeface="Times New Roman" pitchFamily="16" charset="0"/>
              </a:rPr>
              <a:t>P problems are set of problems which can be solved in polynomial time by deterministic algorithms.</a:t>
            </a:r>
          </a:p>
          <a:p>
            <a:pPr marL="339725" indent="-339725">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latin typeface="Times New Roman" pitchFamily="16" charset="0"/>
              </a:rPr>
              <a:t>P Problems can be solved and verified in polynomial time</a:t>
            </a:r>
          </a:p>
          <a:p>
            <a:pPr marL="341313" indent="-339725">
              <a:spcBef>
                <a:spcPts val="800"/>
              </a:spcBef>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dirty="0">
              <a:solidFill>
                <a:srgbClr val="000000"/>
              </a:solidFill>
              <a:latin typeface="Times New Roman" pitchFamily="16" charset="0"/>
            </a:endParaRPr>
          </a:p>
          <a:p>
            <a:pPr marL="339725" indent="-339725">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latin typeface="Times New Roman" pitchFamily="16" charset="0"/>
              </a:rPr>
              <a:t>P problems are a subset of NP problems</a:t>
            </a:r>
          </a:p>
          <a:p>
            <a:pPr marL="339725" indent="-339725">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latin typeface="Times New Roman" pitchFamily="16" charset="0"/>
              </a:rPr>
              <a:t>All P problems are deterministic in nature</a:t>
            </a:r>
          </a:p>
          <a:p>
            <a:pPr marL="339725" indent="-339725">
              <a:spcBef>
                <a:spcPts val="8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b="1" dirty="0">
                <a:solidFill>
                  <a:srgbClr val="000000"/>
                </a:solidFill>
                <a:latin typeface="Times New Roman" pitchFamily="16" charset="0"/>
              </a:rPr>
              <a:t>Example:</a:t>
            </a:r>
            <a:r>
              <a:rPr lang="en-US" dirty="0">
                <a:solidFill>
                  <a:srgbClr val="000000"/>
                </a:solidFill>
                <a:latin typeface="Times New Roman" pitchFamily="16" charset="0"/>
              </a:rPr>
              <a:t> Selection sort, Linear search</a:t>
            </a:r>
          </a:p>
        </p:txBody>
      </p:sp>
      <p:sp>
        <p:nvSpPr>
          <p:cNvPr id="21508" name="Text Box 3">
            <a:extLst>
              <a:ext uri="{FF2B5EF4-FFF2-40B4-BE49-F238E27FC236}">
                <a16:creationId xmlns:a16="http://schemas.microsoft.com/office/drawing/2014/main" id="{73060167-40AA-4A5F-BDA9-95529E560595}"/>
              </a:ext>
            </a:extLst>
          </p:cNvPr>
          <p:cNvSpPr txBox="1">
            <a:spLocks noChangeArrowheads="1"/>
          </p:cNvSpPr>
          <p:nvPr/>
        </p:nvSpPr>
        <p:spPr bwMode="auto">
          <a:xfrm>
            <a:off x="6170613" y="1981201"/>
            <a:ext cx="3808412" cy="411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339725" indent="-339725">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1pPr>
            <a:lvl2pP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2pPr>
            <a:lvl3pP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3pPr>
            <a:lvl4pP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4pPr>
            <a:lvl5pP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bg1"/>
                </a:solidFill>
                <a:latin typeface="Times New Roman" panose="02020603050405020304" pitchFamily="18" charset="0"/>
                <a:cs typeface="Droid Sans Fallback" charset="0"/>
              </a:defRPr>
            </a:lvl9pPr>
          </a:lstStyle>
          <a:p>
            <a:pPr>
              <a:spcBef>
                <a:spcPts val="800"/>
              </a:spcBef>
              <a:buFont typeface="Times New Roman" panose="02020603050405020304" pitchFamily="18" charset="0"/>
              <a:buChar char="•"/>
            </a:pPr>
            <a:r>
              <a:rPr lang="en-US" altLang="en-US" sz="1600" dirty="0">
                <a:solidFill>
                  <a:srgbClr val="000000"/>
                </a:solidFill>
              </a:rPr>
              <a:t>NP problems are problems which can </a:t>
            </a:r>
            <a:r>
              <a:rPr lang="en-US" altLang="en-US" sz="1800" dirty="0">
                <a:solidFill>
                  <a:srgbClr val="000000"/>
                </a:solidFill>
              </a:rPr>
              <a:t>be solved in nondeterministic polynomial time.</a:t>
            </a:r>
          </a:p>
          <a:p>
            <a:pPr>
              <a:spcBef>
                <a:spcPts val="800"/>
              </a:spcBef>
              <a:buFont typeface="Times New Roman" panose="02020603050405020304" pitchFamily="18" charset="0"/>
              <a:buChar char="•"/>
            </a:pPr>
            <a:r>
              <a:rPr lang="en-US" altLang="en-US" sz="1800" dirty="0">
                <a:solidFill>
                  <a:srgbClr val="000000"/>
                </a:solidFill>
              </a:rPr>
              <a:t>The solution to NP problems cannot be obtained in polynomial time, but if the solution is given, it can be verified in polynomial time.</a:t>
            </a:r>
          </a:p>
          <a:p>
            <a:pPr>
              <a:spcBef>
                <a:spcPts val="800"/>
              </a:spcBef>
              <a:buFont typeface="Times New Roman" panose="02020603050405020304" pitchFamily="18" charset="0"/>
              <a:buChar char="•"/>
            </a:pPr>
            <a:r>
              <a:rPr lang="en-US" altLang="en-US" sz="1800" dirty="0">
                <a:solidFill>
                  <a:srgbClr val="000000"/>
                </a:solidFill>
              </a:rPr>
              <a:t>NP Problems are a superset of P problems</a:t>
            </a:r>
          </a:p>
          <a:p>
            <a:pPr>
              <a:spcBef>
                <a:spcPts val="800"/>
              </a:spcBef>
              <a:buFont typeface="Times New Roman" panose="02020603050405020304" pitchFamily="18" charset="0"/>
              <a:buChar char="•"/>
            </a:pPr>
            <a:r>
              <a:rPr lang="en-US" altLang="en-US" sz="1800" dirty="0">
                <a:solidFill>
                  <a:srgbClr val="000000"/>
                </a:solidFill>
              </a:rPr>
              <a:t>All the NP problems are non-deterministic in nature</a:t>
            </a:r>
          </a:p>
          <a:p>
            <a:pPr>
              <a:spcBef>
                <a:spcPts val="800"/>
              </a:spcBef>
              <a:buFont typeface="Times New Roman" panose="02020603050405020304" pitchFamily="18" charset="0"/>
              <a:buChar char="•"/>
            </a:pPr>
            <a:r>
              <a:rPr lang="en-US" altLang="en-US" sz="1800" b="1" dirty="0">
                <a:solidFill>
                  <a:srgbClr val="000000"/>
                </a:solidFill>
              </a:rPr>
              <a:t>Example:</a:t>
            </a:r>
            <a:r>
              <a:rPr lang="en-US" altLang="en-US" sz="1800" dirty="0">
                <a:solidFill>
                  <a:srgbClr val="000000"/>
                </a:solidFill>
              </a:rPr>
              <a:t> TSP, Knapsack problem</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234440" y="365608"/>
            <a:ext cx="10154920" cy="832966"/>
          </a:xfrm>
        </p:spPr>
        <p:txBody>
          <a:bodyPr>
            <a:normAutofit fontScale="90000"/>
          </a:bodyPr>
          <a:lstStyle/>
          <a:p>
            <a:br>
              <a:rPr lang="en-US" dirty="0">
                <a:solidFill>
                  <a:srgbClr val="0000CC"/>
                </a:solidFill>
                <a:latin typeface="Arial Rounded MT Bold" pitchFamily="34" charset="0"/>
                <a:cs typeface="Arial" charset="0"/>
              </a:rPr>
            </a:br>
            <a:r>
              <a:rPr lang="en-US" sz="4000" dirty="0">
                <a:solidFill>
                  <a:srgbClr val="0070C0"/>
                </a:solidFill>
                <a:latin typeface="Times New Roman" pitchFamily="18" charset="0"/>
                <a:cs typeface="Times New Roman" pitchFamily="18" charset="0"/>
              </a:rPr>
              <a:t>The Class NP</a:t>
            </a:r>
            <a:r>
              <a:rPr lang="en-US" sz="3600" dirty="0">
                <a:solidFill>
                  <a:srgbClr val="0070C0"/>
                </a:solidFill>
                <a:latin typeface="Times New Roman" pitchFamily="18" charset="0"/>
                <a:cs typeface="Times New Roman" pitchFamily="18" charset="0"/>
              </a:rPr>
              <a:t> Hard</a:t>
            </a:r>
            <a:endParaRPr lang="en-US" dirty="0">
              <a:solidFill>
                <a:srgbClr val="0000CC"/>
              </a:solidFill>
              <a:latin typeface="Times New Roman" pitchFamily="18" charset="0"/>
              <a:cs typeface="Times New Roman" pitchFamily="18" charset="0"/>
            </a:endParaRPr>
          </a:p>
        </p:txBody>
      </p:sp>
      <p:sp>
        <p:nvSpPr>
          <p:cNvPr id="4099" name="Subtitle 2"/>
          <p:cNvSpPr>
            <a:spLocks noGrp="1"/>
          </p:cNvSpPr>
          <p:nvPr>
            <p:ph type="subTitle" idx="1"/>
          </p:nvPr>
        </p:nvSpPr>
        <p:spPr>
          <a:xfrm>
            <a:off x="1117600" y="1143000"/>
            <a:ext cx="10535920" cy="5410200"/>
          </a:xfrm>
        </p:spPr>
        <p:txBody>
          <a:bodyPr>
            <a:normAutofit fontScale="92500" lnSpcReduction="20000"/>
          </a:bodyPr>
          <a:lstStyle/>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What does NP-hard mean?</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A lot of times you can solve a problem by reducing it to a different problem. I can reduce Problem B to Problem A if, given a solution to Problem A, I can easily construct a solution to Problem B. (In this case, "easily" means "in polynomial time”).</a:t>
            </a:r>
          </a:p>
          <a:p>
            <a:pPr marL="12700" algn="just">
              <a:lnSpc>
                <a:spcPct val="100000"/>
              </a:lnSpc>
              <a:spcBef>
                <a:spcPts val="105"/>
              </a:spcBef>
            </a:pPr>
            <a:endParaRPr lang="en-US" sz="2800" spc="-5" dirty="0">
              <a:latin typeface="Times New Roman" panose="02020603050405020304" pitchFamily="18" charset="0"/>
              <a:cs typeface="Times New Roman" panose="02020603050405020304" pitchFamily="18" charset="0"/>
            </a:endParaRP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A problem is NP-hard if all problems in NP are polynomial time reducible to it, ...  Ex- Hamiltonian Cycle</a:t>
            </a:r>
          </a:p>
          <a:p>
            <a:pPr marL="12700" algn="just">
              <a:lnSpc>
                <a:spcPct val="100000"/>
              </a:lnSpc>
              <a:spcBef>
                <a:spcPts val="105"/>
              </a:spcBef>
            </a:pPr>
            <a:endParaRPr lang="en-US" sz="2800" spc="-5" dirty="0">
              <a:latin typeface="Times New Roman" panose="02020603050405020304" pitchFamily="18" charset="0"/>
              <a:cs typeface="Times New Roman" panose="02020603050405020304" pitchFamily="18" charset="0"/>
            </a:endParaRP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Every problem in NP is reducible to HC in polynomial time. Ex:- TSP is reducible to HC.</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B         A</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Example: lcm(m, n) = m * n / </a:t>
            </a:r>
            <a:r>
              <a:rPr lang="en-US" sz="2800" spc="-5" dirty="0" err="1">
                <a:latin typeface="Times New Roman" panose="02020603050405020304" pitchFamily="18" charset="0"/>
                <a:cs typeface="Times New Roman" panose="02020603050405020304" pitchFamily="18" charset="0"/>
              </a:rPr>
              <a:t>gcd</a:t>
            </a:r>
            <a:r>
              <a:rPr lang="en-US" sz="2800" spc="-5" dirty="0">
                <a:latin typeface="Times New Roman" panose="02020603050405020304" pitchFamily="18" charset="0"/>
                <a:cs typeface="Times New Roman" panose="02020603050405020304" pitchFamily="18" charset="0"/>
              </a:rPr>
              <a:t>(m, n),</a:t>
            </a:r>
          </a:p>
          <a:p>
            <a:pPr marL="355600" indent="-3429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Example: TSP (</a:t>
            </a:r>
            <a:r>
              <a:rPr lang="en-IN" sz="2800" spc="-5" dirty="0">
                <a:latin typeface="Times New Roman" panose="02020603050405020304" pitchFamily="18" charset="0"/>
                <a:cs typeface="Times New Roman" panose="02020603050405020304" pitchFamily="18" charset="0"/>
              </a:rPr>
              <a:t>the optimization problem of finding the least-cost cyclic route through all nodes of a weighted graph)</a:t>
            </a:r>
          </a:p>
          <a:p>
            <a:pPr marL="355600" indent="-342900" algn="just">
              <a:lnSpc>
                <a:spcPct val="100000"/>
              </a:lnSpc>
              <a:spcBef>
                <a:spcPts val="105"/>
              </a:spcBef>
              <a:buFont typeface="Arial" panose="020B0604020202020204" pitchFamily="34" charset="0"/>
              <a:buChar char="•"/>
            </a:pPr>
            <a:r>
              <a:rPr lang="en-IN" sz="2800" spc="-5" dirty="0">
                <a:latin typeface="Times New Roman" panose="02020603050405020304" pitchFamily="18" charset="0"/>
                <a:cs typeface="Times New Roman" panose="02020603050405020304" pitchFamily="18" charset="0"/>
              </a:rPr>
              <a:t>the Knapsack Problem, and the Integer Programming Problem</a:t>
            </a:r>
            <a:endParaRPr lang="en-US" sz="2800" spc="-5"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91440" y="121677"/>
            <a:ext cx="1143000" cy="782411"/>
          </a:xfrm>
          <a:prstGeom prst="rect">
            <a:avLst/>
          </a:prstGeom>
        </p:spPr>
      </p:pic>
    </p:spTree>
    <p:extLst>
      <p:ext uri="{BB962C8B-B14F-4D97-AF65-F5344CB8AC3E}">
        <p14:creationId xmlns:p14="http://schemas.microsoft.com/office/powerpoint/2010/main" val="3740043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234440" y="365608"/>
            <a:ext cx="10154920" cy="832966"/>
          </a:xfrm>
        </p:spPr>
        <p:txBody>
          <a:bodyPr>
            <a:normAutofit fontScale="90000"/>
          </a:bodyPr>
          <a:lstStyle/>
          <a:p>
            <a:br>
              <a:rPr lang="en-US" dirty="0">
                <a:solidFill>
                  <a:srgbClr val="0000CC"/>
                </a:solidFill>
                <a:latin typeface="Arial Rounded MT Bold" pitchFamily="34" charset="0"/>
                <a:cs typeface="Arial" charset="0"/>
              </a:rPr>
            </a:br>
            <a:r>
              <a:rPr lang="en-US" sz="4000" dirty="0">
                <a:solidFill>
                  <a:srgbClr val="0070C0"/>
                </a:solidFill>
                <a:latin typeface="Times New Roman" pitchFamily="18" charset="0"/>
                <a:cs typeface="Times New Roman" pitchFamily="18" charset="0"/>
              </a:rPr>
              <a:t>The Class NP</a:t>
            </a:r>
            <a:r>
              <a:rPr lang="en-US" sz="3600" dirty="0">
                <a:solidFill>
                  <a:srgbClr val="0070C0"/>
                </a:solidFill>
                <a:latin typeface="Times New Roman" pitchFamily="18" charset="0"/>
                <a:cs typeface="Times New Roman" pitchFamily="18" charset="0"/>
              </a:rPr>
              <a:t> Complete</a:t>
            </a:r>
            <a:endParaRPr lang="en-US" dirty="0">
              <a:solidFill>
                <a:srgbClr val="0000CC"/>
              </a:solidFill>
              <a:latin typeface="Times New Roman" pitchFamily="18" charset="0"/>
              <a:cs typeface="Times New Roman" pitchFamily="18" charset="0"/>
            </a:endParaRPr>
          </a:p>
        </p:txBody>
      </p:sp>
      <p:sp>
        <p:nvSpPr>
          <p:cNvPr id="4099" name="Subtitle 2"/>
          <p:cNvSpPr>
            <a:spLocks noGrp="1"/>
          </p:cNvSpPr>
          <p:nvPr>
            <p:ph type="subTitle" idx="1"/>
          </p:nvPr>
        </p:nvSpPr>
        <p:spPr>
          <a:xfrm>
            <a:off x="1117600" y="1143000"/>
            <a:ext cx="9794240" cy="5410200"/>
          </a:xfrm>
        </p:spPr>
        <p:txBody>
          <a:bodyPr>
            <a:normAutofit/>
          </a:bodyPr>
          <a:lstStyle/>
          <a:p>
            <a:pPr marL="469900" indent="-4572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A problem is NP-complete if the problem is</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both</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NP-hard, and</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NP</a:t>
            </a:r>
          </a:p>
          <a:p>
            <a:pPr marL="355600" indent="-3429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Examples:</a:t>
            </a:r>
          </a:p>
          <a:p>
            <a:pPr marL="812800" lvl="1" indent="-342900" algn="just">
              <a:lnSpc>
                <a:spcPct val="100000"/>
              </a:lnSpc>
              <a:spcBef>
                <a:spcPts val="105"/>
              </a:spcBef>
              <a:buFont typeface="Arial" panose="020B0604020202020204" pitchFamily="34" charset="0"/>
              <a:buChar char="•"/>
            </a:pPr>
            <a:r>
              <a:rPr lang="en-IN" sz="2800" spc="-5" dirty="0">
                <a:latin typeface="Times New Roman" panose="02020603050405020304" pitchFamily="18" charset="0"/>
                <a:cs typeface="Times New Roman" panose="02020603050405020304" pitchFamily="18" charset="0"/>
              </a:rPr>
              <a:t>the traveling salesman problem</a:t>
            </a:r>
          </a:p>
          <a:p>
            <a:pPr marL="812800" lvl="1" indent="-342900" algn="just">
              <a:lnSpc>
                <a:spcPct val="100000"/>
              </a:lnSpc>
              <a:spcBef>
                <a:spcPts val="105"/>
              </a:spcBef>
              <a:buFont typeface="Arial" panose="020B0604020202020204" pitchFamily="34" charset="0"/>
              <a:buChar char="•"/>
            </a:pPr>
            <a:r>
              <a:rPr lang="en-IN" sz="2800" spc="-5" dirty="0">
                <a:latin typeface="Times New Roman" panose="02020603050405020304" pitchFamily="18" charset="0"/>
                <a:cs typeface="Times New Roman" panose="02020603050405020304" pitchFamily="18" charset="0"/>
              </a:rPr>
              <a:t>satisfiability problems</a:t>
            </a:r>
          </a:p>
          <a:p>
            <a:pPr marL="812800" lvl="1" indent="-342900" algn="just">
              <a:lnSpc>
                <a:spcPct val="100000"/>
              </a:lnSpc>
              <a:spcBef>
                <a:spcPts val="105"/>
              </a:spcBef>
              <a:buFont typeface="Arial" panose="020B0604020202020204" pitchFamily="34" charset="0"/>
              <a:buChar char="•"/>
            </a:pPr>
            <a:r>
              <a:rPr lang="en-IN" sz="2800" spc="-5" dirty="0">
                <a:latin typeface="Times New Roman" panose="02020603050405020304" pitchFamily="18" charset="0"/>
                <a:cs typeface="Times New Roman" panose="02020603050405020304" pitchFamily="18" charset="0"/>
              </a:rPr>
              <a:t>graph-covering problems</a:t>
            </a:r>
            <a:endParaRPr lang="en-US" sz="2800" spc="-5"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91440" y="121677"/>
            <a:ext cx="1143000" cy="782411"/>
          </a:xfrm>
          <a:prstGeom prst="rect">
            <a:avLst/>
          </a:prstGeom>
        </p:spPr>
      </p:pic>
    </p:spTree>
    <p:extLst>
      <p:ext uri="{BB962C8B-B14F-4D97-AF65-F5344CB8AC3E}">
        <p14:creationId xmlns:p14="http://schemas.microsoft.com/office/powerpoint/2010/main" val="34855320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234440" y="365608"/>
            <a:ext cx="10154920" cy="832966"/>
          </a:xfrm>
        </p:spPr>
        <p:txBody>
          <a:bodyPr>
            <a:normAutofit fontScale="90000"/>
          </a:bodyPr>
          <a:lstStyle/>
          <a:p>
            <a:br>
              <a:rPr lang="en-US" dirty="0">
                <a:solidFill>
                  <a:srgbClr val="0000CC"/>
                </a:solidFill>
                <a:latin typeface="Arial Rounded MT Bold" pitchFamily="34" charset="0"/>
                <a:cs typeface="Arial" charset="0"/>
              </a:rPr>
            </a:br>
            <a:r>
              <a:rPr lang="en-US" sz="4000" dirty="0">
                <a:solidFill>
                  <a:srgbClr val="0070C0"/>
                </a:solidFill>
                <a:latin typeface="Times New Roman" pitchFamily="18" charset="0"/>
                <a:cs typeface="Times New Roman" pitchFamily="18" charset="0"/>
              </a:rPr>
              <a:t>NP hard and NP</a:t>
            </a:r>
            <a:r>
              <a:rPr lang="en-US" sz="3600" dirty="0">
                <a:solidFill>
                  <a:srgbClr val="0070C0"/>
                </a:solidFill>
                <a:latin typeface="Times New Roman" pitchFamily="18" charset="0"/>
                <a:cs typeface="Times New Roman" pitchFamily="18" charset="0"/>
              </a:rPr>
              <a:t> Complete</a:t>
            </a:r>
            <a:endParaRPr lang="en-US" dirty="0">
              <a:solidFill>
                <a:srgbClr val="0000CC"/>
              </a:solidFill>
              <a:latin typeface="Times New Roman" pitchFamily="18" charset="0"/>
              <a:cs typeface="Times New Roman" pitchFamily="18" charset="0"/>
            </a:endParaRPr>
          </a:p>
        </p:txBody>
      </p:sp>
      <p:sp>
        <p:nvSpPr>
          <p:cNvPr id="4099" name="Subtitle 2"/>
          <p:cNvSpPr>
            <a:spLocks noGrp="1"/>
          </p:cNvSpPr>
          <p:nvPr>
            <p:ph type="subTitle" idx="1"/>
          </p:nvPr>
        </p:nvSpPr>
        <p:spPr>
          <a:xfrm>
            <a:off x="1117600" y="1143000"/>
            <a:ext cx="9794240" cy="5410200"/>
          </a:xfrm>
        </p:spPr>
        <p:txBody>
          <a:bodyPr>
            <a:normAutofit/>
          </a:bodyPr>
          <a:lstStyle/>
          <a:p>
            <a:pPr marL="469900" indent="-4572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If R is polynomial-time reducible to Q,</a:t>
            </a:r>
          </a:p>
          <a:p>
            <a:pPr marL="469900" indent="-4572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we denote this R &lt;=p Q</a:t>
            </a:r>
          </a:p>
          <a:p>
            <a:pPr marL="469900" indent="-4572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Definition of NP-Hard and NP-Complete:</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 If all problems R  NP are polynomial-time reducible to Q, then Q is NP-Hard</a:t>
            </a:r>
          </a:p>
          <a:p>
            <a:pPr marL="12700" algn="just">
              <a:lnSpc>
                <a:spcPct val="100000"/>
              </a:lnSpc>
              <a:spcBef>
                <a:spcPts val="105"/>
              </a:spcBef>
            </a:pPr>
            <a:r>
              <a:rPr lang="en-US" sz="2800" spc="-5" dirty="0">
                <a:latin typeface="Times New Roman" panose="02020603050405020304" pitchFamily="18" charset="0"/>
                <a:cs typeface="Times New Roman" panose="02020603050405020304" pitchFamily="18" charset="0"/>
              </a:rPr>
              <a:t>	– We say Q is NP-Complete if Q is NP-Hard and Q  NP</a:t>
            </a:r>
          </a:p>
          <a:p>
            <a:pPr marL="469900" indent="-457200" algn="just">
              <a:lnSpc>
                <a:spcPct val="100000"/>
              </a:lnSpc>
              <a:spcBef>
                <a:spcPts val="105"/>
              </a:spcBef>
              <a:buFont typeface="Arial" panose="020B0604020202020204" pitchFamily="34" charset="0"/>
              <a:buChar char="•"/>
            </a:pPr>
            <a:r>
              <a:rPr lang="en-US" sz="2800" spc="-5" dirty="0">
                <a:latin typeface="Times New Roman" panose="02020603050405020304" pitchFamily="18" charset="0"/>
                <a:cs typeface="Times New Roman" panose="02020603050405020304" pitchFamily="18" charset="0"/>
              </a:rPr>
              <a:t>If R &lt;=p Q and R is NP-Hard, Q is also NP-Hard</a:t>
            </a:r>
            <a:endParaRPr lang="en-US"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91440" y="121677"/>
            <a:ext cx="1143000" cy="782411"/>
          </a:xfrm>
          <a:prstGeom prst="rect">
            <a:avLst/>
          </a:prstGeom>
        </p:spPr>
      </p:pic>
    </p:spTree>
    <p:extLst>
      <p:ext uri="{BB962C8B-B14F-4D97-AF65-F5344CB8AC3E}">
        <p14:creationId xmlns:p14="http://schemas.microsoft.com/office/powerpoint/2010/main" val="1381743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234440" y="365608"/>
            <a:ext cx="10154920" cy="832966"/>
          </a:xfrm>
        </p:spPr>
        <p:txBody>
          <a:bodyPr>
            <a:normAutofit fontScale="90000"/>
          </a:bodyPr>
          <a:lstStyle/>
          <a:p>
            <a:br>
              <a:rPr lang="en-US" dirty="0">
                <a:solidFill>
                  <a:srgbClr val="0000CC"/>
                </a:solidFill>
                <a:latin typeface="Arial Rounded MT Bold" pitchFamily="34" charset="0"/>
                <a:cs typeface="Arial" charset="0"/>
              </a:rPr>
            </a:br>
            <a:r>
              <a:rPr lang="en-US" sz="4000" dirty="0">
                <a:solidFill>
                  <a:srgbClr val="0070C0"/>
                </a:solidFill>
                <a:latin typeface="Times New Roman" pitchFamily="18" charset="0"/>
                <a:cs typeface="Times New Roman" pitchFamily="18" charset="0"/>
              </a:rPr>
              <a:t>Summary </a:t>
            </a:r>
            <a:endParaRPr lang="en-US" dirty="0">
              <a:solidFill>
                <a:srgbClr val="0000CC"/>
              </a:solidFill>
              <a:latin typeface="Times New Roman" pitchFamily="18" charset="0"/>
              <a:cs typeface="Times New Roman" pitchFamily="18" charset="0"/>
            </a:endParaRPr>
          </a:p>
        </p:txBody>
      </p:sp>
      <p:sp>
        <p:nvSpPr>
          <p:cNvPr id="4099" name="Subtitle 2"/>
          <p:cNvSpPr>
            <a:spLocks noGrp="1"/>
          </p:cNvSpPr>
          <p:nvPr>
            <p:ph type="subTitle" idx="1"/>
          </p:nvPr>
        </p:nvSpPr>
        <p:spPr>
          <a:xfrm>
            <a:off x="1117600" y="1143000"/>
            <a:ext cx="9794240" cy="5410200"/>
          </a:xfrm>
        </p:spPr>
        <p:txBody>
          <a:bodyPr>
            <a:normAutofit/>
          </a:bodyPr>
          <a:lstStyle/>
          <a:p>
            <a:pPr marL="469900" indent="-457200" algn="l">
              <a:lnSpc>
                <a:spcPct val="100000"/>
              </a:lnSpc>
              <a:spcBef>
                <a:spcPts val="105"/>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 is set of problems that can be solved by a deterministic Turing machine in Polynomial time.</a:t>
            </a:r>
          </a:p>
          <a:p>
            <a:pPr marL="469900" indent="-457200" algn="l">
              <a:lnSpc>
                <a:spcPct val="100000"/>
              </a:lnSpc>
              <a:spcBef>
                <a:spcPts val="105"/>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NP is set of problems that can be solved by a Non-deterministic Turing Machine in Polynomial time. P is subset of NP (any problem that can be solved by deterministic machine in polynomial time can also be solved by non-deterministic machine in polynomial time) but P≠NP.</a:t>
            </a:r>
          </a:p>
          <a:p>
            <a:pPr marL="469900" indent="-457200" algn="l">
              <a:lnSpc>
                <a:spcPct val="100000"/>
              </a:lnSpc>
              <a:spcBef>
                <a:spcPts val="105"/>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are some problems that every single problem in NP can be translated into, and a fast solution to such a problem would automatically give us a fast solution to every problem in NP. This group of problems are known as NP-Complete. Ex:- Clique</a:t>
            </a:r>
          </a:p>
          <a:p>
            <a:pPr marL="469900" indent="-457200" algn="l">
              <a:lnSpc>
                <a:spcPct val="100000"/>
              </a:lnSpc>
              <a:spcBef>
                <a:spcPts val="105"/>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problem is NP-hard if an algorithm for solving it can be translated into one for solving any NP-problem (nondeterministic polynomial time) problem. NP-hard therefore means "at least as hard as any NP-problem," although it might, </a:t>
            </a:r>
            <a:r>
              <a:rPr lang="en-US" dirty="0" err="1">
                <a:latin typeface="Times New Roman" panose="02020603050405020304" pitchFamily="18" charset="0"/>
                <a:cs typeface="Times New Roman" panose="02020603050405020304" pitchFamily="18" charset="0"/>
              </a:rPr>
              <a:t>infact</a:t>
            </a:r>
            <a:r>
              <a:rPr lang="en-US" dirty="0">
                <a:latin typeface="Times New Roman" panose="02020603050405020304" pitchFamily="18" charset="0"/>
                <a:cs typeface="Times New Roman" panose="02020603050405020304" pitchFamily="18" charset="0"/>
              </a:rPr>
              <a:t>, be harder</a:t>
            </a: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91440" y="121677"/>
            <a:ext cx="1143000" cy="782411"/>
          </a:xfrm>
          <a:prstGeom prst="rect">
            <a:avLst/>
          </a:prstGeom>
        </p:spPr>
      </p:pic>
    </p:spTree>
    <p:extLst>
      <p:ext uri="{BB962C8B-B14F-4D97-AF65-F5344CB8AC3E}">
        <p14:creationId xmlns:p14="http://schemas.microsoft.com/office/powerpoint/2010/main" val="19197038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172477"/>
            <a:ext cx="1143000" cy="782411"/>
          </a:xfrm>
          <a:prstGeom prst="rect">
            <a:avLst/>
          </a:prstGeom>
        </p:spPr>
      </p:pic>
      <p:pic>
        <p:nvPicPr>
          <p:cNvPr id="8" name="Picture 7">
            <a:extLst>
              <a:ext uri="{FF2B5EF4-FFF2-40B4-BE49-F238E27FC236}">
                <a16:creationId xmlns:a16="http://schemas.microsoft.com/office/drawing/2014/main" id="{713367BC-1A0C-4CE3-AAA0-4B80DD2411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585" y="1779905"/>
            <a:ext cx="5543550" cy="4171950"/>
          </a:xfrm>
          <a:prstGeom prst="rect">
            <a:avLst/>
          </a:prstGeom>
        </p:spPr>
      </p:pic>
      <p:pic>
        <p:nvPicPr>
          <p:cNvPr id="10" name="Picture 9">
            <a:extLst>
              <a:ext uri="{FF2B5EF4-FFF2-40B4-BE49-F238E27FC236}">
                <a16:creationId xmlns:a16="http://schemas.microsoft.com/office/drawing/2014/main" id="{186E87A9-1EA1-467F-B2C6-7625B0AA2A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9550" y="1342390"/>
            <a:ext cx="4762500" cy="4762500"/>
          </a:xfrm>
          <a:prstGeom prst="rect">
            <a:avLst/>
          </a:prstGeom>
        </p:spPr>
      </p:pic>
    </p:spTree>
    <p:extLst>
      <p:ext uri="{BB962C8B-B14F-4D97-AF65-F5344CB8AC3E}">
        <p14:creationId xmlns:p14="http://schemas.microsoft.com/office/powerpoint/2010/main" val="27306916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2"/>
            <a:ext cx="9144000" cy="832966"/>
          </a:xfrm>
        </p:spPr>
        <p:txBody>
          <a:bodyPr>
            <a:normAutofit fontScale="90000"/>
          </a:bodyPr>
          <a:lstStyle/>
          <a:p>
            <a:pPr eaLnBrk="1" hangingPunct="1"/>
            <a:br>
              <a:rPr lang="en-US" dirty="0">
                <a:solidFill>
                  <a:srgbClr val="0000CC"/>
                </a:solidFill>
                <a:latin typeface="Arial Rounded MT Bold" pitchFamily="34" charset="0"/>
                <a:cs typeface="Arial" charset="0"/>
              </a:rPr>
            </a:br>
            <a:endParaRPr lang="en-US" dirty="0">
              <a:solidFill>
                <a:srgbClr val="0000CC"/>
              </a:solidFill>
              <a:latin typeface="Times New Roman" pitchFamily="18" charset="0"/>
              <a:cs typeface="Times New Roman" pitchFamily="18" charset="0"/>
            </a:endParaRPr>
          </a:p>
        </p:txBody>
      </p:sp>
      <p:cxnSp>
        <p:nvCxnSpPr>
          <p:cNvPr id="4" name="Straight Connector 3"/>
          <p:cNvCxnSpPr/>
          <p:nvPr/>
        </p:nvCxnSpPr>
        <p:spPr>
          <a:xfrm>
            <a:off x="152400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0" y="172477"/>
            <a:ext cx="1143000" cy="782411"/>
          </a:xfrm>
          <a:prstGeom prst="rect">
            <a:avLst/>
          </a:prstGeom>
        </p:spPr>
      </p:pic>
      <p:sp>
        <p:nvSpPr>
          <p:cNvPr id="2" name="TextBox 1">
            <a:extLst>
              <a:ext uri="{FF2B5EF4-FFF2-40B4-BE49-F238E27FC236}">
                <a16:creationId xmlns:a16="http://schemas.microsoft.com/office/drawing/2014/main" id="{A60BAD75-8773-4D51-B288-E36C8DA2543A}"/>
              </a:ext>
            </a:extLst>
          </p:cNvPr>
          <p:cNvSpPr txBox="1"/>
          <p:nvPr/>
        </p:nvSpPr>
        <p:spPr>
          <a:xfrm>
            <a:off x="3698240" y="2956560"/>
            <a:ext cx="4500880" cy="523220"/>
          </a:xfrm>
          <a:prstGeom prst="rect">
            <a:avLst/>
          </a:prstGeom>
          <a:noFill/>
        </p:spPr>
        <p:txBody>
          <a:bodyPr wrap="square" rtlCol="0">
            <a:spAutoFit/>
          </a:bodyPr>
          <a:lstStyle/>
          <a:p>
            <a:pPr algn="ctr"/>
            <a:r>
              <a:rPr lang="en-IN" sz="2800" b="1" i="1" dirty="0">
                <a:solidFill>
                  <a:srgbClr val="FFC000"/>
                </a:solidFill>
                <a:latin typeface="Algerian" panose="04020705040A02060702" pitchFamily="82" charset="0"/>
              </a:rPr>
              <a:t>The End!!</a:t>
            </a:r>
          </a:p>
        </p:txBody>
      </p:sp>
    </p:spTree>
    <p:extLst>
      <p:ext uri="{BB962C8B-B14F-4D97-AF65-F5344CB8AC3E}">
        <p14:creationId xmlns:p14="http://schemas.microsoft.com/office/powerpoint/2010/main" val="874551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402</TotalTime>
  <Words>2574</Words>
  <Application>Microsoft Office PowerPoint</Application>
  <PresentationFormat>Widescreen</PresentationFormat>
  <Paragraphs>224</Paragraphs>
  <Slides>39</Slides>
  <Notes>1</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53" baseType="lpstr">
      <vt:lpstr>SimSun</vt:lpstr>
      <vt:lpstr>Algerian</vt:lpstr>
      <vt:lpstr>Arial</vt:lpstr>
      <vt:lpstr>Arial Rounded MT Bold</vt:lpstr>
      <vt:lpstr>Book Antiqua</vt:lpstr>
      <vt:lpstr>Calibri</vt:lpstr>
      <vt:lpstr>Calibri Light</vt:lpstr>
      <vt:lpstr>DejaVu Sans</vt:lpstr>
      <vt:lpstr>Droid Sans Fallback</vt:lpstr>
      <vt:lpstr>Symbol</vt:lpstr>
      <vt:lpstr>Times New Roman</vt:lpstr>
      <vt:lpstr>Wingdings</vt:lpstr>
      <vt:lpstr>Office Theme</vt:lpstr>
      <vt:lpstr>Equation</vt:lpstr>
      <vt:lpstr>Theory of Computation CSE ( CET2008B)  TY BTech  Unit V Basic Introduction to Complexity</vt:lpstr>
      <vt:lpstr>PowerPoint Presentation</vt:lpstr>
      <vt:lpstr>Course Objective &amp; Course Outcomes</vt:lpstr>
      <vt:lpstr>Text Books &amp; Reference Books</vt:lpstr>
      <vt:lpstr> Turing Machine </vt:lpstr>
      <vt:lpstr>       Solvable and Semi-Solvable Problems</vt:lpstr>
      <vt:lpstr>       Halting Problem and Unsolvablity</vt:lpstr>
      <vt:lpstr>       Halting Problem and Unsolvablity</vt:lpstr>
      <vt:lpstr>Proof :-Halting problem is undecidable </vt:lpstr>
      <vt:lpstr>PowerPoint Presentation</vt:lpstr>
      <vt:lpstr>PowerPoint Presentation</vt:lpstr>
      <vt:lpstr>PowerPoint Presentation</vt:lpstr>
      <vt:lpstr> Post Correspondence Problem </vt:lpstr>
      <vt:lpstr> Post Correspondence Problem </vt:lpstr>
      <vt:lpstr> Post Correspondence Problem </vt:lpstr>
      <vt:lpstr> Post Correspondence Problem </vt:lpstr>
      <vt:lpstr> Post Correspondence Problem </vt:lpstr>
      <vt:lpstr> Post Correspondence Problem </vt:lpstr>
      <vt:lpstr> Turing Machine</vt:lpstr>
      <vt:lpstr> Turing Machine</vt:lpstr>
      <vt:lpstr> Turing Machine</vt:lpstr>
      <vt:lpstr>       Complexity of TM</vt:lpstr>
      <vt:lpstr> Turing Machine</vt:lpstr>
      <vt:lpstr>Time complexity graph</vt:lpstr>
      <vt:lpstr>PowerPoint Presentation</vt:lpstr>
      <vt:lpstr> The Class P (Polynomial-time)</vt:lpstr>
      <vt:lpstr> The Class P (Polynomial-time)</vt:lpstr>
      <vt:lpstr> The Class NP(Nondeterministic Polynomial-time)</vt:lpstr>
      <vt:lpstr> The Class NP (Non-Polynomial-time)</vt:lpstr>
      <vt:lpstr> TSP</vt:lpstr>
      <vt:lpstr> Knapsack Problem</vt:lpstr>
      <vt:lpstr> Difference between N and NP</vt:lpstr>
      <vt:lpstr>PowerPoint Presentation</vt:lpstr>
      <vt:lpstr> The Class NP Hard</vt:lpstr>
      <vt:lpstr> The Class NP Complete</vt:lpstr>
      <vt:lpstr> NP hard and NP Complete</vt:lpstr>
      <vt:lpstr> Summary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 AIDS SY BTech  Unit V Basic Introduction of Complexity</dc:title>
  <dc:creator>Sheetal Girase</dc:creator>
  <cp:lastModifiedBy>Sheetal Girase</cp:lastModifiedBy>
  <cp:revision>22</cp:revision>
  <dcterms:created xsi:type="dcterms:W3CDTF">2024-04-14T04:47:16Z</dcterms:created>
  <dcterms:modified xsi:type="dcterms:W3CDTF">2024-12-06T05:22:51Z</dcterms:modified>
</cp:coreProperties>
</file>