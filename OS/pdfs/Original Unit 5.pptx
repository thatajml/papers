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70" roundtripDataSignature="AMtx7mgCYxIHkDEWXh15GzAS2QKpb9eN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customschemas.google.com/relationships/presentationmetadata" Target="meta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4" name="Google Shape;124;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7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7" name="Google Shape;137;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7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9" name="Google Shape;14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7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1" name="Google Shape;161;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7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2" name="Google Shape;242;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8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6" name="Google Shape;276;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10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9" name="Google Shape;289;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0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aec7963e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01" name="Google Shape;301;g38aec7963ef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38aec7963ef_0_37: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8aec7963e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09" name="Google Shape;309;g38aec7963e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38aec7963ef_1_0: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aec7963e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17" name="Google Shape;317;g38aec7963e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g38aec7963ef_0_0: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aec7963ef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26" name="Google Shape;326;g38aec7963ef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38aec7963ef_0_7: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aec7963ef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35" name="Google Shape;335;g38aec7963ef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8aec7963ef_0_14: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4" name="Google Shape;344;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11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f13da0ada_1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6" name="Google Shape;356;g38f13da0ada_1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8f13da0ada_1_30: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176c9e946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8" name="Google Shape;368;g37176c9e94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g37176c9e946_1_0: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11dd15de9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0" name="Google Shape;380;g3711dd15de9_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711dd15de9_1_11: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711dd15de9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2" name="Google Shape;392;g3711dd15de9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3711dd15de9_1_21: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711dd15de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7" name="Google Shape;417;g3711dd15de9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3711dd15de9_1_0: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29" name="Google Shape;429;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11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2" name="Google Shape;452;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p12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64" name="Google Shape;464;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12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343597"/>
            <a:headEnd len="sm" w="sm" type="none"/>
            <a:tailEnd len="sm" w="sm" type="none"/>
          </a:ln>
        </p:spPr>
      </p:sp>
      <p:sp>
        <p:nvSpPr>
          <p:cNvPr id="477" name="Google Shape;477;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T</a:t>
            </a:r>
            <a:endParaRPr/>
          </a:p>
        </p:txBody>
      </p:sp>
      <p:sp>
        <p:nvSpPr>
          <p:cNvPr id="478" name="Google Shape;478;p12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3" name="Google Shape;513;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24" name="Google Shape;524;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p12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343597"/>
            <a:headEnd len="sm" w="sm" type="none"/>
            <a:tailEnd len="sm" w="sm" type="none"/>
          </a:ln>
        </p:spPr>
      </p:sp>
      <p:sp>
        <p:nvSpPr>
          <p:cNvPr id="537" name="Google Shape;537;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T</a:t>
            </a:r>
            <a:endParaRPr/>
          </a:p>
        </p:txBody>
      </p:sp>
      <p:sp>
        <p:nvSpPr>
          <p:cNvPr id="538" name="Google Shape;538;p12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9e129f1b68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9e129f1b68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g39e129f1b68_1_1: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69" name="Google Shape;569;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400"/>
              <a:buNone/>
            </a:pPr>
            <a:r>
              <a:t/>
            </a:r>
            <a:endParaRPr/>
          </a:p>
        </p:txBody>
      </p:sp>
      <p:sp>
        <p:nvSpPr>
          <p:cNvPr id="570" name="Google Shape;570;p13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9e129f1b68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9e129f1b68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g39e129f1b68_1_18: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0" name="Google Shape;590;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3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3" name="Google Shape;603;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T</a:t>
            </a:r>
            <a:endParaRPr/>
          </a:p>
        </p:txBody>
      </p:sp>
      <p:sp>
        <p:nvSpPr>
          <p:cNvPr id="604" name="Google Shape;604;p13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8c6645953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15" name="Google Shape;615;g38c66459532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g38c66459532_0_1: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8c66459532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25" name="Google Shape;625;g38c66459532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g38c66459532_0_9: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8c66459532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35" name="Google Shape;635;g38c66459532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g38c66459532_0_16: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8c66459532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46" name="Google Shape;646;g38c66459532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7" name="Google Shape;647;g38c66459532_0_23: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8c66459532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56" name="Google Shape;656;g38c66459532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7" name="Google Shape;657;g38c66459532_0_30: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8c66459532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66" name="Google Shape;666;g38c66459532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7" name="Google Shape;667;g38c66459532_0_37: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8c66459532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76" name="Google Shape;676;g38c66459532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g38c66459532_0_44: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711dd15de9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6" name="Google Shape;686;g3711dd15de9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7" name="Google Shape;687;g3711dd15de9_1_33: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8f13da0ada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8" name="Google Shape;698;g38f13da0ada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8f13da0ada_1_0: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8f13da0ada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0" name="Google Shape;710;g38f13da0ada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8f13da0ada_1_10: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8f13da0ada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2" name="Google Shape;722;g38f13da0ada_1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g38f13da0ada_1_20: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8f13da0ada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4" name="Google Shape;734;g38f13da0ada_1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8f13da0ada_1_42: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8f13da0ada_1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6" name="Google Shape;746;g38f13da0ada_1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g38f13da0ada_1_55: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8f13da0ada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7" name="Google Shape;757;g38f13da0ada_1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g38f13da0ada_1_66: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8f13da0ada_1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9" name="Google Shape;769;g38f13da0ada_1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g38f13da0ada_1_77: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8f13da0ada_1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1" name="Google Shape;781;g38f13da0ada_1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2" name="Google Shape;782;g38f13da0ada_1_101: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8f13da0ada_1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3" name="Google Shape;793;g38f13da0ada_1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8f13da0ada_1_113: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68"/>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SzPts val="1400"/>
              <a:buNone/>
              <a:defRPr sz="8000">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23" name="Google Shape;23;p68"/>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4" name="Google Shape;24;p68"/>
          <p:cNvSpPr txBox="1"/>
          <p:nvPr>
            <p:ph idx="10" type="dt"/>
          </p:nvPr>
        </p:nvSpPr>
        <p:spPr>
          <a:xfrm>
            <a:off x="1096962" y="6459537"/>
            <a:ext cx="247332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8"/>
          <p:cNvSpPr txBox="1"/>
          <p:nvPr>
            <p:ph idx="11" type="ftr"/>
          </p:nvPr>
        </p:nvSpPr>
        <p:spPr>
          <a:xfrm>
            <a:off x="3686175" y="6459537"/>
            <a:ext cx="48228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8"/>
          <p:cNvSpPr txBox="1"/>
          <p:nvPr>
            <p:ph idx="12" type="sldNum"/>
          </p:nvPr>
        </p:nvSpPr>
        <p:spPr>
          <a:xfrm>
            <a:off x="9901237" y="6459537"/>
            <a:ext cx="131127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9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 name="Shape 46"/>
        <p:cNvGrpSpPr/>
        <p:nvPr/>
      </p:nvGrpSpPr>
      <p:grpSpPr>
        <a:xfrm>
          <a:off x="0" y="0"/>
          <a:ext cx="0" cy="0"/>
          <a:chOff x="0" y="0"/>
          <a:chExt cx="0" cy="0"/>
        </a:xfrm>
      </p:grpSpPr>
      <p:sp>
        <p:nvSpPr>
          <p:cNvPr id="47" name="Google Shape;47;p9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9" name="Google Shape;49;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9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5" name="Google Shape;55;p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10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10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0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10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0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10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0" name="Google Shape;70;p10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0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10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2"/>
          <p:cNvSpPr/>
          <p:nvPr>
            <p:ph idx="2" type="pic"/>
          </p:nvPr>
        </p:nvSpPr>
        <p:spPr>
          <a:xfrm>
            <a:off x="5183188" y="987425"/>
            <a:ext cx="6172200" cy="4873625"/>
          </a:xfrm>
          <a:prstGeom prst="rect">
            <a:avLst/>
          </a:prstGeom>
          <a:noFill/>
          <a:ln>
            <a:noFill/>
          </a:ln>
        </p:spPr>
      </p:sp>
      <p:sp>
        <p:nvSpPr>
          <p:cNvPr id="77" name="Google Shape;77;p10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10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0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0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0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0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10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0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0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0"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7"/>
          <p:cNvSpPr/>
          <p:nvPr/>
        </p:nvSpPr>
        <p:spPr>
          <a:xfrm>
            <a:off x="0"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67"/>
          <p:cNvSpPr/>
          <p:nvPr/>
        </p:nvSpPr>
        <p:spPr>
          <a:xfrm>
            <a:off x="0" y="6334125"/>
            <a:ext cx="12192000" cy="666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 name="Google Shape;12;p67"/>
          <p:cNvCxnSpPr/>
          <p:nvPr/>
        </p:nvCxnSpPr>
        <p:spPr>
          <a:xfrm>
            <a:off x="1193800" y="1738312"/>
            <a:ext cx="9966325" cy="0"/>
          </a:xfrm>
          <a:prstGeom prst="straightConnector1">
            <a:avLst/>
          </a:prstGeom>
          <a:noFill/>
          <a:ln cap="flat" cmpd="sng" w="9525">
            <a:solidFill>
              <a:srgbClr val="7F7F7F"/>
            </a:solidFill>
            <a:prstDash val="solid"/>
            <a:miter lim="800000"/>
            <a:headEnd len="sm" w="sm" type="none"/>
            <a:tailEnd len="sm" w="sm" type="none"/>
          </a:ln>
        </p:spPr>
      </p:cxnSp>
      <p:sp>
        <p:nvSpPr>
          <p:cNvPr id="13" name="Google Shape;13;p67"/>
          <p:cNvSpPr/>
          <p:nvPr/>
        </p:nvSpPr>
        <p:spPr>
          <a:xfrm>
            <a:off x="3175" y="6400800"/>
            <a:ext cx="12188825"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67"/>
          <p:cNvSpPr/>
          <p:nvPr/>
        </p:nvSpPr>
        <p:spPr>
          <a:xfrm>
            <a:off x="0" y="6334125"/>
            <a:ext cx="12188825" cy="635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5" name="Google Shape;15;p67"/>
          <p:cNvCxnSpPr/>
          <p:nvPr/>
        </p:nvCxnSpPr>
        <p:spPr>
          <a:xfrm>
            <a:off x="1208087" y="4343400"/>
            <a:ext cx="9875837" cy="0"/>
          </a:xfrm>
          <a:prstGeom prst="straightConnector1">
            <a:avLst/>
          </a:prstGeom>
          <a:noFill/>
          <a:ln cap="flat" cmpd="sng" w="9525">
            <a:solidFill>
              <a:srgbClr val="7F7F7F"/>
            </a:solidFill>
            <a:prstDash val="solid"/>
            <a:miter lim="800000"/>
            <a:headEnd len="sm" w="sm" type="none"/>
            <a:tailEnd len="sm" w="sm" type="none"/>
          </a:ln>
        </p:spPr>
      </p:cxnSp>
      <p:sp>
        <p:nvSpPr>
          <p:cNvPr id="16" name="Google Shape;16;p67"/>
          <p:cNvSpPr txBox="1"/>
          <p:nvPr>
            <p:ph type="title"/>
          </p:nvPr>
        </p:nvSpPr>
        <p:spPr>
          <a:xfrm>
            <a:off x="1096962" y="287337"/>
            <a:ext cx="10058400" cy="144938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1pPr>
            <a:lvl2pPr lvl="1"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2pPr>
            <a:lvl3pPr lvl="2"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3pPr>
            <a:lvl4pPr lvl="3"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4pPr>
            <a:lvl5pPr lvl="4"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5pPr>
            <a:lvl6pPr lvl="5"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6pPr>
            <a:lvl7pPr lvl="6"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7pPr>
            <a:lvl8pPr lvl="7"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8pPr>
            <a:lvl9pPr lvl="8" marR="0" rtl="0" algn="l">
              <a:lnSpc>
                <a:spcPct val="85000"/>
              </a:lnSpc>
              <a:spcBef>
                <a:spcPts val="0"/>
              </a:spcBef>
              <a:spcAft>
                <a:spcPts val="0"/>
              </a:spcAft>
              <a:buClr>
                <a:srgbClr val="000000"/>
              </a:buClr>
              <a:buSzPts val="1400"/>
              <a:buFont typeface="Arial"/>
              <a:buNone/>
              <a:defRPr b="0" i="0" sz="4800" u="none" cap="none" strike="noStrike">
                <a:solidFill>
                  <a:srgbClr val="404040"/>
                </a:solidFill>
                <a:latin typeface="Calibri"/>
                <a:ea typeface="Calibri"/>
                <a:cs typeface="Calibri"/>
                <a:sym typeface="Calibri"/>
              </a:defRPr>
            </a:lvl9pPr>
          </a:lstStyle>
          <a:p/>
        </p:txBody>
      </p:sp>
      <p:sp>
        <p:nvSpPr>
          <p:cNvPr id="17" name="Google Shape;17;p67"/>
          <p:cNvSpPr txBox="1"/>
          <p:nvPr>
            <p:ph idx="1" type="body"/>
          </p:nvPr>
        </p:nvSpPr>
        <p:spPr>
          <a:xfrm>
            <a:off x="1096962" y="1846262"/>
            <a:ext cx="10058400" cy="4022725"/>
          </a:xfrm>
          <a:prstGeom prst="rect">
            <a:avLst/>
          </a:prstGeom>
          <a:noFill/>
          <a:ln>
            <a:noFill/>
          </a:ln>
        </p:spPr>
        <p:txBody>
          <a:bodyPr anchorCtr="0" anchor="t" bIns="45700" lIns="0" spcFirstLastPara="1" rIns="0" wrap="square" tIns="45700">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406400" lvl="1" marL="914400" marR="0" rtl="0" algn="l">
              <a:lnSpc>
                <a:spcPct val="90000"/>
              </a:lnSpc>
              <a:spcBef>
                <a:spcPts val="200"/>
              </a:spcBef>
              <a:spcAft>
                <a:spcPts val="0"/>
              </a:spcAft>
              <a:buClr>
                <a:schemeClr val="accent1"/>
              </a:buClr>
              <a:buSzPts val="2800"/>
              <a:buFont typeface="Calibri"/>
              <a:buChar char="◦"/>
              <a:defRPr b="0" i="0" sz="2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8" name="Google Shape;18;p67"/>
          <p:cNvSpPr txBox="1"/>
          <p:nvPr>
            <p:ph idx="10" type="dt"/>
          </p:nvPr>
        </p:nvSpPr>
        <p:spPr>
          <a:xfrm>
            <a:off x="1096962" y="6459537"/>
            <a:ext cx="2473325"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 name="Google Shape;19;p67"/>
          <p:cNvSpPr txBox="1"/>
          <p:nvPr>
            <p:ph idx="11" type="ftr"/>
          </p:nvPr>
        </p:nvSpPr>
        <p:spPr>
          <a:xfrm>
            <a:off x="3686175" y="6459537"/>
            <a:ext cx="4822825"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 name="Google Shape;20;p67"/>
          <p:cNvSpPr txBox="1"/>
          <p:nvPr>
            <p:ph idx="12" type="sldNum"/>
          </p:nvPr>
        </p:nvSpPr>
        <p:spPr>
          <a:xfrm>
            <a:off x="9901237" y="6459537"/>
            <a:ext cx="131127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000"/>
              <a:buFont typeface="Calibri"/>
              <a:buNone/>
              <a:defRPr b="0" i="0" sz="10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9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 name="Google Shape;32;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34.png"/><Relationship Id="rId5"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6.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0.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2.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6.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0.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7.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2.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idx="1" type="subTitle"/>
          </p:nvPr>
        </p:nvSpPr>
        <p:spPr>
          <a:xfrm>
            <a:off x="1638300" y="5143500"/>
            <a:ext cx="9144000" cy="482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b="1" i="0" lang="en-US" sz="2000" u="none">
                <a:solidFill>
                  <a:schemeClr val="dk2"/>
                </a:solidFill>
                <a:latin typeface="Times New Roman"/>
                <a:ea typeface="Times New Roman"/>
                <a:cs typeface="Times New Roman"/>
                <a:sym typeface="Times New Roman"/>
              </a:rPr>
              <a:t>DEPARTMENT OF COMPUTER SCIENCE AND ENGINEERING</a:t>
            </a:r>
            <a:endParaRPr/>
          </a:p>
        </p:txBody>
      </p:sp>
      <p:pic>
        <p:nvPicPr>
          <p:cNvPr id="98" name="Google Shape;98;p1"/>
          <p:cNvPicPr preferRelativeResize="0"/>
          <p:nvPr/>
        </p:nvPicPr>
        <p:blipFill rotWithShape="1">
          <a:blip r:embed="rId3">
            <a:alphaModFix/>
          </a:blip>
          <a:srcRect b="0" l="0" r="0" t="0"/>
          <a:stretch/>
        </p:blipFill>
        <p:spPr>
          <a:xfrm>
            <a:off x="868363" y="431800"/>
            <a:ext cx="10193337" cy="2070100"/>
          </a:xfrm>
          <a:prstGeom prst="rect">
            <a:avLst/>
          </a:prstGeom>
          <a:noFill/>
          <a:ln>
            <a:noFill/>
          </a:ln>
          <a:effectLst>
            <a:outerShdw blurRad="292100" rotWithShape="0" algn="tl" dir="2700000" dist="139700">
              <a:srgbClr val="333333">
                <a:alpha val="62745"/>
              </a:srgbClr>
            </a:outerShdw>
          </a:effectLst>
        </p:spPr>
      </p:pic>
      <p:sp>
        <p:nvSpPr>
          <p:cNvPr id="99" name="Google Shape;99;p1"/>
          <p:cNvSpPr txBox="1"/>
          <p:nvPr/>
        </p:nvSpPr>
        <p:spPr>
          <a:xfrm>
            <a:off x="668337" y="2886075"/>
            <a:ext cx="11083925"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alibri"/>
              <a:buNone/>
            </a:pPr>
            <a:r>
              <a:rPr b="1" i="0" lang="en-US" sz="3600" u="none" cap="none" strike="noStrike">
                <a:solidFill>
                  <a:schemeClr val="dk1"/>
                </a:solidFill>
                <a:latin typeface="Calibri"/>
                <a:ea typeface="Calibri"/>
                <a:cs typeface="Calibri"/>
                <a:sym typeface="Calibri"/>
              </a:rPr>
              <a:t>Unit V File Management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9"/>
          <p:cNvSpPr txBox="1"/>
          <p:nvPr>
            <p:ph type="title"/>
          </p:nvPr>
        </p:nvSpPr>
        <p:spPr>
          <a:xfrm>
            <a:off x="1311275" y="134937"/>
            <a:ext cx="5940425" cy="12747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Syllabus</a:t>
            </a:r>
            <a:endParaRPr/>
          </a:p>
        </p:txBody>
      </p:sp>
      <p:sp>
        <p:nvSpPr>
          <p:cNvPr id="105" name="Google Shape;105;p69"/>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Clr>
                <a:schemeClr val="dk1"/>
              </a:buClr>
              <a:buSzPts val="1800"/>
              <a:buChar char="•"/>
            </a:pPr>
            <a:r>
              <a:rPr lang="en-US" sz="2400"/>
              <a:t>Concept of File, Access methods, File types, File operation, Directory structure, File System structure,</a:t>
            </a:r>
            <a:endParaRPr/>
          </a:p>
          <a:p>
            <a:pPr indent="-342900" lvl="0" marL="457200" rtl="0" algn="l">
              <a:lnSpc>
                <a:spcPct val="90000"/>
              </a:lnSpc>
              <a:spcBef>
                <a:spcPts val="1000"/>
              </a:spcBef>
              <a:spcAft>
                <a:spcPts val="0"/>
              </a:spcAft>
              <a:buClr>
                <a:schemeClr val="dk1"/>
              </a:buClr>
              <a:buSzPts val="1800"/>
              <a:buChar char="•"/>
            </a:pPr>
            <a:r>
              <a:rPr lang="en-US" sz="2400"/>
              <a:t>Allocation methods (contiguous, linked, indexed)</a:t>
            </a:r>
            <a:endParaRPr/>
          </a:p>
          <a:p>
            <a:pPr indent="-342900" lvl="0" marL="457200" rtl="0" algn="l">
              <a:lnSpc>
                <a:spcPct val="90000"/>
              </a:lnSpc>
              <a:spcBef>
                <a:spcPts val="1000"/>
              </a:spcBef>
              <a:spcAft>
                <a:spcPts val="0"/>
              </a:spcAft>
              <a:buClr>
                <a:schemeClr val="dk1"/>
              </a:buClr>
              <a:buSzPts val="1800"/>
              <a:buChar char="•"/>
            </a:pPr>
            <a:r>
              <a:rPr lang="en-US" sz="2400"/>
              <a:t>Disk Management: Disk structure, Disk scheduling - FCFS, SSTF, SCAN, C-SCAN, Disk reliability,</a:t>
            </a:r>
            <a:endParaRPr/>
          </a:p>
          <a:p>
            <a:pPr indent="-342900" lvl="0" marL="457200" rtl="0" algn="l">
              <a:lnSpc>
                <a:spcPct val="90000"/>
              </a:lnSpc>
              <a:spcBef>
                <a:spcPts val="1000"/>
              </a:spcBef>
              <a:spcAft>
                <a:spcPts val="0"/>
              </a:spcAft>
              <a:buClr>
                <a:schemeClr val="dk1"/>
              </a:buClr>
              <a:buSzPts val="1800"/>
              <a:buChar char="•"/>
            </a:pPr>
            <a:r>
              <a:rPr lang="en-US" sz="2400"/>
              <a:t>Disk formatting, Boot-block, Bad blocks</a:t>
            </a:r>
            <a:endParaRPr b="0" i="0" sz="2400" u="none">
              <a:solidFill>
                <a:schemeClr val="dk1"/>
              </a:solidFill>
              <a:latin typeface="Calibri"/>
              <a:ea typeface="Calibri"/>
              <a:cs typeface="Calibri"/>
              <a:sym typeface="Calibri"/>
            </a:endParaRPr>
          </a:p>
        </p:txBody>
      </p:sp>
      <p:sp>
        <p:nvSpPr>
          <p:cNvPr id="106" name="Google Shape;106;p69"/>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07" name="Google Shape;107;p69"/>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08" name="Google Shape;108;p6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09" name="Google Shape;109;p69"/>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110" name="Google Shape;110;p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0"/>
          <p:cNvSpPr txBox="1"/>
          <p:nvPr>
            <p:ph type="title"/>
          </p:nvPr>
        </p:nvSpPr>
        <p:spPr>
          <a:xfrm>
            <a:off x="1630362" y="376237"/>
            <a:ext cx="10058400" cy="8397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Management</a:t>
            </a:r>
            <a:endParaRPr/>
          </a:p>
        </p:txBody>
      </p:sp>
      <p:sp>
        <p:nvSpPr>
          <p:cNvPr id="116" name="Google Shape;116;p7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7" name="Google Shape;117;p70"/>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18" name="Google Shape;118;p7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119" name="Google Shape;119;p70"/>
          <p:cNvSpPr txBox="1"/>
          <p:nvPr/>
        </p:nvSpPr>
        <p:spPr>
          <a:xfrm>
            <a:off x="1096962" y="1866900"/>
            <a:ext cx="10066337" cy="4524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Files are the central element to most applications</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400" u="none" cap="none" strike="noStrike">
                <a:solidFill>
                  <a:schemeClr val="dk1"/>
                </a:solidFill>
                <a:latin typeface="Arial"/>
                <a:ea typeface="Arial"/>
                <a:cs typeface="Arial"/>
                <a:sym typeface="Arial"/>
              </a:rPr>
              <a:t>Desirable properties of files</a:t>
            </a:r>
            <a:r>
              <a:rPr b="0" i="0" lang="en-US" sz="2400" u="none" cap="none" strike="noStrike">
                <a:solidFill>
                  <a:schemeClr val="dk1"/>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3600"/>
              <a:buFont typeface="Arial"/>
              <a:buChar char="•"/>
            </a:pPr>
            <a:r>
              <a:rPr b="1" i="0" lang="en-US" sz="2400" u="none" cap="none" strike="noStrike">
                <a:solidFill>
                  <a:schemeClr val="dk1"/>
                </a:solidFill>
                <a:latin typeface="Arial"/>
                <a:ea typeface="Arial"/>
                <a:cs typeface="Arial"/>
                <a:sym typeface="Arial"/>
              </a:rPr>
              <a:t>Long-term existence: </a:t>
            </a:r>
            <a:r>
              <a:rPr b="0" i="0" lang="en-US" sz="2400" u="none" cap="none" strike="noStrike">
                <a:solidFill>
                  <a:schemeClr val="dk1"/>
                </a:solidFill>
                <a:latin typeface="Arial"/>
                <a:ea typeface="Arial"/>
                <a:cs typeface="Arial"/>
                <a:sym typeface="Arial"/>
              </a:rPr>
              <a:t>Files are stored on disk or other secondary storage and do not disappear when a user logs off.</a:t>
            </a:r>
            <a:endParaRPr/>
          </a:p>
          <a:p>
            <a:pPr indent="-285750" lvl="0" marL="285750" marR="0" rtl="0" algn="just">
              <a:lnSpc>
                <a:spcPct val="100000"/>
              </a:lnSpc>
              <a:spcBef>
                <a:spcPts val="0"/>
              </a:spcBef>
              <a:spcAft>
                <a:spcPts val="0"/>
              </a:spcAft>
              <a:buClr>
                <a:schemeClr val="dk1"/>
              </a:buClr>
              <a:buSzPts val="3600"/>
              <a:buFont typeface="Arial"/>
              <a:buChar char="•"/>
            </a:pPr>
            <a:r>
              <a:rPr b="1" i="0" lang="en-US" sz="2400" u="none" cap="none" strike="noStrike">
                <a:solidFill>
                  <a:schemeClr val="dk1"/>
                </a:solidFill>
                <a:latin typeface="Arial"/>
                <a:ea typeface="Arial"/>
                <a:cs typeface="Arial"/>
                <a:sym typeface="Arial"/>
              </a:rPr>
              <a:t>Sharable between processes</a:t>
            </a:r>
            <a:r>
              <a:rPr b="0" i="0" lang="en-US" sz="2400" u="none" cap="none" strike="noStrike">
                <a:solidFill>
                  <a:schemeClr val="dk1"/>
                </a:solidFill>
                <a:latin typeface="Arial"/>
                <a:ea typeface="Arial"/>
                <a:cs typeface="Arial"/>
                <a:sym typeface="Arial"/>
              </a:rPr>
              <a:t>: Files have names and can have associated access permissions that permit controlled sharing.</a:t>
            </a:r>
            <a:endParaRPr/>
          </a:p>
          <a:p>
            <a:pPr indent="-285750" lvl="0" marL="285750" marR="0" rtl="0" algn="just">
              <a:lnSpc>
                <a:spcPct val="100000"/>
              </a:lnSpc>
              <a:spcBef>
                <a:spcPts val="0"/>
              </a:spcBef>
              <a:spcAft>
                <a:spcPts val="0"/>
              </a:spcAft>
              <a:buClr>
                <a:schemeClr val="dk1"/>
              </a:buClr>
              <a:buSzPts val="3600"/>
              <a:buFont typeface="Arial"/>
              <a:buChar char="•"/>
            </a:pPr>
            <a:r>
              <a:rPr b="1" i="0" lang="en-US" sz="2400" u="none" cap="none" strike="noStrike">
                <a:solidFill>
                  <a:schemeClr val="dk1"/>
                </a:solidFill>
                <a:latin typeface="Arial"/>
                <a:ea typeface="Arial"/>
                <a:cs typeface="Arial"/>
                <a:sym typeface="Arial"/>
              </a:rPr>
              <a:t>Structure</a:t>
            </a:r>
            <a:r>
              <a:rPr b="0" i="0" lang="en-US" sz="2400" u="none" cap="none" strike="noStrike">
                <a:solidFill>
                  <a:schemeClr val="dk1"/>
                </a:solidFill>
                <a:latin typeface="Arial"/>
                <a:ea typeface="Arial"/>
                <a:cs typeface="Arial"/>
                <a:sym typeface="Arial"/>
              </a:rPr>
              <a:t>: Depending on the file system, a file can have an internal structure that is convenient for particular applications. In addition, files can be organized into hierarchical or more complex structure to reflect the relationships among files.</a:t>
            </a:r>
            <a:endParaRPr/>
          </a:p>
          <a:p>
            <a:pPr indent="0" lvl="0" marL="0" marR="0" rtl="0" algn="l">
              <a:lnSpc>
                <a:spcPct val="100000"/>
              </a:lnSpc>
              <a:spcBef>
                <a:spcPts val="0"/>
              </a:spcBef>
              <a:spcAft>
                <a:spcPts val="0"/>
              </a:spcAft>
              <a:buClr>
                <a:srgbClr val="000000"/>
              </a:buClr>
              <a:buSzPts val="3600"/>
              <a:buFont typeface="Arial"/>
              <a:buNone/>
            </a:pPr>
            <a:r>
              <a:t/>
            </a:r>
            <a:endParaRPr b="0" i="0" sz="2400" u="none" cap="none" strike="noStrike">
              <a:solidFill>
                <a:schemeClr val="dk1"/>
              </a:solidFill>
              <a:latin typeface="Arial"/>
              <a:ea typeface="Arial"/>
              <a:cs typeface="Arial"/>
              <a:sym typeface="Arial"/>
            </a:endParaRPr>
          </a:p>
        </p:txBody>
      </p:sp>
      <p:pic>
        <p:nvPicPr>
          <p:cNvPr id="120" name="Google Shape;120;p7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121" name="Google Shape;121;p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5"/>
          <p:cNvSpPr txBox="1"/>
          <p:nvPr>
            <p:ph type="title"/>
          </p:nvPr>
        </p:nvSpPr>
        <p:spPr>
          <a:xfrm>
            <a:off x="1511300" y="277812"/>
            <a:ext cx="10085387" cy="10048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Terms in common use when discussing files</a:t>
            </a:r>
            <a:endParaRPr/>
          </a:p>
        </p:txBody>
      </p:sp>
      <p:sp>
        <p:nvSpPr>
          <p:cNvPr id="128" name="Google Shape;128;p75"/>
          <p:cNvSpPr txBox="1"/>
          <p:nvPr>
            <p:ph idx="1" type="body"/>
          </p:nvPr>
        </p:nvSpPr>
        <p:spPr>
          <a:xfrm>
            <a:off x="495300" y="1846262"/>
            <a:ext cx="5378450" cy="459224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1. Fields</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Basic element of data</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Contains a single value</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Characterized by its length and data type</a:t>
            </a:r>
            <a:endParaRPr/>
          </a:p>
          <a:p>
            <a:pPr indent="-228600" lvl="1" marL="685800" marR="0" rtl="0" algn="l">
              <a:lnSpc>
                <a:spcPct val="90000"/>
              </a:lnSpc>
              <a:spcBef>
                <a:spcPts val="500"/>
              </a:spcBef>
              <a:spcAft>
                <a:spcPts val="0"/>
              </a:spcAft>
              <a:buClr>
                <a:schemeClr val="dk1"/>
              </a:buClr>
              <a:buSzPts val="2800"/>
              <a:buFont typeface="Arial"/>
              <a:buChar char="•"/>
            </a:pPr>
            <a:r>
              <a:rPr lang="en-US" sz="2800"/>
              <a:t>E.g. Student name</a:t>
            </a:r>
            <a:endParaRPr/>
          </a:p>
          <a:p>
            <a:pPr indent="0" lvl="0" marL="0" marR="0" rtl="0" algn="l">
              <a:lnSpc>
                <a:spcPct val="90000"/>
              </a:lnSpc>
              <a:spcBef>
                <a:spcPts val="10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2. Records</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Collection of related fields</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Treated as a unit</a:t>
            </a:r>
            <a:endParaRPr/>
          </a:p>
          <a:p>
            <a:pPr indent="-228600" lvl="1" marL="685800" marR="0" rtl="0" algn="l">
              <a:lnSpc>
                <a:spcPct val="90000"/>
              </a:lnSpc>
              <a:spcBef>
                <a:spcPts val="500"/>
              </a:spcBef>
              <a:spcAft>
                <a:spcPts val="0"/>
              </a:spcAft>
              <a:buClr>
                <a:schemeClr val="dk1"/>
              </a:buClr>
              <a:buSzPts val="2800"/>
              <a:buFont typeface="Arial"/>
              <a:buChar char="•"/>
            </a:pPr>
            <a:r>
              <a:rPr lang="en-US" sz="2800"/>
              <a:t>Fixed /variable length</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9" name="Google Shape;129;p7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0" name="Google Shape;130;p75"/>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31" name="Google Shape;131;p7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132" name="Google Shape;132;p75"/>
          <p:cNvSpPr txBox="1"/>
          <p:nvPr/>
        </p:nvSpPr>
        <p:spPr>
          <a:xfrm>
            <a:off x="6049962" y="1452562"/>
            <a:ext cx="5303837" cy="4022725"/>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800"/>
              <a:buFont typeface="Calibri"/>
              <a:buChar char=" "/>
            </a:pPr>
            <a:r>
              <a:rPr b="1" i="0" lang="en-US" sz="2800" u="none" cap="none" strike="noStrike">
                <a:solidFill>
                  <a:srgbClr val="404040"/>
                </a:solidFill>
                <a:latin typeface="Calibri"/>
                <a:ea typeface="Calibri"/>
                <a:cs typeface="Calibri"/>
                <a:sym typeface="Calibri"/>
              </a:rPr>
              <a:t>3. File</a:t>
            </a:r>
            <a:endParaRPr b="0" i="0" sz="1400" u="none" cap="none" strike="noStrike">
              <a:solidFill>
                <a:srgbClr val="000000"/>
              </a:solidFill>
              <a:latin typeface="Arial"/>
              <a:ea typeface="Arial"/>
              <a:cs typeface="Arial"/>
              <a:sym typeface="Arial"/>
            </a:endParaRPr>
          </a:p>
          <a:p>
            <a:pPr indent="-182560" lvl="1" marL="382587" marR="0" rtl="0" algn="l">
              <a:lnSpc>
                <a:spcPct val="90000"/>
              </a:lnSpc>
              <a:spcBef>
                <a:spcPts val="600"/>
              </a:spcBef>
              <a:spcAft>
                <a:spcPts val="0"/>
              </a:spcAft>
              <a:buClr>
                <a:schemeClr val="accent1"/>
              </a:buClr>
              <a:buSzPts val="2800"/>
              <a:buFont typeface="Calibri"/>
              <a:buChar char="◦"/>
            </a:pPr>
            <a:r>
              <a:rPr b="0" i="0" lang="en-US" sz="2800" u="none" cap="none" strike="noStrike">
                <a:solidFill>
                  <a:srgbClr val="404040"/>
                </a:solidFill>
                <a:latin typeface="Calibri"/>
                <a:ea typeface="Calibri"/>
                <a:cs typeface="Calibri"/>
                <a:sym typeface="Calibri"/>
              </a:rPr>
              <a:t>Is a collection of similar records</a:t>
            </a:r>
            <a:endParaRPr b="0" i="0" sz="1400" u="none" cap="none" strike="noStrike">
              <a:solidFill>
                <a:srgbClr val="000000"/>
              </a:solidFill>
              <a:latin typeface="Arial"/>
              <a:ea typeface="Arial"/>
              <a:cs typeface="Arial"/>
              <a:sym typeface="Arial"/>
            </a:endParaRPr>
          </a:p>
          <a:p>
            <a:pPr indent="-182560" lvl="1" marL="382587" marR="0" rtl="0" algn="l">
              <a:lnSpc>
                <a:spcPct val="90000"/>
              </a:lnSpc>
              <a:spcBef>
                <a:spcPts val="600"/>
              </a:spcBef>
              <a:spcAft>
                <a:spcPts val="0"/>
              </a:spcAft>
              <a:buClr>
                <a:schemeClr val="accent1"/>
              </a:buClr>
              <a:buSzPts val="2800"/>
              <a:buFont typeface="Calibri"/>
              <a:buChar char="◦"/>
            </a:pPr>
            <a:r>
              <a:rPr b="0" i="0" lang="en-US" sz="2800" u="none" cap="none" strike="noStrike">
                <a:solidFill>
                  <a:srgbClr val="404040"/>
                </a:solidFill>
                <a:latin typeface="Calibri"/>
                <a:ea typeface="Calibri"/>
                <a:cs typeface="Calibri"/>
                <a:sym typeface="Calibri"/>
              </a:rPr>
              <a:t>Treated as a single entity and Have file names</a:t>
            </a:r>
            <a:endParaRPr b="0" i="0" sz="2800" u="none" cap="none" strike="noStrike">
              <a:solidFill>
                <a:srgbClr val="404040"/>
              </a:solidFill>
              <a:latin typeface="Calibri"/>
              <a:ea typeface="Calibri"/>
              <a:cs typeface="Calibri"/>
              <a:sym typeface="Calibri"/>
            </a:endParaRPr>
          </a:p>
          <a:p>
            <a:pPr indent="-182560" lvl="1" marL="382587" marR="0" rtl="0" algn="l">
              <a:lnSpc>
                <a:spcPct val="90000"/>
              </a:lnSpc>
              <a:spcBef>
                <a:spcPts val="600"/>
              </a:spcBef>
              <a:spcAft>
                <a:spcPts val="0"/>
              </a:spcAft>
              <a:buClr>
                <a:schemeClr val="accent1"/>
              </a:buClr>
              <a:buSzPts val="2800"/>
              <a:buFont typeface="Calibri"/>
              <a:buChar char="◦"/>
            </a:pPr>
            <a:r>
              <a:rPr b="0" i="0" lang="en-US" sz="2800" u="none" cap="none" strike="noStrike">
                <a:solidFill>
                  <a:srgbClr val="404040"/>
                </a:solidFill>
                <a:latin typeface="Calibri"/>
                <a:ea typeface="Calibri"/>
                <a:cs typeface="Calibri"/>
                <a:sym typeface="Calibri"/>
              </a:rPr>
              <a:t>May implement access control mechanisms</a:t>
            </a:r>
            <a:endParaRPr b="0" i="0" sz="1400" u="none" cap="none" strike="noStrike">
              <a:solidFill>
                <a:srgbClr val="000000"/>
              </a:solidFill>
              <a:latin typeface="Arial"/>
              <a:ea typeface="Arial"/>
              <a:cs typeface="Arial"/>
              <a:sym typeface="Arial"/>
            </a:endParaRPr>
          </a:p>
          <a:p>
            <a:pPr indent="-90487" lvl="0" marL="90487" marR="0" rtl="0" algn="l">
              <a:lnSpc>
                <a:spcPct val="90000"/>
              </a:lnSpc>
              <a:spcBef>
                <a:spcPts val="1600"/>
              </a:spcBef>
              <a:spcAft>
                <a:spcPts val="0"/>
              </a:spcAft>
              <a:buClr>
                <a:schemeClr val="accent1"/>
              </a:buClr>
              <a:buSzPts val="2800"/>
              <a:buFont typeface="Calibri"/>
              <a:buChar char=" "/>
            </a:pPr>
            <a:r>
              <a:rPr b="1" i="0" lang="en-US" sz="2800" u="none" cap="none" strike="noStrike">
                <a:solidFill>
                  <a:srgbClr val="404040"/>
                </a:solidFill>
                <a:latin typeface="Calibri"/>
                <a:ea typeface="Calibri"/>
                <a:cs typeface="Calibri"/>
                <a:sym typeface="Calibri"/>
              </a:rPr>
              <a:t>4. Database</a:t>
            </a:r>
            <a:endParaRPr b="0" i="0" sz="1400" u="none" cap="none" strike="noStrike">
              <a:solidFill>
                <a:srgbClr val="000000"/>
              </a:solidFill>
              <a:latin typeface="Arial"/>
              <a:ea typeface="Arial"/>
              <a:cs typeface="Arial"/>
              <a:sym typeface="Arial"/>
            </a:endParaRPr>
          </a:p>
          <a:p>
            <a:pPr indent="-182560" lvl="1" marL="382587" marR="0" rtl="0" algn="l">
              <a:lnSpc>
                <a:spcPct val="90000"/>
              </a:lnSpc>
              <a:spcBef>
                <a:spcPts val="400"/>
              </a:spcBef>
              <a:spcAft>
                <a:spcPts val="0"/>
              </a:spcAft>
              <a:buClr>
                <a:schemeClr val="accent1"/>
              </a:buClr>
              <a:buSzPts val="2800"/>
              <a:buFont typeface="Calibri"/>
              <a:buChar char="◦"/>
            </a:pPr>
            <a:r>
              <a:rPr b="0" i="0" lang="en-US" sz="2800" u="none" cap="none" strike="noStrike">
                <a:solidFill>
                  <a:srgbClr val="404040"/>
                </a:solidFill>
                <a:latin typeface="Calibri"/>
                <a:ea typeface="Calibri"/>
                <a:cs typeface="Calibri"/>
                <a:sym typeface="Calibri"/>
              </a:rPr>
              <a:t>Collection of related data</a:t>
            </a:r>
            <a:endParaRPr b="0" i="0" sz="1400" u="none" cap="none" strike="noStrike">
              <a:solidFill>
                <a:srgbClr val="000000"/>
              </a:solidFill>
              <a:latin typeface="Arial"/>
              <a:ea typeface="Arial"/>
              <a:cs typeface="Arial"/>
              <a:sym typeface="Arial"/>
            </a:endParaRPr>
          </a:p>
          <a:p>
            <a:pPr indent="-182560" lvl="1" marL="382587" marR="0" rtl="0" algn="l">
              <a:lnSpc>
                <a:spcPct val="90000"/>
              </a:lnSpc>
              <a:spcBef>
                <a:spcPts val="600"/>
              </a:spcBef>
              <a:spcAft>
                <a:spcPts val="0"/>
              </a:spcAft>
              <a:buClr>
                <a:schemeClr val="accent1"/>
              </a:buClr>
              <a:buSzPts val="2800"/>
              <a:buFont typeface="Calibri"/>
              <a:buChar char="◦"/>
            </a:pPr>
            <a:r>
              <a:rPr b="0" i="0" lang="en-US" sz="2800" u="none" cap="none" strike="noStrike">
                <a:solidFill>
                  <a:srgbClr val="404040"/>
                </a:solidFill>
                <a:latin typeface="Calibri"/>
                <a:ea typeface="Calibri"/>
                <a:cs typeface="Calibri"/>
                <a:sym typeface="Calibri"/>
              </a:rPr>
              <a:t>Relationships exist among elements</a:t>
            </a:r>
            <a:endParaRPr b="0" i="0" sz="1400" u="none" cap="none" strike="noStrike">
              <a:solidFill>
                <a:srgbClr val="000000"/>
              </a:solidFill>
              <a:latin typeface="Arial"/>
              <a:ea typeface="Arial"/>
              <a:cs typeface="Arial"/>
              <a:sym typeface="Arial"/>
            </a:endParaRPr>
          </a:p>
          <a:p>
            <a:pPr indent="-182560" lvl="1" marL="382587" marR="0" rtl="0" algn="l">
              <a:lnSpc>
                <a:spcPct val="90000"/>
              </a:lnSpc>
              <a:spcBef>
                <a:spcPts val="600"/>
              </a:spcBef>
              <a:spcAft>
                <a:spcPts val="0"/>
              </a:spcAft>
              <a:buClr>
                <a:schemeClr val="accent1"/>
              </a:buClr>
              <a:buSzPts val="2800"/>
              <a:buFont typeface="Calibri"/>
              <a:buChar char="◦"/>
            </a:pPr>
            <a:r>
              <a:rPr b="0" i="0" lang="en-US" sz="2800" u="none" cap="none" strike="noStrike">
                <a:solidFill>
                  <a:srgbClr val="404040"/>
                </a:solidFill>
                <a:latin typeface="Calibri"/>
                <a:ea typeface="Calibri"/>
                <a:cs typeface="Calibri"/>
                <a:sym typeface="Calibri"/>
              </a:rPr>
              <a:t>Consists of one or more files</a:t>
            </a:r>
            <a:endParaRPr b="0" i="0" sz="1400" u="none" cap="none" strike="noStrike">
              <a:solidFill>
                <a:srgbClr val="000000"/>
              </a:solidFill>
              <a:latin typeface="Arial"/>
              <a:ea typeface="Arial"/>
              <a:cs typeface="Arial"/>
              <a:sym typeface="Arial"/>
            </a:endParaRPr>
          </a:p>
          <a:p>
            <a:pPr indent="-4758" lvl="1" marL="382587" marR="0" rtl="0" algn="l">
              <a:lnSpc>
                <a:spcPct val="90000"/>
              </a:lnSpc>
              <a:spcBef>
                <a:spcPts val="600"/>
              </a:spcBef>
              <a:spcAft>
                <a:spcPts val="0"/>
              </a:spcAft>
              <a:buClr>
                <a:schemeClr val="accent1"/>
              </a:buClr>
              <a:buSzPts val="2800"/>
              <a:buFont typeface="Calibri"/>
              <a:buNone/>
            </a:pPr>
            <a:r>
              <a:t/>
            </a:r>
            <a:endParaRPr b="0" i="0" sz="2800" u="none" cap="none" strike="noStrike">
              <a:solidFill>
                <a:srgbClr val="40404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800"/>
              <a:buFont typeface="Arial"/>
              <a:buNone/>
            </a:pPr>
            <a:r>
              <a:t/>
            </a:r>
            <a:endParaRPr b="0" i="0" sz="2800" u="none" cap="none" strike="noStrike">
              <a:solidFill>
                <a:srgbClr val="404040"/>
              </a:solidFill>
              <a:latin typeface="Calibri"/>
              <a:ea typeface="Calibri"/>
              <a:cs typeface="Calibri"/>
              <a:sym typeface="Calibri"/>
            </a:endParaRPr>
          </a:p>
        </p:txBody>
      </p:sp>
      <p:pic>
        <p:nvPicPr>
          <p:cNvPr id="133" name="Google Shape;133;p75"/>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134" name="Google Shape;134;p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6"/>
          <p:cNvSpPr txBox="1"/>
          <p:nvPr>
            <p:ph type="title"/>
          </p:nvPr>
        </p:nvSpPr>
        <p:spPr>
          <a:xfrm>
            <a:off x="1993900" y="320675"/>
            <a:ext cx="8763000" cy="774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System</a:t>
            </a:r>
            <a:endParaRPr/>
          </a:p>
        </p:txBody>
      </p:sp>
      <p:sp>
        <p:nvSpPr>
          <p:cNvPr id="141" name="Google Shape;141;p76"/>
          <p:cNvSpPr txBox="1"/>
          <p:nvPr>
            <p:ph idx="1" type="body"/>
          </p:nvPr>
        </p:nvSpPr>
        <p:spPr>
          <a:xfrm>
            <a:off x="317500" y="1549400"/>
            <a:ext cx="11341100" cy="46402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File System is one of the most important part of the OS to a user</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Concerned with secondary storage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File systems also provide functions which can be performed on files:</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Create</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Delete</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Open</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Close</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Read</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Write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42" name="Google Shape;142;p7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43" name="Google Shape;143;p76"/>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44" name="Google Shape;144;p7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45" name="Google Shape;145;p76"/>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146" name="Google Shape;146;p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7"/>
          <p:cNvSpPr txBox="1"/>
          <p:nvPr>
            <p:ph type="title"/>
          </p:nvPr>
        </p:nvSpPr>
        <p:spPr>
          <a:xfrm>
            <a:off x="1501775" y="134937"/>
            <a:ext cx="9852025" cy="11604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Organization</a:t>
            </a:r>
            <a:endParaRPr/>
          </a:p>
        </p:txBody>
      </p:sp>
      <p:sp>
        <p:nvSpPr>
          <p:cNvPr id="153" name="Google Shape;153;p77"/>
          <p:cNvSpPr txBox="1"/>
          <p:nvPr>
            <p:ph idx="1" type="body"/>
          </p:nvPr>
        </p:nvSpPr>
        <p:spPr>
          <a:xfrm>
            <a:off x="838200" y="1825625"/>
            <a:ext cx="108458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Refers to the </a:t>
            </a:r>
            <a:r>
              <a:rPr b="1" i="0" lang="en-US" sz="3200" u="none">
                <a:solidFill>
                  <a:schemeClr val="dk1"/>
                </a:solidFill>
                <a:latin typeface="Calibri"/>
                <a:ea typeface="Calibri"/>
                <a:cs typeface="Calibri"/>
                <a:sym typeface="Calibri"/>
              </a:rPr>
              <a:t>logical structuring </a:t>
            </a:r>
            <a:r>
              <a:rPr b="0" i="0" lang="en-US" sz="3200" u="none">
                <a:solidFill>
                  <a:schemeClr val="dk1"/>
                </a:solidFill>
                <a:latin typeface="Calibri"/>
                <a:ea typeface="Calibri"/>
                <a:cs typeface="Calibri"/>
                <a:sym typeface="Calibri"/>
              </a:rPr>
              <a:t>of records</a:t>
            </a:r>
            <a:endParaRPr/>
          </a:p>
          <a:p>
            <a:pPr indent="-228600" lvl="0" marL="228600" marR="0" rtl="0" algn="l">
              <a:lnSpc>
                <a:spcPct val="90000"/>
              </a:lnSpc>
              <a:spcBef>
                <a:spcPts val="100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Determined by the </a:t>
            </a:r>
            <a:r>
              <a:rPr b="1" i="1" lang="en-US" sz="3200" u="none">
                <a:solidFill>
                  <a:schemeClr val="dk1"/>
                </a:solidFill>
                <a:latin typeface="Calibri"/>
                <a:ea typeface="Calibri"/>
                <a:cs typeface="Calibri"/>
                <a:sym typeface="Calibri"/>
              </a:rPr>
              <a:t>way</a:t>
            </a:r>
            <a:r>
              <a:rPr b="0" i="1" lang="en-US" sz="3200" u="none">
                <a:solidFill>
                  <a:schemeClr val="dk1"/>
                </a:solidFill>
                <a:latin typeface="Calibri"/>
                <a:ea typeface="Calibri"/>
                <a:cs typeface="Calibri"/>
                <a:sym typeface="Calibri"/>
              </a:rPr>
              <a:t> </a:t>
            </a:r>
            <a:r>
              <a:rPr b="0" i="0" lang="en-US" sz="3200" u="none">
                <a:solidFill>
                  <a:schemeClr val="dk1"/>
                </a:solidFill>
                <a:latin typeface="Calibri"/>
                <a:ea typeface="Calibri"/>
                <a:cs typeface="Calibri"/>
                <a:sym typeface="Calibri"/>
              </a:rPr>
              <a:t>in which files are accessed</a:t>
            </a:r>
            <a:endParaRPr/>
          </a:p>
          <a:p>
            <a:pPr indent="-228600" lvl="0" marL="228600" marR="0" rtl="0" algn="l">
              <a:lnSpc>
                <a:spcPct val="90000"/>
              </a:lnSpc>
              <a:spcBef>
                <a:spcPts val="100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Important criteria while choosing a file organization:</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Short access time</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Ease of update</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Economy of storage</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Simple maintenance</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Reliability</a:t>
            </a:r>
            <a:endParaRPr/>
          </a:p>
        </p:txBody>
      </p:sp>
      <p:sp>
        <p:nvSpPr>
          <p:cNvPr id="154" name="Google Shape;154;p7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5" name="Google Shape;155;p77"/>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56" name="Google Shape;156;p7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57" name="Google Shape;157;p77"/>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158" name="Google Shape;158;p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8"/>
          <p:cNvSpPr txBox="1"/>
          <p:nvPr>
            <p:ph type="title"/>
          </p:nvPr>
        </p:nvSpPr>
        <p:spPr>
          <a:xfrm>
            <a:off x="1676400" y="411162"/>
            <a:ext cx="8128000" cy="10493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File Organization</a:t>
            </a:r>
            <a:endParaRPr/>
          </a:p>
        </p:txBody>
      </p:sp>
      <p:sp>
        <p:nvSpPr>
          <p:cNvPr id="165" name="Google Shape;165;p78"/>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6" name="Google Shape;166;p78"/>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67" name="Google Shape;167;p78"/>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168" name="Google Shape;168;p78"/>
          <p:cNvSpPr txBox="1"/>
          <p:nvPr/>
        </p:nvSpPr>
        <p:spPr>
          <a:xfrm>
            <a:off x="1866900" y="1924253"/>
            <a:ext cx="6421066" cy="3965575"/>
          </a:xfrm>
          <a:prstGeom prst="rect">
            <a:avLst/>
          </a:prstGeom>
          <a:noFill/>
          <a:ln cap="flat" cmpd="sng" w="127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File Organization Types</a:t>
            </a:r>
            <a:endParaRPr b="0" i="0" sz="1400" u="none" cap="none" strike="noStrike">
              <a:solidFill>
                <a:schemeClr val="dk1"/>
              </a:solidFill>
              <a:latin typeface="Arial"/>
              <a:ea typeface="Arial"/>
              <a:cs typeface="Arial"/>
              <a:sym typeface="Arial"/>
            </a:endParaRPr>
          </a:p>
          <a:p>
            <a:pPr indent="-342900" lvl="1" marL="800100" marR="0" rtl="0" algn="l">
              <a:lnSpc>
                <a:spcPct val="100000"/>
              </a:lnSpc>
              <a:spcBef>
                <a:spcPts val="0"/>
              </a:spcBef>
              <a:spcAft>
                <a:spcPts val="0"/>
              </a:spcAft>
              <a:buClr>
                <a:srgbClr val="FFFFFF"/>
              </a:buClr>
              <a:buSzPts val="3200"/>
              <a:buFont typeface="Arial"/>
              <a:buChar char="•"/>
            </a:pPr>
            <a:r>
              <a:rPr b="0" i="0" lang="en-US" sz="3200" u="none" cap="none" strike="noStrike">
                <a:solidFill>
                  <a:schemeClr val="dk1"/>
                </a:solidFill>
                <a:latin typeface="Times New Roman"/>
                <a:ea typeface="Times New Roman"/>
                <a:cs typeface="Times New Roman"/>
                <a:sym typeface="Times New Roman"/>
              </a:rPr>
              <a:t>Pile</a:t>
            </a:r>
            <a:endParaRPr b="0" i="0" sz="1400" u="none" cap="none" strike="noStrike">
              <a:solidFill>
                <a:schemeClr val="dk1"/>
              </a:solidFill>
              <a:latin typeface="Arial"/>
              <a:ea typeface="Arial"/>
              <a:cs typeface="Arial"/>
              <a:sym typeface="Arial"/>
            </a:endParaRPr>
          </a:p>
          <a:p>
            <a:pPr indent="-342900" lvl="1" marL="800100" marR="0" rtl="0" algn="l">
              <a:lnSpc>
                <a:spcPct val="100000"/>
              </a:lnSpc>
              <a:spcBef>
                <a:spcPts val="0"/>
              </a:spcBef>
              <a:spcAft>
                <a:spcPts val="0"/>
              </a:spcAft>
              <a:buClr>
                <a:srgbClr val="FFFFFF"/>
              </a:buClr>
              <a:buSzPts val="3200"/>
              <a:buFont typeface="Arial"/>
              <a:buChar char="•"/>
            </a:pPr>
            <a:r>
              <a:rPr b="0" i="0" lang="en-US" sz="3200" u="none" cap="none" strike="noStrike">
                <a:solidFill>
                  <a:schemeClr val="dk1"/>
                </a:solidFill>
                <a:latin typeface="Times New Roman"/>
                <a:ea typeface="Times New Roman"/>
                <a:cs typeface="Times New Roman"/>
                <a:sym typeface="Times New Roman"/>
              </a:rPr>
              <a:t>Sequential file</a:t>
            </a:r>
            <a:endParaRPr/>
          </a:p>
          <a:p>
            <a:pPr indent="-342900" lvl="1" marL="800100" marR="0" rtl="0" algn="l">
              <a:lnSpc>
                <a:spcPct val="100000"/>
              </a:lnSpc>
              <a:spcBef>
                <a:spcPts val="0"/>
              </a:spcBef>
              <a:spcAft>
                <a:spcPts val="0"/>
              </a:spcAft>
              <a:buClr>
                <a:srgbClr val="FFFFFF"/>
              </a:buClr>
              <a:buSzPts val="3200"/>
              <a:buFont typeface="Arial"/>
              <a:buChar char="•"/>
            </a:pPr>
            <a:r>
              <a:rPr b="0" i="0" lang="en-US" sz="3200" u="none" cap="none" strike="noStrike">
                <a:solidFill>
                  <a:schemeClr val="dk1"/>
                </a:solidFill>
                <a:latin typeface="Times New Roman"/>
                <a:ea typeface="Times New Roman"/>
                <a:cs typeface="Times New Roman"/>
                <a:sym typeface="Times New Roman"/>
              </a:rPr>
              <a:t>Indexed Sequential file</a:t>
            </a:r>
            <a:endParaRPr b="0" i="0" sz="3200" u="none" cap="none" strike="noStrike">
              <a:solidFill>
                <a:schemeClr val="dk1"/>
              </a:solidFill>
              <a:latin typeface="Times New Roman"/>
              <a:ea typeface="Times New Roman"/>
              <a:cs typeface="Times New Roman"/>
              <a:sym typeface="Times New Roman"/>
            </a:endParaRPr>
          </a:p>
          <a:p>
            <a:pPr indent="-342900" lvl="1" marL="800100" marR="0" rtl="0" algn="l">
              <a:lnSpc>
                <a:spcPct val="100000"/>
              </a:lnSpc>
              <a:spcBef>
                <a:spcPts val="0"/>
              </a:spcBef>
              <a:spcAft>
                <a:spcPts val="0"/>
              </a:spcAft>
              <a:buClr>
                <a:srgbClr val="FFFFFF"/>
              </a:buClr>
              <a:buSzPts val="3200"/>
              <a:buFont typeface="Arial"/>
              <a:buChar char="•"/>
            </a:pPr>
            <a:r>
              <a:rPr b="0" i="0" lang="en-US" sz="3200" u="none" cap="none" strike="noStrike">
                <a:solidFill>
                  <a:schemeClr val="dk1"/>
                </a:solidFill>
                <a:latin typeface="Times New Roman"/>
                <a:ea typeface="Times New Roman"/>
                <a:cs typeface="Times New Roman"/>
                <a:sym typeface="Times New Roman"/>
              </a:rPr>
              <a:t>Indexed file</a:t>
            </a:r>
            <a:endParaRPr b="0" i="0" sz="1400" u="none" cap="none" strike="noStrike">
              <a:solidFill>
                <a:schemeClr val="dk1"/>
              </a:solidFill>
              <a:latin typeface="Arial"/>
              <a:ea typeface="Arial"/>
              <a:cs typeface="Arial"/>
              <a:sym typeface="Arial"/>
            </a:endParaRPr>
          </a:p>
          <a:p>
            <a:pPr indent="-342900" lvl="1" marL="800100" marR="0" rtl="0" algn="l">
              <a:lnSpc>
                <a:spcPct val="100000"/>
              </a:lnSpc>
              <a:spcBef>
                <a:spcPts val="0"/>
              </a:spcBef>
              <a:spcAft>
                <a:spcPts val="0"/>
              </a:spcAft>
              <a:buClr>
                <a:srgbClr val="FFFFFF"/>
              </a:buClr>
              <a:buSzPts val="3200"/>
              <a:buFont typeface="Arial"/>
              <a:buChar char="•"/>
            </a:pPr>
            <a:r>
              <a:rPr b="0" i="0" lang="en-US" sz="3200" u="none" cap="none" strike="noStrike">
                <a:solidFill>
                  <a:schemeClr val="dk1"/>
                </a:solidFill>
                <a:latin typeface="Times New Roman"/>
                <a:ea typeface="Times New Roman"/>
                <a:cs typeface="Times New Roman"/>
                <a:sym typeface="Times New Roman"/>
              </a:rPr>
              <a:t>Direct or hashed file</a:t>
            </a:r>
            <a:endParaRPr b="0" i="0" sz="1400" u="none" cap="none" strike="noStrike">
              <a:solidFill>
                <a:schemeClr val="dk1"/>
              </a:solidFill>
              <a:latin typeface="Arial"/>
              <a:ea typeface="Arial"/>
              <a:cs typeface="Arial"/>
              <a:sym typeface="Arial"/>
            </a:endParaRPr>
          </a:p>
        </p:txBody>
      </p:sp>
      <p:pic>
        <p:nvPicPr>
          <p:cNvPr id="169" name="Google Shape;169;p78"/>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170" name="Google Shape;170;p7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9"/>
          <p:cNvSpPr txBox="1"/>
          <p:nvPr>
            <p:ph type="title"/>
          </p:nvPr>
        </p:nvSpPr>
        <p:spPr>
          <a:xfrm>
            <a:off x="1562100" y="277812"/>
            <a:ext cx="9791700" cy="9794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Organization</a:t>
            </a:r>
            <a:endParaRPr/>
          </a:p>
        </p:txBody>
      </p:sp>
      <p:sp>
        <p:nvSpPr>
          <p:cNvPr id="176" name="Google Shape;176;p79"/>
          <p:cNvSpPr txBox="1"/>
          <p:nvPr>
            <p:ph idx="1" type="body"/>
          </p:nvPr>
        </p:nvSpPr>
        <p:spPr>
          <a:xfrm>
            <a:off x="249237" y="1485900"/>
            <a:ext cx="5786437" cy="43830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fontScale="92500" lnSpcReduction="20000"/>
          </a:bodyPr>
          <a:lstStyle/>
          <a:p>
            <a:pPr indent="0" lvl="0" marL="0" marR="0" rtl="0" algn="l">
              <a:lnSpc>
                <a:spcPct val="90000"/>
              </a:lnSpc>
              <a:spcBef>
                <a:spcPts val="0"/>
              </a:spcBef>
              <a:spcAft>
                <a:spcPts val="0"/>
              </a:spcAft>
              <a:buClr>
                <a:schemeClr val="dk1"/>
              </a:buClr>
              <a:buSzPct val="86486"/>
              <a:buFont typeface="Arial"/>
              <a:buNone/>
            </a:pPr>
            <a:r>
              <a:rPr b="1" i="0" lang="en-US" sz="3000" u="none">
                <a:solidFill>
                  <a:schemeClr val="dk1"/>
                </a:solidFill>
                <a:latin typeface="Calibri"/>
                <a:ea typeface="Calibri"/>
                <a:cs typeface="Calibri"/>
                <a:sym typeface="Calibri"/>
              </a:rPr>
              <a:t>Pile</a:t>
            </a:r>
            <a:endParaRPr sz="3000"/>
          </a:p>
          <a:p>
            <a:pPr indent="0" lvl="0" marL="0" marR="0" rtl="0" algn="l">
              <a:lnSpc>
                <a:spcPct val="90000"/>
              </a:lnSpc>
              <a:spcBef>
                <a:spcPts val="1000"/>
              </a:spcBef>
              <a:spcAft>
                <a:spcPts val="0"/>
              </a:spcAft>
              <a:buClr>
                <a:schemeClr val="dk1"/>
              </a:buClr>
              <a:buSzPct val="108108"/>
              <a:buFont typeface="Arial"/>
              <a:buChar char="•"/>
            </a:pPr>
            <a:r>
              <a:rPr b="0" i="0" lang="en-US" sz="2800" u="none">
                <a:solidFill>
                  <a:schemeClr val="dk1"/>
                </a:solidFill>
                <a:latin typeface="Calibri"/>
                <a:ea typeface="Calibri"/>
                <a:cs typeface="Calibri"/>
                <a:sym typeface="Calibri"/>
              </a:rPr>
              <a:t>Data are collected in the order they arrive</a:t>
            </a:r>
            <a:endParaRPr/>
          </a:p>
          <a:p>
            <a:pPr indent="0" lvl="0" marL="0" marR="0" rtl="0" algn="l">
              <a:lnSpc>
                <a:spcPct val="90000"/>
              </a:lnSpc>
              <a:spcBef>
                <a:spcPts val="1000"/>
              </a:spcBef>
              <a:spcAft>
                <a:spcPts val="0"/>
              </a:spcAft>
              <a:buClr>
                <a:schemeClr val="dk1"/>
              </a:buClr>
              <a:buSzPct val="108108"/>
              <a:buFont typeface="Arial"/>
              <a:buChar char="•"/>
            </a:pPr>
            <a:r>
              <a:rPr b="0" i="0" lang="en-US" sz="2800" u="none">
                <a:solidFill>
                  <a:schemeClr val="dk1"/>
                </a:solidFill>
                <a:latin typeface="Calibri"/>
                <a:ea typeface="Calibri"/>
                <a:cs typeface="Calibri"/>
                <a:sym typeface="Calibri"/>
              </a:rPr>
              <a:t>No structure</a:t>
            </a:r>
            <a:endParaRPr/>
          </a:p>
          <a:p>
            <a:pPr indent="0" lvl="0" marL="0" marR="0" rtl="0" algn="l">
              <a:lnSpc>
                <a:spcPct val="90000"/>
              </a:lnSpc>
              <a:spcBef>
                <a:spcPts val="1000"/>
              </a:spcBef>
              <a:spcAft>
                <a:spcPts val="0"/>
              </a:spcAft>
              <a:buClr>
                <a:schemeClr val="dk1"/>
              </a:buClr>
              <a:buSzPct val="108108"/>
              <a:buFont typeface="Arial"/>
              <a:buChar char="•"/>
            </a:pPr>
            <a:r>
              <a:rPr b="0" i="0" lang="en-US" sz="2800" u="none">
                <a:solidFill>
                  <a:schemeClr val="dk1"/>
                </a:solidFill>
                <a:latin typeface="Calibri"/>
                <a:ea typeface="Calibri"/>
                <a:cs typeface="Calibri"/>
                <a:sym typeface="Calibri"/>
              </a:rPr>
              <a:t>Purpose is to accumulate a mass of data and save it</a:t>
            </a:r>
            <a:endParaRPr/>
          </a:p>
          <a:p>
            <a:pPr indent="0" lvl="0" marL="0" marR="0" rtl="0" algn="l">
              <a:lnSpc>
                <a:spcPct val="90000"/>
              </a:lnSpc>
              <a:spcBef>
                <a:spcPts val="1000"/>
              </a:spcBef>
              <a:spcAft>
                <a:spcPts val="0"/>
              </a:spcAft>
              <a:buClr>
                <a:schemeClr val="dk1"/>
              </a:buClr>
              <a:buSzPct val="108108"/>
              <a:buFont typeface="Arial"/>
              <a:buChar char="•"/>
            </a:pPr>
            <a:r>
              <a:rPr b="0" i="0" lang="en-US" sz="2800" u="none">
                <a:solidFill>
                  <a:schemeClr val="dk1"/>
                </a:solidFill>
                <a:latin typeface="Calibri"/>
                <a:ea typeface="Calibri"/>
                <a:cs typeface="Calibri"/>
                <a:sym typeface="Calibri"/>
              </a:rPr>
              <a:t>Records may have different fields</a:t>
            </a:r>
            <a:endParaRPr/>
          </a:p>
          <a:p>
            <a:pPr indent="0" lvl="0" marL="0" marR="0" rtl="0" algn="l">
              <a:lnSpc>
                <a:spcPct val="90000"/>
              </a:lnSpc>
              <a:spcBef>
                <a:spcPts val="1000"/>
              </a:spcBef>
              <a:spcAft>
                <a:spcPts val="0"/>
              </a:spcAft>
              <a:buClr>
                <a:schemeClr val="dk1"/>
              </a:buClr>
              <a:buSzPct val="108108"/>
              <a:buFont typeface="Arial"/>
              <a:buChar char="•"/>
            </a:pPr>
            <a:r>
              <a:rPr b="0" i="0" lang="en-US" sz="2800" u="none">
                <a:solidFill>
                  <a:schemeClr val="dk1"/>
                </a:solidFill>
                <a:latin typeface="Calibri"/>
                <a:ea typeface="Calibri"/>
                <a:cs typeface="Calibri"/>
                <a:sym typeface="Calibri"/>
              </a:rPr>
              <a:t>Record access is by exhaustive search</a:t>
            </a:r>
            <a:endParaRPr/>
          </a:p>
          <a:p>
            <a:pPr indent="0" lvl="0" marL="0" marR="0" rtl="0" algn="l">
              <a:lnSpc>
                <a:spcPct val="90000"/>
              </a:lnSpc>
              <a:spcBef>
                <a:spcPts val="1000"/>
              </a:spcBef>
              <a:spcAft>
                <a:spcPts val="0"/>
              </a:spcAft>
              <a:buClr>
                <a:schemeClr val="dk1"/>
              </a:buClr>
              <a:buSzPct val="108108"/>
              <a:buFont typeface="Arial"/>
              <a:buChar char="•"/>
            </a:pPr>
            <a:r>
              <a:rPr lang="en-US"/>
              <a:t>Useful when the stored data vary in size and structure.</a:t>
            </a:r>
            <a:endParaRPr/>
          </a:p>
          <a:p>
            <a:pPr indent="0" lvl="0" marL="0" marR="0" rtl="0" algn="l">
              <a:lnSpc>
                <a:spcPct val="90000"/>
              </a:lnSpc>
              <a:spcBef>
                <a:spcPts val="1000"/>
              </a:spcBef>
              <a:spcAft>
                <a:spcPts val="0"/>
              </a:spcAft>
              <a:buClr>
                <a:schemeClr val="dk1"/>
              </a:buClr>
              <a:buSzPct val="108108"/>
              <a:buFont typeface="Arial"/>
              <a:buChar char="•"/>
            </a:pPr>
            <a:r>
              <a:rPr lang="en-US"/>
              <a:t>Easy to update</a:t>
            </a:r>
            <a:endParaRPr/>
          </a:p>
          <a:p>
            <a:pPr indent="-50800" lvl="0" marL="228600" marR="0" rtl="0" algn="l">
              <a:lnSpc>
                <a:spcPct val="90000"/>
              </a:lnSpc>
              <a:spcBef>
                <a:spcPts val="1000"/>
              </a:spcBef>
              <a:spcAft>
                <a:spcPts val="0"/>
              </a:spcAft>
              <a:buClr>
                <a:schemeClr val="dk1"/>
              </a:buClr>
              <a:buSzPct val="108108"/>
              <a:buFont typeface="Arial"/>
              <a:buNone/>
            </a:pPr>
            <a:r>
              <a:t/>
            </a:r>
            <a:endParaRPr b="0" i="0" sz="2800" u="none">
              <a:solidFill>
                <a:schemeClr val="dk1"/>
              </a:solidFill>
              <a:latin typeface="Calibri"/>
              <a:ea typeface="Calibri"/>
              <a:cs typeface="Calibri"/>
              <a:sym typeface="Calibri"/>
            </a:endParaRPr>
          </a:p>
        </p:txBody>
      </p:sp>
      <p:sp>
        <p:nvSpPr>
          <p:cNvPr id="177" name="Google Shape;177;p79"/>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8" name="Google Shape;178;p79"/>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79" name="Google Shape;179;p7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80" name="Google Shape;180;p79"/>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pic>
        <p:nvPicPr>
          <p:cNvPr id="181" name="Google Shape;181;p79"/>
          <p:cNvPicPr preferRelativeResize="0"/>
          <p:nvPr>
            <p:ph idx="2" type="body"/>
          </p:nvPr>
        </p:nvPicPr>
        <p:blipFill rotWithShape="1">
          <a:blip r:embed="rId4">
            <a:alphaModFix/>
          </a:blip>
          <a:srcRect b="0" l="0" r="0" t="0"/>
          <a:stretch/>
        </p:blipFill>
        <p:spPr>
          <a:xfrm>
            <a:off x="6819900" y="1744662"/>
            <a:ext cx="4394200" cy="3549650"/>
          </a:xfrm>
          <a:prstGeom prst="rect">
            <a:avLst/>
          </a:prstGeom>
          <a:noFill/>
          <a:ln>
            <a:noFill/>
          </a:ln>
        </p:spPr>
      </p:pic>
      <p:sp>
        <p:nvSpPr>
          <p:cNvPr id="182" name="Google Shape;182;p7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80"/>
          <p:cNvPicPr preferRelativeResize="0"/>
          <p:nvPr>
            <p:ph idx="1" type="body"/>
          </p:nvPr>
        </p:nvPicPr>
        <p:blipFill rotWithShape="1">
          <a:blip r:embed="rId3">
            <a:alphaModFix/>
          </a:blip>
          <a:srcRect b="0" l="0" r="0" t="0"/>
          <a:stretch/>
        </p:blipFill>
        <p:spPr>
          <a:xfrm>
            <a:off x="7150100" y="1651000"/>
            <a:ext cx="4203700" cy="3937000"/>
          </a:xfrm>
          <a:prstGeom prst="rect">
            <a:avLst/>
          </a:prstGeom>
          <a:noFill/>
          <a:ln>
            <a:noFill/>
          </a:ln>
        </p:spPr>
      </p:pic>
      <p:sp>
        <p:nvSpPr>
          <p:cNvPr id="188" name="Google Shape;188;p8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89" name="Google Shape;189;p80"/>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190" name="Google Shape;190;p8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Calibri"/>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91" name="Google Shape;191;p80"/>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
        <p:nvSpPr>
          <p:cNvPr id="192" name="Google Shape;192;p80"/>
          <p:cNvSpPr txBox="1"/>
          <p:nvPr/>
        </p:nvSpPr>
        <p:spPr>
          <a:xfrm>
            <a:off x="546100" y="1270000"/>
            <a:ext cx="6400800" cy="50863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US" sz="2400" u="none" cap="none" strike="noStrike">
                <a:solidFill>
                  <a:schemeClr val="dk1"/>
                </a:solidFill>
                <a:latin typeface="Calibri"/>
                <a:ea typeface="Calibri"/>
                <a:cs typeface="Calibri"/>
                <a:sym typeface="Calibri"/>
              </a:rPr>
              <a:t>Sequential File</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Fixed format used for records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Records are the same length</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Key field (first field)</a:t>
            </a:r>
            <a:endParaRPr b="0" i="0" sz="1400" u="none" cap="none" strike="noStrike">
              <a:solidFill>
                <a:srgbClr val="000000"/>
              </a:solidFill>
              <a:latin typeface="Arial"/>
              <a:ea typeface="Arial"/>
              <a:cs typeface="Arial"/>
              <a:sym typeface="Arial"/>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Uniquely identifies the record</a:t>
            </a:r>
            <a:endParaRPr b="0" i="0" sz="1400" u="none" cap="none" strike="noStrike">
              <a:solidFill>
                <a:srgbClr val="000000"/>
              </a:solidFill>
              <a:latin typeface="Arial"/>
              <a:ea typeface="Arial"/>
              <a:cs typeface="Arial"/>
              <a:sym typeface="Arial"/>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Records are stored in key sequence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Used in batch applications such as billing/payroll</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Easy to store on tape and disk</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Not suitable for interactive applications</a:t>
            </a:r>
            <a:endParaRPr b="0" i="0" sz="1400" u="none" cap="none" strike="noStrike">
              <a:solidFill>
                <a:srgbClr val="000000"/>
              </a:solidFill>
              <a:latin typeface="Arial"/>
              <a:ea typeface="Arial"/>
              <a:cs typeface="Arial"/>
              <a:sym typeface="Arial"/>
            </a:endParaRPr>
          </a:p>
          <a:p>
            <a:pPr indent="-50800" lvl="1" marL="685800" marR="0" rtl="0" algn="l">
              <a:lnSpc>
                <a:spcPct val="90000"/>
              </a:lnSpc>
              <a:spcBef>
                <a:spcPts val="500"/>
              </a:spcBef>
              <a:spcAft>
                <a:spcPts val="0"/>
              </a:spcAft>
              <a:buClr>
                <a:schemeClr val="dk1"/>
              </a:buClr>
              <a:buSzPts val="2800"/>
              <a:buFont typeface="Arial"/>
              <a:buNone/>
            </a:pPr>
            <a:r>
              <a:t/>
            </a:r>
            <a:endParaRPr b="0" i="0" sz="1400" u="none" cap="none" strike="noStrike">
              <a:solidFill>
                <a:srgbClr val="000000"/>
              </a:solidFill>
              <a:latin typeface="Arial"/>
              <a:ea typeface="Arial"/>
              <a:cs typeface="Arial"/>
              <a:sym typeface="Aria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93" name="Google Shape;193;p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81"/>
          <p:cNvSpPr txBox="1"/>
          <p:nvPr>
            <p:ph type="title"/>
          </p:nvPr>
        </p:nvSpPr>
        <p:spPr>
          <a:xfrm>
            <a:off x="2032000" y="377825"/>
            <a:ext cx="8470900" cy="9810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Organization</a:t>
            </a:r>
            <a:endParaRPr/>
          </a:p>
        </p:txBody>
      </p:sp>
      <p:sp>
        <p:nvSpPr>
          <p:cNvPr id="199" name="Google Shape;199;p81"/>
          <p:cNvSpPr txBox="1"/>
          <p:nvPr>
            <p:ph idx="1" type="body"/>
          </p:nvPr>
        </p:nvSpPr>
        <p:spPr>
          <a:xfrm>
            <a:off x="884237" y="1589087"/>
            <a:ext cx="5779210" cy="463867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2800"/>
              <a:buFont typeface="Arial"/>
              <a:buNone/>
            </a:pPr>
            <a:r>
              <a:rPr b="1" i="0" lang="en-US" sz="2400" u="none">
                <a:solidFill>
                  <a:schemeClr val="dk1"/>
                </a:solidFill>
                <a:latin typeface="Calibri"/>
                <a:ea typeface="Calibri"/>
                <a:cs typeface="Calibri"/>
                <a:sym typeface="Calibri"/>
              </a:rPr>
              <a:t>Indexed Sequential File</a:t>
            </a:r>
            <a:endParaRPr/>
          </a:p>
          <a:p>
            <a:pPr indent="0" lvl="0" marL="0" marR="0" rtl="0" algn="just">
              <a:lnSpc>
                <a:spcPct val="90000"/>
              </a:lnSpc>
              <a:spcBef>
                <a:spcPts val="0"/>
              </a:spcBef>
              <a:spcAft>
                <a:spcPts val="0"/>
              </a:spcAft>
              <a:buClr>
                <a:schemeClr val="dk1"/>
              </a:buClr>
              <a:buSzPts val="2800"/>
              <a:buFont typeface="Arial"/>
              <a:buNone/>
            </a:pPr>
            <a:r>
              <a:t/>
            </a:r>
            <a:endParaRPr sz="2400"/>
          </a:p>
          <a:p>
            <a:pPr indent="0" lvl="0" marL="0" marR="0" rtl="0" algn="just">
              <a:lnSpc>
                <a:spcPct val="90000"/>
              </a:lnSpc>
              <a:spcBef>
                <a:spcPts val="1000"/>
              </a:spcBef>
              <a:spcAft>
                <a:spcPts val="0"/>
              </a:spcAft>
              <a:buClr>
                <a:schemeClr val="dk1"/>
              </a:buClr>
              <a:buSzPts val="2800"/>
              <a:buFont typeface="Arial"/>
              <a:buChar char="•"/>
            </a:pPr>
            <a:r>
              <a:rPr b="0" i="0" lang="en-US" sz="2400" u="none">
                <a:solidFill>
                  <a:schemeClr val="dk1"/>
                </a:solidFill>
                <a:latin typeface="Calibri"/>
                <a:ea typeface="Calibri"/>
                <a:cs typeface="Calibri"/>
                <a:sym typeface="Calibri"/>
              </a:rPr>
              <a:t> Maintains the key characteristic of the sequential file: </a:t>
            </a:r>
            <a:r>
              <a:rPr b="0" i="0" lang="en-US" sz="2400" u="none" cap="none" strike="noStrike">
                <a:solidFill>
                  <a:schemeClr val="dk1"/>
                </a:solidFill>
                <a:latin typeface="Calibri"/>
                <a:ea typeface="Calibri"/>
                <a:cs typeface="Calibri"/>
                <a:sym typeface="Calibri"/>
              </a:rPr>
              <a:t>records are organized in sequence based on a key field</a:t>
            </a:r>
            <a:endParaRPr sz="2400"/>
          </a:p>
          <a:p>
            <a:pPr indent="-177800" lvl="1" marL="200025" marR="0" rtl="0" algn="just">
              <a:lnSpc>
                <a:spcPct val="90000"/>
              </a:lnSpc>
              <a:spcBef>
                <a:spcPts val="500"/>
              </a:spcBef>
              <a:spcAft>
                <a:spcPts val="0"/>
              </a:spcAft>
              <a:buClr>
                <a:schemeClr val="dk1"/>
              </a:buClr>
              <a:buSzPts val="2800"/>
              <a:buFont typeface="Arial"/>
              <a:buChar char="•"/>
            </a:pPr>
            <a:r>
              <a:rPr b="0" i="0" lang="en-US" u="none" cap="none" strike="noStrike">
                <a:solidFill>
                  <a:schemeClr val="dk1"/>
                </a:solidFill>
                <a:latin typeface="Calibri"/>
                <a:ea typeface="Calibri"/>
                <a:cs typeface="Calibri"/>
                <a:sym typeface="Calibri"/>
              </a:rPr>
              <a:t>An </a:t>
            </a:r>
            <a:r>
              <a:rPr b="1" i="0" lang="en-US" u="none" cap="none" strike="noStrike">
                <a:solidFill>
                  <a:schemeClr val="dk1"/>
                </a:solidFill>
                <a:latin typeface="Calibri"/>
                <a:ea typeface="Calibri"/>
                <a:cs typeface="Calibri"/>
                <a:sym typeface="Calibri"/>
              </a:rPr>
              <a:t>index</a:t>
            </a:r>
            <a:r>
              <a:rPr b="0" i="0" lang="en-US" u="none" cap="none" strike="noStrike">
                <a:solidFill>
                  <a:schemeClr val="dk1"/>
                </a:solidFill>
                <a:latin typeface="Calibri"/>
                <a:ea typeface="Calibri"/>
                <a:cs typeface="Calibri"/>
                <a:sym typeface="Calibri"/>
              </a:rPr>
              <a:t> is added to the file to support random access and </a:t>
            </a:r>
            <a:r>
              <a:rPr b="1" i="0" lang="en-US" u="none" cap="none" strike="noStrike">
                <a:solidFill>
                  <a:schemeClr val="dk1"/>
                </a:solidFill>
                <a:latin typeface="Calibri"/>
                <a:ea typeface="Calibri"/>
                <a:cs typeface="Calibri"/>
                <a:sym typeface="Calibri"/>
              </a:rPr>
              <a:t>overflow file </a:t>
            </a:r>
            <a:r>
              <a:rPr b="0" i="0" lang="en-US" u="none" cap="none" strike="noStrike">
                <a:solidFill>
                  <a:schemeClr val="dk1"/>
                </a:solidFill>
                <a:latin typeface="Calibri"/>
                <a:ea typeface="Calibri"/>
                <a:cs typeface="Calibri"/>
                <a:sym typeface="Calibri"/>
              </a:rPr>
              <a:t>is also added</a:t>
            </a:r>
            <a:endParaRPr/>
          </a:p>
          <a:p>
            <a:pPr indent="-177800" lvl="1" marL="200025" marR="0" rtl="0" algn="just">
              <a:lnSpc>
                <a:spcPct val="90000"/>
              </a:lnSpc>
              <a:spcBef>
                <a:spcPts val="500"/>
              </a:spcBef>
              <a:spcAft>
                <a:spcPts val="0"/>
              </a:spcAft>
              <a:buClr>
                <a:schemeClr val="dk1"/>
              </a:buClr>
              <a:buSzPts val="2800"/>
              <a:buFont typeface="Arial"/>
              <a:buChar char="•"/>
            </a:pPr>
            <a:r>
              <a:rPr b="0" i="0" lang="en-US" u="none" cap="none" strike="noStrike">
                <a:solidFill>
                  <a:schemeClr val="dk1"/>
                </a:solidFill>
                <a:latin typeface="Calibri"/>
                <a:ea typeface="Calibri"/>
                <a:cs typeface="Calibri"/>
                <a:sym typeface="Calibri"/>
              </a:rPr>
              <a:t> </a:t>
            </a:r>
            <a:r>
              <a:rPr lang="en-US"/>
              <a:t>Limitation is processing is limited as it is based on a single field of the file.</a:t>
            </a:r>
            <a:endParaRPr b="0" i="0" sz="2400" u="none" cap="none" strike="noStrike">
              <a:solidFill>
                <a:schemeClr val="dk1"/>
              </a:solidFill>
              <a:latin typeface="Calibri"/>
              <a:ea typeface="Calibri"/>
              <a:cs typeface="Calibri"/>
              <a:sym typeface="Calibri"/>
            </a:endParaRPr>
          </a:p>
        </p:txBody>
      </p:sp>
      <p:sp>
        <p:nvSpPr>
          <p:cNvPr id="200" name="Google Shape;200;p81"/>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01" name="Google Shape;201;p81"/>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02" name="Google Shape;202;p81"/>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03" name="Google Shape;203;p81"/>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04" name="Google Shape;204;p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05" name="Google Shape;205;p81"/>
          <p:cNvPicPr preferRelativeResize="0"/>
          <p:nvPr/>
        </p:nvPicPr>
        <p:blipFill rotWithShape="1">
          <a:blip r:embed="rId4">
            <a:alphaModFix/>
          </a:blip>
          <a:srcRect b="0" l="0" r="0" t="0"/>
          <a:stretch/>
        </p:blipFill>
        <p:spPr>
          <a:xfrm>
            <a:off x="7483053" y="1487487"/>
            <a:ext cx="3732937" cy="448659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
          <p:cNvSpPr/>
          <p:nvPr/>
        </p:nvSpPr>
        <p:spPr>
          <a:xfrm>
            <a:off x="586695" y="3123677"/>
            <a:ext cx="9026510" cy="1487554"/>
          </a:xfrm>
          <a:prstGeom prst="rect">
            <a:avLst/>
          </a:prstGeom>
          <a:noFill/>
          <a:ln>
            <a:noFill/>
          </a:ln>
        </p:spPr>
        <p:txBody>
          <a:bodyPr anchorCtr="0" anchor="ctr" bIns="10155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Calibri"/>
                <a:ea typeface="Calibri"/>
                <a:cs typeface="Calibri"/>
                <a:sym typeface="Calibri"/>
              </a:rPr>
              <a:t>First, look in the </a:t>
            </a:r>
            <a:r>
              <a:rPr b="1" i="0" lang="en-US" sz="1800" u="none" cap="none" strike="noStrike">
                <a:solidFill>
                  <a:schemeClr val="dk1"/>
                </a:solidFill>
                <a:latin typeface="Calibri"/>
                <a:ea typeface="Calibri"/>
                <a:cs typeface="Calibri"/>
                <a:sym typeface="Calibri"/>
              </a:rPr>
              <a:t>index</a:t>
            </a:r>
            <a:r>
              <a:rPr b="0" i="0" lang="en-US" sz="1800" u="none" cap="none" strike="noStrike">
                <a:solidFill>
                  <a:schemeClr val="dk1"/>
                </a:solidFill>
                <a:latin typeface="Calibri"/>
                <a:ea typeface="Calibri"/>
                <a:cs typeface="Calibri"/>
                <a:sym typeface="Calibri"/>
              </a:rPr>
              <a:t> to find which section target belongs to (e.g., "Ranjana" is under “R”).</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Calibri"/>
                <a:ea typeface="Calibri"/>
                <a:cs typeface="Calibri"/>
                <a:sym typeface="Calibri"/>
              </a:rPr>
              <a:t>Use the </a:t>
            </a:r>
            <a:r>
              <a:rPr b="1" i="0" lang="en-US" sz="1800" u="none" cap="none" strike="noStrike">
                <a:solidFill>
                  <a:schemeClr val="dk1"/>
                </a:solidFill>
                <a:latin typeface="Calibri"/>
                <a:ea typeface="Calibri"/>
                <a:cs typeface="Calibri"/>
                <a:sym typeface="Calibri"/>
              </a:rPr>
              <a:t>pointer</a:t>
            </a:r>
            <a:r>
              <a:rPr b="0" i="0" lang="en-US" sz="1800" u="none" cap="none" strike="noStrike">
                <a:solidFill>
                  <a:schemeClr val="dk1"/>
                </a:solidFill>
                <a:latin typeface="Calibri"/>
                <a:ea typeface="Calibri"/>
                <a:cs typeface="Calibri"/>
                <a:sym typeface="Calibri"/>
              </a:rPr>
              <a:t> from the index to jump directly to that part of the </a:t>
            </a:r>
            <a:r>
              <a:rPr b="1" i="0" lang="en-US" sz="1800" u="none" cap="none" strike="noStrike">
                <a:solidFill>
                  <a:schemeClr val="dk1"/>
                </a:solidFill>
                <a:latin typeface="Calibri"/>
                <a:ea typeface="Calibri"/>
                <a:cs typeface="Calibri"/>
                <a:sym typeface="Calibri"/>
              </a:rPr>
              <a:t>main file</a:t>
            </a:r>
            <a:r>
              <a:rPr b="0" i="0" lang="en-U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Calibri"/>
                <a:ea typeface="Calibri"/>
                <a:cs typeface="Calibri"/>
                <a:sym typeface="Calibri"/>
              </a:rPr>
              <a:t>Continue the search there, but now you only search </a:t>
            </a:r>
            <a:r>
              <a:rPr b="1" i="0" lang="en-US" sz="1800" u="none" cap="none" strike="noStrike">
                <a:solidFill>
                  <a:schemeClr val="dk1"/>
                </a:solidFill>
                <a:latin typeface="Calibri"/>
                <a:ea typeface="Calibri"/>
                <a:cs typeface="Calibri"/>
                <a:sym typeface="Calibri"/>
              </a:rPr>
              <a:t>a small part</a:t>
            </a:r>
            <a:r>
              <a:rPr b="0" i="0" lang="en-US" sz="1800" u="none" cap="none" strike="noStrike">
                <a:solidFill>
                  <a:schemeClr val="dk1"/>
                </a:solidFill>
                <a:latin typeface="Calibri"/>
                <a:ea typeface="Calibri"/>
                <a:cs typeface="Calibri"/>
                <a:sym typeface="Calibri"/>
              </a:rPr>
              <a:t> instead of the whole file.</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2"/>
          <p:cNvSpPr/>
          <p:nvPr/>
        </p:nvSpPr>
        <p:spPr>
          <a:xfrm>
            <a:off x="0" y="0"/>
            <a:ext cx="12192000" cy="19050"/>
          </a:xfrm>
          <a:prstGeom prst="rect">
            <a:avLst/>
          </a:prstGeom>
          <a:solidFill>
            <a:srgbClr val="0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2"/>
          <p:cNvSpPr/>
          <p:nvPr/>
        </p:nvSpPr>
        <p:spPr>
          <a:xfrm>
            <a:off x="429638" y="4446578"/>
            <a:ext cx="7550465" cy="203132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alibri"/>
                <a:ea typeface="Calibri"/>
                <a:cs typeface="Calibri"/>
                <a:sym typeface="Calibri"/>
              </a:rPr>
              <a:t> Example with numbers:</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Without an index:</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You might check </a:t>
            </a:r>
            <a:r>
              <a:rPr b="1" i="0" lang="en-US" sz="1800" u="none" cap="none" strike="noStrike">
                <a:solidFill>
                  <a:schemeClr val="dk1"/>
                </a:solidFill>
                <a:latin typeface="Calibri"/>
                <a:ea typeface="Calibri"/>
                <a:cs typeface="Calibri"/>
                <a:sym typeface="Calibri"/>
              </a:rPr>
              <a:t>500,000 records</a:t>
            </a:r>
            <a:r>
              <a:rPr b="0" i="0" lang="en-US" sz="1800" u="none" cap="none" strike="noStrike">
                <a:solidFill>
                  <a:schemeClr val="dk1"/>
                </a:solidFill>
                <a:latin typeface="Calibri"/>
                <a:ea typeface="Calibri"/>
                <a:cs typeface="Calibri"/>
                <a:sym typeface="Calibri"/>
              </a:rPr>
              <a:t> on average before finding the one you want.</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With an index of </a:t>
            </a:r>
            <a:r>
              <a:rPr b="1" i="0" lang="en-US" sz="1800" u="none" cap="none" strike="noStrike">
                <a:solidFill>
                  <a:schemeClr val="dk1"/>
                </a:solidFill>
                <a:latin typeface="Calibri"/>
                <a:ea typeface="Calibri"/>
                <a:cs typeface="Calibri"/>
                <a:sym typeface="Calibri"/>
              </a:rPr>
              <a:t>1,000 entries</a:t>
            </a:r>
            <a:r>
              <a:rPr b="0" i="0" lang="en-U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Arial"/>
              <a:ea typeface="Arial"/>
              <a:cs typeface="Arial"/>
              <a:sym typeface="Arial"/>
            </a:endParaRPr>
          </a:p>
          <a:p>
            <a:pPr indent="-114300" lvl="1"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You first check ~</a:t>
            </a:r>
            <a:r>
              <a:rPr b="1" i="0" lang="en-US" sz="1800" u="none" cap="none" strike="noStrike">
                <a:solidFill>
                  <a:schemeClr val="dk1"/>
                </a:solidFill>
                <a:latin typeface="Calibri"/>
                <a:ea typeface="Calibri"/>
                <a:cs typeface="Calibri"/>
                <a:sym typeface="Calibri"/>
              </a:rPr>
              <a:t>500 entries</a:t>
            </a:r>
            <a:r>
              <a:rPr b="0" i="0" lang="en-US" sz="1800" u="none" cap="none" strike="noStrike">
                <a:solidFill>
                  <a:schemeClr val="dk1"/>
                </a:solidFill>
                <a:latin typeface="Calibri"/>
                <a:ea typeface="Calibri"/>
                <a:cs typeface="Calibri"/>
                <a:sym typeface="Calibri"/>
              </a:rPr>
              <a:t> in the index.</a:t>
            </a:r>
            <a:endParaRPr b="0" i="0" sz="1800" u="none" cap="none" strike="noStrike">
              <a:solidFill>
                <a:schemeClr val="dk1"/>
              </a:solidFill>
              <a:latin typeface="Calibri"/>
              <a:ea typeface="Calibri"/>
              <a:cs typeface="Calibri"/>
              <a:sym typeface="Calibri"/>
            </a:endParaRPr>
          </a:p>
          <a:p>
            <a:pPr indent="-114300" lvl="1"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Then only ~</a:t>
            </a:r>
            <a:r>
              <a:rPr b="1" i="0" lang="en-US" sz="1800" u="none" cap="none" strike="noStrike">
                <a:solidFill>
                  <a:schemeClr val="dk1"/>
                </a:solidFill>
                <a:latin typeface="Calibri"/>
                <a:ea typeface="Calibri"/>
                <a:cs typeface="Calibri"/>
                <a:sym typeface="Calibri"/>
              </a:rPr>
              <a:t>500 more records</a:t>
            </a:r>
            <a:r>
              <a:rPr b="0" i="0" lang="en-US" sz="1800" u="none" cap="none" strike="noStrike">
                <a:solidFill>
                  <a:schemeClr val="dk1"/>
                </a:solidFill>
                <a:latin typeface="Calibri"/>
                <a:ea typeface="Calibri"/>
                <a:cs typeface="Calibri"/>
                <a:sym typeface="Calibri"/>
              </a:rPr>
              <a:t> in the main file.</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3" name="Google Shape;213;p2"/>
          <p:cNvSpPr/>
          <p:nvPr/>
        </p:nvSpPr>
        <p:spPr>
          <a:xfrm>
            <a:off x="517546" y="1009206"/>
            <a:ext cx="10591441" cy="656558"/>
          </a:xfrm>
          <a:prstGeom prst="rect">
            <a:avLst/>
          </a:prstGeom>
          <a:noFill/>
          <a:ln>
            <a:noFill/>
          </a:ln>
        </p:spPr>
        <p:txBody>
          <a:bodyPr anchorCtr="0" anchor="ctr" bIns="101550" lIns="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Imagine you have a </a:t>
            </a:r>
            <a:r>
              <a:rPr b="1" i="0" lang="en-US" sz="1800" u="none" cap="none" strike="noStrike">
                <a:solidFill>
                  <a:schemeClr val="dk1"/>
                </a:solidFill>
                <a:latin typeface="Calibri"/>
                <a:ea typeface="Calibri"/>
                <a:cs typeface="Calibri"/>
                <a:sym typeface="Calibri"/>
              </a:rPr>
              <a:t>very long list</a:t>
            </a:r>
            <a:r>
              <a:rPr b="0" i="0" lang="en-US" sz="1800" u="none" cap="none" strike="noStrike">
                <a:solidFill>
                  <a:schemeClr val="dk1"/>
                </a:solidFill>
                <a:latin typeface="Calibri"/>
                <a:ea typeface="Calibri"/>
                <a:cs typeface="Calibri"/>
                <a:sym typeface="Calibri"/>
              </a:rPr>
              <a:t> of names (1 million students) arranged in </a:t>
            </a:r>
            <a:r>
              <a:rPr b="1" i="0" lang="en-US" sz="1800" u="none" cap="none" strike="noStrike">
                <a:solidFill>
                  <a:schemeClr val="dk1"/>
                </a:solidFill>
                <a:latin typeface="Calibri"/>
                <a:ea typeface="Calibri"/>
                <a:cs typeface="Calibri"/>
                <a:sym typeface="Calibri"/>
              </a:rPr>
              <a:t>alphabetical order</a:t>
            </a:r>
            <a:r>
              <a:rPr b="0" i="0" lang="en-US" sz="1800" u="none" cap="none" strike="noStrike">
                <a:solidFill>
                  <a:schemeClr val="dk1"/>
                </a:solidFill>
                <a:latin typeface="Calibri"/>
                <a:ea typeface="Calibri"/>
                <a:cs typeface="Calibri"/>
                <a:sym typeface="Calibri"/>
              </a:rPr>
              <a:t>.</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If you want to find “Ranjana,” you’d have to </a:t>
            </a:r>
            <a:r>
              <a:rPr b="1" i="0" lang="en-US" sz="1800" u="none" cap="none" strike="noStrike">
                <a:solidFill>
                  <a:schemeClr val="dk1"/>
                </a:solidFill>
                <a:latin typeface="Calibri"/>
                <a:ea typeface="Calibri"/>
                <a:cs typeface="Calibri"/>
                <a:sym typeface="Calibri"/>
              </a:rPr>
              <a:t>go through hundreds of thousands of names</a:t>
            </a:r>
            <a:endParaRPr b="0" i="0" sz="1800" u="none" cap="none" strike="noStrike">
              <a:solidFill>
                <a:schemeClr val="dk1"/>
              </a:solidFill>
              <a:latin typeface="Arial"/>
              <a:ea typeface="Arial"/>
              <a:cs typeface="Arial"/>
              <a:sym typeface="Arial"/>
            </a:endParaRPr>
          </a:p>
        </p:txBody>
      </p:sp>
      <p:sp>
        <p:nvSpPr>
          <p:cNvPr id="214" name="Google Shape;214;p2"/>
          <p:cNvSpPr/>
          <p:nvPr/>
        </p:nvSpPr>
        <p:spPr>
          <a:xfrm>
            <a:off x="429638" y="1537209"/>
            <a:ext cx="10173511" cy="147732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Instead of searching the whole list directly, we create a smaller list called an index , like a table of contents in a book.</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index stores only some key entries (say, every 1000th name) along with a pointer showing where that section starts in the main file.</a:t>
            </a:r>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Example index- Key A  : points to names starting with A</a:t>
            </a:r>
            <a:endParaRPr/>
          </a:p>
        </p:txBody>
      </p:sp>
      <p:sp>
        <p:nvSpPr>
          <p:cNvPr id="215" name="Google Shape;215;p2"/>
          <p:cNvSpPr/>
          <p:nvPr/>
        </p:nvSpPr>
        <p:spPr>
          <a:xfrm>
            <a:off x="253540" y="419935"/>
            <a:ext cx="5012911" cy="480131"/>
          </a:xfrm>
          <a:prstGeom prst="rect">
            <a:avLst/>
          </a:prstGeom>
          <a:noFill/>
          <a:ln>
            <a:noFill/>
          </a:ln>
        </p:spPr>
        <p:txBody>
          <a:bodyPr anchorCtr="0" anchor="t" bIns="45700" lIns="91425" spcFirstLastPara="1" rIns="91425" wrap="square" tIns="45700">
            <a:spAutoFit/>
          </a:bodyPr>
          <a:lstStyle/>
          <a:p>
            <a:pPr indent="0" lvl="0" marL="0" marR="0" rtl="0" algn="just">
              <a:lnSpc>
                <a:spcPct val="90000"/>
              </a:lnSpc>
              <a:spcBef>
                <a:spcPts val="0"/>
              </a:spcBef>
              <a:spcAft>
                <a:spcPts val="0"/>
              </a:spcAft>
              <a:buNone/>
            </a:pPr>
            <a:r>
              <a:rPr b="1" i="0" lang="en-US" sz="2800" u="none" cap="none" strike="noStrike">
                <a:solidFill>
                  <a:schemeClr val="dk1"/>
                </a:solidFill>
                <a:latin typeface="Calibri"/>
                <a:ea typeface="Calibri"/>
                <a:cs typeface="Calibri"/>
                <a:sym typeface="Calibri"/>
              </a:rPr>
              <a:t>Indexed Sequential File Example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8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21" name="Google Shape;221;p82"/>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22" name="Google Shape;222;p8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Calibri"/>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23" name="Google Shape;223;p82"/>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24" name="Google Shape;224;p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25" name="Google Shape;225;p82"/>
          <p:cNvPicPr preferRelativeResize="0"/>
          <p:nvPr/>
        </p:nvPicPr>
        <p:blipFill rotWithShape="1">
          <a:blip r:embed="rId4">
            <a:alphaModFix/>
          </a:blip>
          <a:srcRect b="0" l="0" r="0" t="0"/>
          <a:stretch/>
        </p:blipFill>
        <p:spPr>
          <a:xfrm>
            <a:off x="6798265" y="1410494"/>
            <a:ext cx="4865197" cy="4037012"/>
          </a:xfrm>
          <a:prstGeom prst="rect">
            <a:avLst/>
          </a:prstGeom>
          <a:noFill/>
          <a:ln>
            <a:noFill/>
          </a:ln>
        </p:spPr>
      </p:pic>
      <p:sp>
        <p:nvSpPr>
          <p:cNvPr id="226" name="Google Shape;226;p82"/>
          <p:cNvSpPr/>
          <p:nvPr/>
        </p:nvSpPr>
        <p:spPr>
          <a:xfrm>
            <a:off x="431262" y="1800001"/>
            <a:ext cx="6126061" cy="3785652"/>
          </a:xfrm>
          <a:prstGeom prst="rect">
            <a:avLst/>
          </a:prstGeom>
          <a:noFill/>
          <a:ln>
            <a:noFill/>
          </a:ln>
        </p:spPr>
        <p:txBody>
          <a:bodyPr anchorCtr="0" anchor="ctr" bIns="45700" lIns="91425" spcFirstLastPara="1" rIns="91425" wrap="square" tIns="45700">
            <a:spAutoFit/>
          </a:bodyPr>
          <a:lstStyle/>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Multiple indexes are employed for a field.</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Variable length records can be employed</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 Two types of indexes are used: </a:t>
            </a:r>
            <a:r>
              <a:rPr b="1" i="0" lang="en-US" sz="2000" u="none" cap="none" strike="noStrike">
                <a:solidFill>
                  <a:schemeClr val="dk1"/>
                </a:solidFill>
                <a:latin typeface="Arial"/>
                <a:ea typeface="Arial"/>
                <a:cs typeface="Arial"/>
                <a:sym typeface="Arial"/>
              </a:rPr>
              <a:t>exhaustive</a:t>
            </a:r>
            <a:r>
              <a:rPr b="0" i="0" lang="en-US" sz="2000" u="none" cap="none" strike="noStrike">
                <a:solidFill>
                  <a:schemeClr val="dk1"/>
                </a:solidFill>
                <a:latin typeface="Arial"/>
                <a:ea typeface="Arial"/>
                <a:cs typeface="Arial"/>
                <a:sym typeface="Arial"/>
              </a:rPr>
              <a:t> </a:t>
            </a:r>
            <a:r>
              <a:rPr b="1" i="0" lang="en-US" sz="2000" u="none" cap="none" strike="noStrike">
                <a:solidFill>
                  <a:schemeClr val="dk1"/>
                </a:solidFill>
                <a:latin typeface="Arial"/>
                <a:ea typeface="Arial"/>
                <a:cs typeface="Arial"/>
                <a:sym typeface="Arial"/>
              </a:rPr>
              <a:t>index </a:t>
            </a:r>
            <a:r>
              <a:rPr b="0" i="0" lang="en-US" sz="2000" u="none" cap="none" strike="noStrike">
                <a:solidFill>
                  <a:schemeClr val="dk1"/>
                </a:solidFill>
                <a:latin typeface="Arial"/>
                <a:ea typeface="Arial"/>
                <a:cs typeface="Arial"/>
                <a:sym typeface="Arial"/>
              </a:rPr>
              <a:t>(one entry per record) </a:t>
            </a:r>
            <a:r>
              <a:rPr b="1" i="0" lang="en-US" sz="2000" u="none" cap="none" strike="noStrike">
                <a:solidFill>
                  <a:schemeClr val="dk1"/>
                </a:solidFill>
                <a:latin typeface="Arial"/>
                <a:ea typeface="Arial"/>
                <a:cs typeface="Arial"/>
                <a:sym typeface="Arial"/>
              </a:rPr>
              <a:t>or partial index</a:t>
            </a:r>
            <a:r>
              <a:rPr b="0" i="0" lang="en-US" sz="2000" u="none" cap="none" strike="noStrike">
                <a:solidFill>
                  <a:schemeClr val="dk1"/>
                </a:solidFill>
                <a:latin typeface="Arial"/>
                <a:ea typeface="Arial"/>
                <a:cs typeface="Arial"/>
                <a:sym typeface="Arial"/>
              </a:rPr>
              <a:t>(one per block or group).</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When new records are inserted, all </a:t>
            </a:r>
            <a:r>
              <a:rPr b="1" i="0" lang="en-US" sz="2000" u="none" cap="none" strike="noStrike">
                <a:solidFill>
                  <a:schemeClr val="dk1"/>
                </a:solidFill>
                <a:latin typeface="Arial"/>
                <a:ea typeface="Arial"/>
                <a:cs typeface="Arial"/>
                <a:sym typeface="Arial"/>
              </a:rPr>
              <a:t>the index files must be updated</a:t>
            </a:r>
            <a:r>
              <a:rPr b="0" i="0" lang="en-US" sz="20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Used in airline reservation systems</a:t>
            </a:r>
            <a:endParaRPr b="0" i="0" sz="2000" u="none" cap="none" strike="noStrike">
              <a:solidFill>
                <a:schemeClr val="dk1"/>
              </a:solidFill>
              <a:latin typeface="Arial"/>
              <a:ea typeface="Arial"/>
              <a:cs typeface="Arial"/>
              <a:sym typeface="Arial"/>
            </a:endParaRPr>
          </a:p>
        </p:txBody>
      </p:sp>
      <p:sp>
        <p:nvSpPr>
          <p:cNvPr id="227" name="Google Shape;227;p82"/>
          <p:cNvSpPr/>
          <p:nvPr/>
        </p:nvSpPr>
        <p:spPr>
          <a:xfrm>
            <a:off x="1113159" y="1422245"/>
            <a:ext cx="1729961" cy="424732"/>
          </a:xfrm>
          <a:prstGeom prst="rect">
            <a:avLst/>
          </a:prstGeom>
          <a:noFill/>
          <a:ln>
            <a:noFill/>
          </a:ln>
        </p:spPr>
        <p:txBody>
          <a:bodyPr anchorCtr="0" anchor="t" bIns="45700" lIns="91425" spcFirstLastPara="1" rIns="91425" wrap="square" tIns="45700">
            <a:spAutoFit/>
          </a:bodyPr>
          <a:lstStyle/>
          <a:p>
            <a:pPr indent="0" lvl="0" marL="0" marR="0" rtl="0" algn="just">
              <a:lnSpc>
                <a:spcPct val="90000"/>
              </a:lnSpc>
              <a:spcBef>
                <a:spcPts val="0"/>
              </a:spcBef>
              <a:spcAft>
                <a:spcPts val="0"/>
              </a:spcAft>
              <a:buNone/>
            </a:pPr>
            <a:r>
              <a:rPr b="1" i="0" lang="en-US" sz="2400" u="none" cap="none" strike="noStrike">
                <a:solidFill>
                  <a:schemeClr val="dk1"/>
                </a:solidFill>
                <a:latin typeface="Calibri"/>
                <a:ea typeface="Calibri"/>
                <a:cs typeface="Calibri"/>
                <a:sym typeface="Calibri"/>
              </a:rPr>
              <a:t>Indexed File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83"/>
          <p:cNvSpPr txBox="1"/>
          <p:nvPr>
            <p:ph type="title"/>
          </p:nvPr>
        </p:nvSpPr>
        <p:spPr>
          <a:xfrm>
            <a:off x="2032000" y="377825"/>
            <a:ext cx="8470900" cy="9810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Organization</a:t>
            </a:r>
            <a:endParaRPr/>
          </a:p>
        </p:txBody>
      </p:sp>
      <p:sp>
        <p:nvSpPr>
          <p:cNvPr id="233" name="Google Shape;233;p83"/>
          <p:cNvSpPr txBox="1"/>
          <p:nvPr>
            <p:ph idx="1" type="body"/>
          </p:nvPr>
        </p:nvSpPr>
        <p:spPr>
          <a:xfrm>
            <a:off x="555625" y="1846262"/>
            <a:ext cx="5738171" cy="40227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1" marL="200025" marR="0" rtl="0" algn="l">
              <a:lnSpc>
                <a:spcPct val="90000"/>
              </a:lnSpc>
              <a:spcBef>
                <a:spcPts val="0"/>
              </a:spcBef>
              <a:spcAft>
                <a:spcPts val="0"/>
              </a:spcAft>
              <a:buClr>
                <a:schemeClr val="dk1"/>
              </a:buClr>
              <a:buSzPts val="3200"/>
              <a:buFont typeface="Arial"/>
              <a:buNone/>
            </a:pPr>
            <a:r>
              <a:rPr b="1" i="0" lang="en-US" sz="3200" u="none" cap="none" strike="noStrike">
                <a:solidFill>
                  <a:schemeClr val="dk1"/>
                </a:solidFill>
                <a:latin typeface="Calibri"/>
                <a:ea typeface="Calibri"/>
                <a:cs typeface="Calibri"/>
                <a:sym typeface="Calibri"/>
              </a:rPr>
              <a:t>Direct or Hash File</a:t>
            </a:r>
            <a:endParaRPr/>
          </a:p>
          <a:p>
            <a:pPr indent="-200025" lvl="1" marL="200025" marR="0" rtl="0" algn="l">
              <a:lnSpc>
                <a:spcPct val="90000"/>
              </a:lnSpc>
              <a:spcBef>
                <a:spcPts val="500"/>
              </a:spcBef>
              <a:spcAft>
                <a:spcPts val="0"/>
              </a:spcAft>
              <a:buClr>
                <a:schemeClr val="dk1"/>
              </a:buClr>
              <a:buSzPts val="3200"/>
              <a:buFont typeface="Arial"/>
              <a:buChar char="•"/>
            </a:pPr>
            <a:r>
              <a:rPr b="0" i="0" lang="en-US" sz="2000" u="none" cap="none" strike="noStrike">
                <a:solidFill>
                  <a:schemeClr val="dk1"/>
                </a:solidFill>
                <a:latin typeface="Calibri"/>
                <a:ea typeface="Calibri"/>
                <a:cs typeface="Calibri"/>
                <a:sym typeface="Calibri"/>
              </a:rPr>
              <a:t>Directly access a block at a known address</a:t>
            </a:r>
            <a:endParaRPr sz="2000"/>
          </a:p>
          <a:p>
            <a:pPr indent="-200025" lvl="1" marL="200025" marR="0" rtl="0" algn="l">
              <a:lnSpc>
                <a:spcPct val="90000"/>
              </a:lnSpc>
              <a:spcBef>
                <a:spcPts val="500"/>
              </a:spcBef>
              <a:spcAft>
                <a:spcPts val="0"/>
              </a:spcAft>
              <a:buClr>
                <a:schemeClr val="dk1"/>
              </a:buClr>
              <a:buSzPts val="3200"/>
              <a:buFont typeface="Arial"/>
              <a:buChar char="•"/>
            </a:pPr>
            <a:r>
              <a:rPr b="0" i="0" lang="en-US" sz="2000" u="none" cap="none" strike="noStrike">
                <a:solidFill>
                  <a:schemeClr val="dk1"/>
                </a:solidFill>
                <a:latin typeface="Calibri"/>
                <a:ea typeface="Calibri"/>
                <a:cs typeface="Calibri"/>
                <a:sym typeface="Calibri"/>
              </a:rPr>
              <a:t>Key field required for each record</a:t>
            </a:r>
            <a:endParaRPr sz="2000"/>
          </a:p>
          <a:p>
            <a:pPr indent="-200025" lvl="1" marL="200025" marR="0" rtl="0" algn="l">
              <a:lnSpc>
                <a:spcPct val="90000"/>
              </a:lnSpc>
              <a:spcBef>
                <a:spcPts val="500"/>
              </a:spcBef>
              <a:spcAft>
                <a:spcPts val="0"/>
              </a:spcAft>
              <a:buClr>
                <a:schemeClr val="dk1"/>
              </a:buClr>
              <a:buSzPts val="3200"/>
              <a:buFont typeface="Arial"/>
              <a:buChar char="•"/>
            </a:pPr>
            <a:r>
              <a:rPr b="0" i="0" lang="en-US" sz="2000" u="none" cap="none" strike="noStrike">
                <a:solidFill>
                  <a:schemeClr val="dk1"/>
                </a:solidFill>
                <a:latin typeface="Calibri"/>
                <a:ea typeface="Calibri"/>
                <a:cs typeface="Calibri"/>
                <a:sym typeface="Calibri"/>
              </a:rPr>
              <a:t>But there is no concept of sequential ordering</a:t>
            </a:r>
            <a:endParaRPr sz="2000"/>
          </a:p>
          <a:p>
            <a:pPr indent="-200025" lvl="1" marL="200025" marR="0" rtl="0" algn="l">
              <a:lnSpc>
                <a:spcPct val="90000"/>
              </a:lnSpc>
              <a:spcBef>
                <a:spcPts val="500"/>
              </a:spcBef>
              <a:spcAft>
                <a:spcPts val="0"/>
              </a:spcAft>
              <a:buClr>
                <a:schemeClr val="dk1"/>
              </a:buClr>
              <a:buSzPts val="3200"/>
              <a:buFont typeface="Arial"/>
              <a:buChar char="•"/>
            </a:pPr>
            <a:r>
              <a:rPr b="0" i="0" lang="en-US" sz="2000" u="none" cap="none" strike="noStrike">
                <a:solidFill>
                  <a:schemeClr val="dk1"/>
                </a:solidFill>
                <a:latin typeface="Calibri"/>
                <a:ea typeface="Calibri"/>
                <a:cs typeface="Calibri"/>
                <a:sym typeface="Calibri"/>
              </a:rPr>
              <a:t>Makes use of hashing on the key value</a:t>
            </a:r>
            <a:endParaRPr/>
          </a:p>
          <a:p>
            <a:pPr indent="-200025" lvl="1" marL="200025" marR="0" rtl="0" algn="l">
              <a:lnSpc>
                <a:spcPct val="90000"/>
              </a:lnSpc>
              <a:spcBef>
                <a:spcPts val="500"/>
              </a:spcBef>
              <a:spcAft>
                <a:spcPts val="0"/>
              </a:spcAft>
              <a:buClr>
                <a:schemeClr val="dk1"/>
              </a:buClr>
              <a:buSzPts val="3200"/>
              <a:buFont typeface="Arial"/>
              <a:buChar char="•"/>
            </a:pPr>
            <a:r>
              <a:rPr lang="en-US" sz="2000"/>
              <a:t>Used where rapid access is required such as Directories</a:t>
            </a:r>
            <a:endParaRPr sz="2000"/>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34" name="Google Shape;234;p8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5" name="Google Shape;235;p83"/>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36" name="Google Shape;236;p8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37" name="Google Shape;237;p83"/>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38" name="Google Shape;238;p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39" name="Google Shape;239;p83"/>
          <p:cNvPicPr preferRelativeResize="0"/>
          <p:nvPr/>
        </p:nvPicPr>
        <p:blipFill rotWithShape="1">
          <a:blip r:embed="rId4">
            <a:alphaModFix/>
          </a:blip>
          <a:srcRect b="0" l="0" r="0" t="0"/>
          <a:stretch/>
        </p:blipFill>
        <p:spPr>
          <a:xfrm>
            <a:off x="7042825" y="1741792"/>
            <a:ext cx="4593550" cy="40227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85"/>
          <p:cNvSpPr txBox="1"/>
          <p:nvPr>
            <p:ph type="title"/>
          </p:nvPr>
        </p:nvSpPr>
        <p:spPr>
          <a:xfrm>
            <a:off x="1676400" y="311150"/>
            <a:ext cx="9499600" cy="8953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Directories</a:t>
            </a:r>
            <a:endParaRPr/>
          </a:p>
        </p:txBody>
      </p:sp>
      <p:sp>
        <p:nvSpPr>
          <p:cNvPr id="246" name="Google Shape;246;p85"/>
          <p:cNvSpPr txBox="1"/>
          <p:nvPr>
            <p:ph idx="1" type="body"/>
          </p:nvPr>
        </p:nvSpPr>
        <p:spPr>
          <a:xfrm>
            <a:off x="676275" y="1281112"/>
            <a:ext cx="11480800" cy="477837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Contains information about files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Attributes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Location</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Ownership</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Provides mapping between file names and the files themselves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A directory system should support a number of </a:t>
            </a:r>
            <a:r>
              <a:rPr b="1" i="0" lang="en-US" sz="2800" u="none">
                <a:solidFill>
                  <a:schemeClr val="dk1"/>
                </a:solidFill>
                <a:latin typeface="Calibri"/>
                <a:ea typeface="Calibri"/>
                <a:cs typeface="Calibri"/>
                <a:sym typeface="Calibri"/>
              </a:rPr>
              <a:t>operations</a:t>
            </a:r>
            <a:r>
              <a:rPr b="0" i="0" lang="en-US" sz="2800" u="none">
                <a:solidFill>
                  <a:schemeClr val="dk1"/>
                </a:solidFill>
                <a:latin typeface="Calibri"/>
                <a:ea typeface="Calibri"/>
                <a:cs typeface="Calibri"/>
                <a:sym typeface="Calibri"/>
              </a:rPr>
              <a:t> including:</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Search</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Create files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Deleting files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Listing directory</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Updating directory</a:t>
            </a:r>
            <a:endParaRPr/>
          </a:p>
          <a:p>
            <a:pPr indent="-50800" lvl="0" marL="228600" marR="0" rtl="0" algn="l">
              <a:lnSpc>
                <a:spcPct val="90000"/>
              </a:lnSpc>
              <a:spcBef>
                <a:spcPts val="1000"/>
              </a:spcBef>
              <a:spcAft>
                <a:spcPts val="0"/>
              </a:spcAft>
              <a:buClr>
                <a:schemeClr val="dk1"/>
              </a:buClr>
              <a:buSzPts val="2800"/>
              <a:buFont typeface="Noto Sans Symbols"/>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47" name="Google Shape;247;p8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8" name="Google Shape;248;p85"/>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49" name="Google Shape;249;p8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250" name="Google Shape;250;p85"/>
          <p:cNvSpPr txBox="1"/>
          <p:nvPr/>
        </p:nvSpPr>
        <p:spPr>
          <a:xfrm>
            <a:off x="1074737" y="4084637"/>
            <a:ext cx="8458200" cy="2636837"/>
          </a:xfrm>
          <a:prstGeom prst="rect">
            <a:avLst/>
          </a:prstGeom>
          <a:noFill/>
          <a:ln>
            <a:noFill/>
          </a:ln>
        </p:spPr>
        <p:txBody>
          <a:bodyPr anchorCtr="0" anchor="t" bIns="45700" lIns="0" spcFirstLastPara="1" rIns="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51" name="Google Shape;251;p85"/>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52" name="Google Shape;252;p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86"/>
          <p:cNvSpPr txBox="1"/>
          <p:nvPr>
            <p:ph type="title"/>
          </p:nvPr>
        </p:nvSpPr>
        <p:spPr>
          <a:xfrm>
            <a:off x="1752600" y="365125"/>
            <a:ext cx="9601200" cy="7302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1111"/>
              <a:buFont typeface="Calibri"/>
              <a:buNone/>
            </a:pPr>
            <a:br>
              <a:rPr b="1" i="0" lang="en-US" sz="4000" u="none">
                <a:solidFill>
                  <a:schemeClr val="dk1"/>
                </a:solidFill>
                <a:latin typeface="Calibri"/>
                <a:ea typeface="Calibri"/>
                <a:cs typeface="Calibri"/>
                <a:sym typeface="Calibri"/>
              </a:rPr>
            </a:br>
            <a:br>
              <a:rPr b="1" i="0" lang="en-US" sz="4000" u="none">
                <a:solidFill>
                  <a:schemeClr val="dk1"/>
                </a:solidFill>
                <a:latin typeface="Calibri"/>
                <a:ea typeface="Calibri"/>
                <a:cs typeface="Calibri"/>
                <a:sym typeface="Calibri"/>
              </a:rPr>
            </a:br>
            <a:br>
              <a:rPr b="1" i="0" lang="en-US" sz="4000" u="none">
                <a:solidFill>
                  <a:schemeClr val="dk1"/>
                </a:solidFill>
                <a:latin typeface="Calibri"/>
                <a:ea typeface="Calibri"/>
                <a:cs typeface="Calibri"/>
                <a:sym typeface="Calibri"/>
              </a:rPr>
            </a:br>
            <a:r>
              <a:rPr b="1" i="0" lang="en-US" sz="4000" u="none">
                <a:solidFill>
                  <a:schemeClr val="dk1"/>
                </a:solidFill>
                <a:latin typeface="Calibri"/>
                <a:ea typeface="Calibri"/>
                <a:cs typeface="Calibri"/>
                <a:sym typeface="Calibri"/>
              </a:rPr>
              <a:t>Directory Elements</a:t>
            </a:r>
            <a:br>
              <a:rPr b="1" i="0" lang="en-US" sz="4000" u="none">
                <a:solidFill>
                  <a:schemeClr val="dk1"/>
                </a:solidFill>
                <a:latin typeface="Calibri"/>
                <a:ea typeface="Calibri"/>
                <a:cs typeface="Calibri"/>
                <a:sym typeface="Calibri"/>
              </a:rPr>
            </a:br>
            <a:br>
              <a:rPr b="1" i="0" lang="en-US" sz="4000" u="none">
                <a:solidFill>
                  <a:schemeClr val="dk1"/>
                </a:solidFill>
                <a:latin typeface="Calibri"/>
                <a:ea typeface="Calibri"/>
                <a:cs typeface="Calibri"/>
                <a:sym typeface="Calibri"/>
              </a:rPr>
            </a:br>
            <a:br>
              <a:rPr b="1" i="0" lang="en-US" sz="4000" u="none">
                <a:solidFill>
                  <a:schemeClr val="dk1"/>
                </a:solidFill>
                <a:latin typeface="Calibri"/>
                <a:ea typeface="Calibri"/>
                <a:cs typeface="Calibri"/>
                <a:sym typeface="Calibri"/>
              </a:rPr>
            </a:br>
            <a:br>
              <a:rPr b="1" i="0" lang="en-US" sz="4000" u="none">
                <a:solidFill>
                  <a:schemeClr val="dk1"/>
                </a:solidFill>
                <a:latin typeface="Calibri"/>
                <a:ea typeface="Calibri"/>
                <a:cs typeface="Calibri"/>
                <a:sym typeface="Calibri"/>
              </a:rPr>
            </a:br>
            <a:endParaRPr/>
          </a:p>
        </p:txBody>
      </p:sp>
      <p:sp>
        <p:nvSpPr>
          <p:cNvPr id="258" name="Google Shape;258;p86"/>
          <p:cNvSpPr txBox="1"/>
          <p:nvPr>
            <p:ph idx="1" type="body"/>
          </p:nvPr>
        </p:nvSpPr>
        <p:spPr>
          <a:xfrm>
            <a:off x="763587" y="1095375"/>
            <a:ext cx="5635625" cy="5102225"/>
          </a:xfrm>
          <a:prstGeom prst="rect">
            <a:avLst/>
          </a:prstGeom>
          <a:noFill/>
          <a:ln>
            <a:noFill/>
          </a:ln>
        </p:spPr>
        <p:txBody>
          <a:bodyPr anchorCtr="0" anchor="t" bIns="45700" lIns="91425" spcFirstLastPara="1" rIns="91425" wrap="square" tIns="45700">
            <a:noAutofit/>
          </a:bodyPr>
          <a:lstStyle/>
          <a:p>
            <a:pPr indent="0" lvl="1" marL="200025"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1. Basic Information</a:t>
            </a:r>
            <a:endParaRPr/>
          </a:p>
          <a:p>
            <a:pPr indent="-152400" lvl="1" marL="200025" rtl="0" algn="l">
              <a:lnSpc>
                <a:spcPct val="90000"/>
              </a:lnSpc>
              <a:spcBef>
                <a:spcPts val="500"/>
              </a:spcBef>
              <a:spcAft>
                <a:spcPts val="0"/>
              </a:spcAft>
              <a:buSzPts val="2400"/>
              <a:buFont typeface="Noto Sans Symbols"/>
              <a:buChar char="▪"/>
            </a:pPr>
            <a:r>
              <a:rPr b="1" lang="en-US" sz="2000"/>
              <a:t>File Name- </a:t>
            </a:r>
            <a:r>
              <a:rPr lang="en-US" sz="2000"/>
              <a:t>unique</a:t>
            </a:r>
            <a:endParaRPr/>
          </a:p>
          <a:p>
            <a:pPr indent="-152400" lvl="1" marL="200025" rtl="0" algn="l">
              <a:lnSpc>
                <a:spcPct val="90000"/>
              </a:lnSpc>
              <a:spcBef>
                <a:spcPts val="500"/>
              </a:spcBef>
              <a:spcAft>
                <a:spcPts val="0"/>
              </a:spcAft>
              <a:buSzPts val="2400"/>
              <a:buFont typeface="Noto Sans Symbols"/>
              <a:buChar char="▪"/>
            </a:pPr>
            <a:r>
              <a:rPr b="1" lang="en-US" sz="2000"/>
              <a:t>File Type- </a:t>
            </a:r>
            <a:r>
              <a:rPr lang="en-US" sz="2000"/>
              <a:t>text,binary</a:t>
            </a:r>
            <a:endParaRPr sz="2000"/>
          </a:p>
          <a:p>
            <a:pPr indent="-152400" lvl="1" marL="200025" rtl="0" algn="l">
              <a:lnSpc>
                <a:spcPct val="90000"/>
              </a:lnSpc>
              <a:spcBef>
                <a:spcPts val="500"/>
              </a:spcBef>
              <a:spcAft>
                <a:spcPts val="0"/>
              </a:spcAft>
              <a:buSzPts val="2400"/>
              <a:buFont typeface="Noto Sans Symbols"/>
              <a:buChar char="▪"/>
            </a:pPr>
            <a:r>
              <a:rPr b="1" lang="en-US" sz="2000"/>
              <a:t>File Organization</a:t>
            </a:r>
            <a:endParaRPr/>
          </a:p>
          <a:p>
            <a:pPr indent="0" lvl="1" marL="200025" marR="0" rtl="0" algn="l">
              <a:lnSpc>
                <a:spcPct val="90000"/>
              </a:lnSpc>
              <a:spcBef>
                <a:spcPts val="500"/>
              </a:spcBef>
              <a:spcAft>
                <a:spcPts val="0"/>
              </a:spcAft>
              <a:buClr>
                <a:schemeClr val="dk1"/>
              </a:buClr>
              <a:buSzPts val="2400"/>
              <a:buFont typeface="Arial"/>
              <a:buNone/>
            </a:pPr>
            <a:r>
              <a:t/>
            </a:r>
            <a:endParaRPr b="1" sz="2000"/>
          </a:p>
          <a:p>
            <a:pPr indent="0" lvl="1" marL="200025" marR="0" rtl="0" algn="l">
              <a:lnSpc>
                <a:spcPct val="90000"/>
              </a:lnSpc>
              <a:spcBef>
                <a:spcPts val="500"/>
              </a:spcBef>
              <a:spcAft>
                <a:spcPts val="0"/>
              </a:spcAft>
              <a:buClr>
                <a:schemeClr val="dk1"/>
              </a:buClr>
              <a:buSzPts val="2400"/>
              <a:buFont typeface="Arial"/>
              <a:buNone/>
            </a:pPr>
            <a:r>
              <a:rPr b="1" lang="en-US"/>
              <a:t>2. </a:t>
            </a:r>
            <a:r>
              <a:rPr b="1" i="0" lang="en-US" sz="2400" u="none" cap="none" strike="noStrike">
                <a:solidFill>
                  <a:schemeClr val="dk1"/>
                </a:solidFill>
                <a:latin typeface="Calibri"/>
                <a:ea typeface="Calibri"/>
                <a:cs typeface="Calibri"/>
                <a:sym typeface="Calibri"/>
              </a:rPr>
              <a:t>Address Information</a:t>
            </a:r>
            <a:endParaRPr/>
          </a:p>
          <a:p>
            <a:pPr indent="-152400" lvl="1" marL="200025" rtl="0" algn="l">
              <a:lnSpc>
                <a:spcPct val="90000"/>
              </a:lnSpc>
              <a:spcBef>
                <a:spcPts val="500"/>
              </a:spcBef>
              <a:spcAft>
                <a:spcPts val="0"/>
              </a:spcAft>
              <a:buSzPts val="2400"/>
              <a:buFont typeface="Noto Sans Symbols"/>
              <a:buChar char="▪"/>
            </a:pPr>
            <a:r>
              <a:rPr b="1" lang="en-US" sz="2000"/>
              <a:t>Volume -</a:t>
            </a:r>
            <a:r>
              <a:rPr lang="en-US" sz="2000"/>
              <a:t>Indicates device on which file is stored</a:t>
            </a:r>
            <a:endParaRPr sz="2000"/>
          </a:p>
          <a:p>
            <a:pPr indent="-152400" lvl="1" marL="200025" rtl="0" algn="l">
              <a:lnSpc>
                <a:spcPct val="90000"/>
              </a:lnSpc>
              <a:spcBef>
                <a:spcPts val="500"/>
              </a:spcBef>
              <a:spcAft>
                <a:spcPts val="0"/>
              </a:spcAft>
              <a:buSzPts val="2400"/>
              <a:buFont typeface="Noto Sans Symbols"/>
              <a:buChar char="▪"/>
            </a:pPr>
            <a:r>
              <a:rPr b="1" lang="en-US" sz="2000"/>
              <a:t>Starting Address- </a:t>
            </a:r>
            <a:r>
              <a:rPr lang="en-US" sz="2000"/>
              <a:t>on secondary storage</a:t>
            </a:r>
            <a:endParaRPr sz="2000"/>
          </a:p>
          <a:p>
            <a:pPr indent="-152400" lvl="1" marL="200025" rtl="0" algn="l">
              <a:lnSpc>
                <a:spcPct val="90000"/>
              </a:lnSpc>
              <a:spcBef>
                <a:spcPts val="500"/>
              </a:spcBef>
              <a:spcAft>
                <a:spcPts val="0"/>
              </a:spcAft>
              <a:buSzPts val="2400"/>
              <a:buFont typeface="Noto Sans Symbols"/>
              <a:buChar char="▪"/>
            </a:pPr>
            <a:r>
              <a:rPr b="1" lang="en-US" sz="2000"/>
              <a:t>Size Used -</a:t>
            </a:r>
            <a:r>
              <a:rPr lang="en-US" sz="2000"/>
              <a:t>Current size of the file in bytes, words, or blocks</a:t>
            </a:r>
            <a:endParaRPr sz="2000"/>
          </a:p>
          <a:p>
            <a:pPr indent="-152400" lvl="1" marL="200025" rtl="0" algn="l">
              <a:lnSpc>
                <a:spcPct val="90000"/>
              </a:lnSpc>
              <a:spcBef>
                <a:spcPts val="500"/>
              </a:spcBef>
              <a:spcAft>
                <a:spcPts val="0"/>
              </a:spcAft>
              <a:buSzPts val="2400"/>
              <a:buFont typeface="Noto Sans Symbols"/>
              <a:buChar char="▪"/>
            </a:pPr>
            <a:r>
              <a:rPr b="1" lang="en-US" sz="2000"/>
              <a:t>Size Allocated - </a:t>
            </a:r>
            <a:r>
              <a:rPr lang="en-US" sz="2000"/>
              <a:t>Maximum size of the file</a:t>
            </a:r>
            <a:endParaRPr sz="2000"/>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59" name="Google Shape;259;p86"/>
          <p:cNvSpPr txBox="1"/>
          <p:nvPr>
            <p:ph idx="2" type="body"/>
          </p:nvPr>
        </p:nvSpPr>
        <p:spPr>
          <a:xfrm>
            <a:off x="838200" y="5044804"/>
            <a:ext cx="11201807" cy="51022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1" i="0" lang="en-US" sz="2400" u="none">
                <a:solidFill>
                  <a:schemeClr val="dk1"/>
                </a:solidFill>
                <a:latin typeface="Calibri"/>
                <a:ea typeface="Calibri"/>
                <a:cs typeface="Calibri"/>
                <a:sym typeface="Calibri"/>
              </a:rPr>
              <a:t>3. Access Control Information</a:t>
            </a:r>
            <a:endParaRPr/>
          </a:p>
          <a:p>
            <a:pPr indent="-152400" lvl="1" marL="200025" rtl="0" algn="l">
              <a:lnSpc>
                <a:spcPct val="90000"/>
              </a:lnSpc>
              <a:spcBef>
                <a:spcPts val="500"/>
              </a:spcBef>
              <a:spcAft>
                <a:spcPts val="0"/>
              </a:spcAft>
              <a:buSzPts val="2400"/>
              <a:buFont typeface="Noto Sans Symbols"/>
              <a:buChar char="▪"/>
            </a:pPr>
            <a:r>
              <a:rPr b="1" lang="en-US" sz="2000"/>
              <a:t>Owner :</a:t>
            </a:r>
            <a:r>
              <a:rPr b="0" i="0" lang="en-US" sz="2000" u="none" cap="none" strike="noStrike">
                <a:solidFill>
                  <a:schemeClr val="dk1"/>
                </a:solidFill>
                <a:latin typeface="Calibri"/>
                <a:ea typeface="Calibri"/>
                <a:cs typeface="Calibri"/>
                <a:sym typeface="Calibri"/>
              </a:rPr>
              <a:t>Owner has control of this file &amp; able to grant/deny access to other users and to change these privileges.</a:t>
            </a:r>
            <a:endParaRPr/>
          </a:p>
          <a:p>
            <a:pPr indent="-152400" lvl="1" marL="200025" rtl="0" algn="l">
              <a:lnSpc>
                <a:spcPct val="90000"/>
              </a:lnSpc>
              <a:spcBef>
                <a:spcPts val="500"/>
              </a:spcBef>
              <a:spcAft>
                <a:spcPts val="0"/>
              </a:spcAft>
              <a:buSzPts val="2400"/>
              <a:buFont typeface="Noto Sans Symbols"/>
              <a:buChar char="▪"/>
            </a:pPr>
            <a:r>
              <a:rPr b="1" lang="en-US" sz="2000"/>
              <a:t>Access Permission: </a:t>
            </a:r>
            <a:r>
              <a:rPr lang="en-US" sz="2000"/>
              <a:t>includes the user’s name and password for each authorized user.</a:t>
            </a:r>
            <a:endParaRPr/>
          </a:p>
          <a:p>
            <a:pPr indent="-152400" lvl="1" marL="200025" rtl="0" algn="l">
              <a:lnSpc>
                <a:spcPct val="90000"/>
              </a:lnSpc>
              <a:spcBef>
                <a:spcPts val="500"/>
              </a:spcBef>
              <a:spcAft>
                <a:spcPts val="0"/>
              </a:spcAft>
              <a:buSzPts val="2400"/>
              <a:buFont typeface="Noto Sans Symbols"/>
              <a:buChar char="▪"/>
            </a:pPr>
            <a:r>
              <a:rPr b="1" lang="en-US" sz="2000"/>
              <a:t>Permitted Actions :</a:t>
            </a:r>
            <a:r>
              <a:rPr lang="en-US" sz="2000"/>
              <a:t>Controls reading, writing, executing, and transmitting over a network</a:t>
            </a:r>
            <a:endParaRPr sz="2000"/>
          </a:p>
        </p:txBody>
      </p:sp>
      <p:sp>
        <p:nvSpPr>
          <p:cNvPr id="260" name="Google Shape;260;p8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61" name="Google Shape;261;p86"/>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62" name="Google Shape;262;p8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63" name="Google Shape;263;p86"/>
          <p:cNvSpPr/>
          <p:nvPr/>
        </p:nvSpPr>
        <p:spPr>
          <a:xfrm>
            <a:off x="7121525" y="873168"/>
            <a:ext cx="3666450" cy="3787704"/>
          </a:xfrm>
          <a:prstGeom prst="rect">
            <a:avLst/>
          </a:prstGeom>
          <a:noFill/>
          <a:ln>
            <a:noFill/>
          </a:ln>
        </p:spPr>
        <p:txBody>
          <a:bodyPr anchorCtr="0" anchor="t" bIns="45700" lIns="91425" spcFirstLastPara="1" rIns="91425" wrap="square" tIns="45700">
            <a:spAutoFit/>
          </a:bodyPr>
          <a:lstStyle/>
          <a:p>
            <a:pPr indent="-25400" lvl="0" marL="228600" marR="0" rtl="0" algn="l">
              <a:lnSpc>
                <a:spcPct val="90000"/>
              </a:lnSpc>
              <a:spcBef>
                <a:spcPts val="0"/>
              </a:spcBef>
              <a:spcAft>
                <a:spcPts val="0"/>
              </a:spcAft>
              <a:buClr>
                <a:schemeClr val="dk1"/>
              </a:buClr>
              <a:buSzPts val="3200"/>
              <a:buFont typeface="Noto Sans Symbols"/>
              <a:buNone/>
            </a:pPr>
            <a:r>
              <a:t/>
            </a:r>
            <a:endParaRPr b="0" i="0" sz="1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b="1" i="0" lang="en-US" sz="2400" u="none" cap="none" strike="noStrike">
                <a:solidFill>
                  <a:schemeClr val="dk1"/>
                </a:solidFill>
                <a:latin typeface="Calibri"/>
                <a:ea typeface="Calibri"/>
                <a:cs typeface="Calibri"/>
                <a:sym typeface="Calibri"/>
              </a:rPr>
              <a:t>4. Usage Information</a:t>
            </a:r>
            <a:endParaRPr/>
          </a:p>
          <a:p>
            <a:pPr indent="0" lvl="0" marL="0" marR="0" rtl="0" algn="l">
              <a:lnSpc>
                <a:spcPct val="90000"/>
              </a:lnSpc>
              <a:spcBef>
                <a:spcPts val="0"/>
              </a:spcBef>
              <a:spcAft>
                <a:spcPts val="0"/>
              </a:spcAft>
              <a:buNone/>
            </a:pPr>
            <a:r>
              <a:t/>
            </a:r>
            <a:endParaRPr b="1" i="0" sz="20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Date Created</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Identity of Creator </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Date Last Read Access</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Identity of Last Reader</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Date Last Modified</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Identity of Last Modifier</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Date of Last Backup</a:t>
            </a:r>
            <a:endParaRPr/>
          </a:p>
          <a:p>
            <a:pPr indent="-342900" lvl="0" marL="342900" marR="0" rtl="0" algn="l">
              <a:lnSpc>
                <a:spcPct val="90000"/>
              </a:lnSpc>
              <a:spcBef>
                <a:spcPts val="1000"/>
              </a:spcBef>
              <a:spcAft>
                <a:spcPts val="0"/>
              </a:spcAft>
              <a:buClr>
                <a:schemeClr val="dk1"/>
              </a:buClr>
              <a:buSzPts val="3200"/>
              <a:buFont typeface="Noto Sans Symbols"/>
              <a:buChar char="▪"/>
            </a:pPr>
            <a:r>
              <a:rPr b="1" i="0" lang="en-US" sz="1800" u="none" cap="none" strike="noStrike">
                <a:solidFill>
                  <a:schemeClr val="dk1"/>
                </a:solidFill>
                <a:latin typeface="Calibri"/>
                <a:ea typeface="Calibri"/>
                <a:cs typeface="Calibri"/>
                <a:sym typeface="Calibri"/>
              </a:rPr>
              <a:t>Current Usage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87"/>
          <p:cNvSpPr txBox="1"/>
          <p:nvPr>
            <p:ph idx="1" type="body"/>
          </p:nvPr>
        </p:nvSpPr>
        <p:spPr>
          <a:xfrm>
            <a:off x="1117600" y="30162"/>
            <a:ext cx="110744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FF0066"/>
              </a:buClr>
              <a:buSzPts val="3200"/>
              <a:buFont typeface="Calibri"/>
              <a:buChar char=" "/>
            </a:pPr>
            <a:r>
              <a:rPr b="1" i="0" lang="en-US" sz="3200" u="none">
                <a:solidFill>
                  <a:srgbClr val="FF0066"/>
                </a:solidFill>
                <a:latin typeface="Times New Roman"/>
                <a:ea typeface="Times New Roman"/>
                <a:cs typeface="Times New Roman"/>
                <a:sym typeface="Times New Roman"/>
              </a:rPr>
              <a:t>$ chmod 755 your-script-name</a:t>
            </a:r>
            <a:endParaRPr/>
          </a:p>
          <a:p>
            <a:pPr indent="-228600" lvl="0" marL="228600" marR="0" rtl="0" algn="l">
              <a:lnSpc>
                <a:spcPct val="90000"/>
              </a:lnSpc>
              <a:spcBef>
                <a:spcPts val="1000"/>
              </a:spcBef>
              <a:spcAft>
                <a:spcPts val="0"/>
              </a:spcAft>
              <a:buClr>
                <a:schemeClr val="dk1"/>
              </a:buClr>
              <a:buSzPts val="2400"/>
              <a:buFont typeface="Calibri"/>
              <a:buChar char=" "/>
            </a:pPr>
            <a:r>
              <a:rPr b="0" i="0" lang="en-US" sz="2400" u="none">
                <a:solidFill>
                  <a:schemeClr val="dk1"/>
                </a:solidFill>
                <a:latin typeface="Times New Roman"/>
                <a:ea typeface="Times New Roman"/>
                <a:cs typeface="Times New Roman"/>
                <a:sym typeface="Times New Roman"/>
              </a:rPr>
              <a:t>The chmod command modifies the permissions of a file or directory on a Linux system. ... The numbers 755 assign </a:t>
            </a:r>
            <a:r>
              <a:rPr b="1" i="0" lang="en-US" sz="2400" u="none">
                <a:solidFill>
                  <a:schemeClr val="dk1"/>
                </a:solidFill>
                <a:latin typeface="Times New Roman"/>
                <a:ea typeface="Times New Roman"/>
                <a:cs typeface="Times New Roman"/>
                <a:sym typeface="Times New Roman"/>
              </a:rPr>
              <a:t>read-write-execute permissions to the user owner and read-execute permissions to group owner and others</a:t>
            </a:r>
            <a:r>
              <a:rPr b="0" i="0" lang="en-US" sz="2400" u="none">
                <a:solidFill>
                  <a:schemeClr val="dk1"/>
                </a:solidFill>
                <a:latin typeface="Times New Roman"/>
                <a:ea typeface="Times New Roman"/>
                <a:cs typeface="Times New Roman"/>
                <a:sym typeface="Times New Roman"/>
              </a:rPr>
              <a:t>.</a:t>
            </a:r>
            <a:endParaRPr/>
          </a:p>
          <a:p>
            <a:pPr indent="-228600" lvl="0" marL="228600" marR="0" rtl="0" algn="l">
              <a:lnSpc>
                <a:spcPct val="90000"/>
              </a:lnSpc>
              <a:spcBef>
                <a:spcPts val="1000"/>
              </a:spcBef>
              <a:spcAft>
                <a:spcPts val="0"/>
              </a:spcAft>
              <a:buClr>
                <a:schemeClr val="dk1"/>
              </a:buClr>
              <a:buSzPts val="2400"/>
              <a:buFont typeface="Arial"/>
              <a:buChar char="•"/>
            </a:pPr>
            <a:r>
              <a:rPr b="1" i="0" lang="en-US" sz="2400" u="none">
                <a:solidFill>
                  <a:schemeClr val="dk1"/>
                </a:solidFill>
                <a:latin typeface="Calibri"/>
                <a:ea typeface="Calibri"/>
                <a:cs typeface="Calibri"/>
                <a:sym typeface="Calibri"/>
              </a:rPr>
              <a:t>The sums of these numbers give combinations of these permissions: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0 = no permissions whatsoever; this person cannot read, write, or execute the file.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1 = execute only.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2 = write only.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3 = write and execute (1+2)</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4 = read only.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5 = read and execute (4+1)</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6 = read and write (4+2)</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7 = read and write and execute (4+2+1)</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69" name="Google Shape;269;p8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70" name="Google Shape;270;p87"/>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71" name="Google Shape;271;p8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272" name="Google Shape;272;p87"/>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73" name="Google Shape;273;p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05"/>
          <p:cNvSpPr txBox="1"/>
          <p:nvPr>
            <p:ph type="title"/>
          </p:nvPr>
        </p:nvSpPr>
        <p:spPr>
          <a:xfrm>
            <a:off x="1460500" y="106362"/>
            <a:ext cx="9880600" cy="11255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Hierarchical or Tree-Structured Directory</a:t>
            </a:r>
            <a:endParaRPr/>
          </a:p>
        </p:txBody>
      </p:sp>
      <p:sp>
        <p:nvSpPr>
          <p:cNvPr id="280" name="Google Shape;280;p105"/>
          <p:cNvSpPr txBox="1"/>
          <p:nvPr>
            <p:ph idx="1" type="body"/>
          </p:nvPr>
        </p:nvSpPr>
        <p:spPr>
          <a:xfrm>
            <a:off x="368300" y="1471612"/>
            <a:ext cx="5875337" cy="47244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Master directory with user directories underneath it</a:t>
            </a:r>
            <a:endParaRPr/>
          </a:p>
          <a:p>
            <a:pPr indent="-228600" lvl="0" marL="228600" marR="0" rtl="0" algn="l">
              <a:lnSpc>
                <a:spcPct val="8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Each user directory may have subdirectories and files as entries</a:t>
            </a:r>
            <a:endParaRPr/>
          </a:p>
          <a:p>
            <a:pPr indent="-228600" lvl="0" marL="228600" marR="0" rtl="0" algn="l">
              <a:lnSpc>
                <a:spcPct val="80000"/>
              </a:lnSpc>
              <a:spcBef>
                <a:spcPts val="100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Naming</a:t>
            </a:r>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a:solidFill>
                  <a:schemeClr val="dk1"/>
                </a:solidFill>
                <a:latin typeface="Calibri"/>
                <a:ea typeface="Calibri"/>
                <a:cs typeface="Calibri"/>
                <a:sym typeface="Calibri"/>
              </a:rPr>
              <a:t>Users need to be able to refer to a file by name</a:t>
            </a:r>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a:solidFill>
                  <a:schemeClr val="dk1"/>
                </a:solidFill>
                <a:latin typeface="Calibri"/>
                <a:ea typeface="Calibri"/>
                <a:cs typeface="Calibri"/>
                <a:sym typeface="Calibri"/>
              </a:rPr>
              <a:t>Files need to be named uniquely</a:t>
            </a:r>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a:solidFill>
                  <a:schemeClr val="dk1"/>
                </a:solidFill>
                <a:latin typeface="Calibri"/>
                <a:ea typeface="Calibri"/>
                <a:cs typeface="Calibri"/>
                <a:sym typeface="Calibri"/>
              </a:rPr>
              <a:t>Tree structure allows users to find a file by following the directory path</a:t>
            </a:r>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a:solidFill>
                  <a:schemeClr val="dk1"/>
                </a:solidFill>
                <a:latin typeface="Calibri"/>
                <a:ea typeface="Calibri"/>
                <a:cs typeface="Calibri"/>
                <a:sym typeface="Calibri"/>
              </a:rPr>
              <a:t>Duplicate filenames are possible if they have different pathnames</a:t>
            </a:r>
            <a:endParaRPr/>
          </a:p>
          <a:p>
            <a:pPr indent="-63500" lvl="0" marL="228600" marR="0" rtl="0" algn="l">
              <a:lnSpc>
                <a:spcPct val="9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p:txBody>
      </p:sp>
      <p:sp>
        <p:nvSpPr>
          <p:cNvPr id="281" name="Google Shape;281;p10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82" name="Google Shape;282;p105"/>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83" name="Google Shape;283;p10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84" name="Google Shape;284;p105"/>
          <p:cNvPicPr preferRelativeResize="0"/>
          <p:nvPr/>
        </p:nvPicPr>
        <p:blipFill rotWithShape="1">
          <a:blip r:embed="rId3">
            <a:alphaModFix/>
          </a:blip>
          <a:srcRect b="0" l="0" r="0" t="0"/>
          <a:stretch/>
        </p:blipFill>
        <p:spPr>
          <a:xfrm>
            <a:off x="6527800" y="1843087"/>
            <a:ext cx="5181600" cy="3902075"/>
          </a:xfrm>
          <a:prstGeom prst="rect">
            <a:avLst/>
          </a:prstGeom>
          <a:noFill/>
          <a:ln>
            <a:noFill/>
          </a:ln>
        </p:spPr>
      </p:pic>
      <p:pic>
        <p:nvPicPr>
          <p:cNvPr id="285" name="Google Shape;285;p105"/>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
        <p:nvSpPr>
          <p:cNvPr id="286" name="Google Shape;286;p1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06"/>
          <p:cNvSpPr txBox="1"/>
          <p:nvPr>
            <p:ph type="title"/>
          </p:nvPr>
        </p:nvSpPr>
        <p:spPr>
          <a:xfrm>
            <a:off x="1943100" y="219075"/>
            <a:ext cx="9982200" cy="111442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Sharing</a:t>
            </a:r>
            <a:endParaRPr/>
          </a:p>
        </p:txBody>
      </p:sp>
      <p:sp>
        <p:nvSpPr>
          <p:cNvPr id="293" name="Google Shape;293;p106"/>
          <p:cNvSpPr txBox="1"/>
          <p:nvPr>
            <p:ph idx="1" type="body"/>
          </p:nvPr>
        </p:nvSpPr>
        <p:spPr>
          <a:xfrm>
            <a:off x="279400" y="1244600"/>
            <a:ext cx="11417300" cy="511175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In multiuser system, allow files to be shared among users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Two issues</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Access rights</a:t>
            </a:r>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Management of simultaneous access</a:t>
            </a:r>
            <a:endParaRPr/>
          </a:p>
          <a:p>
            <a:pPr indent="0" lvl="2" marL="384175" marR="0" rtl="0" algn="l">
              <a:lnSpc>
                <a:spcPct val="90000"/>
              </a:lnSpc>
              <a:spcBef>
                <a:spcPts val="5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-User may lock entire file when it is to be updated</a:t>
            </a:r>
            <a:endParaRPr/>
          </a:p>
          <a:p>
            <a:pPr indent="0" lvl="2" marL="384175" marR="0" rtl="0" algn="l">
              <a:lnSpc>
                <a:spcPct val="90000"/>
              </a:lnSpc>
              <a:spcBef>
                <a:spcPts val="5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-User may lock the individual records during the update</a:t>
            </a:r>
            <a:endParaRPr/>
          </a:p>
          <a:p>
            <a:pPr indent="0" lvl="2" marL="384175" marR="0" rtl="0" algn="l">
              <a:lnSpc>
                <a:spcPct val="90000"/>
              </a:lnSpc>
              <a:spcBef>
                <a:spcPts val="5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-Mutual exclusion and deadlock are issues for shared access</a:t>
            </a:r>
            <a:endParaRPr/>
          </a:p>
          <a:p>
            <a:pPr indent="-228600" lvl="1" marL="685800" marR="0" rtl="0" algn="l">
              <a:lnSpc>
                <a:spcPct val="100000"/>
              </a:lnSpc>
              <a:spcBef>
                <a:spcPts val="50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User Classes</a:t>
            </a:r>
            <a:endParaRPr/>
          </a:p>
          <a:p>
            <a:pPr indent="-228600" lvl="0" marL="2286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Owner - Usually the files creator, has full rights</a:t>
            </a:r>
            <a:endParaRPr/>
          </a:p>
          <a:p>
            <a:pPr indent="-228600" lvl="0" marL="2286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User Groups - A set of users identified as a group</a:t>
            </a:r>
            <a:endParaRPr/>
          </a:p>
          <a:p>
            <a:pPr indent="-228600" lvl="0" marL="2286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Others</a:t>
            </a:r>
            <a:endParaRPr/>
          </a:p>
          <a:p>
            <a:pPr indent="-101600" lvl="1" marL="685800" marR="0" rtl="0" algn="l">
              <a:lnSpc>
                <a:spcPct val="90000"/>
              </a:lnSpc>
              <a:spcBef>
                <a:spcPts val="5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101600" lvl="0" marL="228600" marR="0" rtl="0" algn="l">
              <a:lnSpc>
                <a:spcPct val="90000"/>
              </a:lnSpc>
              <a:spcBef>
                <a:spcPts val="10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94" name="Google Shape;294;p10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95" name="Google Shape;295;p106"/>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296" name="Google Shape;296;p10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97" name="Google Shape;297;p106"/>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298" name="Google Shape;298;p1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8aec7963ef_0_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File Allocation Methods – Contiguous, Linked, and Indexed”</a:t>
            </a:r>
            <a:endParaRPr/>
          </a:p>
        </p:txBody>
      </p:sp>
      <p:sp>
        <p:nvSpPr>
          <p:cNvPr id="305" name="Google Shape;305;g38aec7963ef_0_3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1000"/>
              </a:spcBef>
              <a:spcAft>
                <a:spcPts val="0"/>
              </a:spcAft>
              <a:buSzPct val="91836"/>
              <a:buNone/>
            </a:pPr>
            <a:r>
              <a:rPr b="1" lang="en-US">
                <a:latin typeface="Arial"/>
                <a:ea typeface="Arial"/>
                <a:cs typeface="Arial"/>
                <a:sym typeface="Arial"/>
              </a:rPr>
              <a:t>Definition:</a:t>
            </a:r>
            <a:br>
              <a:rPr b="1" lang="en-US">
                <a:latin typeface="Arial"/>
                <a:ea typeface="Arial"/>
                <a:cs typeface="Arial"/>
                <a:sym typeface="Arial"/>
              </a:rPr>
            </a:br>
            <a:r>
              <a:rPr lang="en-US">
                <a:latin typeface="Arial"/>
                <a:ea typeface="Arial"/>
                <a:cs typeface="Arial"/>
                <a:sym typeface="Arial"/>
              </a:rPr>
              <a:t> </a:t>
            </a:r>
            <a:endParaRPr>
              <a:latin typeface="Arial"/>
              <a:ea typeface="Arial"/>
              <a:cs typeface="Arial"/>
              <a:sym typeface="Arial"/>
            </a:endParaRPr>
          </a:p>
          <a:p>
            <a:pPr indent="0" lvl="0" marL="0" rtl="0" algn="l">
              <a:lnSpc>
                <a:spcPct val="90000"/>
              </a:lnSpc>
              <a:spcBef>
                <a:spcPts val="1000"/>
              </a:spcBef>
              <a:spcAft>
                <a:spcPts val="0"/>
              </a:spcAft>
              <a:buSzPct val="91836"/>
              <a:buNone/>
            </a:pPr>
            <a:r>
              <a:rPr lang="en-US">
                <a:latin typeface="Arial"/>
                <a:ea typeface="Arial"/>
                <a:cs typeface="Arial"/>
                <a:sym typeface="Arial"/>
              </a:rPr>
              <a:t>File allocation methods determine how disk blocks are assigned to files.</a:t>
            </a:r>
            <a:br>
              <a:rPr lang="en-US">
                <a:latin typeface="Arial"/>
                <a:ea typeface="Arial"/>
                <a:cs typeface="Arial"/>
                <a:sym typeface="Arial"/>
              </a:rPr>
            </a:br>
            <a:endParaRPr>
              <a:latin typeface="Arial"/>
              <a:ea typeface="Arial"/>
              <a:cs typeface="Arial"/>
              <a:sym typeface="Arial"/>
            </a:endParaRPr>
          </a:p>
          <a:p>
            <a:pPr indent="0" lvl="0" marL="0" rtl="0" algn="l">
              <a:lnSpc>
                <a:spcPct val="90000"/>
              </a:lnSpc>
              <a:spcBef>
                <a:spcPts val="1000"/>
              </a:spcBef>
              <a:spcAft>
                <a:spcPts val="0"/>
              </a:spcAft>
              <a:buSzPct val="91836"/>
              <a:buNone/>
            </a:pPr>
            <a:r>
              <a:rPr b="1" lang="en-US">
                <a:latin typeface="Arial"/>
                <a:ea typeface="Arial"/>
                <a:cs typeface="Arial"/>
                <a:sym typeface="Arial"/>
              </a:rPr>
              <a:t>Purpose:</a:t>
            </a:r>
            <a:br>
              <a:rPr b="1" lang="en-US">
                <a:latin typeface="Arial"/>
                <a:ea typeface="Arial"/>
                <a:cs typeface="Arial"/>
                <a:sym typeface="Arial"/>
              </a:rPr>
            </a:br>
            <a:r>
              <a:rPr lang="en-US">
                <a:latin typeface="Arial"/>
                <a:ea typeface="Arial"/>
                <a:cs typeface="Arial"/>
                <a:sym typeface="Arial"/>
              </a:rPr>
              <a:t> Efficiently manage storage and access files quickly.</a:t>
            </a:r>
            <a:br>
              <a:rPr lang="en-US">
                <a:latin typeface="Arial"/>
                <a:ea typeface="Arial"/>
                <a:cs typeface="Arial"/>
                <a:sym typeface="Arial"/>
              </a:rPr>
            </a:br>
            <a:endParaRPr>
              <a:latin typeface="Arial"/>
              <a:ea typeface="Arial"/>
              <a:cs typeface="Arial"/>
              <a:sym typeface="Arial"/>
            </a:endParaRPr>
          </a:p>
          <a:p>
            <a:pPr indent="0" lvl="0" marL="0" rtl="0" algn="l">
              <a:lnSpc>
                <a:spcPct val="90000"/>
              </a:lnSpc>
              <a:spcBef>
                <a:spcPts val="1000"/>
              </a:spcBef>
              <a:spcAft>
                <a:spcPts val="0"/>
              </a:spcAft>
              <a:buSzPct val="91836"/>
              <a:buNone/>
            </a:pPr>
            <a:r>
              <a:rPr b="1" lang="en-US">
                <a:latin typeface="Arial"/>
                <a:ea typeface="Arial"/>
                <a:cs typeface="Arial"/>
                <a:sym typeface="Arial"/>
              </a:rPr>
              <a:t>Types:</a:t>
            </a:r>
            <a:br>
              <a:rPr b="1" lang="en-US">
                <a:latin typeface="Arial"/>
                <a:ea typeface="Arial"/>
                <a:cs typeface="Arial"/>
                <a:sym typeface="Arial"/>
              </a:rPr>
            </a:br>
            <a:endParaRPr b="1">
              <a:latin typeface="Arial"/>
              <a:ea typeface="Arial"/>
              <a:cs typeface="Arial"/>
              <a:sym typeface="Arial"/>
            </a:endParaRPr>
          </a:p>
          <a:p>
            <a:pPr indent="-353060" lvl="0" marL="457200" rtl="0" algn="l">
              <a:lnSpc>
                <a:spcPct val="115000"/>
              </a:lnSpc>
              <a:spcBef>
                <a:spcPts val="1200"/>
              </a:spcBef>
              <a:spcAft>
                <a:spcPts val="0"/>
              </a:spcAft>
              <a:buSzPct val="100000"/>
              <a:buAutoNum type="arabicPeriod"/>
            </a:pPr>
            <a:r>
              <a:rPr lang="en-US">
                <a:latin typeface="Arial"/>
                <a:ea typeface="Arial"/>
                <a:cs typeface="Arial"/>
                <a:sym typeface="Arial"/>
              </a:rPr>
              <a:t>Contiguous Allocation</a:t>
            </a:r>
            <a:br>
              <a:rPr lang="en-US">
                <a:latin typeface="Arial"/>
                <a:ea typeface="Arial"/>
                <a:cs typeface="Arial"/>
                <a:sym typeface="Arial"/>
              </a:rPr>
            </a:br>
            <a:endParaRPr>
              <a:latin typeface="Arial"/>
              <a:ea typeface="Arial"/>
              <a:cs typeface="Arial"/>
              <a:sym typeface="Arial"/>
            </a:endParaRPr>
          </a:p>
          <a:p>
            <a:pPr indent="-353060" lvl="0" marL="457200" rtl="0" algn="l">
              <a:lnSpc>
                <a:spcPct val="115000"/>
              </a:lnSpc>
              <a:spcBef>
                <a:spcPts val="0"/>
              </a:spcBef>
              <a:spcAft>
                <a:spcPts val="0"/>
              </a:spcAft>
              <a:buSzPct val="100000"/>
              <a:buAutoNum type="arabicPeriod"/>
            </a:pPr>
            <a:r>
              <a:rPr lang="en-US">
                <a:latin typeface="Arial"/>
                <a:ea typeface="Arial"/>
                <a:cs typeface="Arial"/>
                <a:sym typeface="Arial"/>
              </a:rPr>
              <a:t>Linked Allocation</a:t>
            </a:r>
            <a:br>
              <a:rPr lang="en-US">
                <a:latin typeface="Arial"/>
                <a:ea typeface="Arial"/>
                <a:cs typeface="Arial"/>
                <a:sym typeface="Arial"/>
              </a:rPr>
            </a:br>
            <a:endParaRPr>
              <a:latin typeface="Arial"/>
              <a:ea typeface="Arial"/>
              <a:cs typeface="Arial"/>
              <a:sym typeface="Arial"/>
            </a:endParaRPr>
          </a:p>
          <a:p>
            <a:pPr indent="-353060" lvl="0" marL="457200" rtl="0" algn="l">
              <a:lnSpc>
                <a:spcPct val="115000"/>
              </a:lnSpc>
              <a:spcBef>
                <a:spcPts val="0"/>
              </a:spcBef>
              <a:spcAft>
                <a:spcPts val="0"/>
              </a:spcAft>
              <a:buSzPct val="100000"/>
              <a:buAutoNum type="arabicPeriod"/>
            </a:pPr>
            <a:r>
              <a:rPr lang="en-US">
                <a:latin typeface="Arial"/>
                <a:ea typeface="Arial"/>
                <a:cs typeface="Arial"/>
                <a:sym typeface="Arial"/>
              </a:rPr>
              <a:t>Indexed Allocation</a:t>
            </a:r>
            <a:endParaRPr>
              <a:latin typeface="Arial"/>
              <a:ea typeface="Arial"/>
              <a:cs typeface="Arial"/>
              <a:sym typeface="Arial"/>
            </a:endParaRPr>
          </a:p>
          <a:p>
            <a:pPr indent="0" lvl="0" marL="0" rtl="0" algn="l">
              <a:lnSpc>
                <a:spcPct val="90000"/>
              </a:lnSpc>
              <a:spcBef>
                <a:spcPts val="1200"/>
              </a:spcBef>
              <a:spcAft>
                <a:spcPts val="0"/>
              </a:spcAft>
              <a:buSzPct val="91836"/>
              <a:buNone/>
            </a:pPr>
            <a:r>
              <a:t/>
            </a:r>
            <a:endParaRPr/>
          </a:p>
        </p:txBody>
      </p:sp>
      <p:sp>
        <p:nvSpPr>
          <p:cNvPr id="306" name="Google Shape;306;g38aec7963ef_0_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8aec7963ef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File Allocation Methods – Contiguous,</a:t>
            </a:r>
            <a:endParaRPr/>
          </a:p>
        </p:txBody>
      </p:sp>
      <p:sp>
        <p:nvSpPr>
          <p:cNvPr id="313" name="Google Shape;313;g38aec7963ef_1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700"/>
              </a:spcBef>
              <a:spcAft>
                <a:spcPts val="0"/>
              </a:spcAft>
              <a:buSzPts val="2500"/>
              <a:buFont typeface="Times New Roman"/>
              <a:buChar char="•"/>
            </a:pPr>
            <a:r>
              <a:rPr lang="en-US" sz="2500">
                <a:latin typeface="Times New Roman"/>
                <a:ea typeface="Times New Roman"/>
                <a:cs typeface="Times New Roman"/>
                <a:sym typeface="Times New Roman"/>
              </a:rPr>
              <a:t>An allocation method refers to how disk blocks are allocated for files:</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Font typeface="Times New Roman"/>
              <a:buChar char="•"/>
            </a:pPr>
            <a:r>
              <a:rPr lang="en-US" sz="2500">
                <a:latin typeface="Times New Roman"/>
                <a:ea typeface="Times New Roman"/>
                <a:cs typeface="Times New Roman"/>
                <a:sym typeface="Times New Roman"/>
              </a:rPr>
              <a:t>Each file occupies set of contiguous blocks</a:t>
            </a:r>
            <a:endParaRPr sz="2500">
              <a:latin typeface="Times New Roman"/>
              <a:ea typeface="Times New Roman"/>
              <a:cs typeface="Times New Roman"/>
              <a:sym typeface="Times New Roman"/>
            </a:endParaRPr>
          </a:p>
          <a:p>
            <a:pPr indent="-387350" lvl="1" marL="914400" rtl="0" algn="l">
              <a:lnSpc>
                <a:spcPct val="115000"/>
              </a:lnSpc>
              <a:spcBef>
                <a:spcPts val="0"/>
              </a:spcBef>
              <a:spcAft>
                <a:spcPts val="0"/>
              </a:spcAft>
              <a:buSzPts val="2500"/>
              <a:buFont typeface="Times New Roman"/>
              <a:buChar char="•"/>
            </a:pPr>
            <a:r>
              <a:rPr lang="en-US" sz="2500">
                <a:latin typeface="Times New Roman"/>
                <a:ea typeface="Times New Roman"/>
                <a:cs typeface="Times New Roman"/>
                <a:sym typeface="Times New Roman"/>
              </a:rPr>
              <a:t>Best performance in most cases</a:t>
            </a:r>
            <a:endParaRPr sz="2500">
              <a:latin typeface="Times New Roman"/>
              <a:ea typeface="Times New Roman"/>
              <a:cs typeface="Times New Roman"/>
              <a:sym typeface="Times New Roman"/>
            </a:endParaRPr>
          </a:p>
          <a:p>
            <a:pPr indent="-387350" lvl="1" marL="914400" rtl="0" algn="l">
              <a:lnSpc>
                <a:spcPct val="115000"/>
              </a:lnSpc>
              <a:spcBef>
                <a:spcPts val="0"/>
              </a:spcBef>
              <a:spcAft>
                <a:spcPts val="0"/>
              </a:spcAft>
              <a:buSzPts val="2500"/>
              <a:buFont typeface="Times New Roman"/>
              <a:buChar char="•"/>
            </a:pPr>
            <a:r>
              <a:rPr lang="en-US" sz="2500">
                <a:latin typeface="Times New Roman"/>
                <a:ea typeface="Times New Roman"/>
                <a:cs typeface="Times New Roman"/>
                <a:sym typeface="Times New Roman"/>
              </a:rPr>
              <a:t>Simple – only starting location (block #) and length (number of blocks) are required</a:t>
            </a:r>
            <a:endParaRPr sz="2500">
              <a:latin typeface="Times New Roman"/>
              <a:ea typeface="Times New Roman"/>
              <a:cs typeface="Times New Roman"/>
              <a:sym typeface="Times New Roman"/>
            </a:endParaRPr>
          </a:p>
          <a:p>
            <a:pPr indent="-387350" lvl="1" marL="914400" rtl="0" algn="l">
              <a:lnSpc>
                <a:spcPct val="115000"/>
              </a:lnSpc>
              <a:spcBef>
                <a:spcPts val="0"/>
              </a:spcBef>
              <a:spcAft>
                <a:spcPts val="0"/>
              </a:spcAft>
              <a:buSzPts val="2500"/>
              <a:buFont typeface="Times New Roman"/>
              <a:buChar char="•"/>
            </a:pPr>
            <a:r>
              <a:rPr lang="en-US" sz="2500">
                <a:latin typeface="Times New Roman"/>
                <a:ea typeface="Times New Roman"/>
                <a:cs typeface="Times New Roman"/>
                <a:sym typeface="Times New Roman"/>
              </a:rPr>
              <a:t>Problems include:</a:t>
            </a:r>
            <a:endParaRPr sz="2500">
              <a:latin typeface="Times New Roman"/>
              <a:ea typeface="Times New Roman"/>
              <a:cs typeface="Times New Roman"/>
              <a:sym typeface="Times New Roman"/>
            </a:endParaRPr>
          </a:p>
          <a:p>
            <a:pPr indent="-387350" lvl="2" marL="1371600" rtl="0" algn="l">
              <a:lnSpc>
                <a:spcPct val="115000"/>
              </a:lnSpc>
              <a:spcBef>
                <a:spcPts val="0"/>
              </a:spcBef>
              <a:spcAft>
                <a:spcPts val="0"/>
              </a:spcAft>
              <a:buSzPts val="2500"/>
              <a:buFont typeface="Times New Roman"/>
              <a:buChar char="•"/>
            </a:pPr>
            <a:r>
              <a:rPr lang="en-US" sz="2500">
                <a:latin typeface="Times New Roman"/>
                <a:ea typeface="Times New Roman"/>
                <a:cs typeface="Times New Roman"/>
                <a:sym typeface="Times New Roman"/>
              </a:rPr>
              <a:t>Finding space on the disk for a file,</a:t>
            </a:r>
            <a:endParaRPr sz="2500">
              <a:latin typeface="Times New Roman"/>
              <a:ea typeface="Times New Roman"/>
              <a:cs typeface="Times New Roman"/>
              <a:sym typeface="Times New Roman"/>
            </a:endParaRPr>
          </a:p>
          <a:p>
            <a:pPr indent="-387350" lvl="2" marL="1371600" rtl="0" algn="l">
              <a:lnSpc>
                <a:spcPct val="115000"/>
              </a:lnSpc>
              <a:spcBef>
                <a:spcPts val="0"/>
              </a:spcBef>
              <a:spcAft>
                <a:spcPts val="0"/>
              </a:spcAft>
              <a:buSzPts val="2500"/>
              <a:buFont typeface="Times New Roman"/>
              <a:buChar char="•"/>
            </a:pPr>
            <a:r>
              <a:rPr lang="en-US" sz="2500">
                <a:latin typeface="Times New Roman"/>
                <a:ea typeface="Times New Roman"/>
                <a:cs typeface="Times New Roman"/>
                <a:sym typeface="Times New Roman"/>
              </a:rPr>
              <a:t>Knowing file size,</a:t>
            </a:r>
            <a:endParaRPr sz="2500">
              <a:latin typeface="Times New Roman"/>
              <a:ea typeface="Times New Roman"/>
              <a:cs typeface="Times New Roman"/>
              <a:sym typeface="Times New Roman"/>
            </a:endParaRPr>
          </a:p>
          <a:p>
            <a:pPr indent="-374650" lvl="2" marL="1371600" rtl="0" algn="l">
              <a:lnSpc>
                <a:spcPct val="115000"/>
              </a:lnSpc>
              <a:spcBef>
                <a:spcPts val="0"/>
              </a:spcBef>
              <a:spcAft>
                <a:spcPts val="0"/>
              </a:spcAft>
              <a:buSzPts val="2300"/>
              <a:buFont typeface="Times New Roman"/>
              <a:buChar char="•"/>
            </a:pPr>
            <a:r>
              <a:rPr lang="en-US" sz="2500">
                <a:latin typeface="Times New Roman"/>
                <a:ea typeface="Times New Roman"/>
                <a:cs typeface="Times New Roman"/>
                <a:sym typeface="Times New Roman"/>
              </a:rPr>
              <a:t>External f</a:t>
            </a:r>
            <a:r>
              <a:rPr lang="en-US" sz="2300">
                <a:latin typeface="Times New Roman"/>
                <a:ea typeface="Times New Roman"/>
                <a:cs typeface="Times New Roman"/>
                <a:sym typeface="Times New Roman"/>
              </a:rPr>
              <a:t>ragmentation, need for </a:t>
            </a:r>
            <a:r>
              <a:rPr b="1" lang="en-US" sz="2300">
                <a:solidFill>
                  <a:srgbClr val="006699"/>
                </a:solidFill>
                <a:latin typeface="Times New Roman"/>
                <a:ea typeface="Times New Roman"/>
                <a:cs typeface="Times New Roman"/>
                <a:sym typeface="Times New Roman"/>
              </a:rPr>
              <a:t>compaction</a:t>
            </a:r>
            <a:r>
              <a:rPr b="1" lang="en-US" sz="2300">
                <a:solidFill>
                  <a:srgbClr val="3366FF"/>
                </a:solidFill>
                <a:latin typeface="Times New Roman"/>
                <a:ea typeface="Times New Roman"/>
                <a:cs typeface="Times New Roman"/>
                <a:sym typeface="Times New Roman"/>
              </a:rPr>
              <a:t> </a:t>
            </a:r>
            <a:r>
              <a:rPr b="1" lang="en-US" sz="2300">
                <a:solidFill>
                  <a:srgbClr val="006699"/>
                </a:solidFill>
                <a:latin typeface="Times New Roman"/>
                <a:ea typeface="Times New Roman"/>
                <a:cs typeface="Times New Roman"/>
                <a:sym typeface="Times New Roman"/>
              </a:rPr>
              <a:t>off-line</a:t>
            </a:r>
            <a:r>
              <a:rPr lang="en-US" sz="2300">
                <a:latin typeface="Times New Roman"/>
                <a:ea typeface="Times New Roman"/>
                <a:cs typeface="Times New Roman"/>
                <a:sym typeface="Times New Roman"/>
              </a:rPr>
              <a:t> (</a:t>
            </a:r>
            <a:r>
              <a:rPr b="1" lang="en-US" sz="2300">
                <a:solidFill>
                  <a:srgbClr val="006699"/>
                </a:solidFill>
                <a:latin typeface="Times New Roman"/>
                <a:ea typeface="Times New Roman"/>
                <a:cs typeface="Times New Roman"/>
                <a:sym typeface="Times New Roman"/>
              </a:rPr>
              <a:t>downtime</a:t>
            </a:r>
            <a:r>
              <a:rPr lang="en-US" sz="2300">
                <a:latin typeface="Times New Roman"/>
                <a:ea typeface="Times New Roman"/>
                <a:cs typeface="Times New Roman"/>
                <a:sym typeface="Times New Roman"/>
              </a:rPr>
              <a:t>) or </a:t>
            </a:r>
            <a:r>
              <a:rPr b="1" lang="en-US" sz="2300">
                <a:solidFill>
                  <a:srgbClr val="006699"/>
                </a:solidFill>
                <a:latin typeface="Times New Roman"/>
                <a:ea typeface="Times New Roman"/>
                <a:cs typeface="Times New Roman"/>
                <a:sym typeface="Times New Roman"/>
              </a:rPr>
              <a:t>on-line</a:t>
            </a:r>
            <a:endParaRPr b="1" sz="34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3400">
              <a:latin typeface="Times New Roman"/>
              <a:ea typeface="Times New Roman"/>
              <a:cs typeface="Times New Roman"/>
              <a:sym typeface="Times New Roman"/>
            </a:endParaRPr>
          </a:p>
        </p:txBody>
      </p:sp>
      <p:sp>
        <p:nvSpPr>
          <p:cNvPr id="314" name="Google Shape;314;g38aec7963ef_1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8aec7963ef_0_0"/>
          <p:cNvSpPr txBox="1"/>
          <p:nvPr>
            <p:ph type="title"/>
          </p:nvPr>
        </p:nvSpPr>
        <p:spPr>
          <a:xfrm>
            <a:off x="70600" y="-73625"/>
            <a:ext cx="11283300" cy="114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Contiguous Allocation</a:t>
            </a:r>
            <a:endParaRPr/>
          </a:p>
        </p:txBody>
      </p:sp>
      <p:sp>
        <p:nvSpPr>
          <p:cNvPr id="321" name="Google Shape;321;g38aec7963ef_0_0"/>
          <p:cNvSpPr txBox="1"/>
          <p:nvPr>
            <p:ph idx="1" type="body"/>
          </p:nvPr>
        </p:nvSpPr>
        <p:spPr>
          <a:xfrm>
            <a:off x="0" y="813475"/>
            <a:ext cx="6528600" cy="52056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15000"/>
              </a:lnSpc>
              <a:spcBef>
                <a:spcPts val="1200"/>
              </a:spcBef>
              <a:spcAft>
                <a:spcPts val="0"/>
              </a:spcAft>
              <a:buClr>
                <a:schemeClr val="dk1"/>
              </a:buClr>
              <a:buSzPct val="32599"/>
              <a:buFont typeface="Arial"/>
              <a:buNone/>
            </a:pPr>
            <a:r>
              <a:rPr lang="en-US" sz="3374">
                <a:latin typeface="Arial"/>
                <a:ea typeface="Arial"/>
                <a:cs typeface="Arial"/>
                <a:sym typeface="Arial"/>
              </a:rPr>
              <a:t>Each file occupies a set of contiguous (adjacent) blocks on the disk.</a:t>
            </a:r>
            <a:endParaRPr sz="3374">
              <a:latin typeface="Arial"/>
              <a:ea typeface="Arial"/>
              <a:cs typeface="Arial"/>
              <a:sym typeface="Arial"/>
            </a:endParaRPr>
          </a:p>
          <a:p>
            <a:pPr indent="0" lvl="0" marL="0" rtl="0" algn="l">
              <a:lnSpc>
                <a:spcPct val="115000"/>
              </a:lnSpc>
              <a:spcBef>
                <a:spcPts val="1200"/>
              </a:spcBef>
              <a:spcAft>
                <a:spcPts val="0"/>
              </a:spcAft>
              <a:buClr>
                <a:schemeClr val="dk1"/>
              </a:buClr>
              <a:buSzPct val="32599"/>
              <a:buFont typeface="Arial"/>
              <a:buNone/>
            </a:pPr>
            <a:br>
              <a:rPr lang="en-US" sz="3374">
                <a:latin typeface="Arial"/>
                <a:ea typeface="Arial"/>
                <a:cs typeface="Arial"/>
                <a:sym typeface="Arial"/>
              </a:rPr>
            </a:br>
            <a:endParaRPr sz="3374">
              <a:latin typeface="Arial"/>
              <a:ea typeface="Arial"/>
              <a:cs typeface="Arial"/>
              <a:sym typeface="Arial"/>
            </a:endParaRPr>
          </a:p>
          <a:p>
            <a:pPr indent="0" lvl="0" marL="0" rtl="0" algn="l">
              <a:lnSpc>
                <a:spcPct val="115000"/>
              </a:lnSpc>
              <a:spcBef>
                <a:spcPts val="1200"/>
              </a:spcBef>
              <a:spcAft>
                <a:spcPts val="0"/>
              </a:spcAft>
              <a:buClr>
                <a:schemeClr val="dk1"/>
              </a:buClr>
              <a:buSzPct val="32599"/>
              <a:buFont typeface="Arial"/>
              <a:buNone/>
            </a:pPr>
            <a:r>
              <a:rPr b="1" lang="en-US" sz="3374">
                <a:latin typeface="Arial"/>
                <a:ea typeface="Arial"/>
                <a:cs typeface="Arial"/>
                <a:sym typeface="Arial"/>
              </a:rPr>
              <a:t>Advantages:</a:t>
            </a:r>
            <a:endParaRPr b="1" sz="3374">
              <a:latin typeface="Arial"/>
              <a:ea typeface="Arial"/>
              <a:cs typeface="Arial"/>
              <a:sym typeface="Arial"/>
            </a:endParaRPr>
          </a:p>
          <a:p>
            <a:pPr indent="-394703" lvl="0" marL="457200" rtl="0" algn="l">
              <a:lnSpc>
                <a:spcPct val="115000"/>
              </a:lnSpc>
              <a:spcBef>
                <a:spcPts val="0"/>
              </a:spcBef>
              <a:spcAft>
                <a:spcPts val="0"/>
              </a:spcAft>
              <a:buSzPct val="100000"/>
              <a:buChar char="●"/>
            </a:pPr>
            <a:r>
              <a:rPr lang="en-US" sz="3374">
                <a:latin typeface="Arial"/>
                <a:ea typeface="Arial"/>
                <a:cs typeface="Arial"/>
                <a:sym typeface="Arial"/>
              </a:rPr>
              <a:t>Fast sequential and direct access</a:t>
            </a:r>
            <a:endParaRPr sz="3374">
              <a:latin typeface="Arial"/>
              <a:ea typeface="Arial"/>
              <a:cs typeface="Arial"/>
              <a:sym typeface="Arial"/>
            </a:endParaRPr>
          </a:p>
          <a:p>
            <a:pPr indent="-394703" lvl="0" marL="457200" rtl="0" algn="l">
              <a:lnSpc>
                <a:spcPct val="115000"/>
              </a:lnSpc>
              <a:spcBef>
                <a:spcPts val="0"/>
              </a:spcBef>
              <a:spcAft>
                <a:spcPts val="0"/>
              </a:spcAft>
              <a:buSzPct val="100000"/>
              <a:buChar char="●"/>
            </a:pPr>
            <a:r>
              <a:rPr lang="en-US" sz="3374">
                <a:latin typeface="Arial"/>
                <a:ea typeface="Arial"/>
                <a:cs typeface="Arial"/>
                <a:sym typeface="Arial"/>
              </a:rPr>
              <a:t>Simple to implement</a:t>
            </a:r>
            <a:endParaRPr sz="3374">
              <a:latin typeface="Arial"/>
              <a:ea typeface="Arial"/>
              <a:cs typeface="Arial"/>
              <a:sym typeface="Arial"/>
            </a:endParaRPr>
          </a:p>
          <a:p>
            <a:pPr indent="0" lvl="0" marL="0" rtl="0" algn="l">
              <a:lnSpc>
                <a:spcPct val="115000"/>
              </a:lnSpc>
              <a:spcBef>
                <a:spcPts val="0"/>
              </a:spcBef>
              <a:spcAft>
                <a:spcPts val="0"/>
              </a:spcAft>
              <a:buClr>
                <a:schemeClr val="dk1"/>
              </a:buClr>
              <a:buSzPct val="32599"/>
              <a:buFont typeface="Arial"/>
              <a:buNone/>
            </a:pPr>
            <a:r>
              <a:rPr b="1" lang="en-US" sz="3374">
                <a:latin typeface="Arial"/>
                <a:ea typeface="Arial"/>
                <a:cs typeface="Arial"/>
                <a:sym typeface="Arial"/>
              </a:rPr>
              <a:t>Disadvantages:</a:t>
            </a:r>
            <a:endParaRPr b="1" sz="3374">
              <a:latin typeface="Arial"/>
              <a:ea typeface="Arial"/>
              <a:cs typeface="Arial"/>
              <a:sym typeface="Arial"/>
            </a:endParaRPr>
          </a:p>
          <a:p>
            <a:pPr indent="-394703" lvl="0" marL="457200" rtl="0" algn="l">
              <a:lnSpc>
                <a:spcPct val="115000"/>
              </a:lnSpc>
              <a:spcBef>
                <a:spcPts val="0"/>
              </a:spcBef>
              <a:spcAft>
                <a:spcPts val="0"/>
              </a:spcAft>
              <a:buSzPct val="100000"/>
              <a:buChar char="●"/>
            </a:pPr>
            <a:r>
              <a:rPr lang="en-US" sz="3374">
                <a:latin typeface="Arial"/>
                <a:ea typeface="Arial"/>
                <a:cs typeface="Arial"/>
                <a:sym typeface="Arial"/>
              </a:rPr>
              <a:t>External fragmentation</a:t>
            </a:r>
            <a:br>
              <a:rPr lang="en-US" sz="3374">
                <a:latin typeface="Arial"/>
                <a:ea typeface="Arial"/>
                <a:cs typeface="Arial"/>
                <a:sym typeface="Arial"/>
              </a:rPr>
            </a:br>
            <a:endParaRPr sz="3374">
              <a:latin typeface="Arial"/>
              <a:ea typeface="Arial"/>
              <a:cs typeface="Arial"/>
              <a:sym typeface="Arial"/>
            </a:endParaRPr>
          </a:p>
          <a:p>
            <a:pPr indent="-282750" lvl="0" marL="457200" rtl="0" algn="l">
              <a:lnSpc>
                <a:spcPct val="115000"/>
              </a:lnSpc>
              <a:spcBef>
                <a:spcPts val="0"/>
              </a:spcBef>
              <a:spcAft>
                <a:spcPts val="0"/>
              </a:spcAft>
              <a:buSzPct val="32599"/>
              <a:buChar char="●"/>
            </a:pPr>
            <a:r>
              <a:rPr lang="en-US" sz="3374">
                <a:latin typeface="Arial"/>
                <a:ea typeface="Arial"/>
                <a:cs typeface="Arial"/>
                <a:sym typeface="Arial"/>
              </a:rPr>
              <a:t>Difficult to grow files dynamically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90000"/>
              </a:lnSpc>
              <a:spcBef>
                <a:spcPts val="1000"/>
              </a:spcBef>
              <a:spcAft>
                <a:spcPts val="0"/>
              </a:spcAft>
              <a:buSzPct val="82949"/>
              <a:buNone/>
            </a:pPr>
            <a:r>
              <a:t/>
            </a:r>
            <a:endParaRPr/>
          </a:p>
        </p:txBody>
      </p:sp>
      <p:sp>
        <p:nvSpPr>
          <p:cNvPr id="322" name="Google Shape;322;g38aec7963ef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23" name="Google Shape;323;g38aec7963ef_0_0" title="continous allocation.png"/>
          <p:cNvPicPr preferRelativeResize="0"/>
          <p:nvPr/>
        </p:nvPicPr>
        <p:blipFill rotWithShape="1">
          <a:blip r:embed="rId3">
            <a:alphaModFix/>
          </a:blip>
          <a:srcRect b="0" l="0" r="0" t="0"/>
          <a:stretch/>
        </p:blipFill>
        <p:spPr>
          <a:xfrm>
            <a:off x="6681000" y="982206"/>
            <a:ext cx="5358599" cy="4922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8aec7963ef_0_7"/>
          <p:cNvSpPr txBox="1"/>
          <p:nvPr>
            <p:ph type="title"/>
          </p:nvPr>
        </p:nvSpPr>
        <p:spPr>
          <a:xfrm>
            <a:off x="-78125" y="75125"/>
            <a:ext cx="11431800" cy="1074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Linked Allocation</a:t>
            </a:r>
            <a:endParaRPr/>
          </a:p>
        </p:txBody>
      </p:sp>
      <p:sp>
        <p:nvSpPr>
          <p:cNvPr id="330" name="Google Shape;330;g38aec7963ef_0_7"/>
          <p:cNvSpPr txBox="1"/>
          <p:nvPr>
            <p:ph idx="1" type="body"/>
          </p:nvPr>
        </p:nvSpPr>
        <p:spPr>
          <a:xfrm>
            <a:off x="0" y="1272000"/>
            <a:ext cx="5873100" cy="49047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200"/>
              </a:spcBef>
              <a:spcAft>
                <a:spcPts val="0"/>
              </a:spcAft>
              <a:buClr>
                <a:schemeClr val="dk1"/>
              </a:buClr>
              <a:buSzPts val="1100"/>
              <a:buFont typeface="Arial"/>
              <a:buNone/>
            </a:pPr>
            <a:r>
              <a:rPr lang="en-US" sz="1700">
                <a:latin typeface="Arial"/>
                <a:ea typeface="Arial"/>
                <a:cs typeface="Arial"/>
                <a:sym typeface="Arial"/>
              </a:rPr>
              <a:t>Each file is a linked list of disk blocks. Each block contains a pointer to the next block.</a:t>
            </a:r>
            <a:endParaRPr sz="1700">
              <a:latin typeface="Arial"/>
              <a:ea typeface="Arial"/>
              <a:cs typeface="Arial"/>
              <a:sym typeface="Arial"/>
            </a:endParaRPr>
          </a:p>
          <a:p>
            <a:pPr indent="0" lvl="0" marL="0" rtl="0" algn="l">
              <a:lnSpc>
                <a:spcPct val="105000"/>
              </a:lnSpc>
              <a:spcBef>
                <a:spcPts val="1200"/>
              </a:spcBef>
              <a:spcAft>
                <a:spcPts val="0"/>
              </a:spcAft>
              <a:buClr>
                <a:schemeClr val="dk1"/>
              </a:buClr>
              <a:buSzPts val="1100"/>
              <a:buFont typeface="Arial"/>
              <a:buNone/>
            </a:pPr>
            <a:r>
              <a:t/>
            </a:r>
            <a:endParaRPr sz="1700">
              <a:latin typeface="Arial"/>
              <a:ea typeface="Arial"/>
              <a:cs typeface="Arial"/>
              <a:sym typeface="Arial"/>
            </a:endParaRPr>
          </a:p>
          <a:p>
            <a:pPr indent="0" lvl="0" marL="0" rtl="0" algn="l">
              <a:lnSpc>
                <a:spcPct val="105000"/>
              </a:lnSpc>
              <a:spcBef>
                <a:spcPts val="1200"/>
              </a:spcBef>
              <a:spcAft>
                <a:spcPts val="0"/>
              </a:spcAft>
              <a:buClr>
                <a:schemeClr val="dk1"/>
              </a:buClr>
              <a:buSzPts val="1100"/>
              <a:buFont typeface="Arial"/>
              <a:buNone/>
            </a:pPr>
            <a:r>
              <a:rPr b="1" lang="en-US" sz="1700">
                <a:latin typeface="Arial"/>
                <a:ea typeface="Arial"/>
                <a:cs typeface="Arial"/>
                <a:sym typeface="Arial"/>
              </a:rPr>
              <a:t>Advantages:</a:t>
            </a:r>
            <a:endParaRPr b="1" sz="1700">
              <a:latin typeface="Arial"/>
              <a:ea typeface="Arial"/>
              <a:cs typeface="Arial"/>
              <a:sym typeface="Arial"/>
            </a:endParaRPr>
          </a:p>
          <a:p>
            <a:pPr indent="-336550" lvl="0" marL="457200" rtl="0" algn="l">
              <a:lnSpc>
                <a:spcPct val="105000"/>
              </a:lnSpc>
              <a:spcBef>
                <a:spcPts val="1200"/>
              </a:spcBef>
              <a:spcAft>
                <a:spcPts val="0"/>
              </a:spcAft>
              <a:buSzPts val="1700"/>
              <a:buChar char="●"/>
            </a:pPr>
            <a:r>
              <a:rPr lang="en-US" sz="1700">
                <a:latin typeface="Arial"/>
                <a:ea typeface="Arial"/>
                <a:cs typeface="Arial"/>
                <a:sym typeface="Arial"/>
              </a:rPr>
              <a:t>No external fragmentation</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05000"/>
              </a:lnSpc>
              <a:spcBef>
                <a:spcPts val="0"/>
              </a:spcBef>
              <a:spcAft>
                <a:spcPts val="0"/>
              </a:spcAft>
              <a:buSzPts val="1700"/>
              <a:buChar char="●"/>
            </a:pPr>
            <a:r>
              <a:rPr lang="en-US" sz="1700">
                <a:latin typeface="Arial"/>
                <a:ea typeface="Arial"/>
                <a:cs typeface="Arial"/>
                <a:sym typeface="Arial"/>
              </a:rPr>
              <a:t>Easy to grow file size</a:t>
            </a:r>
            <a:endParaRPr sz="1700">
              <a:latin typeface="Arial"/>
              <a:ea typeface="Arial"/>
              <a:cs typeface="Arial"/>
              <a:sym typeface="Arial"/>
            </a:endParaRPr>
          </a:p>
          <a:p>
            <a:pPr indent="0" lvl="0" marL="0" rtl="0" algn="l">
              <a:lnSpc>
                <a:spcPct val="105000"/>
              </a:lnSpc>
              <a:spcBef>
                <a:spcPts val="1200"/>
              </a:spcBef>
              <a:spcAft>
                <a:spcPts val="0"/>
              </a:spcAft>
              <a:buClr>
                <a:schemeClr val="dk1"/>
              </a:buClr>
              <a:buSzPts val="1100"/>
              <a:buFont typeface="Arial"/>
              <a:buNone/>
            </a:pPr>
            <a:r>
              <a:rPr b="1" lang="en-US" sz="1700">
                <a:latin typeface="Arial"/>
                <a:ea typeface="Arial"/>
                <a:cs typeface="Arial"/>
                <a:sym typeface="Arial"/>
              </a:rPr>
              <a:t>Disadvantages:</a:t>
            </a:r>
            <a:endParaRPr b="1" sz="1700">
              <a:latin typeface="Arial"/>
              <a:ea typeface="Arial"/>
              <a:cs typeface="Arial"/>
              <a:sym typeface="Arial"/>
            </a:endParaRPr>
          </a:p>
          <a:p>
            <a:pPr indent="0" lvl="0" marL="457200" rtl="0" algn="l">
              <a:lnSpc>
                <a:spcPct val="105000"/>
              </a:lnSpc>
              <a:spcBef>
                <a:spcPts val="1200"/>
              </a:spcBef>
              <a:spcAft>
                <a:spcPts val="0"/>
              </a:spcAft>
              <a:buSzPts val="1800"/>
              <a:buNone/>
            </a:pPr>
            <a:r>
              <a:rPr lang="en-US" sz="1700">
                <a:latin typeface="Arial"/>
                <a:ea typeface="Arial"/>
                <a:cs typeface="Arial"/>
                <a:sym typeface="Arial"/>
              </a:rPr>
              <a:t>No direct access (only sequential)</a:t>
            </a:r>
            <a:endParaRPr sz="1700">
              <a:latin typeface="Arial"/>
              <a:ea typeface="Arial"/>
              <a:cs typeface="Arial"/>
              <a:sym typeface="Arial"/>
            </a:endParaRPr>
          </a:p>
          <a:p>
            <a:pPr indent="-336550" lvl="0" marL="457200" rtl="0" algn="l">
              <a:lnSpc>
                <a:spcPct val="105000"/>
              </a:lnSpc>
              <a:spcBef>
                <a:spcPts val="1200"/>
              </a:spcBef>
              <a:spcAft>
                <a:spcPts val="0"/>
              </a:spcAft>
              <a:buSzPts val="1700"/>
              <a:buChar char="●"/>
            </a:pPr>
            <a:r>
              <a:rPr lang="en-US" sz="1700">
                <a:latin typeface="Arial"/>
                <a:ea typeface="Arial"/>
                <a:cs typeface="Arial"/>
                <a:sym typeface="Arial"/>
              </a:rPr>
              <a:t>Pointer overhead</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05000"/>
              </a:lnSpc>
              <a:spcBef>
                <a:spcPts val="0"/>
              </a:spcBef>
              <a:spcAft>
                <a:spcPts val="0"/>
              </a:spcAft>
              <a:buSzPts val="1700"/>
              <a:buChar char="●"/>
            </a:pPr>
            <a:r>
              <a:rPr lang="en-US" sz="1700">
                <a:latin typeface="Arial"/>
                <a:ea typeface="Arial"/>
                <a:cs typeface="Arial"/>
                <a:sym typeface="Arial"/>
              </a:rPr>
              <a:t>Possible reliability issue if pointer is lost</a:t>
            </a:r>
            <a:endParaRPr sz="1700">
              <a:latin typeface="Arial"/>
              <a:ea typeface="Arial"/>
              <a:cs typeface="Arial"/>
              <a:sym typeface="Arial"/>
            </a:endParaRPr>
          </a:p>
          <a:p>
            <a:pPr indent="0" lvl="0" marL="0" rtl="0" algn="l">
              <a:lnSpc>
                <a:spcPct val="80000"/>
              </a:lnSpc>
              <a:spcBef>
                <a:spcPts val="1200"/>
              </a:spcBef>
              <a:spcAft>
                <a:spcPts val="0"/>
              </a:spcAft>
              <a:buSzPts val="1800"/>
              <a:buNone/>
            </a:pPr>
            <a:r>
              <a:t/>
            </a:r>
            <a:endParaRPr/>
          </a:p>
        </p:txBody>
      </p:sp>
      <p:sp>
        <p:nvSpPr>
          <p:cNvPr id="331" name="Google Shape;331;g38aec7963ef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32" name="Google Shape;332;g38aec7963ef_0_7" title="Screenshot 2025-10-15 092047.png"/>
          <p:cNvPicPr preferRelativeResize="0"/>
          <p:nvPr/>
        </p:nvPicPr>
        <p:blipFill rotWithShape="1">
          <a:blip r:embed="rId3">
            <a:alphaModFix/>
          </a:blip>
          <a:srcRect b="0" l="0" r="0" t="0"/>
          <a:stretch/>
        </p:blipFill>
        <p:spPr>
          <a:xfrm>
            <a:off x="6096000" y="966675"/>
            <a:ext cx="5239650" cy="5125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8aec7963ef_0_14"/>
          <p:cNvSpPr txBox="1"/>
          <p:nvPr>
            <p:ph type="title"/>
          </p:nvPr>
        </p:nvSpPr>
        <p:spPr>
          <a:xfrm>
            <a:off x="0" y="-106675"/>
            <a:ext cx="11353800" cy="122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Indexed Allocation</a:t>
            </a:r>
            <a:endParaRPr/>
          </a:p>
        </p:txBody>
      </p:sp>
      <p:sp>
        <p:nvSpPr>
          <p:cNvPr id="339" name="Google Shape;339;g38aec7963ef_0_14"/>
          <p:cNvSpPr txBox="1"/>
          <p:nvPr>
            <p:ph idx="1" type="body"/>
          </p:nvPr>
        </p:nvSpPr>
        <p:spPr>
          <a:xfrm>
            <a:off x="0" y="950950"/>
            <a:ext cx="6456300" cy="5907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Each file has an </a:t>
            </a:r>
            <a:r>
              <a:rPr b="1" lang="en-US" sz="2400">
                <a:latin typeface="Arial"/>
                <a:ea typeface="Arial"/>
                <a:cs typeface="Arial"/>
                <a:sym typeface="Arial"/>
              </a:rPr>
              <a:t>index block</a:t>
            </a:r>
            <a:r>
              <a:rPr lang="en-US" sz="2400">
                <a:latin typeface="Arial"/>
                <a:ea typeface="Arial"/>
                <a:cs typeface="Arial"/>
                <a:sym typeface="Arial"/>
              </a:rPr>
              <a:t> that contains pointers to all its data blocks.</a:t>
            </a:r>
            <a:endParaRPr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400">
                <a:latin typeface="Arial"/>
                <a:ea typeface="Arial"/>
                <a:cs typeface="Arial"/>
                <a:sym typeface="Arial"/>
              </a:rPr>
              <a:t>Advantages:</a:t>
            </a:r>
            <a:endParaRPr b="1" sz="2400">
              <a:latin typeface="Arial"/>
              <a:ea typeface="Arial"/>
              <a:cs typeface="Arial"/>
              <a:sym typeface="Arial"/>
            </a:endParaRPr>
          </a:p>
          <a:p>
            <a:pPr indent="-381000" lvl="0" marL="457200" rtl="0" algn="l">
              <a:lnSpc>
                <a:spcPct val="115000"/>
              </a:lnSpc>
              <a:spcBef>
                <a:spcPts val="1200"/>
              </a:spcBef>
              <a:spcAft>
                <a:spcPts val="0"/>
              </a:spcAft>
              <a:buSzPts val="2400"/>
              <a:buChar char="●"/>
            </a:pPr>
            <a:r>
              <a:rPr lang="en-US" sz="2400">
                <a:latin typeface="Arial"/>
                <a:ea typeface="Arial"/>
                <a:cs typeface="Arial"/>
                <a:sym typeface="Arial"/>
              </a:rPr>
              <a:t>Supports both sequential and direct access</a:t>
            </a: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US" sz="2400">
                <a:latin typeface="Arial"/>
                <a:ea typeface="Arial"/>
                <a:cs typeface="Arial"/>
                <a:sym typeface="Arial"/>
              </a:rPr>
              <a:t>No external fragmentation</a:t>
            </a:r>
            <a:endParaRPr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400">
                <a:latin typeface="Arial"/>
                <a:ea typeface="Arial"/>
                <a:cs typeface="Arial"/>
                <a:sym typeface="Arial"/>
              </a:rPr>
              <a:t>Disadvantages:</a:t>
            </a:r>
            <a:endParaRPr b="1" sz="2400">
              <a:latin typeface="Arial"/>
              <a:ea typeface="Arial"/>
              <a:cs typeface="Arial"/>
              <a:sym typeface="Arial"/>
            </a:endParaRPr>
          </a:p>
          <a:p>
            <a:pPr indent="-381000" lvl="0" marL="457200" rtl="0" algn="l">
              <a:lnSpc>
                <a:spcPct val="115000"/>
              </a:lnSpc>
              <a:spcBef>
                <a:spcPts val="1200"/>
              </a:spcBef>
              <a:spcAft>
                <a:spcPts val="0"/>
              </a:spcAft>
              <a:buSzPts val="2400"/>
              <a:buChar char="●"/>
            </a:pPr>
            <a:r>
              <a:rPr lang="en-US" sz="2400">
                <a:latin typeface="Arial"/>
                <a:ea typeface="Arial"/>
                <a:cs typeface="Arial"/>
                <a:sym typeface="Arial"/>
              </a:rPr>
              <a:t>Overhead of index block</a:t>
            </a:r>
            <a:br>
              <a:rPr lang="en-US"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US" sz="2400">
                <a:latin typeface="Arial"/>
                <a:ea typeface="Arial"/>
                <a:cs typeface="Arial"/>
                <a:sym typeface="Arial"/>
              </a:rPr>
              <a:t>Small files may waste space</a:t>
            </a:r>
            <a:endParaRPr sz="2400">
              <a:latin typeface="Arial"/>
              <a:ea typeface="Arial"/>
              <a:cs typeface="Arial"/>
              <a:sym typeface="Arial"/>
            </a:endParaRPr>
          </a:p>
          <a:p>
            <a:pPr indent="0" lvl="0" marL="0" rtl="0" algn="l">
              <a:lnSpc>
                <a:spcPct val="90000"/>
              </a:lnSpc>
              <a:spcBef>
                <a:spcPts val="1200"/>
              </a:spcBef>
              <a:spcAft>
                <a:spcPts val="0"/>
              </a:spcAft>
              <a:buSzPts val="1800"/>
              <a:buNone/>
            </a:pPr>
            <a:r>
              <a:t/>
            </a:r>
            <a:endParaRPr/>
          </a:p>
        </p:txBody>
      </p:sp>
      <p:sp>
        <p:nvSpPr>
          <p:cNvPr id="340" name="Google Shape;340;g38aec7963ef_0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41" name="Google Shape;341;g38aec7963ef_0_14" title="Screenshot 2025-10-15 091837.png"/>
          <p:cNvPicPr preferRelativeResize="0"/>
          <p:nvPr/>
        </p:nvPicPr>
        <p:blipFill rotWithShape="1">
          <a:blip r:embed="rId3">
            <a:alphaModFix/>
          </a:blip>
          <a:srcRect b="0" l="0" r="0" t="0"/>
          <a:stretch/>
        </p:blipFill>
        <p:spPr>
          <a:xfrm>
            <a:off x="5818350" y="875500"/>
            <a:ext cx="6373650" cy="519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17"/>
          <p:cNvSpPr txBox="1"/>
          <p:nvPr>
            <p:ph type="title"/>
          </p:nvPr>
        </p:nvSpPr>
        <p:spPr>
          <a:xfrm>
            <a:off x="1676400" y="293687"/>
            <a:ext cx="8982075"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Structure</a:t>
            </a:r>
            <a:br>
              <a:rPr b="1" i="0" lang="en-US" sz="4400" u="none">
                <a:solidFill>
                  <a:schemeClr val="dk2"/>
                </a:solidFill>
                <a:latin typeface="Calibri"/>
                <a:ea typeface="Calibri"/>
                <a:cs typeface="Calibri"/>
                <a:sym typeface="Calibri"/>
              </a:rPr>
            </a:br>
            <a:endParaRPr/>
          </a:p>
        </p:txBody>
      </p:sp>
      <p:sp>
        <p:nvSpPr>
          <p:cNvPr id="348" name="Google Shape;348;p117"/>
          <p:cNvSpPr txBox="1"/>
          <p:nvPr>
            <p:ph idx="1" type="body"/>
          </p:nvPr>
        </p:nvSpPr>
        <p:spPr>
          <a:xfrm>
            <a:off x="317500" y="1282700"/>
            <a:ext cx="11607900" cy="4887000"/>
          </a:xfrm>
          <a:prstGeom prst="rect">
            <a:avLst/>
          </a:prstGeom>
          <a:noFill/>
          <a:ln>
            <a:noFill/>
          </a:ln>
        </p:spPr>
        <p:txBody>
          <a:bodyPr anchorCtr="0" anchor="t" bIns="45700" lIns="91425" spcFirstLastPara="1" rIns="91425" wrap="square" tIns="45700">
            <a:noAutofit/>
          </a:bodyPr>
          <a:lstStyle/>
          <a:p>
            <a:pPr indent="-406400" lvl="0" marL="457200" rtl="0" algn="l">
              <a:lnSpc>
                <a:spcPct val="115000"/>
              </a:lnSpc>
              <a:spcBef>
                <a:spcPts val="700"/>
              </a:spcBef>
              <a:spcAft>
                <a:spcPts val="0"/>
              </a:spcAft>
              <a:buSzPts val="2800"/>
              <a:buChar char="•"/>
            </a:pPr>
            <a:r>
              <a:rPr lang="en-US" sz="2100">
                <a:latin typeface="Times New Roman"/>
                <a:ea typeface="Times New Roman"/>
                <a:cs typeface="Times New Roman"/>
                <a:sym typeface="Times New Roman"/>
              </a:rPr>
              <a:t>Disk can be subdivided into </a:t>
            </a:r>
            <a:r>
              <a:rPr b="1" lang="en-US" sz="2100">
                <a:solidFill>
                  <a:srgbClr val="006699"/>
                </a:solidFill>
                <a:latin typeface="Times New Roman"/>
                <a:ea typeface="Times New Roman"/>
                <a:cs typeface="Times New Roman"/>
                <a:sym typeface="Times New Roman"/>
              </a:rPr>
              <a:t>partitions</a:t>
            </a:r>
            <a:endParaRPr b="1" sz="2100">
              <a:solidFill>
                <a:srgbClr val="006699"/>
              </a:solidFill>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Char char="•"/>
            </a:pPr>
            <a:r>
              <a:rPr lang="en-US" sz="2100">
                <a:latin typeface="Times New Roman"/>
                <a:ea typeface="Times New Roman"/>
                <a:cs typeface="Times New Roman"/>
                <a:sym typeface="Times New Roman"/>
              </a:rPr>
              <a:t>Disks or partitions can be </a:t>
            </a:r>
            <a:r>
              <a:rPr b="1" lang="en-US" sz="2100">
                <a:solidFill>
                  <a:srgbClr val="006699"/>
                </a:solidFill>
                <a:latin typeface="Times New Roman"/>
                <a:ea typeface="Times New Roman"/>
                <a:cs typeface="Times New Roman"/>
                <a:sym typeface="Times New Roman"/>
              </a:rPr>
              <a:t>RAID</a:t>
            </a:r>
            <a:r>
              <a:rPr b="1" lang="en-US" sz="2100">
                <a:solidFill>
                  <a:srgbClr val="3366FF"/>
                </a:solidFill>
                <a:latin typeface="Times New Roman"/>
                <a:ea typeface="Times New Roman"/>
                <a:cs typeface="Times New Roman"/>
                <a:sym typeface="Times New Roman"/>
              </a:rPr>
              <a:t> </a:t>
            </a:r>
            <a:r>
              <a:rPr lang="en-US" sz="2100">
                <a:latin typeface="Times New Roman"/>
                <a:ea typeface="Times New Roman"/>
                <a:cs typeface="Times New Roman"/>
                <a:sym typeface="Times New Roman"/>
              </a:rPr>
              <a:t>protected against failure</a:t>
            </a:r>
            <a:endParaRPr sz="21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Char char="•"/>
            </a:pPr>
            <a:r>
              <a:rPr lang="en-US" sz="2100">
                <a:latin typeface="Times New Roman"/>
                <a:ea typeface="Times New Roman"/>
                <a:cs typeface="Times New Roman"/>
                <a:sym typeface="Times New Roman"/>
              </a:rPr>
              <a:t>Disk or partition can be used </a:t>
            </a:r>
            <a:r>
              <a:rPr b="1" lang="en-US" sz="2100">
                <a:solidFill>
                  <a:srgbClr val="006699"/>
                </a:solidFill>
                <a:latin typeface="Times New Roman"/>
                <a:ea typeface="Times New Roman"/>
                <a:cs typeface="Times New Roman"/>
                <a:sym typeface="Times New Roman"/>
              </a:rPr>
              <a:t>raw</a:t>
            </a:r>
            <a:r>
              <a:rPr lang="en-US" sz="2100">
                <a:solidFill>
                  <a:srgbClr val="3366FF"/>
                </a:solidFill>
                <a:latin typeface="Times New Roman"/>
                <a:ea typeface="Times New Roman"/>
                <a:cs typeface="Times New Roman"/>
                <a:sym typeface="Times New Roman"/>
              </a:rPr>
              <a:t> </a:t>
            </a:r>
            <a:r>
              <a:rPr lang="en-US" sz="2100">
                <a:latin typeface="Times New Roman"/>
                <a:ea typeface="Times New Roman"/>
                <a:cs typeface="Times New Roman"/>
                <a:sym typeface="Times New Roman"/>
              </a:rPr>
              <a:t>– without a file system, or </a:t>
            </a:r>
            <a:r>
              <a:rPr b="1" lang="en-US" sz="2100">
                <a:solidFill>
                  <a:srgbClr val="006699"/>
                </a:solidFill>
                <a:latin typeface="Times New Roman"/>
                <a:ea typeface="Times New Roman"/>
                <a:cs typeface="Times New Roman"/>
                <a:sym typeface="Times New Roman"/>
              </a:rPr>
              <a:t>formatted</a:t>
            </a:r>
            <a:r>
              <a:rPr lang="en-US" sz="2100">
                <a:solidFill>
                  <a:srgbClr val="3366FF"/>
                </a:solidFill>
                <a:latin typeface="Times New Roman"/>
                <a:ea typeface="Times New Roman"/>
                <a:cs typeface="Times New Roman"/>
                <a:sym typeface="Times New Roman"/>
              </a:rPr>
              <a:t> </a:t>
            </a:r>
            <a:r>
              <a:rPr lang="en-US" sz="2100">
                <a:latin typeface="Times New Roman"/>
                <a:ea typeface="Times New Roman"/>
                <a:cs typeface="Times New Roman"/>
                <a:sym typeface="Times New Roman"/>
              </a:rPr>
              <a:t>with a file system</a:t>
            </a:r>
            <a:endParaRPr sz="21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100">
                <a:latin typeface="Times New Roman"/>
                <a:ea typeface="Times New Roman"/>
                <a:cs typeface="Times New Roman"/>
                <a:sym typeface="Times New Roman"/>
              </a:rPr>
              <a:t>Partitions also known as minidisks, slices</a:t>
            </a:r>
            <a:endParaRPr sz="21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Char char="•"/>
            </a:pPr>
            <a:r>
              <a:rPr lang="en-US" sz="2100">
                <a:latin typeface="Times New Roman"/>
                <a:ea typeface="Times New Roman"/>
                <a:cs typeface="Times New Roman"/>
                <a:sym typeface="Times New Roman"/>
              </a:rPr>
              <a:t>Entity containing file system is known as a </a:t>
            </a:r>
            <a:r>
              <a:rPr b="1" lang="en-US" sz="2100">
                <a:solidFill>
                  <a:srgbClr val="006699"/>
                </a:solidFill>
                <a:latin typeface="Times New Roman"/>
                <a:ea typeface="Times New Roman"/>
                <a:cs typeface="Times New Roman"/>
                <a:sym typeface="Times New Roman"/>
              </a:rPr>
              <a:t>volume</a:t>
            </a:r>
            <a:endParaRPr b="1" sz="2100">
              <a:solidFill>
                <a:srgbClr val="006699"/>
              </a:solidFill>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Char char="•"/>
            </a:pPr>
            <a:r>
              <a:rPr lang="en-US" sz="2100">
                <a:latin typeface="Times New Roman"/>
                <a:ea typeface="Times New Roman"/>
                <a:cs typeface="Times New Roman"/>
                <a:sym typeface="Times New Roman"/>
              </a:rPr>
              <a:t>Each volume containing a file system also tracks that file system’s info in </a:t>
            </a:r>
            <a:r>
              <a:rPr b="1" lang="en-US" sz="2100">
                <a:solidFill>
                  <a:srgbClr val="006699"/>
                </a:solidFill>
                <a:latin typeface="Times New Roman"/>
                <a:ea typeface="Times New Roman"/>
                <a:cs typeface="Times New Roman"/>
                <a:sym typeface="Times New Roman"/>
              </a:rPr>
              <a:t>device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directory</a:t>
            </a:r>
            <a:r>
              <a:rPr lang="en-US" sz="2100">
                <a:solidFill>
                  <a:srgbClr val="3366FF"/>
                </a:solidFill>
                <a:latin typeface="Times New Roman"/>
                <a:ea typeface="Times New Roman"/>
                <a:cs typeface="Times New Roman"/>
                <a:sym typeface="Times New Roman"/>
              </a:rPr>
              <a:t> </a:t>
            </a:r>
            <a:r>
              <a:rPr lang="en-US" sz="2100">
                <a:latin typeface="Times New Roman"/>
                <a:ea typeface="Times New Roman"/>
                <a:cs typeface="Times New Roman"/>
                <a:sym typeface="Times New Roman"/>
              </a:rPr>
              <a:t>or </a:t>
            </a:r>
            <a:r>
              <a:rPr b="1" lang="en-US" sz="2100">
                <a:solidFill>
                  <a:srgbClr val="006699"/>
                </a:solidFill>
                <a:latin typeface="Times New Roman"/>
                <a:ea typeface="Times New Roman"/>
                <a:cs typeface="Times New Roman"/>
                <a:sym typeface="Times New Roman"/>
              </a:rPr>
              <a:t>volume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table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of</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contents</a:t>
            </a:r>
            <a:endParaRPr b="1" sz="2100">
              <a:solidFill>
                <a:srgbClr val="006699"/>
              </a:solidFill>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Char char="•"/>
            </a:pPr>
            <a:r>
              <a:rPr lang="en-US" sz="2100">
                <a:latin typeface="Times New Roman"/>
                <a:ea typeface="Times New Roman"/>
                <a:cs typeface="Times New Roman"/>
                <a:sym typeface="Times New Roman"/>
              </a:rPr>
              <a:t>In addition to </a:t>
            </a:r>
            <a:r>
              <a:rPr b="1" lang="en-US" sz="2100">
                <a:solidFill>
                  <a:srgbClr val="006699"/>
                </a:solidFill>
                <a:latin typeface="Times New Roman"/>
                <a:ea typeface="Times New Roman"/>
                <a:cs typeface="Times New Roman"/>
                <a:sym typeface="Times New Roman"/>
              </a:rPr>
              <a:t>general-purpose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file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systems</a:t>
            </a:r>
            <a:r>
              <a:rPr lang="en-US" sz="2100">
                <a:solidFill>
                  <a:srgbClr val="3366FF"/>
                </a:solidFill>
                <a:latin typeface="Times New Roman"/>
                <a:ea typeface="Times New Roman"/>
                <a:cs typeface="Times New Roman"/>
                <a:sym typeface="Times New Roman"/>
              </a:rPr>
              <a:t> </a:t>
            </a:r>
            <a:r>
              <a:rPr lang="en-US" sz="2100">
                <a:latin typeface="Times New Roman"/>
                <a:ea typeface="Times New Roman"/>
                <a:cs typeface="Times New Roman"/>
                <a:sym typeface="Times New Roman"/>
              </a:rPr>
              <a:t>there are many </a:t>
            </a:r>
            <a:r>
              <a:rPr b="1" lang="en-US" sz="2100">
                <a:solidFill>
                  <a:srgbClr val="006699"/>
                </a:solidFill>
                <a:latin typeface="Times New Roman"/>
                <a:ea typeface="Times New Roman"/>
                <a:cs typeface="Times New Roman"/>
                <a:sym typeface="Times New Roman"/>
              </a:rPr>
              <a:t>special-purpose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file</a:t>
            </a:r>
            <a:r>
              <a:rPr b="1" lang="en-US" sz="2100">
                <a:solidFill>
                  <a:srgbClr val="3366FF"/>
                </a:solidFill>
                <a:latin typeface="Times New Roman"/>
                <a:ea typeface="Times New Roman"/>
                <a:cs typeface="Times New Roman"/>
                <a:sym typeface="Times New Roman"/>
              </a:rPr>
              <a:t> </a:t>
            </a:r>
            <a:r>
              <a:rPr b="1" lang="en-US" sz="2100">
                <a:solidFill>
                  <a:srgbClr val="006699"/>
                </a:solidFill>
                <a:latin typeface="Times New Roman"/>
                <a:ea typeface="Times New Roman"/>
                <a:cs typeface="Times New Roman"/>
                <a:sym typeface="Times New Roman"/>
              </a:rPr>
              <a:t>systems</a:t>
            </a:r>
            <a:r>
              <a:rPr lang="en-US" sz="2100">
                <a:latin typeface="Times New Roman"/>
                <a:ea typeface="Times New Roman"/>
                <a:cs typeface="Times New Roman"/>
                <a:sym typeface="Times New Roman"/>
              </a:rPr>
              <a:t>, frequently all within the same operating system or computer</a:t>
            </a:r>
            <a:endParaRPr>
              <a:latin typeface="Times New Roman"/>
              <a:ea typeface="Times New Roman"/>
              <a:cs typeface="Times New Roman"/>
              <a:sym typeface="Times New Roman"/>
            </a:endParaRPr>
          </a:p>
        </p:txBody>
      </p:sp>
      <p:sp>
        <p:nvSpPr>
          <p:cNvPr id="349" name="Google Shape;349;p11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50" name="Google Shape;350;p117"/>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351" name="Google Shape;351;p11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352" name="Google Shape;352;p117"/>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353" name="Google Shape;353;p1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8f13da0ada_1_30"/>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Structure</a:t>
            </a:r>
            <a:br>
              <a:rPr b="1" i="0" lang="en-US" sz="4400" u="none">
                <a:solidFill>
                  <a:schemeClr val="dk2"/>
                </a:solidFill>
                <a:latin typeface="Calibri"/>
                <a:ea typeface="Calibri"/>
                <a:cs typeface="Calibri"/>
                <a:sym typeface="Calibri"/>
              </a:rPr>
            </a:br>
            <a:endParaRPr/>
          </a:p>
        </p:txBody>
      </p:sp>
      <p:sp>
        <p:nvSpPr>
          <p:cNvPr id="360" name="Google Shape;360;g38f13da0ada_1_30"/>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1" name="Google Shape;361;g38f13da0ada_1_30"/>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362" name="Google Shape;362;g38f13da0ada_1_30"/>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363" name="Google Shape;363;g38f13da0ada_1_3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pic>
        <p:nvPicPr>
          <p:cNvPr id="364" name="Google Shape;364;g38f13da0ada_1_30"/>
          <p:cNvPicPr preferRelativeResize="0"/>
          <p:nvPr/>
        </p:nvPicPr>
        <p:blipFill rotWithShape="1">
          <a:blip r:embed="rId4">
            <a:alphaModFix/>
          </a:blip>
          <a:srcRect b="0" l="0" r="0" t="0"/>
          <a:stretch/>
        </p:blipFill>
        <p:spPr>
          <a:xfrm>
            <a:off x="1676400" y="195150"/>
            <a:ext cx="10091374" cy="6008801"/>
          </a:xfrm>
          <a:prstGeom prst="rect">
            <a:avLst/>
          </a:prstGeom>
          <a:noFill/>
          <a:ln>
            <a:noFill/>
          </a:ln>
        </p:spPr>
      </p:pic>
      <p:sp>
        <p:nvSpPr>
          <p:cNvPr id="365" name="Google Shape;365;g38f13da0ada_1_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7176c9e946_1_0"/>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Structure</a:t>
            </a:r>
            <a:br>
              <a:rPr b="1" i="0" lang="en-US" sz="4400" u="none">
                <a:solidFill>
                  <a:schemeClr val="dk2"/>
                </a:solidFill>
                <a:latin typeface="Calibri"/>
                <a:ea typeface="Calibri"/>
                <a:cs typeface="Calibri"/>
                <a:sym typeface="Calibri"/>
              </a:rPr>
            </a:br>
            <a:endParaRPr/>
          </a:p>
        </p:txBody>
      </p:sp>
      <p:sp>
        <p:nvSpPr>
          <p:cNvPr id="372" name="Google Shape;372;g37176c9e946_1_0"/>
          <p:cNvSpPr txBox="1"/>
          <p:nvPr>
            <p:ph idx="1" type="body"/>
          </p:nvPr>
        </p:nvSpPr>
        <p:spPr>
          <a:xfrm>
            <a:off x="317500" y="1282700"/>
            <a:ext cx="11607900" cy="4887000"/>
          </a:xfrm>
          <a:prstGeom prst="rect">
            <a:avLst/>
          </a:prstGeom>
          <a:noFill/>
          <a:ln>
            <a:noFill/>
          </a:ln>
        </p:spPr>
        <p:txBody>
          <a:bodyPr anchorCtr="0" anchor="t" bIns="45700" lIns="91425" spcFirstLastPara="1" rIns="91425" wrap="square" tIns="45700">
            <a:noAutofit/>
          </a:bodyPr>
          <a:lstStyle/>
          <a:p>
            <a:pPr indent="-203200" lvl="0" marL="228600" marR="0" rtl="0" algn="l">
              <a:lnSpc>
                <a:spcPct val="90000"/>
              </a:lnSpc>
              <a:spcBef>
                <a:spcPts val="1000"/>
              </a:spcBef>
              <a:spcAft>
                <a:spcPts val="0"/>
              </a:spcAft>
              <a:buClr>
                <a:schemeClr val="dk1"/>
              </a:buClr>
              <a:buSzPts val="2400"/>
              <a:buFont typeface="Arial"/>
              <a:buChar char="•"/>
            </a:pPr>
            <a:r>
              <a:rPr lang="en-US" sz="2400"/>
              <a:t>Modern disk drives are addressed as large one-dimensional arrays of where the logical block is the smallest unit of transfer. </a:t>
            </a:r>
            <a:endParaRPr sz="2400"/>
          </a:p>
          <a:p>
            <a:pPr indent="-203200" lvl="0" marL="228600" marR="0" rtl="0" algn="l">
              <a:lnSpc>
                <a:spcPct val="90000"/>
              </a:lnSpc>
              <a:spcBef>
                <a:spcPts val="1000"/>
              </a:spcBef>
              <a:spcAft>
                <a:spcPts val="0"/>
              </a:spcAft>
              <a:buClr>
                <a:schemeClr val="dk1"/>
              </a:buClr>
              <a:buSzPts val="2400"/>
              <a:buFont typeface="Arial"/>
              <a:buChar char="•"/>
            </a:pPr>
            <a:r>
              <a:rPr lang="en-US" sz="2400"/>
              <a:t>The size of a logical block is usually 512 bytes, although some disks can be to have a different logical block size, such as 1,024 bytes.</a:t>
            </a:r>
            <a:endParaRPr sz="2400"/>
          </a:p>
          <a:p>
            <a:pPr indent="-203200" lvl="0" marL="228600" marR="0" rtl="0" algn="l">
              <a:lnSpc>
                <a:spcPct val="90000"/>
              </a:lnSpc>
              <a:spcBef>
                <a:spcPts val="1000"/>
              </a:spcBef>
              <a:spcAft>
                <a:spcPts val="0"/>
              </a:spcAft>
              <a:buClr>
                <a:schemeClr val="dk1"/>
              </a:buClr>
              <a:buSzPts val="2400"/>
              <a:buFont typeface="Arial"/>
              <a:buChar char="•"/>
            </a:pPr>
            <a:r>
              <a:rPr lang="en-US" sz="2400"/>
              <a:t> The one-dimensional array of logical blocks is mapped onto the sectors of the disk sequentially. </a:t>
            </a:r>
            <a:endParaRPr sz="2400"/>
          </a:p>
          <a:p>
            <a:pPr indent="-203200" lvl="0" marL="228600" marR="0" rtl="0" algn="l">
              <a:lnSpc>
                <a:spcPct val="90000"/>
              </a:lnSpc>
              <a:spcBef>
                <a:spcPts val="1000"/>
              </a:spcBef>
              <a:spcAft>
                <a:spcPts val="0"/>
              </a:spcAft>
              <a:buClr>
                <a:schemeClr val="dk1"/>
              </a:buClr>
              <a:buSzPts val="2400"/>
              <a:buFont typeface="Arial"/>
              <a:buChar char="•"/>
            </a:pPr>
            <a:r>
              <a:rPr lang="en-US" sz="2400"/>
              <a:t>Sector 0 is the first sector of the first track on the outermost cylinder. </a:t>
            </a:r>
            <a:endParaRPr sz="2400"/>
          </a:p>
          <a:p>
            <a:pPr indent="-203200" lvl="0" marL="228600" marR="0" rtl="0" algn="l">
              <a:lnSpc>
                <a:spcPct val="90000"/>
              </a:lnSpc>
              <a:spcBef>
                <a:spcPts val="1000"/>
              </a:spcBef>
              <a:spcAft>
                <a:spcPts val="0"/>
              </a:spcAft>
              <a:buClr>
                <a:schemeClr val="dk1"/>
              </a:buClr>
              <a:buSzPts val="2400"/>
              <a:buFont typeface="Arial"/>
              <a:buChar char="•"/>
            </a:pPr>
            <a:r>
              <a:rPr lang="en-US" sz="2400"/>
              <a:t>The mapping proceeds in order through that track, then through the rest of the tracks in that cylinder, and then through the rest of the cylinders from outermost to innermost. </a:t>
            </a:r>
            <a:endParaRPr sz="2400"/>
          </a:p>
          <a:p>
            <a:pPr indent="-203200" lvl="0" marL="228600" marR="0" rtl="0" algn="l">
              <a:lnSpc>
                <a:spcPct val="90000"/>
              </a:lnSpc>
              <a:spcBef>
                <a:spcPts val="1000"/>
              </a:spcBef>
              <a:spcAft>
                <a:spcPts val="0"/>
              </a:spcAft>
              <a:buClr>
                <a:schemeClr val="dk1"/>
              </a:buClr>
              <a:buSzPts val="2400"/>
              <a:buFont typeface="Arial"/>
              <a:buChar char="•"/>
            </a:pPr>
            <a:r>
              <a:rPr lang="en-US" sz="2400"/>
              <a:t>By using this mapping, we can -at least in theory-convert a logical block number into an old-style disk address that consists of a cylinder number, a track number within that cylinder, and a sector number within that track. </a:t>
            </a:r>
            <a:endParaRPr b="0" i="0" sz="2400" u="none">
              <a:solidFill>
                <a:schemeClr val="dk1"/>
              </a:solidFill>
              <a:latin typeface="Calibri"/>
              <a:ea typeface="Calibri"/>
              <a:cs typeface="Calibri"/>
              <a:sym typeface="Calibri"/>
            </a:endParaRPr>
          </a:p>
        </p:txBody>
      </p:sp>
      <p:sp>
        <p:nvSpPr>
          <p:cNvPr id="373" name="Google Shape;373;g37176c9e946_1_0"/>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74" name="Google Shape;374;g37176c9e946_1_0"/>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375" name="Google Shape;375;g37176c9e946_1_0"/>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376" name="Google Shape;376;g37176c9e946_1_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377" name="Google Shape;377;g37176c9e946_1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711dd15de9_1_11"/>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Structure</a:t>
            </a:r>
            <a:br>
              <a:rPr b="1" i="0" lang="en-US" sz="4400" u="none">
                <a:solidFill>
                  <a:schemeClr val="dk2"/>
                </a:solidFill>
                <a:latin typeface="Calibri"/>
                <a:ea typeface="Calibri"/>
                <a:cs typeface="Calibri"/>
                <a:sym typeface="Calibri"/>
              </a:rPr>
            </a:br>
            <a:endParaRPr/>
          </a:p>
        </p:txBody>
      </p:sp>
      <p:sp>
        <p:nvSpPr>
          <p:cNvPr id="384" name="Google Shape;384;g3711dd15de9_1_11"/>
          <p:cNvSpPr txBox="1"/>
          <p:nvPr>
            <p:ph idx="1" type="body"/>
          </p:nvPr>
        </p:nvSpPr>
        <p:spPr>
          <a:xfrm>
            <a:off x="363450" y="1482050"/>
            <a:ext cx="11607900" cy="4732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1000"/>
              </a:spcBef>
              <a:spcAft>
                <a:spcPts val="0"/>
              </a:spcAft>
              <a:buClr>
                <a:schemeClr val="dk1"/>
              </a:buClr>
              <a:buSzPts val="2800"/>
              <a:buFont typeface="Arial"/>
              <a:buChar char="•"/>
            </a:pPr>
            <a:r>
              <a:rPr lang="en-US"/>
              <a:t> First, most disks have some defective sectors, but the mapping hides this by substituting spare sectors from elsewhere on the disk. </a:t>
            </a:r>
            <a:endParaRPr/>
          </a:p>
          <a:p>
            <a:pPr indent="-228600" lvl="0" marL="228600" marR="0" rtl="0" algn="l">
              <a:lnSpc>
                <a:spcPct val="90000"/>
              </a:lnSpc>
              <a:spcBef>
                <a:spcPts val="1000"/>
              </a:spcBef>
              <a:spcAft>
                <a:spcPts val="0"/>
              </a:spcAft>
              <a:buClr>
                <a:schemeClr val="dk1"/>
              </a:buClr>
              <a:buSzPts val="2800"/>
              <a:buFont typeface="Arial"/>
              <a:buChar char="•"/>
            </a:pPr>
            <a:r>
              <a:rPr lang="en-US"/>
              <a:t>Second, the number of sectors per track is not a constant on same drives. </a:t>
            </a:r>
            <a:endParaRPr/>
          </a:p>
          <a:p>
            <a:pPr indent="-228600" lvl="0" marL="228600" marR="0" rtl="0" algn="l">
              <a:lnSpc>
                <a:spcPct val="90000"/>
              </a:lnSpc>
              <a:spcBef>
                <a:spcPts val="1000"/>
              </a:spcBef>
              <a:spcAft>
                <a:spcPts val="0"/>
              </a:spcAft>
              <a:buClr>
                <a:schemeClr val="dk1"/>
              </a:buClr>
              <a:buSzPts val="2800"/>
              <a:buFont typeface="Arial"/>
              <a:buChar char="•"/>
            </a:pPr>
            <a:r>
              <a:rPr lang="en-US"/>
              <a:t>On media that use the density of bits per track is uniform. </a:t>
            </a:r>
            <a:endParaRPr/>
          </a:p>
          <a:p>
            <a:pPr indent="-228600" lvl="0" marL="228600" marR="0" rtl="0" algn="l">
              <a:lnSpc>
                <a:spcPct val="90000"/>
              </a:lnSpc>
              <a:spcBef>
                <a:spcPts val="1000"/>
              </a:spcBef>
              <a:spcAft>
                <a:spcPts val="0"/>
              </a:spcAft>
              <a:buClr>
                <a:schemeClr val="dk1"/>
              </a:buClr>
              <a:buSzPts val="2800"/>
              <a:buFont typeface="Arial"/>
              <a:buChar char="•"/>
            </a:pPr>
            <a:r>
              <a:rPr lang="en-US"/>
              <a:t>The further a track is from the center of the disk, the greater its length, so the more sectors it can hold. </a:t>
            </a:r>
            <a:endParaRPr/>
          </a:p>
          <a:p>
            <a:pPr indent="0" lvl="0" marL="457200" marR="0" rtl="0" algn="l">
              <a:lnSpc>
                <a:spcPct val="90000"/>
              </a:lnSpc>
              <a:spcBef>
                <a:spcPts val="1000"/>
              </a:spcBef>
              <a:spcAft>
                <a:spcPts val="0"/>
              </a:spcAft>
              <a:buSzPts val="1800"/>
              <a:buNone/>
            </a:pPr>
            <a:r>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385" name="Google Shape;385;g3711dd15de9_1_11"/>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86" name="Google Shape;386;g3711dd15de9_1_11"/>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387" name="Google Shape;387;g3711dd15de9_1_11"/>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388" name="Google Shape;388;g3711dd15de9_1_11"/>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389" name="Google Shape;389;g3711dd15de9_1_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711dd15de9_1_21"/>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S</a:t>
            </a:r>
            <a:r>
              <a:rPr b="1" lang="en-US">
                <a:solidFill>
                  <a:schemeClr val="dk2"/>
                </a:solidFill>
              </a:rPr>
              <a:t>tructure</a:t>
            </a:r>
            <a:br>
              <a:rPr b="1" i="0" lang="en-US" sz="4400" u="none">
                <a:solidFill>
                  <a:schemeClr val="dk2"/>
                </a:solidFill>
                <a:latin typeface="Calibri"/>
                <a:ea typeface="Calibri"/>
                <a:cs typeface="Calibri"/>
                <a:sym typeface="Calibri"/>
              </a:rPr>
            </a:br>
            <a:endParaRPr/>
          </a:p>
        </p:txBody>
      </p:sp>
      <p:sp>
        <p:nvSpPr>
          <p:cNvPr id="396" name="Google Shape;396;g3711dd15de9_1_21"/>
          <p:cNvSpPr txBox="1"/>
          <p:nvPr>
            <p:ph idx="1" type="body"/>
          </p:nvPr>
        </p:nvSpPr>
        <p:spPr>
          <a:xfrm>
            <a:off x="1311275" y="865187"/>
            <a:ext cx="11556900" cy="4518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the disk drive is operating, the disk is rotating at constant speed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Positioning the Read/Write Head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Track selection involves moving the head to a specific track</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397" name="Google Shape;397;g3711dd15de9_1_21"/>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98" name="Google Shape;398;g3711dd15de9_1_21"/>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399" name="Google Shape;399;g3711dd15de9_1_21"/>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400" name="Google Shape;400;g3711dd15de9_1_21"/>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pic>
        <p:nvPicPr>
          <p:cNvPr id="401" name="Google Shape;401;g3711dd15de9_1_21"/>
          <p:cNvPicPr preferRelativeResize="0"/>
          <p:nvPr/>
        </p:nvPicPr>
        <p:blipFill rotWithShape="1">
          <a:blip r:embed="rId4">
            <a:alphaModFix/>
          </a:blip>
          <a:srcRect b="0" l="0" r="0" t="0"/>
          <a:stretch/>
        </p:blipFill>
        <p:spPr>
          <a:xfrm>
            <a:off x="676275" y="2744787"/>
            <a:ext cx="5267325" cy="3209925"/>
          </a:xfrm>
          <a:prstGeom prst="rect">
            <a:avLst/>
          </a:prstGeom>
          <a:noFill/>
          <a:ln>
            <a:noFill/>
          </a:ln>
        </p:spPr>
      </p:pic>
      <p:pic>
        <p:nvPicPr>
          <p:cNvPr id="402" name="Google Shape;402;g3711dd15de9_1_21"/>
          <p:cNvPicPr preferRelativeResize="0"/>
          <p:nvPr/>
        </p:nvPicPr>
        <p:blipFill rotWithShape="1">
          <a:blip r:embed="rId5">
            <a:alphaModFix/>
          </a:blip>
          <a:srcRect b="0" l="0" r="0" t="0"/>
          <a:stretch/>
        </p:blipFill>
        <p:spPr>
          <a:xfrm>
            <a:off x="5943600" y="3414712"/>
            <a:ext cx="5276850" cy="1885950"/>
          </a:xfrm>
          <a:prstGeom prst="rect">
            <a:avLst/>
          </a:prstGeom>
          <a:noFill/>
          <a:ln>
            <a:noFill/>
          </a:ln>
        </p:spPr>
      </p:pic>
      <p:sp>
        <p:nvSpPr>
          <p:cNvPr id="403" name="Google Shape;403;g3711dd15de9_1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25"/>
          <p:cNvSpPr txBox="1"/>
          <p:nvPr>
            <p:ph idx="1" type="body"/>
          </p:nvPr>
        </p:nvSpPr>
        <p:spPr>
          <a:xfrm>
            <a:off x="1428750" y="279400"/>
            <a:ext cx="10534650" cy="58928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Each surface is divided into tracks (and sectors) in the same way</a:t>
            </a:r>
            <a:r>
              <a:rPr b="0" i="0" lang="en-US" sz="2800" u="none">
                <a:solidFill>
                  <a:schemeClr val="dk1"/>
                </a:solidFill>
                <a:latin typeface="Calibri"/>
                <a:ea typeface="Calibri"/>
                <a:cs typeface="Calibri"/>
                <a:sym typeface="Calibri"/>
              </a:rPr>
              <a:t>. This means that when the head for one surface is on a track, the heads for the other surfaces are also on the corresponding tracks. All the corresponding tracks taken together are called a cylinder.</a:t>
            </a:r>
            <a:endParaRPr/>
          </a:p>
        </p:txBody>
      </p:sp>
      <p:sp>
        <p:nvSpPr>
          <p:cNvPr id="409" name="Google Shape;409;p12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0" name="Google Shape;410;p125"/>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11" name="Google Shape;411;p12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412" name="Google Shape;412;p125"/>
          <p:cNvPicPr preferRelativeResize="0"/>
          <p:nvPr/>
        </p:nvPicPr>
        <p:blipFill rotWithShape="1">
          <a:blip r:embed="rId3">
            <a:alphaModFix/>
          </a:blip>
          <a:srcRect b="0" l="0" r="0" t="0"/>
          <a:stretch/>
        </p:blipFill>
        <p:spPr>
          <a:xfrm>
            <a:off x="41275" y="30162"/>
            <a:ext cx="1387475" cy="1163637"/>
          </a:xfrm>
          <a:prstGeom prst="rect">
            <a:avLst/>
          </a:prstGeom>
          <a:noFill/>
          <a:ln>
            <a:noFill/>
          </a:ln>
        </p:spPr>
      </p:pic>
      <p:pic>
        <p:nvPicPr>
          <p:cNvPr id="413" name="Google Shape;413;p125"/>
          <p:cNvPicPr preferRelativeResize="0"/>
          <p:nvPr/>
        </p:nvPicPr>
        <p:blipFill rotWithShape="1">
          <a:blip r:embed="rId4">
            <a:alphaModFix/>
          </a:blip>
          <a:srcRect b="0" l="0" r="0" t="0"/>
          <a:stretch/>
        </p:blipFill>
        <p:spPr>
          <a:xfrm>
            <a:off x="3233737" y="2082800"/>
            <a:ext cx="5724525" cy="4332287"/>
          </a:xfrm>
          <a:prstGeom prst="rect">
            <a:avLst/>
          </a:prstGeom>
          <a:noFill/>
          <a:ln>
            <a:noFill/>
          </a:ln>
        </p:spPr>
      </p:pic>
      <p:sp>
        <p:nvSpPr>
          <p:cNvPr id="414" name="Google Shape;414;p1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711dd15de9_1_0"/>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Scheduling</a:t>
            </a:r>
            <a:br>
              <a:rPr b="1" i="0" lang="en-US" sz="4400" u="none">
                <a:solidFill>
                  <a:schemeClr val="dk2"/>
                </a:solidFill>
                <a:latin typeface="Calibri"/>
                <a:ea typeface="Calibri"/>
                <a:cs typeface="Calibri"/>
                <a:sym typeface="Calibri"/>
              </a:rPr>
            </a:br>
            <a:endParaRPr/>
          </a:p>
        </p:txBody>
      </p:sp>
      <p:sp>
        <p:nvSpPr>
          <p:cNvPr id="421" name="Google Shape;421;g3711dd15de9_1_0"/>
          <p:cNvSpPr txBox="1"/>
          <p:nvPr>
            <p:ph idx="1" type="body"/>
          </p:nvPr>
        </p:nvSpPr>
        <p:spPr>
          <a:xfrm>
            <a:off x="317500" y="1282700"/>
            <a:ext cx="11607900" cy="4732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process needs two type of time, </a:t>
            </a:r>
            <a:r>
              <a:rPr b="1" i="0" lang="en-US" sz="2800" u="none">
                <a:solidFill>
                  <a:srgbClr val="FF0000"/>
                </a:solidFill>
                <a:latin typeface="Calibri"/>
                <a:ea typeface="Calibri"/>
                <a:cs typeface="Calibri"/>
                <a:sym typeface="Calibri"/>
              </a:rPr>
              <a:t>CPU time and IO time</a:t>
            </a:r>
            <a:r>
              <a:rPr b="0" i="0" lang="en-US" sz="2800" u="none">
                <a:solidFill>
                  <a:schemeClr val="dk1"/>
                </a:solidFill>
                <a:latin typeface="Calibri"/>
                <a:ea typeface="Calibri"/>
                <a:cs typeface="Calibri"/>
                <a:sym typeface="Calibri"/>
              </a:rPr>
              <a:t>.</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For I/O, it requests the Operating system to access the disk.</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However, the operating system must be fare enough to satisfy each request and at the same time, operating system must maintain the efficiency and speed of process execution.</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technique that operating system uses to determine the request which is to be satisfied next is called </a:t>
            </a:r>
            <a:r>
              <a:rPr b="0" i="0" lang="en-US" sz="2800" u="none">
                <a:solidFill>
                  <a:srgbClr val="FF0000"/>
                </a:solidFill>
                <a:latin typeface="Calibri"/>
                <a:ea typeface="Calibri"/>
                <a:cs typeface="Calibri"/>
                <a:sym typeface="Calibri"/>
              </a:rPr>
              <a:t>Disk scheduling.</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22" name="Google Shape;422;g3711dd15de9_1_0"/>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23" name="Google Shape;423;g3711dd15de9_1_0"/>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24" name="Google Shape;424;g3711dd15de9_1_0"/>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425" name="Google Shape;425;g3711dd15de9_1_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426" name="Google Shape;426;g3711dd15de9_1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19"/>
          <p:cNvSpPr txBox="1"/>
          <p:nvPr>
            <p:ph type="title"/>
          </p:nvPr>
        </p:nvSpPr>
        <p:spPr>
          <a:xfrm>
            <a:off x="1676400" y="293687"/>
            <a:ext cx="8982075"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Scheduling</a:t>
            </a:r>
            <a:br>
              <a:rPr b="1" i="0" lang="en-US" sz="4400" u="none">
                <a:solidFill>
                  <a:schemeClr val="dk2"/>
                </a:solidFill>
                <a:latin typeface="Calibri"/>
                <a:ea typeface="Calibri"/>
                <a:cs typeface="Calibri"/>
                <a:sym typeface="Calibri"/>
              </a:rPr>
            </a:br>
            <a:endParaRPr/>
          </a:p>
        </p:txBody>
      </p:sp>
      <p:sp>
        <p:nvSpPr>
          <p:cNvPr id="433" name="Google Shape;433;p119"/>
          <p:cNvSpPr txBox="1"/>
          <p:nvPr>
            <p:ph idx="1" type="body"/>
          </p:nvPr>
        </p:nvSpPr>
        <p:spPr>
          <a:xfrm>
            <a:off x="317500" y="1282700"/>
            <a:ext cx="11607800" cy="4953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FF0000"/>
              </a:buClr>
              <a:buSzPts val="2800"/>
              <a:buFont typeface="Arial"/>
              <a:buChar char="•"/>
            </a:pPr>
            <a:r>
              <a:rPr b="1" i="0" lang="en-US" sz="2800" u="none">
                <a:solidFill>
                  <a:srgbClr val="FF0000"/>
                </a:solidFill>
                <a:latin typeface="Calibri"/>
                <a:ea typeface="Calibri"/>
                <a:cs typeface="Calibri"/>
                <a:sym typeface="Calibri"/>
              </a:rPr>
              <a:t>Seek Time: </a:t>
            </a:r>
            <a:r>
              <a:rPr b="0" i="0" lang="en-US" sz="2800" u="none">
                <a:solidFill>
                  <a:schemeClr val="dk1"/>
                </a:solidFill>
                <a:latin typeface="Calibri"/>
                <a:ea typeface="Calibri"/>
                <a:cs typeface="Calibri"/>
                <a:sym typeface="Calibri"/>
              </a:rPr>
              <a:t>is the time taken in locating the disk arm to a specified track where the read/write request will be satisfied.</a:t>
            </a:r>
            <a:endParaRPr/>
          </a:p>
          <a:p>
            <a:pPr indent="-228600" lvl="0" marL="228600" marR="0" rtl="0" algn="l">
              <a:lnSpc>
                <a:spcPct val="90000"/>
              </a:lnSpc>
              <a:spcBef>
                <a:spcPts val="1000"/>
              </a:spcBef>
              <a:spcAft>
                <a:spcPts val="0"/>
              </a:spcAft>
              <a:buClr>
                <a:srgbClr val="FF0000"/>
              </a:buClr>
              <a:buSzPts val="2800"/>
              <a:buFont typeface="Arial"/>
              <a:buChar char="•"/>
            </a:pPr>
            <a:r>
              <a:rPr b="1" i="0" lang="en-US" sz="2800" u="none">
                <a:solidFill>
                  <a:srgbClr val="FF0000"/>
                </a:solidFill>
                <a:latin typeface="Calibri"/>
                <a:ea typeface="Calibri"/>
                <a:cs typeface="Calibri"/>
                <a:sym typeface="Calibri"/>
              </a:rPr>
              <a:t>Rotational Latency:</a:t>
            </a:r>
            <a:r>
              <a:rPr b="0" i="0" lang="en-US" sz="2800" u="none">
                <a:solidFill>
                  <a:srgbClr val="FF0000"/>
                </a:solidFill>
                <a:latin typeface="Calibri"/>
                <a:ea typeface="Calibri"/>
                <a:cs typeface="Calibri"/>
                <a:sym typeface="Calibri"/>
              </a:rPr>
              <a:t> </a:t>
            </a:r>
            <a:r>
              <a:rPr b="0" i="0" lang="en-US" sz="2800" u="none">
                <a:solidFill>
                  <a:schemeClr val="dk1"/>
                </a:solidFill>
                <a:latin typeface="Calibri"/>
                <a:ea typeface="Calibri"/>
                <a:cs typeface="Calibri"/>
                <a:sym typeface="Calibri"/>
              </a:rPr>
              <a:t>It is the time taken by the desired sector to rotate itself to the position from where it can access the R/W heads.</a:t>
            </a:r>
            <a:endParaRPr/>
          </a:p>
          <a:p>
            <a:pPr indent="-228600" lvl="0" marL="228600" marR="0" rtl="0" algn="l">
              <a:lnSpc>
                <a:spcPct val="90000"/>
              </a:lnSpc>
              <a:spcBef>
                <a:spcPts val="1000"/>
              </a:spcBef>
              <a:spcAft>
                <a:spcPts val="0"/>
              </a:spcAft>
              <a:buClr>
                <a:srgbClr val="FF0000"/>
              </a:buClr>
              <a:buSzPts val="2800"/>
              <a:buFont typeface="Arial"/>
              <a:buChar char="•"/>
            </a:pPr>
            <a:r>
              <a:rPr b="1" i="0" lang="en-US" sz="2800" u="none">
                <a:solidFill>
                  <a:srgbClr val="FF0000"/>
                </a:solidFill>
                <a:latin typeface="Calibri"/>
                <a:ea typeface="Calibri"/>
                <a:cs typeface="Calibri"/>
                <a:sym typeface="Calibri"/>
              </a:rPr>
              <a:t>Transfer Time: </a:t>
            </a:r>
            <a:r>
              <a:rPr b="0" i="0" lang="en-US" sz="2800" u="none">
                <a:solidFill>
                  <a:schemeClr val="dk1"/>
                </a:solidFill>
                <a:latin typeface="Calibri"/>
                <a:ea typeface="Calibri"/>
                <a:cs typeface="Calibri"/>
                <a:sym typeface="Calibri"/>
              </a:rPr>
              <a:t>It is the time taken to transfer the data.</a:t>
            </a:r>
            <a:endParaRPr/>
          </a:p>
          <a:p>
            <a:pPr indent="-228600" lvl="0" marL="228600" marR="0" rtl="0" algn="l">
              <a:lnSpc>
                <a:spcPct val="90000"/>
              </a:lnSpc>
              <a:spcBef>
                <a:spcPts val="1000"/>
              </a:spcBef>
              <a:spcAft>
                <a:spcPts val="0"/>
              </a:spcAft>
              <a:buClr>
                <a:srgbClr val="FF0000"/>
              </a:buClr>
              <a:buSzPts val="2800"/>
              <a:buFont typeface="Arial"/>
              <a:buChar char="•"/>
            </a:pPr>
            <a:r>
              <a:rPr b="1" i="0" lang="en-US" sz="2800" u="none">
                <a:solidFill>
                  <a:srgbClr val="FF0000"/>
                </a:solidFill>
                <a:latin typeface="Calibri"/>
                <a:ea typeface="Calibri"/>
                <a:cs typeface="Calibri"/>
                <a:sym typeface="Calibri"/>
              </a:rPr>
              <a:t>Disk Access Time: </a:t>
            </a:r>
            <a:r>
              <a:rPr b="0" i="0" lang="en-US" sz="2800" u="none">
                <a:solidFill>
                  <a:schemeClr val="dk1"/>
                </a:solidFill>
                <a:latin typeface="Calibri"/>
                <a:ea typeface="Calibri"/>
                <a:cs typeface="Calibri"/>
                <a:sym typeface="Calibri"/>
              </a:rPr>
              <a:t>Disk access time is given as,</a:t>
            </a:r>
            <a:endParaRPr/>
          </a:p>
          <a:p>
            <a:pPr indent="-228600" lvl="0" marL="22860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Disk Access Time = Rotational Latency + Seek Time + Transfer Time</a:t>
            </a:r>
            <a:endParaRPr/>
          </a:p>
          <a:p>
            <a:pPr indent="-228600" lvl="0" marL="228600" marR="0" rtl="0" algn="l">
              <a:lnSpc>
                <a:spcPct val="90000"/>
              </a:lnSpc>
              <a:spcBef>
                <a:spcPts val="1000"/>
              </a:spcBef>
              <a:spcAft>
                <a:spcPts val="0"/>
              </a:spcAft>
              <a:buClr>
                <a:srgbClr val="FF0000"/>
              </a:buClr>
              <a:buSzPts val="2800"/>
              <a:buFont typeface="Arial"/>
              <a:buChar char="•"/>
            </a:pPr>
            <a:r>
              <a:rPr b="1" i="0" lang="en-US" sz="2800" u="none">
                <a:solidFill>
                  <a:srgbClr val="FF0000"/>
                </a:solidFill>
                <a:latin typeface="Calibri"/>
                <a:ea typeface="Calibri"/>
                <a:cs typeface="Calibri"/>
                <a:sym typeface="Calibri"/>
              </a:rPr>
              <a:t>Disk Response Time:</a:t>
            </a:r>
            <a:r>
              <a:rPr b="0" i="0" lang="en-US" sz="2800" u="none">
                <a:solidFill>
                  <a:schemeClr val="dk1"/>
                </a:solidFill>
                <a:latin typeface="Calibri"/>
                <a:ea typeface="Calibri"/>
                <a:cs typeface="Calibri"/>
                <a:sym typeface="Calibri"/>
              </a:rPr>
              <a:t>It is the average of time spent by each request waiting for the IO operation.</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34" name="Google Shape;434;p119"/>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35" name="Google Shape;435;p119"/>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36" name="Google Shape;436;p11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437" name="Google Shape;437;p119"/>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438" name="Google Shape;438;p1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20"/>
          <p:cNvSpPr txBox="1"/>
          <p:nvPr>
            <p:ph type="title"/>
          </p:nvPr>
        </p:nvSpPr>
        <p:spPr>
          <a:xfrm>
            <a:off x="1358900" y="365125"/>
            <a:ext cx="99949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Disk Scheduling Algorithms</a:t>
            </a:r>
            <a:br>
              <a:rPr b="1" i="0" lang="en-US" sz="4400" u="none">
                <a:solidFill>
                  <a:schemeClr val="dk1"/>
                </a:solidFill>
                <a:latin typeface="Calibri"/>
                <a:ea typeface="Calibri"/>
                <a:cs typeface="Calibri"/>
                <a:sym typeface="Calibri"/>
              </a:rPr>
            </a:br>
            <a:endParaRPr/>
          </a:p>
        </p:txBody>
      </p:sp>
      <p:sp>
        <p:nvSpPr>
          <p:cNvPr id="444" name="Google Shape;444;p120"/>
          <p:cNvSpPr txBox="1"/>
          <p:nvPr>
            <p:ph idx="1" type="body"/>
          </p:nvPr>
        </p:nvSpPr>
        <p:spPr>
          <a:xfrm>
            <a:off x="292100" y="1549400"/>
            <a:ext cx="11061700" cy="46275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Each algorithm is carrying some advantages and disadvantages. The limitation of each algorithm leads to the evolution of a new algorithm.</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FCFS scheduling algorithm</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SSTF (shortest seek time first) algorithm</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SCAN scheduling</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C-SCAN scheduling</a:t>
            </a:r>
            <a:endParaRPr/>
          </a:p>
          <a:p>
            <a:pPr indent="-228600" lvl="0" marL="228600" marR="0" rtl="0" algn="l">
              <a:lnSpc>
                <a:spcPct val="90000"/>
              </a:lnSpc>
              <a:spcBef>
                <a:spcPts val="1000"/>
              </a:spcBef>
              <a:spcAft>
                <a:spcPts val="0"/>
              </a:spcAft>
              <a:buClr>
                <a:schemeClr val="dk1"/>
              </a:buClr>
              <a:buSzPts val="2800"/>
              <a:buFont typeface="Arial"/>
              <a:buNone/>
            </a:pPr>
            <a:br>
              <a:rPr b="0" i="0" lang="en-US" sz="2800" u="none">
                <a:solidFill>
                  <a:schemeClr val="dk1"/>
                </a:solidFill>
                <a:latin typeface="Calibri"/>
                <a:ea typeface="Calibri"/>
                <a:cs typeface="Calibri"/>
                <a:sym typeface="Calibri"/>
              </a:rPr>
            </a:br>
            <a:endParaRPr/>
          </a:p>
        </p:txBody>
      </p:sp>
      <p:sp>
        <p:nvSpPr>
          <p:cNvPr id="445" name="Google Shape;445;p12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46" name="Google Shape;446;p120"/>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47" name="Google Shape;447;p12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448" name="Google Shape;448;p12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449" name="Google Shape;449;p1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21"/>
          <p:cNvSpPr txBox="1"/>
          <p:nvPr>
            <p:ph type="title"/>
          </p:nvPr>
        </p:nvSpPr>
        <p:spPr>
          <a:xfrm>
            <a:off x="1501775" y="141287"/>
            <a:ext cx="9394825"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Disk Scheduling Policies</a:t>
            </a:r>
            <a:endParaRPr/>
          </a:p>
        </p:txBody>
      </p:sp>
      <p:sp>
        <p:nvSpPr>
          <p:cNvPr id="456" name="Google Shape;456;p121"/>
          <p:cNvSpPr txBox="1"/>
          <p:nvPr>
            <p:ph idx="1" type="body"/>
          </p:nvPr>
        </p:nvSpPr>
        <p:spPr>
          <a:xfrm>
            <a:off x="165100" y="1646237"/>
            <a:ext cx="11188700" cy="435133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To compare various schemes, consider a disk head is initially located at track 100.</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assume a disk with 200 tracks and that the disk request queue has random requests in it</a:t>
            </a:r>
            <a:endParaRPr/>
          </a:p>
          <a:p>
            <a:pPr indent="-228600" lvl="1" marL="685800" marR="0" rtl="0" algn="l">
              <a:lnSpc>
                <a:spcPct val="90000"/>
              </a:lnSpc>
              <a:spcBef>
                <a:spcPts val="50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a:t>
            </a:r>
            <a:endParaRPr/>
          </a:p>
          <a:p>
            <a:pPr indent="-228600" lvl="0" marL="228600" marR="0" rtl="0" algn="l">
              <a:lnSpc>
                <a:spcPct val="90000"/>
              </a:lnSpc>
              <a:spcBef>
                <a:spcPts val="10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requested tracks, in the order received by the disk scheduler, are </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55, 58, 39, 18, 90, 160, 150, 38, 184.</a:t>
            </a:r>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457" name="Google Shape;457;p121"/>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58" name="Google Shape;458;p121"/>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59" name="Google Shape;459;p121"/>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460" name="Google Shape;460;p121"/>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461" name="Google Shape;461;p1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22"/>
          <p:cNvSpPr txBox="1"/>
          <p:nvPr>
            <p:ph type="title"/>
          </p:nvPr>
        </p:nvSpPr>
        <p:spPr>
          <a:xfrm>
            <a:off x="1311275" y="134937"/>
            <a:ext cx="10515600" cy="9604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First-in, first-out (FIFO)</a:t>
            </a:r>
            <a:endParaRPr/>
          </a:p>
        </p:txBody>
      </p:sp>
      <p:sp>
        <p:nvSpPr>
          <p:cNvPr id="468" name="Google Shape;468;p122"/>
          <p:cNvSpPr txBox="1"/>
          <p:nvPr>
            <p:ph idx="1" type="body"/>
          </p:nvPr>
        </p:nvSpPr>
        <p:spPr>
          <a:xfrm>
            <a:off x="355600" y="1333500"/>
            <a:ext cx="11366500" cy="48434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Processes requests sequentially in the order received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Fair to all processes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Approaches random scheduling in performance</a:t>
            </a:r>
            <a:endParaRPr/>
          </a:p>
          <a:p>
            <a:pPr indent="-228600" lvl="0" marL="228600" marR="0" rtl="0" algn="l">
              <a:lnSpc>
                <a:spcPct val="90000"/>
              </a:lnSpc>
              <a:spcBef>
                <a:spcPts val="10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requested tracks, in the order received by the disk scheduler, are </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55, 58, 39, 18, 90, 160, 150, 38, 184.</a:t>
            </a:r>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469" name="Google Shape;469;p12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70" name="Google Shape;470;p122"/>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71" name="Google Shape;471;p12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472" name="Google Shape;472;p122"/>
          <p:cNvPicPr preferRelativeResize="0"/>
          <p:nvPr/>
        </p:nvPicPr>
        <p:blipFill rotWithShape="1">
          <a:blip r:embed="rId3">
            <a:alphaModFix/>
          </a:blip>
          <a:srcRect b="0" l="0" r="0" t="0"/>
          <a:stretch/>
        </p:blipFill>
        <p:spPr>
          <a:xfrm>
            <a:off x="2649537" y="4244975"/>
            <a:ext cx="7839075" cy="2476500"/>
          </a:xfrm>
          <a:prstGeom prst="rect">
            <a:avLst/>
          </a:prstGeom>
          <a:noFill/>
          <a:ln>
            <a:noFill/>
          </a:ln>
        </p:spPr>
      </p:pic>
      <p:pic>
        <p:nvPicPr>
          <p:cNvPr id="473" name="Google Shape;473;p122"/>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
        <p:nvSpPr>
          <p:cNvPr id="474" name="Google Shape;474;p1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23"/>
          <p:cNvSpPr txBox="1"/>
          <p:nvPr>
            <p:ph type="title"/>
          </p:nvPr>
        </p:nvSpPr>
        <p:spPr>
          <a:xfrm>
            <a:off x="1820862" y="101600"/>
            <a:ext cx="8897937" cy="99218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404040"/>
              </a:buClr>
              <a:buSzPts val="4800"/>
              <a:buFont typeface="Calibri"/>
              <a:buNone/>
            </a:pPr>
            <a:r>
              <a:rPr b="0" i="0" lang="en-US" sz="4800" u="none">
                <a:solidFill>
                  <a:srgbClr val="404040"/>
                </a:solidFill>
                <a:latin typeface="Calibri"/>
                <a:ea typeface="Calibri"/>
                <a:cs typeface="Calibri"/>
                <a:sym typeface="Calibri"/>
              </a:rPr>
              <a:t>First-in, first-out (FIFO)</a:t>
            </a:r>
            <a:endParaRPr/>
          </a:p>
        </p:txBody>
      </p:sp>
      <p:sp>
        <p:nvSpPr>
          <p:cNvPr id="481" name="Google Shape;481;p123"/>
          <p:cNvSpPr txBox="1"/>
          <p:nvPr/>
        </p:nvSpPr>
        <p:spPr>
          <a:xfrm>
            <a:off x="1096962" y="6459537"/>
            <a:ext cx="247332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82" name="Google Shape;482;p123"/>
          <p:cNvSpPr txBox="1"/>
          <p:nvPr/>
        </p:nvSpPr>
        <p:spPr>
          <a:xfrm>
            <a:off x="3686175" y="6459537"/>
            <a:ext cx="482282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COMPUTER ENGINEERING  AND TECHNOLOGY</a:t>
            </a:r>
            <a:endParaRPr b="0" i="0" sz="1400" u="none" cap="none" strike="noStrike">
              <a:solidFill>
                <a:srgbClr val="000000"/>
              </a:solidFill>
              <a:latin typeface="Arial"/>
              <a:ea typeface="Arial"/>
              <a:cs typeface="Arial"/>
              <a:sym typeface="Arial"/>
            </a:endParaRPr>
          </a:p>
        </p:txBody>
      </p:sp>
      <p:sp>
        <p:nvSpPr>
          <p:cNvPr id="483" name="Google Shape;483;p123"/>
          <p:cNvSpPr txBox="1"/>
          <p:nvPr/>
        </p:nvSpPr>
        <p:spPr>
          <a:xfrm>
            <a:off x="9901237" y="6459537"/>
            <a:ext cx="131127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484" name="Google Shape;484;p123"/>
          <p:cNvSpPr txBox="1"/>
          <p:nvPr>
            <p:ph idx="1" type="body"/>
          </p:nvPr>
        </p:nvSpPr>
        <p:spPr>
          <a:xfrm>
            <a:off x="4460875" y="4195762"/>
            <a:ext cx="7299325" cy="1862137"/>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rgbClr val="000000"/>
              </a:buClr>
              <a:buSzPts val="2000"/>
              <a:buNone/>
            </a:pPr>
            <a:r>
              <a:rPr b="0" i="0" lang="en-US" sz="2000" u="none">
                <a:solidFill>
                  <a:srgbClr val="000000"/>
                </a:solidFill>
                <a:latin typeface="Calibri"/>
                <a:ea typeface="Calibri"/>
                <a:cs typeface="Calibri"/>
                <a:sym typeface="Calibri"/>
              </a:rPr>
              <a:t>Number of tracks traversed by the head</a:t>
            </a:r>
            <a:endParaRPr/>
          </a:p>
          <a:p>
            <a:pPr indent="0" lvl="0" marL="0" rtl="0" algn="l">
              <a:lnSpc>
                <a:spcPct val="90000"/>
              </a:lnSpc>
              <a:spcBef>
                <a:spcPts val="1000"/>
              </a:spcBef>
              <a:spcAft>
                <a:spcPts val="0"/>
              </a:spcAft>
              <a:buClr>
                <a:srgbClr val="000000"/>
              </a:buClr>
              <a:buSzPts val="2000"/>
              <a:buNone/>
            </a:pPr>
            <a:r>
              <a:rPr b="0" i="0" lang="en-US" sz="2000" u="none">
                <a:solidFill>
                  <a:srgbClr val="000000"/>
                </a:solidFill>
                <a:latin typeface="Calibri"/>
                <a:ea typeface="Calibri"/>
                <a:cs typeface="Calibri"/>
                <a:sym typeface="Calibri"/>
              </a:rPr>
              <a:t>= |55-100|+ |58-55|+|39-58|+|18-39|+|90-18|+|160-</a:t>
            </a:r>
            <a:r>
              <a:rPr lang="en-US" sz="2000">
                <a:solidFill>
                  <a:srgbClr val="000000"/>
                </a:solidFill>
              </a:rPr>
              <a:t>9</a:t>
            </a:r>
            <a:r>
              <a:rPr b="0" i="0" lang="en-US" sz="2000" u="none">
                <a:solidFill>
                  <a:srgbClr val="000000"/>
                </a:solidFill>
                <a:latin typeface="Calibri"/>
                <a:ea typeface="Calibri"/>
                <a:cs typeface="Calibri"/>
                <a:sym typeface="Calibri"/>
              </a:rPr>
              <a:t>0|+|150-160|+|38-150|+|184-38|</a:t>
            </a:r>
            <a:endParaRPr/>
          </a:p>
          <a:p>
            <a:pPr indent="0" lvl="0" marL="0" rtl="0" algn="l">
              <a:lnSpc>
                <a:spcPct val="90000"/>
              </a:lnSpc>
              <a:spcBef>
                <a:spcPts val="1000"/>
              </a:spcBef>
              <a:spcAft>
                <a:spcPts val="0"/>
              </a:spcAft>
              <a:buClr>
                <a:srgbClr val="000000"/>
              </a:buClr>
              <a:buSzPts val="2000"/>
              <a:buNone/>
            </a:pPr>
            <a:r>
              <a:rPr b="0" i="0" lang="en-US" sz="2000" u="none">
                <a:solidFill>
                  <a:srgbClr val="000000"/>
                </a:solidFill>
                <a:latin typeface="Calibri"/>
                <a:ea typeface="Calibri"/>
                <a:cs typeface="Calibri"/>
                <a:sym typeface="Calibri"/>
              </a:rPr>
              <a:t>= 498</a:t>
            </a:r>
            <a:endParaRPr/>
          </a:p>
          <a:p>
            <a:pPr indent="0" lvl="0" marL="0" rtl="0" algn="l">
              <a:lnSpc>
                <a:spcPct val="90000"/>
              </a:lnSpc>
              <a:spcBef>
                <a:spcPts val="1000"/>
              </a:spcBef>
              <a:spcAft>
                <a:spcPts val="0"/>
              </a:spcAft>
              <a:buClr>
                <a:srgbClr val="000000"/>
              </a:buClr>
              <a:buSzPts val="2000"/>
              <a:buNone/>
            </a:pPr>
            <a:r>
              <a:rPr b="0" i="0" lang="en-US" sz="2000" u="none">
                <a:solidFill>
                  <a:srgbClr val="000000"/>
                </a:solidFill>
                <a:latin typeface="Calibri"/>
                <a:ea typeface="Calibri"/>
                <a:cs typeface="Calibri"/>
                <a:sym typeface="Calibri"/>
              </a:rPr>
              <a:t>Average seek length= 498/9=55.3</a:t>
            </a:r>
            <a:endParaRPr/>
          </a:p>
          <a:p>
            <a:pPr indent="-101600" lvl="0" marL="228600" rtl="0" algn="l">
              <a:lnSpc>
                <a:spcPct val="90000"/>
              </a:lnSpc>
              <a:spcBef>
                <a:spcPts val="1000"/>
              </a:spcBef>
              <a:spcAft>
                <a:spcPts val="0"/>
              </a:spcAft>
              <a:buClr>
                <a:schemeClr val="dk1"/>
              </a:buClr>
              <a:buSzPts val="2000"/>
              <a:buNone/>
            </a:pPr>
            <a:r>
              <a:t/>
            </a:r>
            <a:endParaRPr b="0" i="0" sz="2000" u="none">
              <a:solidFill>
                <a:srgbClr val="000000"/>
              </a:solidFill>
              <a:latin typeface="Calibri"/>
              <a:ea typeface="Calibri"/>
              <a:cs typeface="Calibri"/>
              <a:sym typeface="Calibri"/>
            </a:endParaRPr>
          </a:p>
        </p:txBody>
      </p:sp>
      <p:pic>
        <p:nvPicPr>
          <p:cNvPr id="485" name="Google Shape;485;p123"/>
          <p:cNvPicPr preferRelativeResize="0"/>
          <p:nvPr/>
        </p:nvPicPr>
        <p:blipFill rotWithShape="1">
          <a:blip r:embed="rId3">
            <a:alphaModFix/>
          </a:blip>
          <a:srcRect b="0" l="0" r="0" t="0"/>
          <a:stretch/>
        </p:blipFill>
        <p:spPr>
          <a:xfrm>
            <a:off x="280987" y="1193800"/>
            <a:ext cx="4022725" cy="4133850"/>
          </a:xfrm>
          <a:prstGeom prst="rect">
            <a:avLst/>
          </a:prstGeom>
          <a:noFill/>
          <a:ln>
            <a:noFill/>
          </a:ln>
        </p:spPr>
      </p:pic>
      <p:pic>
        <p:nvPicPr>
          <p:cNvPr id="486" name="Google Shape;486;p123"/>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pic>
        <p:nvPicPr>
          <p:cNvPr id="487" name="Google Shape;487;p123"/>
          <p:cNvPicPr preferRelativeResize="0"/>
          <p:nvPr/>
        </p:nvPicPr>
        <p:blipFill rotWithShape="1">
          <a:blip r:embed="rId5">
            <a:alphaModFix/>
          </a:blip>
          <a:srcRect b="0" l="0" r="0" t="0"/>
          <a:stretch/>
        </p:blipFill>
        <p:spPr>
          <a:xfrm>
            <a:off x="4344987" y="1550987"/>
            <a:ext cx="7127875" cy="2476500"/>
          </a:xfrm>
          <a:prstGeom prst="rect">
            <a:avLst/>
          </a:prstGeom>
          <a:noFill/>
          <a:ln>
            <a:noFill/>
          </a:ln>
        </p:spPr>
      </p:pic>
      <p:sp>
        <p:nvSpPr>
          <p:cNvPr id="488" name="Google Shape;488;p1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24"/>
          <p:cNvSpPr txBox="1"/>
          <p:nvPr>
            <p:ph type="title"/>
          </p:nvPr>
        </p:nvSpPr>
        <p:spPr>
          <a:xfrm>
            <a:off x="1752600" y="365125"/>
            <a:ext cx="9601200" cy="8540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FCFS</a:t>
            </a:r>
            <a:endParaRPr/>
          </a:p>
        </p:txBody>
      </p:sp>
      <p:sp>
        <p:nvSpPr>
          <p:cNvPr id="494" name="Google Shape;494;p124"/>
          <p:cNvSpPr txBox="1"/>
          <p:nvPr>
            <p:ph idx="1" type="body"/>
          </p:nvPr>
        </p:nvSpPr>
        <p:spPr>
          <a:xfrm>
            <a:off x="165100" y="1487487"/>
            <a:ext cx="11087100" cy="43529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Consider the following disk request sequence for a disk with 100 tracks 45, 21, 67, 90, 4, 50, 89, 52, 61, 87, 25</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Head pointer starting at 50 and moving in left direction. Find the number of head movements in cylinders using FCFS scheduling.</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95" name="Google Shape;495;p12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96" name="Google Shape;496;p124"/>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497" name="Google Shape;497;p12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498" name="Google Shape;498;p124"/>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499" name="Google Shape;499;p1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12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t/>
            </a:r>
            <a:endParaRPr sz="4400">
              <a:solidFill>
                <a:schemeClr val="dk1"/>
              </a:solidFill>
              <a:latin typeface="Calibri"/>
              <a:ea typeface="Calibri"/>
              <a:cs typeface="Calibri"/>
              <a:sym typeface="Calibri"/>
            </a:endParaRPr>
          </a:p>
        </p:txBody>
      </p:sp>
      <p:pic>
        <p:nvPicPr>
          <p:cNvPr id="505" name="Google Shape;505;p126"/>
          <p:cNvPicPr preferRelativeResize="0"/>
          <p:nvPr>
            <p:ph idx="1" type="body"/>
          </p:nvPr>
        </p:nvPicPr>
        <p:blipFill rotWithShape="1">
          <a:blip r:embed="rId3">
            <a:alphaModFix/>
          </a:blip>
          <a:srcRect b="0" l="0" r="0" t="0"/>
          <a:stretch/>
        </p:blipFill>
        <p:spPr>
          <a:xfrm>
            <a:off x="2540000" y="127000"/>
            <a:ext cx="5842000" cy="6049962"/>
          </a:xfrm>
          <a:prstGeom prst="rect">
            <a:avLst/>
          </a:prstGeom>
          <a:noFill/>
          <a:ln>
            <a:noFill/>
          </a:ln>
        </p:spPr>
      </p:pic>
      <p:sp>
        <p:nvSpPr>
          <p:cNvPr id="506" name="Google Shape;506;p12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07" name="Google Shape;507;p126"/>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508" name="Google Shape;508;p12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509" name="Google Shape;509;p126"/>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
        <p:nvSpPr>
          <p:cNvPr id="510" name="Google Shape;510;p1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2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t/>
            </a:r>
            <a:endParaRPr sz="4400">
              <a:solidFill>
                <a:schemeClr val="dk1"/>
              </a:solidFill>
              <a:latin typeface="Calibri"/>
              <a:ea typeface="Calibri"/>
              <a:cs typeface="Calibri"/>
              <a:sym typeface="Calibri"/>
            </a:endParaRPr>
          </a:p>
        </p:txBody>
      </p:sp>
      <p:sp>
        <p:nvSpPr>
          <p:cNvPr id="516" name="Google Shape;516;p127"/>
          <p:cNvSpPr txBox="1"/>
          <p:nvPr>
            <p:ph idx="1" type="body"/>
          </p:nvPr>
        </p:nvSpPr>
        <p:spPr>
          <a:xfrm>
            <a:off x="355600" y="1825625"/>
            <a:ext cx="113665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Number of cylinders moved by the head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(50-45)+(45-21)+(67-21)+(90-67)+(90-4)+(50-4)+(89-50)+(89-52)+(61-52)+(87-61)+(87-25)</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5 + 24 + 46 + 23 + 86 + 46 + </a:t>
            </a:r>
            <a:r>
              <a:rPr lang="en-US"/>
              <a:t>3</a:t>
            </a:r>
            <a:r>
              <a:rPr b="0" i="0" lang="en-US" sz="2800" u="none">
                <a:solidFill>
                  <a:schemeClr val="dk1"/>
                </a:solidFill>
                <a:latin typeface="Calibri"/>
                <a:ea typeface="Calibri"/>
                <a:cs typeface="Calibri"/>
                <a:sym typeface="Calibri"/>
              </a:rPr>
              <a:t>9 + 37+9 + 26 + 62</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a:t>
            </a:r>
            <a:r>
              <a:rPr lang="en-US"/>
              <a:t>403</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517" name="Google Shape;517;p12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18" name="Google Shape;518;p127"/>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519" name="Google Shape;519;p12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520" name="Google Shape;520;p127"/>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521" name="Google Shape;521;p1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28"/>
          <p:cNvSpPr txBox="1"/>
          <p:nvPr>
            <p:ph type="title"/>
          </p:nvPr>
        </p:nvSpPr>
        <p:spPr>
          <a:xfrm>
            <a:off x="1200150" y="192087"/>
            <a:ext cx="9639300" cy="992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Shortest Service  Time First</a:t>
            </a:r>
            <a:endParaRPr/>
          </a:p>
        </p:txBody>
      </p:sp>
      <p:sp>
        <p:nvSpPr>
          <p:cNvPr id="528" name="Google Shape;528;p128"/>
          <p:cNvSpPr txBox="1"/>
          <p:nvPr>
            <p:ph idx="1" type="body"/>
          </p:nvPr>
        </p:nvSpPr>
        <p:spPr>
          <a:xfrm>
            <a:off x="215900" y="1257300"/>
            <a:ext cx="11607800" cy="49196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Select the disk I/O request that requires the least movement of the disk arm from its current position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Always choose the minimum seek time </a:t>
            </a:r>
            <a:endParaRPr/>
          </a:p>
          <a:p>
            <a:pPr indent="-228600" lvl="0" marL="228600" marR="0" rtl="0" algn="l">
              <a:lnSpc>
                <a:spcPct val="90000"/>
              </a:lnSpc>
              <a:spcBef>
                <a:spcPts val="10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requested tracks, in the order received by the disk scheduler, are </a:t>
            </a:r>
            <a:endParaRPr/>
          </a:p>
          <a:p>
            <a:pPr indent="-228600" lvl="1" marL="685800" marR="0" rtl="0" algn="l">
              <a:lnSpc>
                <a:spcPct val="90000"/>
              </a:lnSpc>
              <a:spcBef>
                <a:spcPts val="5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55, 58, 39, 18, 90, 160, 150, 38, 184.</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529" name="Google Shape;529;p128"/>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30" name="Google Shape;530;p128"/>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531" name="Google Shape;531;p128"/>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532" name="Google Shape;532;p128"/>
          <p:cNvPicPr preferRelativeResize="0"/>
          <p:nvPr/>
        </p:nvPicPr>
        <p:blipFill rotWithShape="1">
          <a:blip r:embed="rId3">
            <a:alphaModFix/>
          </a:blip>
          <a:srcRect b="0" l="0" r="0" t="0"/>
          <a:stretch/>
        </p:blipFill>
        <p:spPr>
          <a:xfrm>
            <a:off x="2386012" y="4167187"/>
            <a:ext cx="7419975" cy="2371725"/>
          </a:xfrm>
          <a:prstGeom prst="rect">
            <a:avLst/>
          </a:prstGeom>
          <a:noFill/>
          <a:ln>
            <a:noFill/>
          </a:ln>
        </p:spPr>
      </p:pic>
      <p:pic>
        <p:nvPicPr>
          <p:cNvPr id="533" name="Google Shape;533;p128"/>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
        <p:nvSpPr>
          <p:cNvPr id="534" name="Google Shape;534;p1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29"/>
          <p:cNvSpPr txBox="1"/>
          <p:nvPr>
            <p:ph type="title"/>
          </p:nvPr>
        </p:nvSpPr>
        <p:spPr>
          <a:xfrm>
            <a:off x="2200275" y="101600"/>
            <a:ext cx="9012237" cy="144938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404040"/>
              </a:buClr>
              <a:buSzPts val="4800"/>
              <a:buFont typeface="Calibri"/>
              <a:buNone/>
            </a:pPr>
            <a:r>
              <a:rPr b="0" i="0" lang="en-US" sz="4800" u="none">
                <a:solidFill>
                  <a:srgbClr val="404040"/>
                </a:solidFill>
                <a:latin typeface="Calibri"/>
                <a:ea typeface="Calibri"/>
                <a:cs typeface="Calibri"/>
                <a:sym typeface="Calibri"/>
              </a:rPr>
              <a:t>Shortest Service Time First</a:t>
            </a:r>
            <a:endParaRPr/>
          </a:p>
        </p:txBody>
      </p:sp>
      <p:sp>
        <p:nvSpPr>
          <p:cNvPr id="541" name="Google Shape;541;p129"/>
          <p:cNvSpPr txBox="1"/>
          <p:nvPr/>
        </p:nvSpPr>
        <p:spPr>
          <a:xfrm>
            <a:off x="1096962" y="6459537"/>
            <a:ext cx="247332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42" name="Google Shape;542;p129"/>
          <p:cNvSpPr txBox="1"/>
          <p:nvPr/>
        </p:nvSpPr>
        <p:spPr>
          <a:xfrm>
            <a:off x="3686175" y="6459537"/>
            <a:ext cx="482282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COMPUTER ENGINEERING  AND TECHNOLOGY</a:t>
            </a:r>
            <a:endParaRPr b="0" i="0" sz="1400" u="none" cap="none" strike="noStrike">
              <a:solidFill>
                <a:srgbClr val="000000"/>
              </a:solidFill>
              <a:latin typeface="Arial"/>
              <a:ea typeface="Arial"/>
              <a:cs typeface="Arial"/>
              <a:sym typeface="Arial"/>
            </a:endParaRPr>
          </a:p>
        </p:txBody>
      </p:sp>
      <p:sp>
        <p:nvSpPr>
          <p:cNvPr id="543" name="Google Shape;543;p129"/>
          <p:cNvSpPr txBox="1"/>
          <p:nvPr/>
        </p:nvSpPr>
        <p:spPr>
          <a:xfrm>
            <a:off x="9901237" y="6459537"/>
            <a:ext cx="131127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544" name="Google Shape;544;p129"/>
          <p:cNvPicPr preferRelativeResize="0"/>
          <p:nvPr>
            <p:ph idx="1" type="body"/>
          </p:nvPr>
        </p:nvPicPr>
        <p:blipFill rotWithShape="1">
          <a:blip r:embed="rId3">
            <a:alphaModFix/>
          </a:blip>
          <a:srcRect b="0" l="0" r="0" t="0"/>
          <a:stretch/>
        </p:blipFill>
        <p:spPr>
          <a:xfrm>
            <a:off x="398462" y="1981200"/>
            <a:ext cx="4249737" cy="4022725"/>
          </a:xfrm>
          <a:prstGeom prst="rect">
            <a:avLst/>
          </a:prstGeom>
          <a:noFill/>
          <a:ln>
            <a:noFill/>
          </a:ln>
        </p:spPr>
      </p:pic>
      <p:pic>
        <p:nvPicPr>
          <p:cNvPr id="545" name="Google Shape;545;p129"/>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pic>
        <p:nvPicPr>
          <p:cNvPr id="546" name="Google Shape;546;p129"/>
          <p:cNvPicPr preferRelativeResize="0"/>
          <p:nvPr/>
        </p:nvPicPr>
        <p:blipFill rotWithShape="1">
          <a:blip r:embed="rId5">
            <a:alphaModFix/>
          </a:blip>
          <a:srcRect b="0" l="0" r="0" t="0"/>
          <a:stretch/>
        </p:blipFill>
        <p:spPr>
          <a:xfrm>
            <a:off x="4772025" y="2449512"/>
            <a:ext cx="7419975" cy="2371725"/>
          </a:xfrm>
          <a:prstGeom prst="rect">
            <a:avLst/>
          </a:prstGeom>
          <a:noFill/>
          <a:ln>
            <a:noFill/>
          </a:ln>
        </p:spPr>
      </p:pic>
      <p:sp>
        <p:nvSpPr>
          <p:cNvPr id="547" name="Google Shape;547;p1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30"/>
          <p:cNvSpPr txBox="1"/>
          <p:nvPr>
            <p:ph type="title"/>
          </p:nvPr>
        </p:nvSpPr>
        <p:spPr>
          <a:xfrm>
            <a:off x="1524000" y="134937"/>
            <a:ext cx="97409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Shortest Service  Time First</a:t>
            </a:r>
            <a:endParaRPr/>
          </a:p>
        </p:txBody>
      </p:sp>
      <p:sp>
        <p:nvSpPr>
          <p:cNvPr id="553" name="Google Shape;553;p130"/>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Disadvantages</a:t>
            </a:r>
            <a:endParaRPr/>
          </a:p>
          <a:p>
            <a:pPr indent="0" lvl="0" marL="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may cause starvation for some requests.</a:t>
            </a:r>
            <a:endParaRPr/>
          </a:p>
          <a:p>
            <a:pPr indent="0" lvl="0" marL="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Switching direction on the frequent basis slows the working of algorithm.</a:t>
            </a:r>
            <a:endParaRPr/>
          </a:p>
          <a:p>
            <a:pPr indent="0" lvl="0" marL="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is not the most optimal algorithm.</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554" name="Google Shape;554;p13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55" name="Google Shape;555;p130"/>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556" name="Google Shape;556;p13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557" name="Google Shape;557;p13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558" name="Google Shape;558;p1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9e129f1b68_1_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200">
                <a:solidFill>
                  <a:srgbClr val="006699"/>
                </a:solidFill>
                <a:latin typeface="Arial"/>
                <a:ea typeface="Arial"/>
                <a:cs typeface="Arial"/>
                <a:sym typeface="Arial"/>
              </a:rPr>
              <a:t>                          SCAN</a:t>
            </a:r>
            <a:endParaRPr/>
          </a:p>
        </p:txBody>
      </p:sp>
      <p:sp>
        <p:nvSpPr>
          <p:cNvPr id="565" name="Google Shape;565;g39e129f1b68_1_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81000" lvl="0" marL="457200" rtl="0" algn="l">
              <a:lnSpc>
                <a:spcPct val="115000"/>
              </a:lnSpc>
              <a:spcBef>
                <a:spcPts val="800"/>
              </a:spcBef>
              <a:spcAft>
                <a:spcPts val="0"/>
              </a:spcAft>
              <a:buSzPts val="2400"/>
              <a:buFont typeface="Arial"/>
              <a:buChar char="•"/>
            </a:pPr>
            <a:r>
              <a:rPr lang="en-US" sz="2400">
                <a:latin typeface="Arial"/>
                <a:ea typeface="Arial"/>
                <a:cs typeface="Arial"/>
                <a:sym typeface="Arial"/>
              </a:rPr>
              <a:t>The disk arm starts at one end of the disk, and moves toward the other end, servicing requests until it gets to the other end of the disk, where the head movement is reversed and servicing continues.</a:t>
            </a:r>
            <a:endParaRPr sz="2400">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b="1" lang="en-US" sz="2400">
                <a:solidFill>
                  <a:srgbClr val="006699"/>
                </a:solidFill>
                <a:latin typeface="Arial"/>
                <a:ea typeface="Arial"/>
                <a:cs typeface="Arial"/>
                <a:sym typeface="Arial"/>
              </a:rPr>
              <a:t>SCAN</a:t>
            </a:r>
            <a:r>
              <a:rPr b="1" lang="en-US" sz="2400">
                <a:solidFill>
                  <a:srgbClr val="3366FF"/>
                </a:solidFill>
                <a:latin typeface="Arial"/>
                <a:ea typeface="Arial"/>
                <a:cs typeface="Arial"/>
                <a:sym typeface="Arial"/>
              </a:rPr>
              <a:t> </a:t>
            </a:r>
            <a:r>
              <a:rPr b="1" lang="en-US" sz="2400">
                <a:solidFill>
                  <a:srgbClr val="006699"/>
                </a:solidFill>
                <a:latin typeface="Arial"/>
                <a:ea typeface="Arial"/>
                <a:cs typeface="Arial"/>
                <a:sym typeface="Arial"/>
              </a:rPr>
              <a:t>algorithm</a:t>
            </a:r>
            <a:r>
              <a:rPr lang="en-US" sz="2400">
                <a:solidFill>
                  <a:srgbClr val="3366FF"/>
                </a:solidFill>
                <a:latin typeface="Arial"/>
                <a:ea typeface="Arial"/>
                <a:cs typeface="Arial"/>
                <a:sym typeface="Arial"/>
              </a:rPr>
              <a:t> </a:t>
            </a:r>
            <a:r>
              <a:rPr lang="en-US" sz="2400">
                <a:latin typeface="Arial"/>
                <a:ea typeface="Arial"/>
                <a:cs typeface="Arial"/>
                <a:sym typeface="Arial"/>
              </a:rPr>
              <a:t>Sometimes called the </a:t>
            </a:r>
            <a:r>
              <a:rPr b="1" lang="en-US" sz="2400">
                <a:solidFill>
                  <a:srgbClr val="006699"/>
                </a:solidFill>
                <a:latin typeface="Arial"/>
                <a:ea typeface="Arial"/>
                <a:cs typeface="Arial"/>
                <a:sym typeface="Arial"/>
              </a:rPr>
              <a:t>elevator</a:t>
            </a:r>
            <a:r>
              <a:rPr b="1" lang="en-US" sz="2400">
                <a:solidFill>
                  <a:srgbClr val="3366FF"/>
                </a:solidFill>
                <a:latin typeface="Arial"/>
                <a:ea typeface="Arial"/>
                <a:cs typeface="Arial"/>
                <a:sym typeface="Arial"/>
              </a:rPr>
              <a:t> </a:t>
            </a:r>
            <a:r>
              <a:rPr b="1" lang="en-US" sz="2400">
                <a:solidFill>
                  <a:srgbClr val="006699"/>
                </a:solidFill>
                <a:latin typeface="Arial"/>
                <a:ea typeface="Arial"/>
                <a:cs typeface="Arial"/>
                <a:sym typeface="Arial"/>
              </a:rPr>
              <a:t>algorithm</a:t>
            </a:r>
            <a:endParaRPr b="1" sz="2400">
              <a:solidFill>
                <a:srgbClr val="006699"/>
              </a:solidFill>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sz="2400">
                <a:latin typeface="Arial"/>
                <a:ea typeface="Arial"/>
                <a:cs typeface="Arial"/>
                <a:sym typeface="Arial"/>
              </a:rPr>
              <a:t>Illustration shows total head movement of 208 cylinders</a:t>
            </a:r>
            <a:endParaRPr sz="2400">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sz="2400">
                <a:latin typeface="Arial"/>
                <a:ea typeface="Arial"/>
                <a:cs typeface="Arial"/>
                <a:sym typeface="Arial"/>
              </a:rPr>
              <a:t>But note that if requests are uniformly dense, largest density at other end of disk and those wait the longest</a:t>
            </a:r>
            <a:endParaRPr sz="2400">
              <a:latin typeface="Arial"/>
              <a:ea typeface="Arial"/>
              <a:cs typeface="Arial"/>
              <a:sym typeface="Arial"/>
            </a:endParaRPr>
          </a:p>
          <a:p>
            <a:pPr indent="-342900" lvl="0" marL="457200" rtl="0" algn="l">
              <a:spcBef>
                <a:spcPts val="0"/>
              </a:spcBef>
              <a:spcAft>
                <a:spcPts val="0"/>
              </a:spcAft>
              <a:buSzPts val="1800"/>
              <a:buChar char="•"/>
            </a:pPr>
            <a:r>
              <a:t/>
            </a:r>
            <a:endParaRPr/>
          </a:p>
        </p:txBody>
      </p:sp>
      <p:sp>
        <p:nvSpPr>
          <p:cNvPr id="566" name="Google Shape;566;g39e129f1b68_1_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3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0" i="0" lang="en-US" sz="3200" u="none">
                <a:solidFill>
                  <a:schemeClr val="dk1"/>
                </a:solidFill>
                <a:latin typeface="Calibri"/>
                <a:ea typeface="Calibri"/>
                <a:cs typeface="Calibri"/>
                <a:sym typeface="Calibri"/>
              </a:rPr>
              <a:t>SCAN</a:t>
            </a:r>
            <a:br>
              <a:rPr b="0" i="0" lang="en-US" sz="3200" u="none">
                <a:solidFill>
                  <a:schemeClr val="dk1"/>
                </a:solidFill>
                <a:latin typeface="Calibri"/>
                <a:ea typeface="Calibri"/>
                <a:cs typeface="Calibri"/>
                <a:sym typeface="Calibri"/>
              </a:rPr>
            </a:br>
            <a:r>
              <a:rPr b="0" i="0" lang="en-US" sz="3200" u="none">
                <a:solidFill>
                  <a:schemeClr val="dk1"/>
                </a:solidFill>
                <a:latin typeface="Calibri"/>
                <a:ea typeface="Calibri"/>
                <a:cs typeface="Calibri"/>
                <a:sym typeface="Calibri"/>
              </a:rPr>
              <a:t> 55, 58, 39, 18, 90, 160, 150, 38, 184.</a:t>
            </a:r>
            <a:endParaRPr/>
          </a:p>
        </p:txBody>
      </p:sp>
      <p:sp>
        <p:nvSpPr>
          <p:cNvPr id="573" name="Google Shape;573;p131"/>
          <p:cNvSpPr txBox="1"/>
          <p:nvPr>
            <p:ph idx="1" type="body"/>
          </p:nvPr>
        </p:nvSpPr>
        <p:spPr>
          <a:xfrm>
            <a:off x="1096962" y="1846262"/>
            <a:ext cx="7585075" cy="40227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Arm moves in one direction only, processing all outstanding requests until it reaches the last track in that direction &amp; then the direction is reversed</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pic>
        <p:nvPicPr>
          <p:cNvPr id="574" name="Google Shape;574;p131"/>
          <p:cNvPicPr preferRelativeResize="0"/>
          <p:nvPr/>
        </p:nvPicPr>
        <p:blipFill rotWithShape="1">
          <a:blip r:embed="rId3">
            <a:alphaModFix/>
          </a:blip>
          <a:srcRect b="0" l="0" r="0" t="0"/>
          <a:stretch/>
        </p:blipFill>
        <p:spPr>
          <a:xfrm>
            <a:off x="1093787" y="3556000"/>
            <a:ext cx="7258050" cy="2343150"/>
          </a:xfrm>
          <a:prstGeom prst="rect">
            <a:avLst/>
          </a:prstGeom>
          <a:noFill/>
          <a:ln>
            <a:noFill/>
          </a:ln>
        </p:spPr>
      </p:pic>
      <p:sp>
        <p:nvSpPr>
          <p:cNvPr id="575" name="Google Shape;575;p131"/>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76" name="Google Shape;576;p131"/>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577" name="Google Shape;577;p131"/>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578" name="Google Shape;578;p131"/>
          <p:cNvPicPr preferRelativeResize="0"/>
          <p:nvPr/>
        </p:nvPicPr>
        <p:blipFill rotWithShape="1">
          <a:blip r:embed="rId4">
            <a:alphaModFix/>
          </a:blip>
          <a:srcRect b="0" l="0" r="0" t="0"/>
          <a:stretch/>
        </p:blipFill>
        <p:spPr>
          <a:xfrm>
            <a:off x="8810625" y="715962"/>
            <a:ext cx="2949575" cy="5265737"/>
          </a:xfrm>
          <a:prstGeom prst="rect">
            <a:avLst/>
          </a:prstGeom>
          <a:noFill/>
          <a:ln>
            <a:noFill/>
          </a:ln>
        </p:spPr>
      </p:pic>
      <p:sp>
        <p:nvSpPr>
          <p:cNvPr id="579" name="Google Shape;579;p1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9e129f1b68_1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200">
                <a:solidFill>
                  <a:srgbClr val="006699"/>
                </a:solidFill>
                <a:latin typeface="Arial"/>
                <a:ea typeface="Arial"/>
                <a:cs typeface="Arial"/>
                <a:sym typeface="Arial"/>
              </a:rPr>
              <a:t>C-SCAN</a:t>
            </a:r>
            <a:endParaRPr/>
          </a:p>
        </p:txBody>
      </p:sp>
      <p:sp>
        <p:nvSpPr>
          <p:cNvPr id="586" name="Google Shape;586;g39e129f1b68_1_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800"/>
              </a:spcBef>
              <a:spcAft>
                <a:spcPts val="0"/>
              </a:spcAft>
              <a:buSzPts val="2400"/>
              <a:buFont typeface="Arial"/>
              <a:buChar char="•"/>
            </a:pPr>
            <a:r>
              <a:rPr lang="en-US" sz="2400">
                <a:latin typeface="Arial"/>
                <a:ea typeface="Arial"/>
                <a:cs typeface="Arial"/>
                <a:sym typeface="Arial"/>
              </a:rPr>
              <a:t>Provides a more uniform wait time than SCAN</a:t>
            </a:r>
            <a:endParaRPr sz="2400">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sz="2400">
                <a:latin typeface="Arial"/>
                <a:ea typeface="Arial"/>
                <a:cs typeface="Arial"/>
                <a:sym typeface="Arial"/>
              </a:rPr>
              <a:t>The head moves from one end of the disk to the other, servicing requests as it goes</a:t>
            </a:r>
            <a:endParaRPr sz="24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lang="en-US" sz="2500">
                <a:solidFill>
                  <a:srgbClr val="CC6600"/>
                </a:solidFill>
                <a:latin typeface="Arial"/>
                <a:ea typeface="Arial"/>
                <a:cs typeface="Arial"/>
                <a:sym typeface="Arial"/>
              </a:rPr>
              <a:t>•	</a:t>
            </a:r>
            <a:r>
              <a:rPr lang="en-US" sz="2400">
                <a:latin typeface="Arial"/>
                <a:ea typeface="Arial"/>
                <a:cs typeface="Arial"/>
                <a:sym typeface="Arial"/>
              </a:rPr>
              <a:t>When it reaches the other end, however, it immediately returns to the beginning of the disk, without servicing any requests on the return trip</a:t>
            </a:r>
            <a:endParaRPr sz="2400">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sz="2400">
                <a:latin typeface="Arial"/>
                <a:ea typeface="Arial"/>
                <a:cs typeface="Arial"/>
                <a:sym typeface="Arial"/>
              </a:rPr>
              <a:t>Treats the cylinders as a circular list that wraps around from the last cylinder to the first one</a:t>
            </a:r>
            <a:endParaRPr sz="2400">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sz="2400">
                <a:latin typeface="Arial"/>
                <a:ea typeface="Arial"/>
                <a:cs typeface="Arial"/>
                <a:sym typeface="Arial"/>
              </a:rPr>
              <a:t>Total number of cylinders?</a:t>
            </a:r>
            <a:endParaRPr sz="2400">
              <a:latin typeface="Arial"/>
              <a:ea typeface="Arial"/>
              <a:cs typeface="Arial"/>
              <a:sym typeface="Arial"/>
            </a:endParaRPr>
          </a:p>
          <a:p>
            <a:pPr indent="0" lvl="0" marL="0" rtl="0" algn="l">
              <a:spcBef>
                <a:spcPts val="1000"/>
              </a:spcBef>
              <a:spcAft>
                <a:spcPts val="0"/>
              </a:spcAft>
              <a:buNone/>
            </a:pPr>
            <a:r>
              <a:t/>
            </a:r>
            <a:endParaRPr/>
          </a:p>
        </p:txBody>
      </p:sp>
      <p:sp>
        <p:nvSpPr>
          <p:cNvPr id="587" name="Google Shape;587;g39e129f1b68_1_1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3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0" i="0" lang="en-US" sz="3200" u="none">
                <a:solidFill>
                  <a:schemeClr val="dk1"/>
                </a:solidFill>
                <a:latin typeface="Calibri"/>
                <a:ea typeface="Calibri"/>
                <a:cs typeface="Calibri"/>
                <a:sym typeface="Calibri"/>
              </a:rPr>
              <a:t>C-SCAN</a:t>
            </a:r>
            <a:br>
              <a:rPr b="0" i="0" lang="en-US" sz="3200" u="none">
                <a:solidFill>
                  <a:schemeClr val="dk1"/>
                </a:solidFill>
                <a:latin typeface="Calibri"/>
                <a:ea typeface="Calibri"/>
                <a:cs typeface="Calibri"/>
                <a:sym typeface="Calibri"/>
              </a:rPr>
            </a:br>
            <a:r>
              <a:rPr b="0" i="0" lang="en-US" sz="3200" u="none">
                <a:solidFill>
                  <a:schemeClr val="dk1"/>
                </a:solidFill>
                <a:latin typeface="Calibri"/>
                <a:ea typeface="Calibri"/>
                <a:cs typeface="Calibri"/>
                <a:sym typeface="Calibri"/>
              </a:rPr>
              <a:t>55, 58, 39, 18, 90, 160, 150, 38, 184.</a:t>
            </a:r>
            <a:endParaRPr/>
          </a:p>
        </p:txBody>
      </p:sp>
      <p:sp>
        <p:nvSpPr>
          <p:cNvPr id="594" name="Google Shape;594;p132"/>
          <p:cNvSpPr txBox="1"/>
          <p:nvPr>
            <p:ph idx="1" type="body"/>
          </p:nvPr>
        </p:nvSpPr>
        <p:spPr>
          <a:xfrm>
            <a:off x="1096962" y="1846262"/>
            <a:ext cx="7727950" cy="40227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Restricts scanning to one direction only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the last track has been visited in one direction, the arm is returned to the opposite end of the disk and the scan begins again</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pic>
        <p:nvPicPr>
          <p:cNvPr id="595" name="Google Shape;595;p132"/>
          <p:cNvPicPr preferRelativeResize="0"/>
          <p:nvPr/>
        </p:nvPicPr>
        <p:blipFill rotWithShape="1">
          <a:blip r:embed="rId3">
            <a:alphaModFix/>
          </a:blip>
          <a:srcRect b="0" l="0" r="0" t="0"/>
          <a:stretch/>
        </p:blipFill>
        <p:spPr>
          <a:xfrm>
            <a:off x="1042987" y="3946525"/>
            <a:ext cx="6715125" cy="2028825"/>
          </a:xfrm>
          <a:prstGeom prst="rect">
            <a:avLst/>
          </a:prstGeom>
          <a:noFill/>
          <a:ln>
            <a:noFill/>
          </a:ln>
        </p:spPr>
      </p:pic>
      <p:sp>
        <p:nvSpPr>
          <p:cNvPr id="596" name="Google Shape;596;p13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97" name="Google Shape;597;p132"/>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598" name="Google Shape;598;p13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599" name="Google Shape;599;p132"/>
          <p:cNvPicPr preferRelativeResize="0"/>
          <p:nvPr/>
        </p:nvPicPr>
        <p:blipFill rotWithShape="1">
          <a:blip r:embed="rId4">
            <a:alphaModFix/>
          </a:blip>
          <a:srcRect b="0" l="0" r="0" t="0"/>
          <a:stretch/>
        </p:blipFill>
        <p:spPr>
          <a:xfrm>
            <a:off x="8847137" y="623887"/>
            <a:ext cx="3000375" cy="5270500"/>
          </a:xfrm>
          <a:prstGeom prst="rect">
            <a:avLst/>
          </a:prstGeom>
          <a:noFill/>
          <a:ln>
            <a:noFill/>
          </a:ln>
        </p:spPr>
      </p:pic>
      <p:sp>
        <p:nvSpPr>
          <p:cNvPr id="600" name="Google Shape;600;p1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3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Performance Compared</a:t>
            </a:r>
            <a:endParaRPr/>
          </a:p>
        </p:txBody>
      </p:sp>
      <p:pic>
        <p:nvPicPr>
          <p:cNvPr descr="Table11_02.gif" id="607" name="Google Shape;607;p133"/>
          <p:cNvPicPr preferRelativeResize="0"/>
          <p:nvPr>
            <p:ph idx="1" type="body"/>
          </p:nvPr>
        </p:nvPicPr>
        <p:blipFill rotWithShape="1">
          <a:blip r:embed="rId3">
            <a:alphaModFix/>
          </a:blip>
          <a:srcRect b="0" l="0" r="0" t="0"/>
          <a:stretch/>
        </p:blipFill>
        <p:spPr>
          <a:xfrm>
            <a:off x="2114550" y="2295525"/>
            <a:ext cx="7962900" cy="3562350"/>
          </a:xfrm>
          <a:prstGeom prst="rect">
            <a:avLst/>
          </a:prstGeom>
          <a:noFill/>
          <a:ln>
            <a:noFill/>
          </a:ln>
        </p:spPr>
      </p:pic>
      <p:sp>
        <p:nvSpPr>
          <p:cNvPr id="608" name="Google Shape;608;p133"/>
          <p:cNvSpPr txBox="1"/>
          <p:nvPr/>
        </p:nvSpPr>
        <p:spPr>
          <a:xfrm>
            <a:off x="2209800" y="1701800"/>
            <a:ext cx="80772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Comparison of Disk Scheduling Algorithms</a:t>
            </a:r>
            <a:endParaRPr b="0" i="0" sz="1400" u="none" cap="none" strike="noStrike">
              <a:solidFill>
                <a:srgbClr val="000000"/>
              </a:solidFill>
              <a:latin typeface="Arial"/>
              <a:ea typeface="Arial"/>
              <a:cs typeface="Arial"/>
              <a:sym typeface="Arial"/>
            </a:endParaRPr>
          </a:p>
        </p:txBody>
      </p:sp>
      <p:sp>
        <p:nvSpPr>
          <p:cNvPr id="609" name="Google Shape;609;p13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10" name="Google Shape;610;p133"/>
          <p:cNvSpPr txBox="1"/>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611" name="Google Shape;611;p13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12" name="Google Shape;612;p1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8c66459532_0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19" name="Google Shape;619;g38c66459532_0_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20" name="Google Shape;620;g38c66459532_0_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21" name="Google Shape;621;g38c66459532_0_1"/>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pic>
        <p:nvPicPr>
          <p:cNvPr id="622" name="Google Shape;622;g38c66459532_0_1"/>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8c66459532_0_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29" name="Google Shape;629;g38c66459532_0_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30" name="Google Shape;630;g38c66459532_0_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31" name="Google Shape;631;g38c66459532_0_9"/>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pic>
        <p:nvPicPr>
          <p:cNvPr id="632" name="Google Shape;632;g38c66459532_0_9"/>
          <p:cNvPicPr preferRelativeResize="0"/>
          <p:nvPr/>
        </p:nvPicPr>
        <p:blipFill rotWithShape="1">
          <a:blip r:embed="rId4">
            <a:alphaModFix/>
          </a:blip>
          <a:srcRect b="0" l="0" r="0" t="0"/>
          <a:stretch/>
        </p:blipFill>
        <p:spPr>
          <a:xfrm>
            <a:off x="41275" y="30152"/>
            <a:ext cx="1060525" cy="889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8c66459532_0_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39" name="Google Shape;639;g38c66459532_0_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40" name="Google Shape;640;g38c66459532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41" name="Google Shape;641;g38c66459532_0_16"/>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pic>
        <p:nvPicPr>
          <p:cNvPr id="642" name="Google Shape;642;g38c66459532_0_16"/>
          <p:cNvPicPr preferRelativeResize="0"/>
          <p:nvPr/>
        </p:nvPicPr>
        <p:blipFill rotWithShape="1">
          <a:blip r:embed="rId4">
            <a:alphaModFix/>
          </a:blip>
          <a:srcRect b="0" l="0" r="0" t="0"/>
          <a:stretch/>
        </p:blipFill>
        <p:spPr>
          <a:xfrm>
            <a:off x="1676400" y="152400"/>
            <a:ext cx="9144000" cy="6858000"/>
          </a:xfrm>
          <a:prstGeom prst="rect">
            <a:avLst/>
          </a:prstGeom>
          <a:noFill/>
          <a:ln>
            <a:noFill/>
          </a:ln>
        </p:spPr>
      </p:pic>
      <p:pic>
        <p:nvPicPr>
          <p:cNvPr id="643" name="Google Shape;643;g38c66459532_0_16"/>
          <p:cNvPicPr preferRelativeResize="0"/>
          <p:nvPr/>
        </p:nvPicPr>
        <p:blipFill rotWithShape="1">
          <a:blip r:embed="rId5">
            <a:alphaModFix/>
          </a:blip>
          <a:srcRect b="0" l="0" r="0" t="0"/>
          <a:stretch/>
        </p:blipFill>
        <p:spPr>
          <a:xfrm>
            <a:off x="41275" y="30162"/>
            <a:ext cx="1270000" cy="106521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8c66459532_0_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50" name="Google Shape;650;g38c66459532_0_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51" name="Google Shape;651;g38c66459532_0_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52" name="Google Shape;652;g38c66459532_0_23"/>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pic>
        <p:nvPicPr>
          <p:cNvPr id="653" name="Google Shape;653;g38c66459532_0_23"/>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8c66459532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60" name="Google Shape;660;g38c66459532_0_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61" name="Google Shape;661;g38c66459532_0_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62" name="Google Shape;662;g38c66459532_0_30"/>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pic>
        <p:nvPicPr>
          <p:cNvPr id="663" name="Google Shape;663;g38c66459532_0_30"/>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g38c66459532_0_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70" name="Google Shape;670;g38c66459532_0_3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71" name="Google Shape;671;g38c66459532_0_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72" name="Google Shape;672;g38c66459532_0_37"/>
          <p:cNvPicPr preferRelativeResize="0"/>
          <p:nvPr/>
        </p:nvPicPr>
        <p:blipFill rotWithShape="1">
          <a:blip r:embed="rId3">
            <a:alphaModFix/>
          </a:blip>
          <a:srcRect b="0" l="0" r="0" t="0"/>
          <a:stretch/>
        </p:blipFill>
        <p:spPr>
          <a:xfrm>
            <a:off x="1235675" y="0"/>
            <a:ext cx="9432324" cy="6858000"/>
          </a:xfrm>
          <a:prstGeom prst="rect">
            <a:avLst/>
          </a:prstGeom>
          <a:noFill/>
          <a:ln>
            <a:noFill/>
          </a:ln>
        </p:spPr>
      </p:pic>
      <p:pic>
        <p:nvPicPr>
          <p:cNvPr id="673" name="Google Shape;673;g38c66459532_0_37"/>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38c66459532_0_4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80" name="Google Shape;680;g38c66459532_0_4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681" name="Google Shape;681;g38c66459532_0_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82" name="Google Shape;682;g38c66459532_0_44"/>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pic>
        <p:nvPicPr>
          <p:cNvPr id="683" name="Google Shape;683;g38c66459532_0_44"/>
          <p:cNvPicPr preferRelativeResize="0"/>
          <p:nvPr/>
        </p:nvPicPr>
        <p:blipFill rotWithShape="1">
          <a:blip r:embed="rId4">
            <a:alphaModFix/>
          </a:blip>
          <a:srcRect b="0" l="0" r="0" t="0"/>
          <a:stretch/>
        </p:blipFill>
        <p:spPr>
          <a:xfrm>
            <a:off x="41275" y="30162"/>
            <a:ext cx="1270000" cy="10652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g3711dd15de9_1_33"/>
          <p:cNvSpPr txBox="1"/>
          <p:nvPr>
            <p:ph type="title"/>
          </p:nvPr>
        </p:nvSpPr>
        <p:spPr>
          <a:xfrm>
            <a:off x="1783550" y="-8726"/>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Formatting</a:t>
            </a:r>
            <a:endParaRPr/>
          </a:p>
        </p:txBody>
      </p:sp>
      <p:sp>
        <p:nvSpPr>
          <p:cNvPr id="690" name="Google Shape;690;g3711dd15de9_1_33"/>
          <p:cNvSpPr txBox="1"/>
          <p:nvPr>
            <p:ph idx="1" type="body"/>
          </p:nvPr>
        </p:nvSpPr>
        <p:spPr>
          <a:xfrm>
            <a:off x="908200" y="1293775"/>
            <a:ext cx="10764300" cy="5062500"/>
          </a:xfrm>
          <a:prstGeom prst="rect">
            <a:avLst/>
          </a:prstGeom>
          <a:noFill/>
          <a:ln>
            <a:noFill/>
          </a:ln>
        </p:spPr>
        <p:txBody>
          <a:bodyPr anchorCtr="0" anchor="t" bIns="45700" lIns="91425" spcFirstLastPara="1" rIns="91425" wrap="square" tIns="45700">
            <a:noAutofit/>
          </a:bodyPr>
          <a:lstStyle/>
          <a:p>
            <a:pPr indent="-184150" lvl="0" marL="228600" rtl="0" algn="just">
              <a:lnSpc>
                <a:spcPct val="90000"/>
              </a:lnSpc>
              <a:spcBef>
                <a:spcPts val="1000"/>
              </a:spcBef>
              <a:spcAft>
                <a:spcPts val="0"/>
              </a:spcAft>
              <a:buSzPts val="2100"/>
              <a:buChar char="•"/>
            </a:pPr>
            <a:r>
              <a:rPr lang="en-US" sz="2100"/>
              <a:t>A new </a:t>
            </a:r>
            <a:r>
              <a:rPr b="1" lang="en-US" sz="2100"/>
              <a:t>magnetic disk is a blank slate</a:t>
            </a:r>
            <a:r>
              <a:rPr lang="en-US" sz="2100"/>
              <a:t>: It is just a platter of a magnetic recording material. </a:t>
            </a:r>
            <a:endParaRPr sz="2100"/>
          </a:p>
          <a:p>
            <a:pPr indent="-184150" lvl="0" marL="228600" rtl="0" algn="just">
              <a:lnSpc>
                <a:spcPct val="90000"/>
              </a:lnSpc>
              <a:spcBef>
                <a:spcPts val="1000"/>
              </a:spcBef>
              <a:spcAft>
                <a:spcPts val="0"/>
              </a:spcAft>
              <a:buSzPts val="2100"/>
              <a:buChar char="•"/>
            </a:pPr>
            <a:r>
              <a:rPr lang="en-US" sz="2100"/>
              <a:t>Before a disk can store data, it must be </a:t>
            </a:r>
            <a:r>
              <a:rPr b="1" lang="en-US" sz="2100"/>
              <a:t>divided into sector</a:t>
            </a:r>
            <a:r>
              <a:rPr lang="en-US" sz="2100"/>
              <a:t>s that the disk controller can read and write. This process is called l</a:t>
            </a:r>
            <a:r>
              <a:rPr b="1" lang="en-US" sz="2100"/>
              <a:t>ow-level formatting, or physical formatting. </a:t>
            </a:r>
            <a:endParaRPr b="1" sz="2100"/>
          </a:p>
          <a:p>
            <a:pPr indent="-184150" lvl="0" marL="228600" rtl="0" algn="just">
              <a:lnSpc>
                <a:spcPct val="90000"/>
              </a:lnSpc>
              <a:spcBef>
                <a:spcPts val="1000"/>
              </a:spcBef>
              <a:spcAft>
                <a:spcPts val="0"/>
              </a:spcAft>
              <a:buSzPts val="2100"/>
              <a:buChar char="•"/>
            </a:pPr>
            <a:r>
              <a:rPr lang="en-US" sz="2100"/>
              <a:t>Low-level formatting</a:t>
            </a:r>
            <a:r>
              <a:rPr b="1" lang="en-US" sz="2100"/>
              <a:t> fills the disk with a special data structure for each sector</a:t>
            </a:r>
            <a:r>
              <a:rPr lang="en-US" sz="2100"/>
              <a:t>. The data structure for a sector typically consists of a header, a data area (usually 512 bytes in size), and a trailer. </a:t>
            </a:r>
            <a:endParaRPr sz="2100"/>
          </a:p>
          <a:p>
            <a:pPr indent="-184150" lvl="0" marL="228600" rtl="0" algn="just">
              <a:lnSpc>
                <a:spcPct val="90000"/>
              </a:lnSpc>
              <a:spcBef>
                <a:spcPts val="1000"/>
              </a:spcBef>
              <a:spcAft>
                <a:spcPts val="0"/>
              </a:spcAft>
              <a:buSzPts val="2100"/>
              <a:buChar char="•"/>
            </a:pPr>
            <a:r>
              <a:rPr lang="en-US" sz="2100"/>
              <a:t>The header and trailer contain information used by the disk controller, such as a sector number and an </a:t>
            </a:r>
            <a:r>
              <a:rPr b="1" lang="en-US" sz="2100"/>
              <a:t>error-correcting code </a:t>
            </a:r>
            <a:r>
              <a:rPr lang="en-US" sz="2100"/>
              <a:t>(ECC) </a:t>
            </a:r>
            <a:endParaRPr sz="2100"/>
          </a:p>
          <a:p>
            <a:pPr indent="-184150" lvl="0" marL="228600" rtl="0" algn="just">
              <a:lnSpc>
                <a:spcPct val="90000"/>
              </a:lnSpc>
              <a:spcBef>
                <a:spcPts val="1000"/>
              </a:spcBef>
              <a:spcAft>
                <a:spcPts val="0"/>
              </a:spcAft>
              <a:buSzPts val="2100"/>
              <a:buChar char="•"/>
            </a:pPr>
            <a:r>
              <a:rPr lang="en-US" sz="2100"/>
              <a:t> When the controller writes a sector of data during normal I/O, the ECC is updated with a value calculated from all the bytes in the data area. </a:t>
            </a:r>
            <a:endParaRPr sz="2100"/>
          </a:p>
          <a:p>
            <a:pPr indent="-184150" lvl="0" marL="228600" rtl="0" algn="just">
              <a:lnSpc>
                <a:spcPct val="90000"/>
              </a:lnSpc>
              <a:spcBef>
                <a:spcPts val="1000"/>
              </a:spcBef>
              <a:spcAft>
                <a:spcPts val="0"/>
              </a:spcAft>
              <a:buSzPts val="2100"/>
              <a:buChar char="•"/>
            </a:pPr>
            <a:r>
              <a:rPr lang="en-US" sz="2100"/>
              <a:t>When the sector is read, the ECC is recalculated and is compared with the stored value.</a:t>
            </a:r>
            <a:endParaRPr sz="2100"/>
          </a:p>
          <a:p>
            <a:pPr indent="-184150" lvl="0" marL="228600" rtl="0" algn="just">
              <a:lnSpc>
                <a:spcPct val="90000"/>
              </a:lnSpc>
              <a:spcBef>
                <a:spcPts val="1000"/>
              </a:spcBef>
              <a:spcAft>
                <a:spcPts val="0"/>
              </a:spcAft>
              <a:buSzPts val="2100"/>
              <a:buChar char="•"/>
            </a:pPr>
            <a:r>
              <a:rPr lang="en-US" sz="2100"/>
              <a:t>If the stored and calculated numbers are different, this </a:t>
            </a:r>
            <a:r>
              <a:rPr b="1" lang="en-US" sz="2100"/>
              <a:t>mismatch indicates that the data area of the sector has become corrupted</a:t>
            </a:r>
            <a:r>
              <a:rPr lang="en-US" sz="2100"/>
              <a:t> and that the disk sector may be bad  </a:t>
            </a:r>
            <a:endParaRPr sz="2100"/>
          </a:p>
        </p:txBody>
      </p:sp>
      <p:sp>
        <p:nvSpPr>
          <p:cNvPr id="691" name="Google Shape;691;g3711dd15de9_1_33"/>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92" name="Google Shape;692;g3711dd15de9_1_33"/>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693" name="Google Shape;693;g3711dd15de9_1_33"/>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694" name="Google Shape;694;g3711dd15de9_1_33"/>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695" name="Google Shape;695;g3711dd15de9_1_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8f13da0ada_1_0"/>
          <p:cNvSpPr txBox="1"/>
          <p:nvPr>
            <p:ph type="title"/>
          </p:nvPr>
        </p:nvSpPr>
        <p:spPr>
          <a:xfrm>
            <a:off x="1740700" y="30162"/>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Formatting</a:t>
            </a:r>
            <a:endParaRPr/>
          </a:p>
        </p:txBody>
      </p:sp>
      <p:sp>
        <p:nvSpPr>
          <p:cNvPr id="702" name="Google Shape;702;g38f13da0ada_1_0"/>
          <p:cNvSpPr txBox="1"/>
          <p:nvPr>
            <p:ph idx="1" type="body"/>
          </p:nvPr>
        </p:nvSpPr>
        <p:spPr>
          <a:xfrm>
            <a:off x="1012875" y="1095375"/>
            <a:ext cx="10889100" cy="5548200"/>
          </a:xfrm>
          <a:prstGeom prst="rect">
            <a:avLst/>
          </a:prstGeom>
          <a:noFill/>
          <a:ln>
            <a:noFill/>
          </a:ln>
        </p:spPr>
        <p:txBody>
          <a:bodyPr anchorCtr="0" anchor="t" bIns="45700" lIns="91425" spcFirstLastPara="1" rIns="91425" wrap="square" tIns="45700">
            <a:noAutofit/>
          </a:bodyPr>
          <a:lstStyle/>
          <a:p>
            <a:pPr indent="-190500" lvl="0" marL="228600" marR="0" rtl="0" algn="just">
              <a:lnSpc>
                <a:spcPct val="90000"/>
              </a:lnSpc>
              <a:spcBef>
                <a:spcPts val="1000"/>
              </a:spcBef>
              <a:spcAft>
                <a:spcPts val="0"/>
              </a:spcAft>
              <a:buClr>
                <a:schemeClr val="dk1"/>
              </a:buClr>
              <a:buSzPts val="2200"/>
              <a:buFont typeface="Arial"/>
              <a:buChar char="•"/>
            </a:pPr>
            <a:r>
              <a:rPr lang="en-US" sz="2200"/>
              <a:t>The controller automatically does the</a:t>
            </a:r>
            <a:r>
              <a:rPr b="1" lang="en-US" sz="2200"/>
              <a:t> ECC processing whenever a sector is read or ,written.</a:t>
            </a:r>
            <a:endParaRPr b="1" sz="2200"/>
          </a:p>
          <a:p>
            <a:pPr indent="-190500" lvl="0" marL="228600" marR="0" rtl="0" algn="just">
              <a:lnSpc>
                <a:spcPct val="90000"/>
              </a:lnSpc>
              <a:spcBef>
                <a:spcPts val="1000"/>
              </a:spcBef>
              <a:spcAft>
                <a:spcPts val="0"/>
              </a:spcAft>
              <a:buClr>
                <a:schemeClr val="dk1"/>
              </a:buClr>
              <a:buSzPts val="2200"/>
              <a:buFont typeface="Arial"/>
              <a:buChar char="•"/>
            </a:pPr>
            <a:r>
              <a:rPr lang="en-US" sz="2200"/>
              <a:t>Most hard disks are low-level-formatted at the factory as a part of the manufacturing process. </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For many hard disks, when the disk controller is instructed to low-Level-formatting, it can also be told how many bytes of data space to leave between the header and trailer of all sectors. </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It is usually possible to </a:t>
            </a:r>
            <a:r>
              <a:rPr b="1" lang="en-US" sz="2200"/>
              <a:t>choose among a few sizes, such as 256, 512, and 1,024 bytes</a:t>
            </a:r>
            <a:r>
              <a:rPr lang="en-US" sz="2200"/>
              <a:t>.</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Formatting a disk with a larger sector size means that fewer sectors can fit on each track; but it also means that fewer headers and trailers are written on each track and more space is available for user data. </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Some operating systems can handle only a sector size of 512 bytes.</a:t>
            </a:r>
            <a:endParaRPr sz="2200"/>
          </a:p>
          <a:p>
            <a:pPr indent="-50800" lvl="0" marL="228600" marR="0" rtl="0" algn="just">
              <a:lnSpc>
                <a:spcPct val="90000"/>
              </a:lnSpc>
              <a:spcBef>
                <a:spcPts val="1000"/>
              </a:spcBef>
              <a:spcAft>
                <a:spcPts val="0"/>
              </a:spcAft>
              <a:buClr>
                <a:schemeClr val="dk1"/>
              </a:buClr>
              <a:buSzPts val="2800"/>
              <a:buFont typeface="Arial"/>
              <a:buNone/>
            </a:pPr>
            <a:r>
              <a:t/>
            </a:r>
            <a:endParaRPr b="0" i="0" sz="2200" u="none">
              <a:solidFill>
                <a:schemeClr val="dk1"/>
              </a:solidFill>
              <a:latin typeface="Calibri"/>
              <a:ea typeface="Calibri"/>
              <a:cs typeface="Calibri"/>
              <a:sym typeface="Calibri"/>
            </a:endParaRPr>
          </a:p>
          <a:p>
            <a:pPr indent="-50800" lvl="0" marL="228600" marR="0" rtl="0" algn="just">
              <a:lnSpc>
                <a:spcPct val="90000"/>
              </a:lnSpc>
              <a:spcBef>
                <a:spcPts val="1000"/>
              </a:spcBef>
              <a:spcAft>
                <a:spcPts val="0"/>
              </a:spcAft>
              <a:buClr>
                <a:schemeClr val="dk1"/>
              </a:buClr>
              <a:buSzPts val="2800"/>
              <a:buFont typeface="Arial"/>
              <a:buNone/>
            </a:pPr>
            <a:r>
              <a:t/>
            </a:r>
            <a:endParaRPr b="0" i="0" sz="2200" u="none">
              <a:solidFill>
                <a:schemeClr val="dk1"/>
              </a:solidFill>
              <a:latin typeface="Calibri"/>
              <a:ea typeface="Calibri"/>
              <a:cs typeface="Calibri"/>
              <a:sym typeface="Calibri"/>
            </a:endParaRPr>
          </a:p>
        </p:txBody>
      </p:sp>
      <p:sp>
        <p:nvSpPr>
          <p:cNvPr id="703" name="Google Shape;703;g38f13da0ada_1_0"/>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04" name="Google Shape;704;g38f13da0ada_1_0"/>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05" name="Google Shape;705;g38f13da0ada_1_0"/>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06" name="Google Shape;706;g38f13da0ada_1_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07" name="Google Shape;707;g38f13da0ada_1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8f13da0ada_1_10"/>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Formatting</a:t>
            </a:r>
            <a:endParaRPr/>
          </a:p>
        </p:txBody>
      </p:sp>
      <p:sp>
        <p:nvSpPr>
          <p:cNvPr id="714" name="Google Shape;714;g38f13da0ada_1_10"/>
          <p:cNvSpPr txBox="1"/>
          <p:nvPr>
            <p:ph idx="1" type="body"/>
          </p:nvPr>
        </p:nvSpPr>
        <p:spPr>
          <a:xfrm>
            <a:off x="838200" y="1530413"/>
            <a:ext cx="11003700" cy="4732200"/>
          </a:xfrm>
          <a:prstGeom prst="rect">
            <a:avLst/>
          </a:prstGeom>
          <a:noFill/>
          <a:ln>
            <a:noFill/>
          </a:ln>
        </p:spPr>
        <p:txBody>
          <a:bodyPr anchorCtr="0" anchor="t" bIns="45700" lIns="91425" spcFirstLastPara="1" rIns="91425" wrap="square" tIns="45700">
            <a:noAutofit/>
          </a:bodyPr>
          <a:lstStyle/>
          <a:p>
            <a:pPr indent="-381000" lvl="0" marL="457200" rtl="0" algn="just">
              <a:lnSpc>
                <a:spcPct val="90000"/>
              </a:lnSpc>
              <a:spcBef>
                <a:spcPts val="1000"/>
              </a:spcBef>
              <a:spcAft>
                <a:spcPts val="0"/>
              </a:spcAft>
              <a:buSzPts val="2400"/>
              <a:buChar char="•"/>
            </a:pPr>
            <a:r>
              <a:rPr lang="en-US" sz="2400"/>
              <a:t>To use a </a:t>
            </a:r>
            <a:r>
              <a:rPr b="1" lang="en-US" sz="2400"/>
              <a:t>disk to hold files</a:t>
            </a:r>
            <a:r>
              <a:rPr lang="en-US" sz="2400"/>
              <a:t>, the operating system still </a:t>
            </a:r>
            <a:r>
              <a:rPr b="1" lang="en-US" sz="2400"/>
              <a:t>needs to record its own data structures</a:t>
            </a:r>
            <a:r>
              <a:rPr lang="en-US" sz="2400"/>
              <a:t> on the disk. </a:t>
            </a:r>
            <a:endParaRPr sz="2400"/>
          </a:p>
          <a:p>
            <a:pPr indent="-381000" lvl="0" marL="457200" rtl="0" algn="just">
              <a:lnSpc>
                <a:spcPct val="90000"/>
              </a:lnSpc>
              <a:spcBef>
                <a:spcPts val="1000"/>
              </a:spcBef>
              <a:spcAft>
                <a:spcPts val="0"/>
              </a:spcAft>
              <a:buSzPts val="2400"/>
              <a:buChar char="•"/>
            </a:pPr>
            <a:r>
              <a:rPr lang="en-US" sz="2400"/>
              <a:t>The first step is to</a:t>
            </a:r>
            <a:r>
              <a:rPr b="1" lang="en-US" sz="2400"/>
              <a:t> partition the disk into one or more groups </a:t>
            </a:r>
            <a:r>
              <a:rPr lang="en-US" sz="2400"/>
              <a:t>of cylinders. </a:t>
            </a:r>
            <a:endParaRPr sz="2400"/>
          </a:p>
          <a:p>
            <a:pPr indent="-381000" lvl="0" marL="457200" rtl="0" algn="just">
              <a:lnSpc>
                <a:spcPct val="90000"/>
              </a:lnSpc>
              <a:spcBef>
                <a:spcPts val="1000"/>
              </a:spcBef>
              <a:spcAft>
                <a:spcPts val="0"/>
              </a:spcAft>
              <a:buSzPts val="2400"/>
              <a:buChar char="•"/>
            </a:pPr>
            <a:r>
              <a:rPr lang="en-US" sz="2400"/>
              <a:t>The operating system can treat each partition as though it were a separate disk. </a:t>
            </a:r>
            <a:endParaRPr sz="2400"/>
          </a:p>
          <a:p>
            <a:pPr indent="-381000" lvl="0" marL="457200" rtl="0" algn="just">
              <a:lnSpc>
                <a:spcPct val="90000"/>
              </a:lnSpc>
              <a:spcBef>
                <a:spcPts val="1000"/>
              </a:spcBef>
              <a:spcAft>
                <a:spcPts val="0"/>
              </a:spcAft>
              <a:buSzPts val="2400"/>
              <a:buChar char="•"/>
            </a:pPr>
            <a:r>
              <a:rPr lang="en-US" sz="2400"/>
              <a:t>Eg, one partition can hold a copy of the operating system's executable code, while another holds user files. </a:t>
            </a:r>
            <a:endParaRPr sz="2400"/>
          </a:p>
          <a:p>
            <a:pPr indent="-381000" lvl="0" marL="457200" rtl="0" algn="just">
              <a:lnSpc>
                <a:spcPct val="90000"/>
              </a:lnSpc>
              <a:spcBef>
                <a:spcPts val="1000"/>
              </a:spcBef>
              <a:spcAft>
                <a:spcPts val="0"/>
              </a:spcAft>
              <a:buSzPts val="2400"/>
              <a:buChar char="•"/>
            </a:pPr>
            <a:r>
              <a:rPr lang="en-US" sz="2400"/>
              <a:t>After partitioning, the second step is </a:t>
            </a:r>
            <a:r>
              <a:rPr b="1" lang="en-US" sz="2400"/>
              <a:t>logical formatting (or creation of a file system)</a:t>
            </a:r>
            <a:r>
              <a:rPr lang="en-US" sz="2400"/>
              <a:t>. In this step, the operating system stores the initial file-system data structures onto the disk. </a:t>
            </a:r>
            <a:endParaRPr sz="2400"/>
          </a:p>
          <a:p>
            <a:pPr indent="-381000" lvl="0" marL="457200" rtl="0" algn="just">
              <a:lnSpc>
                <a:spcPct val="90000"/>
              </a:lnSpc>
              <a:spcBef>
                <a:spcPts val="1000"/>
              </a:spcBef>
              <a:spcAft>
                <a:spcPts val="0"/>
              </a:spcAft>
              <a:buSzPts val="2400"/>
              <a:buChar char="•"/>
            </a:pPr>
            <a:r>
              <a:rPr lang="en-US" sz="2400"/>
              <a:t>These data structures may include maps of free and allocated space (a FAT or inodes) and an initial empty directory.</a:t>
            </a:r>
            <a:endParaRPr sz="2400"/>
          </a:p>
          <a:p>
            <a:pPr indent="-50800" lvl="0" marL="228600" marR="0" rtl="0" algn="just">
              <a:lnSpc>
                <a:spcPct val="90000"/>
              </a:lnSpc>
              <a:spcBef>
                <a:spcPts val="1000"/>
              </a:spcBef>
              <a:spcAft>
                <a:spcPts val="0"/>
              </a:spcAft>
              <a:buClr>
                <a:schemeClr val="dk1"/>
              </a:buClr>
              <a:buSzPts val="2800"/>
              <a:buFont typeface="Arial"/>
              <a:buNone/>
            </a:pPr>
            <a:r>
              <a:t/>
            </a:r>
            <a:endParaRPr b="0" i="0" sz="2400" u="none">
              <a:solidFill>
                <a:schemeClr val="dk1"/>
              </a:solidFill>
              <a:latin typeface="Calibri"/>
              <a:ea typeface="Calibri"/>
              <a:cs typeface="Calibri"/>
              <a:sym typeface="Calibri"/>
            </a:endParaRPr>
          </a:p>
        </p:txBody>
      </p:sp>
      <p:sp>
        <p:nvSpPr>
          <p:cNvPr id="715" name="Google Shape;715;g38f13da0ada_1_10"/>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16" name="Google Shape;716;g38f13da0ada_1_10"/>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17" name="Google Shape;717;g38f13da0ada_1_10"/>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18" name="Google Shape;718;g38f13da0ada_1_1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19" name="Google Shape;719;g38f13da0ada_1_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8f13da0ada_1_20"/>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Disk </a:t>
            </a:r>
            <a:r>
              <a:rPr b="1" lang="en-US">
                <a:solidFill>
                  <a:schemeClr val="dk2"/>
                </a:solidFill>
              </a:rPr>
              <a:t>Formatting</a:t>
            </a:r>
            <a:endParaRPr/>
          </a:p>
        </p:txBody>
      </p:sp>
      <p:sp>
        <p:nvSpPr>
          <p:cNvPr id="726" name="Google Shape;726;g38f13da0ada_1_20"/>
          <p:cNvSpPr txBox="1"/>
          <p:nvPr>
            <p:ph idx="1" type="body"/>
          </p:nvPr>
        </p:nvSpPr>
        <p:spPr>
          <a:xfrm>
            <a:off x="911700" y="1624150"/>
            <a:ext cx="10282500" cy="4732200"/>
          </a:xfrm>
          <a:prstGeom prst="rect">
            <a:avLst/>
          </a:prstGeom>
          <a:noFill/>
          <a:ln>
            <a:noFill/>
          </a:ln>
        </p:spPr>
        <p:txBody>
          <a:bodyPr anchorCtr="0" anchor="t" bIns="45700" lIns="91425" spcFirstLastPara="1" rIns="91425" wrap="square" tIns="45700">
            <a:noAutofit/>
          </a:bodyPr>
          <a:lstStyle/>
          <a:p>
            <a:pPr indent="-190500" lvl="0" marL="228600" marR="0" rtl="0" algn="just">
              <a:lnSpc>
                <a:spcPct val="90000"/>
              </a:lnSpc>
              <a:spcBef>
                <a:spcPts val="1000"/>
              </a:spcBef>
              <a:spcAft>
                <a:spcPts val="0"/>
              </a:spcAft>
              <a:buClr>
                <a:schemeClr val="dk1"/>
              </a:buClr>
              <a:buSzPts val="2200"/>
              <a:buFont typeface="Arial"/>
              <a:buChar char="•"/>
            </a:pPr>
            <a:r>
              <a:rPr lang="en-US" sz="2200"/>
              <a:t> To increase efficiency, most file systems group blocks together into larger chunks, frequently called clusters. </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Disk I/O is done via blocks, but file system I/O is done via clusters, effectively assuring that I/O has more sequential-access and fewer random-access characteristics.</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Some operating systems give special programs the ability to use a disk partition as a large sequential array of logical blocks, without any file-system data structures. </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This array is sometimes called the raw disk, and I/O to this array is termed raw I/O. For example, some database systems prefer raw I/O because it enables them to control the exact disk location where each database record is stored. </a:t>
            </a:r>
            <a:endParaRPr sz="2200"/>
          </a:p>
          <a:p>
            <a:pPr indent="-190500" lvl="0" marL="228600" marR="0" rtl="0" algn="just">
              <a:lnSpc>
                <a:spcPct val="90000"/>
              </a:lnSpc>
              <a:spcBef>
                <a:spcPts val="1000"/>
              </a:spcBef>
              <a:spcAft>
                <a:spcPts val="0"/>
              </a:spcAft>
              <a:buClr>
                <a:schemeClr val="dk1"/>
              </a:buClr>
              <a:buSzPts val="2200"/>
              <a:buFont typeface="Arial"/>
              <a:buChar char="•"/>
            </a:pPr>
            <a:r>
              <a:rPr lang="en-US" sz="2200"/>
              <a:t>Raw I/O bypasses all the file-system services, such as the buffer cache, file locking, prefetching, space allocation, file names, and directories.</a:t>
            </a:r>
            <a:endParaRPr sz="2200"/>
          </a:p>
          <a:p>
            <a:pPr indent="-50800" lvl="0" marL="228600" marR="0" rtl="0" algn="just">
              <a:lnSpc>
                <a:spcPct val="90000"/>
              </a:lnSpc>
              <a:spcBef>
                <a:spcPts val="1000"/>
              </a:spcBef>
              <a:spcAft>
                <a:spcPts val="0"/>
              </a:spcAft>
              <a:buClr>
                <a:schemeClr val="dk1"/>
              </a:buClr>
              <a:buSzPts val="2800"/>
              <a:buFont typeface="Arial"/>
              <a:buNone/>
            </a:pPr>
            <a:r>
              <a:t/>
            </a:r>
            <a:endParaRPr b="0" i="0" sz="2200" u="none">
              <a:solidFill>
                <a:schemeClr val="dk1"/>
              </a:solidFill>
              <a:latin typeface="Calibri"/>
              <a:ea typeface="Calibri"/>
              <a:cs typeface="Calibri"/>
              <a:sym typeface="Calibri"/>
            </a:endParaRPr>
          </a:p>
        </p:txBody>
      </p:sp>
      <p:sp>
        <p:nvSpPr>
          <p:cNvPr id="727" name="Google Shape;727;g38f13da0ada_1_20"/>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28" name="Google Shape;728;g38f13da0ada_1_20"/>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29" name="Google Shape;729;g38f13da0ada_1_20"/>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30" name="Google Shape;730;g38f13da0ada_1_20"/>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31" name="Google Shape;731;g38f13da0ada_1_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8f13da0ada_1_42"/>
          <p:cNvSpPr txBox="1"/>
          <p:nvPr>
            <p:ph type="title"/>
          </p:nvPr>
        </p:nvSpPr>
        <p:spPr>
          <a:xfrm>
            <a:off x="1697825" y="1650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Boot Block</a:t>
            </a:r>
            <a:endParaRPr/>
          </a:p>
        </p:txBody>
      </p:sp>
      <p:sp>
        <p:nvSpPr>
          <p:cNvPr id="738" name="Google Shape;738;g38f13da0ada_1_42"/>
          <p:cNvSpPr txBox="1"/>
          <p:nvPr>
            <p:ph idx="1" type="body"/>
          </p:nvPr>
        </p:nvSpPr>
        <p:spPr>
          <a:xfrm>
            <a:off x="798600" y="1308075"/>
            <a:ext cx="10893900" cy="5074800"/>
          </a:xfrm>
          <a:prstGeom prst="rect">
            <a:avLst/>
          </a:prstGeom>
          <a:noFill/>
          <a:ln>
            <a:noFill/>
          </a:ln>
        </p:spPr>
        <p:txBody>
          <a:bodyPr anchorCtr="0" anchor="t" bIns="45700" lIns="91425" spcFirstLastPara="1" rIns="91425" wrap="square" tIns="45700">
            <a:noAutofit/>
          </a:bodyPr>
          <a:lstStyle/>
          <a:p>
            <a:pPr indent="-196850" lvl="0" marL="228600" marR="0" rtl="0" algn="just">
              <a:lnSpc>
                <a:spcPct val="90000"/>
              </a:lnSpc>
              <a:spcBef>
                <a:spcPts val="1000"/>
              </a:spcBef>
              <a:spcAft>
                <a:spcPts val="0"/>
              </a:spcAft>
              <a:buClr>
                <a:schemeClr val="dk1"/>
              </a:buClr>
              <a:buSzPts val="2300"/>
              <a:buFont typeface="Arial"/>
              <a:buChar char="•"/>
            </a:pPr>
            <a:r>
              <a:rPr lang="en-US" sz="2300"/>
              <a:t> For a computer to start running-for instance, when it is powered up or rebooted-it must have an i</a:t>
            </a:r>
            <a:r>
              <a:rPr b="1" lang="en-US" sz="2300"/>
              <a:t>nitial program to run.</a:t>
            </a:r>
            <a:endParaRPr b="1" sz="2300"/>
          </a:p>
          <a:p>
            <a:pPr indent="-196850" lvl="0" marL="228600" marR="0" rtl="0" algn="just">
              <a:lnSpc>
                <a:spcPct val="90000"/>
              </a:lnSpc>
              <a:spcBef>
                <a:spcPts val="1000"/>
              </a:spcBef>
              <a:spcAft>
                <a:spcPts val="0"/>
              </a:spcAft>
              <a:buClr>
                <a:schemeClr val="dk1"/>
              </a:buClr>
              <a:buSzPts val="2300"/>
              <a:buFont typeface="Arial"/>
              <a:buChar char="•"/>
            </a:pPr>
            <a:r>
              <a:rPr lang="en-US" sz="2300"/>
              <a:t> This initial </a:t>
            </a:r>
            <a:r>
              <a:rPr b="1" lang="en-US" sz="2300"/>
              <a:t>bootstrap program</a:t>
            </a:r>
            <a:r>
              <a:rPr lang="en-US" sz="2300"/>
              <a:t> tends to be simple. It </a:t>
            </a:r>
            <a:r>
              <a:rPr b="1" lang="en-US" sz="2300"/>
              <a:t>initializes all aspects of the system</a:t>
            </a:r>
            <a:r>
              <a:rPr lang="en-US" sz="2300"/>
              <a:t>, from CPU registers to device controllers and the contents of main memory, and then starts the operating system. </a:t>
            </a:r>
            <a:endParaRPr sz="2300"/>
          </a:p>
          <a:p>
            <a:pPr indent="-196850" lvl="0" marL="228600" marR="0" rtl="0" algn="just">
              <a:lnSpc>
                <a:spcPct val="90000"/>
              </a:lnSpc>
              <a:spcBef>
                <a:spcPts val="1000"/>
              </a:spcBef>
              <a:spcAft>
                <a:spcPts val="0"/>
              </a:spcAft>
              <a:buClr>
                <a:schemeClr val="dk1"/>
              </a:buClr>
              <a:buSzPts val="2300"/>
              <a:buFont typeface="Arial"/>
              <a:buChar char="•"/>
            </a:pPr>
            <a:r>
              <a:rPr lang="en-US" sz="2300"/>
              <a:t>To do its job, the </a:t>
            </a:r>
            <a:r>
              <a:rPr b="1" lang="en-US" sz="2300"/>
              <a:t>bootstrap program finds the operating- system kernel on disk, loads that kernel into memory, and jumps to an initial address to begin the operating-system</a:t>
            </a:r>
            <a:r>
              <a:rPr lang="en-US" sz="2300"/>
              <a:t> execution. </a:t>
            </a:r>
            <a:endParaRPr sz="2300"/>
          </a:p>
          <a:p>
            <a:pPr indent="-196850" lvl="0" marL="228600" marR="0" rtl="0" algn="just">
              <a:lnSpc>
                <a:spcPct val="90000"/>
              </a:lnSpc>
              <a:spcBef>
                <a:spcPts val="1000"/>
              </a:spcBef>
              <a:spcAft>
                <a:spcPts val="0"/>
              </a:spcAft>
              <a:buClr>
                <a:schemeClr val="dk1"/>
              </a:buClr>
              <a:buSzPts val="2300"/>
              <a:buFont typeface="Arial"/>
              <a:buChar char="•"/>
            </a:pPr>
            <a:r>
              <a:rPr lang="en-US" sz="2300"/>
              <a:t>For most computers, the </a:t>
            </a:r>
            <a:r>
              <a:rPr b="1" lang="en-US" sz="2300"/>
              <a:t>bootstrap is stored in read-only memory (ROM)</a:t>
            </a:r>
            <a:r>
              <a:rPr lang="en-US" sz="2300"/>
              <a:t>. This location is convenient, because ROM needs no initialization and is at a fixed location that the processor can start executing when powered up or reset. </a:t>
            </a:r>
            <a:endParaRPr b="0" i="0" sz="2300" u="none">
              <a:solidFill>
                <a:schemeClr val="dk1"/>
              </a:solidFill>
              <a:latin typeface="Calibri"/>
              <a:ea typeface="Calibri"/>
              <a:cs typeface="Calibri"/>
              <a:sym typeface="Calibri"/>
            </a:endParaRPr>
          </a:p>
        </p:txBody>
      </p:sp>
      <p:sp>
        <p:nvSpPr>
          <p:cNvPr id="739" name="Google Shape;739;g38f13da0ada_1_42"/>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40" name="Google Shape;740;g38f13da0ada_1_42"/>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41" name="Google Shape;741;g38f13da0ada_1_42"/>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42" name="Google Shape;742;g38f13da0ada_1_42"/>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43" name="Google Shape;743;g38f13da0ada_1_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8f13da0ada_1_55"/>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Boot Block</a:t>
            </a:r>
            <a:endParaRPr/>
          </a:p>
        </p:txBody>
      </p:sp>
      <p:sp>
        <p:nvSpPr>
          <p:cNvPr id="750" name="Google Shape;750;g38f13da0ada_1_55"/>
          <p:cNvSpPr txBox="1"/>
          <p:nvPr>
            <p:ph idx="1" type="body"/>
          </p:nvPr>
        </p:nvSpPr>
        <p:spPr>
          <a:xfrm>
            <a:off x="653700" y="1349025"/>
            <a:ext cx="11229300" cy="4522200"/>
          </a:xfrm>
          <a:prstGeom prst="rect">
            <a:avLst/>
          </a:prstGeom>
          <a:noFill/>
          <a:ln>
            <a:noFill/>
          </a:ln>
        </p:spPr>
        <p:txBody>
          <a:bodyPr anchorCtr="0" anchor="t" bIns="45700" lIns="91425" spcFirstLastPara="1" rIns="91425" wrap="square" tIns="45700">
            <a:noAutofit/>
          </a:bodyPr>
          <a:lstStyle/>
          <a:p>
            <a:pPr indent="-368300" lvl="0" marL="457200" rtl="0" algn="just">
              <a:lnSpc>
                <a:spcPct val="90000"/>
              </a:lnSpc>
              <a:spcBef>
                <a:spcPts val="1000"/>
              </a:spcBef>
              <a:spcAft>
                <a:spcPts val="0"/>
              </a:spcAft>
              <a:buSzPts val="2200"/>
              <a:buChar char="•"/>
            </a:pPr>
            <a:r>
              <a:rPr lang="en-US" sz="2200"/>
              <a:t>And, since ROM is read only, it cannot be infected by a computer virus. The problem is that changing this bootstrap code requires changing the ROM hardware chips.</a:t>
            </a:r>
            <a:endParaRPr sz="2200"/>
          </a:p>
          <a:p>
            <a:pPr indent="-184150" lvl="0" marL="228600" marR="0" rtl="0" algn="just">
              <a:lnSpc>
                <a:spcPct val="90000"/>
              </a:lnSpc>
              <a:spcBef>
                <a:spcPts val="1000"/>
              </a:spcBef>
              <a:spcAft>
                <a:spcPts val="0"/>
              </a:spcAft>
              <a:buClr>
                <a:schemeClr val="dk1"/>
              </a:buClr>
              <a:buSzPts val="2100"/>
              <a:buFont typeface="Arial"/>
              <a:buChar char="•"/>
            </a:pPr>
            <a:r>
              <a:rPr lang="en-US" sz="2100"/>
              <a:t>For this reason, most systems store a </a:t>
            </a:r>
            <a:r>
              <a:rPr b="1" lang="en-US" sz="2100"/>
              <a:t>tiny bootstrap loader program in the boot ROM</a:t>
            </a:r>
            <a:r>
              <a:rPr lang="en-US" sz="2100"/>
              <a:t> whose only job is to </a:t>
            </a:r>
            <a:r>
              <a:rPr b="1" lang="en-US" sz="2100"/>
              <a:t>bring in a full bootstrap</a:t>
            </a:r>
            <a:r>
              <a:rPr lang="en-US" sz="2100"/>
              <a:t> program from disk. </a:t>
            </a:r>
            <a:endParaRPr sz="2100"/>
          </a:p>
          <a:p>
            <a:pPr indent="-184150" lvl="0" marL="228600" marR="0" rtl="0" algn="just">
              <a:lnSpc>
                <a:spcPct val="90000"/>
              </a:lnSpc>
              <a:spcBef>
                <a:spcPts val="1000"/>
              </a:spcBef>
              <a:spcAft>
                <a:spcPts val="0"/>
              </a:spcAft>
              <a:buClr>
                <a:schemeClr val="dk1"/>
              </a:buClr>
              <a:buSzPts val="2100"/>
              <a:buFont typeface="Arial"/>
              <a:buChar char="•"/>
            </a:pPr>
            <a:r>
              <a:rPr lang="en-US" sz="2100"/>
              <a:t>The full bootstrap program can be changed easily: A new version is simply written onto the disk. </a:t>
            </a:r>
            <a:endParaRPr sz="2100"/>
          </a:p>
          <a:p>
            <a:pPr indent="-184150" lvl="0" marL="228600" marR="0" rtl="0" algn="just">
              <a:lnSpc>
                <a:spcPct val="90000"/>
              </a:lnSpc>
              <a:spcBef>
                <a:spcPts val="1000"/>
              </a:spcBef>
              <a:spcAft>
                <a:spcPts val="0"/>
              </a:spcAft>
              <a:buClr>
                <a:schemeClr val="dk1"/>
              </a:buClr>
              <a:buSzPts val="2100"/>
              <a:buFont typeface="Arial"/>
              <a:buChar char="•"/>
            </a:pPr>
            <a:r>
              <a:rPr lang="en-US" sz="2100"/>
              <a:t>The </a:t>
            </a:r>
            <a:r>
              <a:rPr b="1" lang="en-US" sz="2100"/>
              <a:t>full bootstrap program </a:t>
            </a:r>
            <a:r>
              <a:rPr lang="en-US" sz="2100"/>
              <a:t>is stored in "</a:t>
            </a:r>
            <a:r>
              <a:rPr b="1" lang="en-US" sz="2100"/>
              <a:t>the boot blocks</a:t>
            </a:r>
            <a:r>
              <a:rPr lang="en-US" sz="2100"/>
              <a:t>" at a fixed location on the disk. A disk that has a </a:t>
            </a:r>
            <a:r>
              <a:rPr b="1" lang="en-US" sz="2100"/>
              <a:t>boot partition is called a boot disk or system disk</a:t>
            </a:r>
            <a:r>
              <a:rPr lang="en-US" sz="2100"/>
              <a:t>.</a:t>
            </a:r>
            <a:endParaRPr sz="2100"/>
          </a:p>
          <a:p>
            <a:pPr indent="-184150" lvl="0" marL="228600" marR="0" rtl="0" algn="just">
              <a:lnSpc>
                <a:spcPct val="90000"/>
              </a:lnSpc>
              <a:spcBef>
                <a:spcPts val="1000"/>
              </a:spcBef>
              <a:spcAft>
                <a:spcPts val="0"/>
              </a:spcAft>
              <a:buClr>
                <a:schemeClr val="dk1"/>
              </a:buClr>
              <a:buSzPts val="2100"/>
              <a:buFont typeface="Arial"/>
              <a:buChar char="•"/>
            </a:pPr>
            <a:r>
              <a:rPr lang="en-US" sz="2100"/>
              <a:t>The code in the boot ROM instructs the disk controller to read the boot blocks into memory (no device drivers are loaded at this point) and then starts executing that code. </a:t>
            </a:r>
            <a:endParaRPr sz="2100"/>
          </a:p>
          <a:p>
            <a:pPr indent="-184150" lvl="0" marL="228600" marR="0" rtl="0" algn="just">
              <a:lnSpc>
                <a:spcPct val="90000"/>
              </a:lnSpc>
              <a:spcBef>
                <a:spcPts val="1000"/>
              </a:spcBef>
              <a:spcAft>
                <a:spcPts val="0"/>
              </a:spcAft>
              <a:buClr>
                <a:schemeClr val="dk1"/>
              </a:buClr>
              <a:buSzPts val="2100"/>
              <a:buFont typeface="Arial"/>
              <a:buChar char="•"/>
            </a:pPr>
            <a:r>
              <a:rPr lang="en-US" sz="2100"/>
              <a:t>The full bootstrap program is more sophisticated than the bootstrap loader in the boot ROM; it is able to load the entire operating system from a non-fixed location on disk and to start the OS running</a:t>
            </a:r>
            <a:endParaRPr b="0" i="0" sz="2100" u="none">
              <a:solidFill>
                <a:schemeClr val="dk1"/>
              </a:solidFill>
              <a:latin typeface="Calibri"/>
              <a:ea typeface="Calibri"/>
              <a:cs typeface="Calibri"/>
              <a:sym typeface="Calibri"/>
            </a:endParaRPr>
          </a:p>
        </p:txBody>
      </p:sp>
      <p:sp>
        <p:nvSpPr>
          <p:cNvPr id="751" name="Google Shape;751;g38f13da0ada_1_55"/>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52" name="Google Shape;752;g38f13da0ada_1_55"/>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53" name="Google Shape;753;g38f13da0ada_1_55"/>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54" name="Google Shape;754;g38f13da0ada_1_5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8f13da0ada_1_66"/>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Boot Block</a:t>
            </a:r>
            <a:endParaRPr/>
          </a:p>
        </p:txBody>
      </p:sp>
      <p:sp>
        <p:nvSpPr>
          <p:cNvPr id="761" name="Google Shape;761;g38f13da0ada_1_66"/>
          <p:cNvSpPr txBox="1"/>
          <p:nvPr>
            <p:ph idx="1" type="body"/>
          </p:nvPr>
        </p:nvSpPr>
        <p:spPr>
          <a:xfrm>
            <a:off x="1180825" y="1332425"/>
            <a:ext cx="10731000" cy="4874400"/>
          </a:xfrm>
          <a:prstGeom prst="rect">
            <a:avLst/>
          </a:prstGeom>
          <a:noFill/>
          <a:ln>
            <a:noFill/>
          </a:ln>
        </p:spPr>
        <p:txBody>
          <a:bodyPr anchorCtr="0" anchor="t" bIns="45700" lIns="91425" spcFirstLastPara="1" rIns="91425" wrap="square" tIns="45700">
            <a:noAutofit/>
          </a:bodyPr>
          <a:lstStyle/>
          <a:p>
            <a:pPr indent="-368300" lvl="0" marL="457200" rtl="0" algn="just">
              <a:lnSpc>
                <a:spcPct val="90000"/>
              </a:lnSpc>
              <a:spcBef>
                <a:spcPts val="1000"/>
              </a:spcBef>
              <a:spcAft>
                <a:spcPts val="0"/>
              </a:spcAft>
              <a:buSzPts val="2200"/>
              <a:buChar char="•"/>
            </a:pPr>
            <a:r>
              <a:rPr lang="en-US" sz="2200"/>
              <a:t>Example the boot process in Windows 2000- </a:t>
            </a:r>
            <a:endParaRPr sz="2200"/>
          </a:p>
          <a:p>
            <a:pPr indent="-368300" lvl="0" marL="457200" rtl="0" algn="just">
              <a:lnSpc>
                <a:spcPct val="90000"/>
              </a:lnSpc>
              <a:spcBef>
                <a:spcPts val="1000"/>
              </a:spcBef>
              <a:spcAft>
                <a:spcPts val="0"/>
              </a:spcAft>
              <a:buSzPts val="2200"/>
              <a:buChar char="•"/>
            </a:pPr>
            <a:r>
              <a:rPr lang="en-US" sz="2200"/>
              <a:t>The Windows 2000 system places its boot code in the first sector on the hard disk (which it terms the master boot record, or MBR). </a:t>
            </a:r>
            <a:endParaRPr sz="2200"/>
          </a:p>
          <a:p>
            <a:pPr indent="-368300" lvl="0" marL="457200" rtl="0" algn="just">
              <a:lnSpc>
                <a:spcPct val="90000"/>
              </a:lnSpc>
              <a:spcBef>
                <a:spcPts val="1000"/>
              </a:spcBef>
              <a:spcAft>
                <a:spcPts val="0"/>
              </a:spcAft>
              <a:buSzPts val="2200"/>
              <a:buChar char="•"/>
            </a:pPr>
            <a:r>
              <a:rPr lang="en-US" sz="2200"/>
              <a:t>Windows 2000 allows a hard disk to be divided into one or more partitions; one partition, identified as the boot partition, contains the operating system and device drivers. </a:t>
            </a:r>
            <a:endParaRPr sz="2200"/>
          </a:p>
          <a:p>
            <a:pPr indent="-368300" lvl="0" marL="457200" rtl="0" algn="just">
              <a:lnSpc>
                <a:spcPct val="90000"/>
              </a:lnSpc>
              <a:spcBef>
                <a:spcPts val="1000"/>
              </a:spcBef>
              <a:spcAft>
                <a:spcPts val="0"/>
              </a:spcAft>
              <a:buSzPts val="2200"/>
              <a:buChar char="•"/>
            </a:pPr>
            <a:r>
              <a:rPr lang="en-US" sz="2200"/>
              <a:t>Booting begins in a Windows 2000 system by running code that is resident in the system's ROM memory. </a:t>
            </a:r>
            <a:endParaRPr sz="2200"/>
          </a:p>
          <a:p>
            <a:pPr indent="-368300" lvl="0" marL="457200" rtl="0" algn="just">
              <a:lnSpc>
                <a:spcPct val="90000"/>
              </a:lnSpc>
              <a:spcBef>
                <a:spcPts val="1000"/>
              </a:spcBef>
              <a:spcAft>
                <a:spcPts val="0"/>
              </a:spcAft>
              <a:buSzPts val="2200"/>
              <a:buChar char="•"/>
            </a:pPr>
            <a:r>
              <a:rPr lang="en-US" sz="2200"/>
              <a:t>This code directs the system to read the boot code from the MBR. In addition to containing boot code, the MBR contains a table listing the partitions for the hard disk and a flag indicating which partition the system is to be booted from. </a:t>
            </a:r>
            <a:endParaRPr sz="2200"/>
          </a:p>
          <a:p>
            <a:pPr indent="-368300" lvl="0" marL="457200" rtl="0" algn="just">
              <a:lnSpc>
                <a:spcPct val="90000"/>
              </a:lnSpc>
              <a:spcBef>
                <a:spcPts val="1000"/>
              </a:spcBef>
              <a:spcAft>
                <a:spcPts val="0"/>
              </a:spcAft>
              <a:buSzPts val="2200"/>
              <a:buChar char="•"/>
            </a:pPr>
            <a:r>
              <a:rPr lang="en-US" sz="2200"/>
              <a:t>Once the system identifies the boot partition, it reads the first sector from that partition (which is called the boot sector) and continues with the remainder of the boot process, which includ.es loading the various subsystems and system services.</a:t>
            </a:r>
            <a:endParaRPr b="0" i="0" sz="2200" u="none">
              <a:solidFill>
                <a:schemeClr val="dk1"/>
              </a:solidFill>
              <a:latin typeface="Calibri"/>
              <a:ea typeface="Calibri"/>
              <a:cs typeface="Calibri"/>
              <a:sym typeface="Calibri"/>
            </a:endParaRPr>
          </a:p>
        </p:txBody>
      </p:sp>
      <p:sp>
        <p:nvSpPr>
          <p:cNvPr id="762" name="Google Shape;762;g38f13da0ada_1_66"/>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63" name="Google Shape;763;g38f13da0ada_1_66"/>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64" name="Google Shape;764;g38f13da0ada_1_66"/>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65" name="Google Shape;765;g38f13da0ada_1_66"/>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66" name="Google Shape;766;g38f13da0ada_1_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8f13da0ada_1_77"/>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Bad Blocks</a:t>
            </a:r>
            <a:endParaRPr/>
          </a:p>
        </p:txBody>
      </p:sp>
      <p:sp>
        <p:nvSpPr>
          <p:cNvPr id="773" name="Google Shape;773;g38f13da0ada_1_77"/>
          <p:cNvSpPr txBox="1"/>
          <p:nvPr>
            <p:ph idx="1" type="body"/>
          </p:nvPr>
        </p:nvSpPr>
        <p:spPr>
          <a:xfrm>
            <a:off x="704400" y="1386825"/>
            <a:ext cx="11077800" cy="4874400"/>
          </a:xfrm>
          <a:prstGeom prst="rect">
            <a:avLst/>
          </a:prstGeom>
          <a:noFill/>
          <a:ln>
            <a:noFill/>
          </a:ln>
        </p:spPr>
        <p:txBody>
          <a:bodyPr anchorCtr="0" anchor="t" bIns="45700" lIns="91425" spcFirstLastPara="1" rIns="91425" wrap="square" tIns="45700">
            <a:noAutofit/>
          </a:bodyPr>
          <a:lstStyle/>
          <a:p>
            <a:pPr indent="-368300" lvl="0" marL="457200" rtl="0" algn="just">
              <a:lnSpc>
                <a:spcPct val="90000"/>
              </a:lnSpc>
              <a:spcBef>
                <a:spcPts val="1000"/>
              </a:spcBef>
              <a:spcAft>
                <a:spcPts val="0"/>
              </a:spcAft>
              <a:buSzPts val="2200"/>
              <a:buChar char="•"/>
            </a:pPr>
            <a:r>
              <a:rPr lang="en-US" sz="2200"/>
              <a:t>As </a:t>
            </a:r>
            <a:r>
              <a:rPr b="1" lang="en-US" sz="2200"/>
              <a:t>disks have moving parts </a:t>
            </a:r>
            <a:r>
              <a:rPr lang="en-US" sz="2200"/>
              <a:t>and small tolerances, they are </a:t>
            </a:r>
            <a:r>
              <a:rPr b="1" lang="en-US" sz="2200"/>
              <a:t>prone to failure</a:t>
            </a:r>
            <a:r>
              <a:rPr lang="en-US" sz="2200"/>
              <a:t>. Sometimes the failure is complete; in this case, the disk needs to be replaced and its contents restored from backup media to the new disk. </a:t>
            </a:r>
            <a:endParaRPr sz="2200"/>
          </a:p>
          <a:p>
            <a:pPr indent="-368300" lvl="0" marL="457200" rtl="0" algn="just">
              <a:lnSpc>
                <a:spcPct val="90000"/>
              </a:lnSpc>
              <a:spcBef>
                <a:spcPts val="1000"/>
              </a:spcBef>
              <a:spcAft>
                <a:spcPts val="0"/>
              </a:spcAft>
              <a:buSzPts val="2200"/>
              <a:buChar char="•"/>
            </a:pPr>
            <a:r>
              <a:rPr lang="en-US" sz="2200"/>
              <a:t>one or more sectors become defective. Most disks even come from the factory with bad blocks. Depending on the disk and controller in use, these blocks are handled in a variety of ways.</a:t>
            </a:r>
            <a:endParaRPr sz="2200"/>
          </a:p>
          <a:p>
            <a:pPr indent="-368300" lvl="0" marL="457200" rtl="0" algn="just">
              <a:lnSpc>
                <a:spcPct val="90000"/>
              </a:lnSpc>
              <a:spcBef>
                <a:spcPts val="1000"/>
              </a:spcBef>
              <a:spcAft>
                <a:spcPts val="0"/>
              </a:spcAft>
              <a:buSzPts val="2200"/>
              <a:buChar char="•"/>
            </a:pPr>
            <a:r>
              <a:rPr lang="en-US" sz="2200"/>
              <a:t>On simple disks, such as some disks with IDE controllers, bad blocks are handled manually. For instance, the MS-DOS format command performs logical formatting and, as a part of the process, scans the disk to find bad blocks. </a:t>
            </a:r>
            <a:endParaRPr sz="2200"/>
          </a:p>
          <a:p>
            <a:pPr indent="-368300" lvl="0" marL="457200" rtl="0" algn="just">
              <a:lnSpc>
                <a:spcPct val="90000"/>
              </a:lnSpc>
              <a:spcBef>
                <a:spcPts val="1000"/>
              </a:spcBef>
              <a:spcAft>
                <a:spcPts val="0"/>
              </a:spcAft>
              <a:buSzPts val="2200"/>
              <a:buChar char="•"/>
            </a:pPr>
            <a:r>
              <a:rPr lang="en-US" sz="2200"/>
              <a:t>If format finds a bad block, it writes a special value into the corresponding FAT entry to tell the allocation routines not to use that block. </a:t>
            </a:r>
            <a:endParaRPr sz="2200"/>
          </a:p>
          <a:p>
            <a:pPr indent="-368300" lvl="0" marL="457200" rtl="0" algn="just">
              <a:lnSpc>
                <a:spcPct val="90000"/>
              </a:lnSpc>
              <a:spcBef>
                <a:spcPts val="1000"/>
              </a:spcBef>
              <a:spcAft>
                <a:spcPts val="0"/>
              </a:spcAft>
              <a:buSzPts val="2200"/>
              <a:buChar char="•"/>
            </a:pPr>
            <a:r>
              <a:rPr lang="en-US" sz="2200"/>
              <a:t>If blocks go bad during normal operation, a special program (such as chkdsk) must be run manually to search for tIle bad blocks and to lock them away as before. </a:t>
            </a:r>
            <a:endParaRPr sz="2200"/>
          </a:p>
          <a:p>
            <a:pPr indent="-368300" lvl="0" marL="457200" rtl="0" algn="just">
              <a:lnSpc>
                <a:spcPct val="90000"/>
              </a:lnSpc>
              <a:spcBef>
                <a:spcPts val="1000"/>
              </a:spcBef>
              <a:spcAft>
                <a:spcPts val="0"/>
              </a:spcAft>
              <a:buSzPts val="2200"/>
              <a:buChar char="•"/>
            </a:pPr>
            <a:r>
              <a:rPr lang="en-US" sz="2200"/>
              <a:t>Data that resided on the bad blocks usually are lost.</a:t>
            </a:r>
            <a:endParaRPr sz="2200"/>
          </a:p>
        </p:txBody>
      </p:sp>
      <p:sp>
        <p:nvSpPr>
          <p:cNvPr id="774" name="Google Shape;774;g38f13da0ada_1_77"/>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75" name="Google Shape;775;g38f13da0ada_1_77"/>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76" name="Google Shape;776;g38f13da0ada_1_77"/>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77" name="Google Shape;777;g38f13da0ada_1_77"/>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78" name="Google Shape;778;g38f13da0ada_1_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g38f13da0ada_1_101"/>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Bad Blocks</a:t>
            </a:r>
            <a:endParaRPr/>
          </a:p>
        </p:txBody>
      </p:sp>
      <p:sp>
        <p:nvSpPr>
          <p:cNvPr id="785" name="Google Shape;785;g38f13da0ada_1_101"/>
          <p:cNvSpPr txBox="1"/>
          <p:nvPr>
            <p:ph idx="1" type="body"/>
          </p:nvPr>
        </p:nvSpPr>
        <p:spPr>
          <a:xfrm>
            <a:off x="627075" y="1436675"/>
            <a:ext cx="11175000" cy="4874400"/>
          </a:xfrm>
          <a:prstGeom prst="rect">
            <a:avLst/>
          </a:prstGeom>
          <a:noFill/>
          <a:ln>
            <a:noFill/>
          </a:ln>
        </p:spPr>
        <p:txBody>
          <a:bodyPr anchorCtr="0" anchor="t" bIns="45700" lIns="91425" spcFirstLastPara="1" rIns="91425" wrap="square" tIns="45700">
            <a:noAutofit/>
          </a:bodyPr>
          <a:lstStyle/>
          <a:p>
            <a:pPr indent="-381000" lvl="0" marL="457200" rtl="0" algn="just">
              <a:lnSpc>
                <a:spcPct val="90000"/>
              </a:lnSpc>
              <a:spcBef>
                <a:spcPts val="1000"/>
              </a:spcBef>
              <a:spcAft>
                <a:spcPts val="0"/>
              </a:spcAft>
              <a:buSzPts val="2400"/>
              <a:buChar char="•"/>
            </a:pPr>
            <a:r>
              <a:rPr lang="en-US" sz="2400"/>
              <a:t>More sophisticated disks, such as the SCSI disks used in high-end PCs and most workstations and servers are smarter about bad-block recovery. </a:t>
            </a:r>
            <a:endParaRPr sz="2400"/>
          </a:p>
          <a:p>
            <a:pPr indent="-381000" lvl="0" marL="457200" rtl="0" algn="just">
              <a:lnSpc>
                <a:spcPct val="90000"/>
              </a:lnSpc>
              <a:spcBef>
                <a:spcPts val="1000"/>
              </a:spcBef>
              <a:spcAft>
                <a:spcPts val="0"/>
              </a:spcAft>
              <a:buSzPts val="2400"/>
              <a:buChar char="•"/>
            </a:pPr>
            <a:r>
              <a:rPr lang="en-US" sz="2400"/>
              <a:t>The controller maintains a list of bad blocks on the disk. </a:t>
            </a:r>
            <a:endParaRPr sz="2400"/>
          </a:p>
          <a:p>
            <a:pPr indent="-381000" lvl="0" marL="457200" rtl="0" algn="just">
              <a:lnSpc>
                <a:spcPct val="90000"/>
              </a:lnSpc>
              <a:spcBef>
                <a:spcPts val="1000"/>
              </a:spcBef>
              <a:spcAft>
                <a:spcPts val="0"/>
              </a:spcAft>
              <a:buSzPts val="2400"/>
              <a:buChar char="•"/>
            </a:pPr>
            <a:r>
              <a:rPr lang="en-US" sz="2400"/>
              <a:t>The list is initialized during the low-level formatting at the factory and is updated over the life of the disk. </a:t>
            </a:r>
            <a:endParaRPr sz="2400"/>
          </a:p>
          <a:p>
            <a:pPr indent="-381000" lvl="0" marL="457200" rtl="0" algn="just">
              <a:lnSpc>
                <a:spcPct val="90000"/>
              </a:lnSpc>
              <a:spcBef>
                <a:spcPts val="1000"/>
              </a:spcBef>
              <a:spcAft>
                <a:spcPts val="0"/>
              </a:spcAft>
              <a:buSzPts val="2400"/>
              <a:buChar char="•"/>
            </a:pPr>
            <a:r>
              <a:rPr lang="en-US" sz="2400"/>
              <a:t>Low-level formatting also sets aside spare sectors not visible to the operating  system. </a:t>
            </a:r>
            <a:endParaRPr sz="2400"/>
          </a:p>
          <a:p>
            <a:pPr indent="-381000" lvl="0" marL="457200" rtl="0" algn="just">
              <a:lnSpc>
                <a:spcPct val="90000"/>
              </a:lnSpc>
              <a:spcBef>
                <a:spcPts val="1000"/>
              </a:spcBef>
              <a:spcAft>
                <a:spcPts val="0"/>
              </a:spcAft>
              <a:buSzPts val="2400"/>
              <a:buChar char="•"/>
            </a:pPr>
            <a:r>
              <a:rPr lang="en-US" sz="2400"/>
              <a:t>The controller can be told to replace each bad sector logically with one of the spare sectors. </a:t>
            </a:r>
            <a:endParaRPr sz="2400"/>
          </a:p>
          <a:p>
            <a:pPr indent="-381000" lvl="0" marL="457200" rtl="0" algn="just">
              <a:lnSpc>
                <a:spcPct val="90000"/>
              </a:lnSpc>
              <a:spcBef>
                <a:spcPts val="1000"/>
              </a:spcBef>
              <a:spcAft>
                <a:spcPts val="0"/>
              </a:spcAft>
              <a:buSzPts val="2400"/>
              <a:buChar char="•"/>
            </a:pPr>
            <a:r>
              <a:rPr lang="en-US" sz="2400"/>
              <a:t>This scheme is known as sector sparing or forwarding. </a:t>
            </a:r>
            <a:endParaRPr sz="2400"/>
          </a:p>
          <a:p>
            <a:pPr indent="0" lvl="0" marL="457200" rtl="0" algn="l">
              <a:lnSpc>
                <a:spcPct val="90000"/>
              </a:lnSpc>
              <a:spcBef>
                <a:spcPts val="1000"/>
              </a:spcBef>
              <a:spcAft>
                <a:spcPts val="0"/>
              </a:spcAft>
              <a:buSzPts val="1800"/>
              <a:buNone/>
            </a:pPr>
            <a:r>
              <a:t/>
            </a:r>
            <a:endParaRPr/>
          </a:p>
          <a:p>
            <a:pPr indent="0" lvl="0" marL="457200" rtl="0" algn="l">
              <a:lnSpc>
                <a:spcPct val="90000"/>
              </a:lnSpc>
              <a:spcBef>
                <a:spcPts val="1000"/>
              </a:spcBef>
              <a:spcAft>
                <a:spcPts val="0"/>
              </a:spcAft>
              <a:buSzPts val="1800"/>
              <a:buNone/>
            </a:pPr>
            <a:r>
              <a:t/>
            </a:r>
            <a:endParaRPr/>
          </a:p>
        </p:txBody>
      </p:sp>
      <p:sp>
        <p:nvSpPr>
          <p:cNvPr id="786" name="Google Shape;786;g38f13da0ada_1_101"/>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87" name="Google Shape;787;g38f13da0ada_1_101"/>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788" name="Google Shape;788;g38f13da0ada_1_101"/>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789" name="Google Shape;789;g38f13da0ada_1_101"/>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790" name="Google Shape;790;g38f13da0ada_1_1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8f13da0ada_1_113"/>
          <p:cNvSpPr txBox="1"/>
          <p:nvPr>
            <p:ph type="title"/>
          </p:nvPr>
        </p:nvSpPr>
        <p:spPr>
          <a:xfrm>
            <a:off x="1676400" y="293687"/>
            <a:ext cx="8982000" cy="1143000"/>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4400"/>
              <a:buFont typeface="Calibri"/>
              <a:buNone/>
            </a:pPr>
            <a:r>
              <a:rPr b="1" i="0" lang="en-US" sz="4400" u="none">
                <a:solidFill>
                  <a:schemeClr val="dk2"/>
                </a:solidFill>
                <a:latin typeface="Calibri"/>
                <a:ea typeface="Calibri"/>
                <a:cs typeface="Calibri"/>
                <a:sym typeface="Calibri"/>
              </a:rPr>
              <a:t>Bad Blocks</a:t>
            </a:r>
            <a:endParaRPr/>
          </a:p>
        </p:txBody>
      </p:sp>
      <p:sp>
        <p:nvSpPr>
          <p:cNvPr id="797" name="Google Shape;797;g38f13da0ada_1_113"/>
          <p:cNvSpPr txBox="1"/>
          <p:nvPr>
            <p:ph idx="1" type="body"/>
          </p:nvPr>
        </p:nvSpPr>
        <p:spPr>
          <a:xfrm>
            <a:off x="1453550" y="1436675"/>
            <a:ext cx="10340700" cy="4874400"/>
          </a:xfrm>
          <a:prstGeom prst="rect">
            <a:avLst/>
          </a:prstGeom>
          <a:noFill/>
          <a:ln>
            <a:noFill/>
          </a:ln>
        </p:spPr>
        <p:txBody>
          <a:bodyPr anchorCtr="0" anchor="t" bIns="45700" lIns="91425" spcFirstLastPara="1" rIns="91425" wrap="square" tIns="45700">
            <a:noAutofit/>
          </a:bodyPr>
          <a:lstStyle/>
          <a:p>
            <a:pPr indent="-381000" lvl="0" marL="457200" rtl="0" algn="just">
              <a:lnSpc>
                <a:spcPct val="90000"/>
              </a:lnSpc>
              <a:spcBef>
                <a:spcPts val="1000"/>
              </a:spcBef>
              <a:spcAft>
                <a:spcPts val="0"/>
              </a:spcAft>
              <a:buSzPts val="2400"/>
              <a:buChar char="•"/>
            </a:pPr>
            <a:r>
              <a:rPr lang="en-US" sz="2400"/>
              <a:t>A typical bad-sector transaction might be as follows:</a:t>
            </a:r>
            <a:endParaRPr sz="2400"/>
          </a:p>
          <a:p>
            <a:pPr indent="-381000" lvl="0" marL="457200" rtl="0" algn="just">
              <a:lnSpc>
                <a:spcPct val="90000"/>
              </a:lnSpc>
              <a:spcBef>
                <a:spcPts val="1000"/>
              </a:spcBef>
              <a:spcAft>
                <a:spcPts val="0"/>
              </a:spcAft>
              <a:buSzPts val="2400"/>
              <a:buChar char="•"/>
            </a:pPr>
            <a:r>
              <a:rPr lang="en-US" sz="2400"/>
              <a:t>The operating system tries to read logical block 87.</a:t>
            </a:r>
            <a:endParaRPr sz="2400"/>
          </a:p>
          <a:p>
            <a:pPr indent="-381000" lvl="0" marL="457200" rtl="0" algn="just">
              <a:lnSpc>
                <a:spcPct val="90000"/>
              </a:lnSpc>
              <a:spcBef>
                <a:spcPts val="1000"/>
              </a:spcBef>
              <a:spcAft>
                <a:spcPts val="0"/>
              </a:spcAft>
              <a:buSzPts val="2400"/>
              <a:buChar char="•"/>
            </a:pPr>
            <a:r>
              <a:rPr lang="en-US" sz="2400"/>
              <a:t>The controller calculates the ECC and finds that the sector is bad. It reports this finding to the operating system.</a:t>
            </a:r>
            <a:endParaRPr sz="2400"/>
          </a:p>
          <a:p>
            <a:pPr indent="-381000" lvl="0" marL="457200" rtl="0" algn="just">
              <a:lnSpc>
                <a:spcPct val="90000"/>
              </a:lnSpc>
              <a:spcBef>
                <a:spcPts val="1000"/>
              </a:spcBef>
              <a:spcAft>
                <a:spcPts val="0"/>
              </a:spcAft>
              <a:buSzPts val="2400"/>
              <a:buChar char="•"/>
            </a:pPr>
            <a:r>
              <a:rPr lang="en-US" sz="2400"/>
              <a:t>The next time the system is rebooted, a special command is run to tell the SCSI controller to replace the bad sector with a spare.</a:t>
            </a:r>
            <a:endParaRPr sz="2400"/>
          </a:p>
          <a:p>
            <a:pPr indent="-381000" lvl="0" marL="457200" rtl="0" algn="just">
              <a:lnSpc>
                <a:spcPct val="90000"/>
              </a:lnSpc>
              <a:spcBef>
                <a:spcPts val="1000"/>
              </a:spcBef>
              <a:spcAft>
                <a:spcPts val="0"/>
              </a:spcAft>
              <a:buSzPts val="2400"/>
              <a:buChar char="•"/>
            </a:pPr>
            <a:r>
              <a:rPr lang="en-US" sz="2400"/>
              <a:t>After that, whenever the system requests logical block 87, the request is translated into the replacement sector's address by the controller.</a:t>
            </a:r>
            <a:endParaRPr sz="2400"/>
          </a:p>
          <a:p>
            <a:pPr indent="0" lvl="0" marL="0" rtl="0" algn="l">
              <a:lnSpc>
                <a:spcPct val="90000"/>
              </a:lnSpc>
              <a:spcBef>
                <a:spcPts val="1000"/>
              </a:spcBef>
              <a:spcAft>
                <a:spcPts val="0"/>
              </a:spcAft>
              <a:buSzPts val="1800"/>
              <a:buNone/>
            </a:pPr>
            <a:r>
              <a:t/>
            </a:r>
            <a:endParaRPr sz="2900"/>
          </a:p>
        </p:txBody>
      </p:sp>
      <p:sp>
        <p:nvSpPr>
          <p:cNvPr id="798" name="Google Shape;798;g38f13da0ada_1_113"/>
          <p:cNvSpPr txBox="1"/>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99" name="Google Shape;799;g38f13da0ada_1_113"/>
          <p:cNvSpPr txBox="1"/>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Computer engineering  and Technology</a:t>
            </a:r>
            <a:endParaRPr b="0" i="0" sz="1400" u="none" cap="none" strike="noStrike">
              <a:solidFill>
                <a:srgbClr val="000000"/>
              </a:solidFill>
              <a:latin typeface="Arial"/>
              <a:ea typeface="Arial"/>
              <a:cs typeface="Arial"/>
              <a:sym typeface="Arial"/>
            </a:endParaRPr>
          </a:p>
        </p:txBody>
      </p:sp>
      <p:sp>
        <p:nvSpPr>
          <p:cNvPr id="800" name="Google Shape;800;g38f13da0ada_1_113"/>
          <p:cNvSpPr txBox="1"/>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000"/>
              <a:buFont typeface="Calibri"/>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801" name="Google Shape;801;g38f13da0ada_1_113"/>
          <p:cNvPicPr preferRelativeResize="0"/>
          <p:nvPr/>
        </p:nvPicPr>
        <p:blipFill rotWithShape="1">
          <a:blip r:embed="rId3">
            <a:alphaModFix/>
          </a:blip>
          <a:srcRect b="0" l="0" r="0" t="0"/>
          <a:stretch/>
        </p:blipFill>
        <p:spPr>
          <a:xfrm>
            <a:off x="41275" y="30162"/>
            <a:ext cx="1270000" cy="1065212"/>
          </a:xfrm>
          <a:prstGeom prst="rect">
            <a:avLst/>
          </a:prstGeom>
          <a:noFill/>
          <a:ln>
            <a:noFill/>
          </a:ln>
        </p:spPr>
      </p:pic>
      <p:sp>
        <p:nvSpPr>
          <p:cNvPr id="802" name="Google Shape;802;g38f13da0ada_1_1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Retrospect">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2017-06-20T09:56:08Z</dcterms:created>
  <dc:creator>Anita.Gunjal</dc:creator>
</cp:coreProperties>
</file>